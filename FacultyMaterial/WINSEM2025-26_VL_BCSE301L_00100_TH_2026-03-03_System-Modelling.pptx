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3" r:id="rId2"/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346" r:id="rId55"/>
    <p:sldId id="347" r:id="rId56"/>
    <p:sldId id="348" r:id="rId57"/>
    <p:sldId id="349" r:id="rId58"/>
    <p:sldId id="350" r:id="rId59"/>
    <p:sldId id="351" r:id="rId60"/>
    <p:sldId id="352" r:id="rId61"/>
    <p:sldId id="353" r:id="rId62"/>
    <p:sldId id="354" r:id="rId63"/>
    <p:sldId id="355" r:id="rId64"/>
    <p:sldId id="356" r:id="rId65"/>
    <p:sldId id="357" r:id="rId66"/>
    <p:sldId id="358" r:id="rId67"/>
    <p:sldId id="359" r:id="rId68"/>
    <p:sldId id="360" r:id="rId69"/>
    <p:sldId id="361" r:id="rId70"/>
    <p:sldId id="362" r:id="rId71"/>
    <p:sldId id="363" r:id="rId72"/>
    <p:sldId id="364" r:id="rId73"/>
    <p:sldId id="365" r:id="rId74"/>
    <p:sldId id="366" r:id="rId75"/>
    <p:sldId id="367" r:id="rId76"/>
    <p:sldId id="368" r:id="rId77"/>
    <p:sldId id="369" r:id="rId78"/>
    <p:sldId id="370" r:id="rId79"/>
    <p:sldId id="371" r:id="rId80"/>
    <p:sldId id="372" r:id="rId81"/>
    <p:sldId id="373" r:id="rId82"/>
    <p:sldId id="374" r:id="rId83"/>
    <p:sldId id="375" r:id="rId84"/>
    <p:sldId id="376" r:id="rId85"/>
    <p:sldId id="377" r:id="rId86"/>
    <p:sldId id="378" r:id="rId87"/>
    <p:sldId id="379" r:id="rId88"/>
    <p:sldId id="380" r:id="rId89"/>
    <p:sldId id="381" r:id="rId90"/>
    <p:sldId id="382" r:id="rId9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FF1C0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rgbClr val="FF1C0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38125" y="6653212"/>
            <a:ext cx="11698605" cy="0"/>
          </a:xfrm>
          <a:custGeom>
            <a:avLst/>
            <a:gdLst/>
            <a:ahLst/>
            <a:cxnLst/>
            <a:rect l="l" t="t" r="r" b="b"/>
            <a:pathLst>
              <a:path w="11698605">
                <a:moveTo>
                  <a:pt x="0" y="0"/>
                </a:moveTo>
                <a:lnTo>
                  <a:pt x="11698097" y="0"/>
                </a:lnTo>
              </a:path>
            </a:pathLst>
          </a:custGeom>
          <a:ln w="47625">
            <a:solidFill>
              <a:srgbClr val="CE31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66700" y="257175"/>
            <a:ext cx="0" cy="6421120"/>
          </a:xfrm>
          <a:custGeom>
            <a:avLst/>
            <a:gdLst/>
            <a:ahLst/>
            <a:cxnLst/>
            <a:rect l="l" t="t" r="r" b="b"/>
            <a:pathLst>
              <a:path h="6421120">
                <a:moveTo>
                  <a:pt x="0" y="0"/>
                </a:moveTo>
                <a:lnTo>
                  <a:pt x="0" y="6420535"/>
                </a:lnTo>
              </a:path>
            </a:pathLst>
          </a:custGeom>
          <a:ln w="38099">
            <a:solidFill>
              <a:srgbClr val="CE31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47650" y="219075"/>
            <a:ext cx="11698605" cy="6421120"/>
          </a:xfrm>
          <a:custGeom>
            <a:avLst/>
            <a:gdLst/>
            <a:ahLst/>
            <a:cxnLst/>
            <a:rect l="l" t="t" r="r" b="b"/>
            <a:pathLst>
              <a:path w="11698605" h="6421120">
                <a:moveTo>
                  <a:pt x="0" y="38100"/>
                </a:moveTo>
                <a:lnTo>
                  <a:pt x="11698097" y="38100"/>
                </a:lnTo>
              </a:path>
              <a:path w="11698605" h="6421120">
                <a:moveTo>
                  <a:pt x="11668125" y="0"/>
                </a:moveTo>
                <a:lnTo>
                  <a:pt x="11668125" y="6420535"/>
                </a:lnTo>
              </a:path>
            </a:pathLst>
          </a:custGeom>
          <a:ln w="57150">
            <a:solidFill>
              <a:srgbClr val="CE315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11944350" y="0"/>
                </a:lnTo>
                <a:lnTo>
                  <a:pt x="11944350" y="228600"/>
                </a:lnTo>
                <a:lnTo>
                  <a:pt x="11944350" y="6677025"/>
                </a:lnTo>
                <a:lnTo>
                  <a:pt x="247650" y="6677025"/>
                </a:lnTo>
                <a:lnTo>
                  <a:pt x="247650" y="228600"/>
                </a:lnTo>
                <a:lnTo>
                  <a:pt x="11944350" y="228600"/>
                </a:lnTo>
                <a:lnTo>
                  <a:pt x="11944350" y="0"/>
                </a:lnTo>
                <a:lnTo>
                  <a:pt x="0" y="0"/>
                </a:lnTo>
                <a:lnTo>
                  <a:pt x="0" y="228600"/>
                </a:lnTo>
                <a:lnTo>
                  <a:pt x="0" y="667702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77025"/>
                </a:lnTo>
                <a:lnTo>
                  <a:pt x="12192000" y="2286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EA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0" y="38100"/>
                </a:lnTo>
                <a:lnTo>
                  <a:pt x="0" y="6858000"/>
                </a:lnTo>
                <a:lnTo>
                  <a:pt x="38100" y="6858000"/>
                </a:lnTo>
                <a:lnTo>
                  <a:pt x="38100" y="38100"/>
                </a:lnTo>
                <a:lnTo>
                  <a:pt x="12163425" y="38100"/>
                </a:lnTo>
                <a:lnTo>
                  <a:pt x="12163425" y="6858000"/>
                </a:lnTo>
                <a:lnTo>
                  <a:pt x="12192000" y="6858000"/>
                </a:lnTo>
                <a:lnTo>
                  <a:pt x="12192000" y="38100"/>
                </a:lnTo>
                <a:lnTo>
                  <a:pt x="12192000" y="95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1C0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8950" y="300736"/>
            <a:ext cx="11214100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CE315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65454" y="1209039"/>
            <a:ext cx="11261090" cy="3854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rgbClr val="FF1C05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4" dirty="0"/>
              <a:t> </a:t>
            </a:r>
            <a:r>
              <a:rPr sz="3600" spc="75" dirty="0"/>
              <a:t>Modelling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642363"/>
            <a:ext cx="11236325" cy="3869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 algn="just">
              <a:lnSpc>
                <a:spcPct val="1525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60" dirty="0">
                <a:latin typeface="Cambria"/>
                <a:cs typeface="Cambria"/>
              </a:rPr>
              <a:t>	System</a:t>
            </a:r>
            <a:r>
              <a:rPr sz="2750" spc="229" dirty="0">
                <a:latin typeface="Cambria"/>
                <a:cs typeface="Cambria"/>
              </a:rPr>
              <a:t>  </a:t>
            </a:r>
            <a:r>
              <a:rPr sz="2750" spc="90" dirty="0">
                <a:latin typeface="Cambria"/>
                <a:cs typeface="Cambria"/>
              </a:rPr>
              <a:t>modeling</a:t>
            </a:r>
            <a:r>
              <a:rPr sz="2750" spc="23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refers</a:t>
            </a:r>
            <a:r>
              <a:rPr sz="2750" spc="20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22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215" dirty="0"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C00000"/>
                </a:solidFill>
                <a:latin typeface="Cambria"/>
                <a:cs typeface="Cambria"/>
              </a:rPr>
              <a:t>process</a:t>
            </a:r>
            <a:r>
              <a:rPr sz="2750" spc="204" dirty="0">
                <a:solidFill>
                  <a:srgbClr val="C00000"/>
                </a:solidFill>
                <a:latin typeface="Cambria"/>
                <a:cs typeface="Cambria"/>
              </a:rPr>
              <a:t>  </a:t>
            </a:r>
            <a:r>
              <a:rPr sz="2750" spc="55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750" spc="235" dirty="0">
                <a:solidFill>
                  <a:srgbClr val="C00000"/>
                </a:solidFill>
                <a:latin typeface="Cambria"/>
                <a:cs typeface="Cambria"/>
              </a:rPr>
              <a:t>  </a:t>
            </a:r>
            <a:r>
              <a:rPr sz="2750" spc="90" dirty="0">
                <a:solidFill>
                  <a:srgbClr val="C00000"/>
                </a:solidFill>
                <a:latin typeface="Cambria"/>
                <a:cs typeface="Cambria"/>
              </a:rPr>
              <a:t>developing</a:t>
            </a:r>
            <a:r>
              <a:rPr sz="2750" spc="225" dirty="0">
                <a:solidFill>
                  <a:srgbClr val="C00000"/>
                </a:solidFill>
                <a:latin typeface="Cambria"/>
                <a:cs typeface="Cambria"/>
              </a:rPr>
              <a:t>  </a:t>
            </a:r>
            <a:r>
              <a:rPr sz="2750" spc="75" dirty="0">
                <a:solidFill>
                  <a:srgbClr val="C00000"/>
                </a:solidFill>
                <a:latin typeface="Cambria"/>
                <a:cs typeface="Cambria"/>
              </a:rPr>
              <a:t>simplified, </a:t>
            </a:r>
            <a:r>
              <a:rPr sz="2750" dirty="0">
                <a:solidFill>
                  <a:srgbClr val="C00000"/>
                </a:solidFill>
                <a:latin typeface="Cambria"/>
                <a:cs typeface="Cambria"/>
              </a:rPr>
              <a:t>abstract</a:t>
            </a:r>
            <a:r>
              <a:rPr sz="2750" spc="4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C00000"/>
                </a:solidFill>
                <a:latin typeface="Cambria"/>
                <a:cs typeface="Cambria"/>
              </a:rPr>
              <a:t>representations</a:t>
            </a:r>
            <a:r>
              <a:rPr sz="2750" spc="42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750" spc="4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C00000"/>
                </a:solidFill>
                <a:latin typeface="Cambria"/>
                <a:cs typeface="Cambria"/>
              </a:rPr>
              <a:t>a</a:t>
            </a:r>
            <a:r>
              <a:rPr sz="2750" spc="4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C00000"/>
                </a:solidFill>
                <a:latin typeface="Cambria"/>
                <a:cs typeface="Cambria"/>
              </a:rPr>
              <a:t>system's</a:t>
            </a:r>
            <a:r>
              <a:rPr sz="2750" spc="4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spc="60" dirty="0">
                <a:solidFill>
                  <a:srgbClr val="C00000"/>
                </a:solidFill>
                <a:latin typeface="Cambria"/>
                <a:cs typeface="Cambria"/>
              </a:rPr>
              <a:t>components,</a:t>
            </a:r>
            <a:r>
              <a:rPr sz="2750" spc="43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C00000"/>
                </a:solidFill>
                <a:latin typeface="Cambria"/>
                <a:cs typeface="Cambria"/>
              </a:rPr>
              <a:t>their</a:t>
            </a:r>
            <a:r>
              <a:rPr sz="2750" spc="3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C00000"/>
                </a:solidFill>
                <a:latin typeface="Cambria"/>
                <a:cs typeface="Cambria"/>
              </a:rPr>
              <a:t>interactions, </a:t>
            </a:r>
            <a:r>
              <a:rPr sz="2750" spc="8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750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spc="40" dirty="0">
                <a:solidFill>
                  <a:srgbClr val="C00000"/>
                </a:solidFill>
                <a:latin typeface="Cambria"/>
                <a:cs typeface="Cambria"/>
              </a:rPr>
              <a:t>behaviors</a:t>
            </a:r>
            <a:r>
              <a:rPr sz="2750" spc="4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3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10795" indent="-229235" algn="just">
              <a:lnSpc>
                <a:spcPct val="1548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dirty="0">
                <a:latin typeface="Cambria"/>
                <a:cs typeface="Cambria"/>
              </a:rPr>
              <a:t>	These</a:t>
            </a:r>
            <a:r>
              <a:rPr sz="2750" spc="590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models</a:t>
            </a:r>
            <a:r>
              <a:rPr sz="2750" spc="59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serve</a:t>
            </a:r>
            <a:r>
              <a:rPr sz="2750" spc="57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as</a:t>
            </a:r>
            <a:r>
              <a:rPr sz="2750" spc="58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tools</a:t>
            </a:r>
            <a:r>
              <a:rPr sz="2750" spc="57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580" dirty="0">
                <a:latin typeface="Cambria"/>
                <a:cs typeface="Cambria"/>
              </a:rPr>
              <a:t>  </a:t>
            </a:r>
            <a:r>
              <a:rPr sz="2750" spc="90" dirty="0">
                <a:solidFill>
                  <a:srgbClr val="C00000"/>
                </a:solidFill>
                <a:latin typeface="Cambria"/>
                <a:cs typeface="Cambria"/>
              </a:rPr>
              <a:t>visualizing,</a:t>
            </a:r>
            <a:r>
              <a:rPr sz="2750" spc="590" dirty="0">
                <a:solidFill>
                  <a:srgbClr val="C00000"/>
                </a:solidFill>
                <a:latin typeface="Cambria"/>
                <a:cs typeface="Cambria"/>
              </a:rPr>
              <a:t>  </a:t>
            </a:r>
            <a:r>
              <a:rPr sz="2750" spc="80" dirty="0">
                <a:solidFill>
                  <a:srgbClr val="C00000"/>
                </a:solidFill>
                <a:latin typeface="Cambria"/>
                <a:cs typeface="Cambria"/>
              </a:rPr>
              <a:t>specifying,</a:t>
            </a:r>
            <a:r>
              <a:rPr sz="2750" spc="600" dirty="0">
                <a:solidFill>
                  <a:srgbClr val="C00000"/>
                </a:solidFill>
                <a:latin typeface="Cambria"/>
                <a:cs typeface="Cambria"/>
              </a:rPr>
              <a:t>  </a:t>
            </a:r>
            <a:r>
              <a:rPr sz="2750" spc="60" dirty="0">
                <a:solidFill>
                  <a:srgbClr val="C00000"/>
                </a:solidFill>
                <a:latin typeface="Cambria"/>
                <a:cs typeface="Cambria"/>
              </a:rPr>
              <a:t>and </a:t>
            </a:r>
            <a:r>
              <a:rPr sz="2750" spc="85" dirty="0">
                <a:solidFill>
                  <a:srgbClr val="C00000"/>
                </a:solidFill>
                <a:latin typeface="Cambria"/>
                <a:cs typeface="Cambria"/>
              </a:rPr>
              <a:t>validating</a:t>
            </a:r>
            <a:r>
              <a:rPr sz="2750" spc="19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C00000"/>
                </a:solidFill>
                <a:latin typeface="Cambria"/>
                <a:cs typeface="Cambria"/>
              </a:rPr>
              <a:t>system</a:t>
            </a:r>
            <a:r>
              <a:rPr sz="2750" spc="19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C00000"/>
                </a:solidFill>
                <a:latin typeface="Cambria"/>
                <a:cs typeface="Cambria"/>
              </a:rPr>
              <a:t>requirements</a:t>
            </a:r>
            <a:r>
              <a:rPr sz="2750" spc="20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C00000"/>
                </a:solidFill>
                <a:latin typeface="Cambria"/>
                <a:cs typeface="Cambria"/>
              </a:rPr>
              <a:t>and</a:t>
            </a:r>
            <a:r>
              <a:rPr sz="2750" spc="2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C00000"/>
                </a:solidFill>
                <a:latin typeface="Cambria"/>
                <a:cs typeface="Cambria"/>
              </a:rPr>
              <a:t>design</a:t>
            </a:r>
            <a:r>
              <a:rPr sz="2750" spc="75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45" dirty="0"/>
              <a:t> </a:t>
            </a:r>
            <a:r>
              <a:rPr sz="3600" spc="85" dirty="0"/>
              <a:t>Modelling</a:t>
            </a:r>
            <a:r>
              <a:rPr sz="3600" spc="280" dirty="0"/>
              <a:t> </a:t>
            </a:r>
            <a:r>
              <a:rPr sz="3600" spc="80" dirty="0"/>
              <a:t>-</a:t>
            </a:r>
            <a:r>
              <a:rPr sz="3600" spc="285" dirty="0"/>
              <a:t> </a:t>
            </a:r>
            <a:r>
              <a:rPr sz="3600" spc="150" dirty="0"/>
              <a:t>Purpose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28554"/>
            <a:ext cx="11242675" cy="5175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8890" indent="-233045" algn="just">
              <a:lnSpc>
                <a:spcPct val="130000"/>
              </a:lnSpc>
              <a:spcBef>
                <a:spcPts val="90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	Understanding</a:t>
            </a:r>
            <a:r>
              <a:rPr sz="2600" b="1" spc="270" dirty="0">
                <a:solidFill>
                  <a:srgbClr val="C00000"/>
                </a:solidFill>
                <a:latin typeface="Palatino Linotype"/>
                <a:cs typeface="Palatino Linotype"/>
              </a:rPr>
              <a:t>   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and</a:t>
            </a:r>
            <a:r>
              <a:rPr sz="2600" b="1" spc="245" dirty="0">
                <a:solidFill>
                  <a:srgbClr val="C00000"/>
                </a:solidFill>
                <a:latin typeface="Palatino Linotype"/>
                <a:cs typeface="Palatino Linotype"/>
              </a:rPr>
              <a:t>   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Analysis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340" dirty="0">
                <a:latin typeface="Cambria"/>
                <a:cs typeface="Cambria"/>
              </a:rPr>
              <a:t>  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340" dirty="0">
                <a:latin typeface="Cambria"/>
                <a:cs typeface="Cambria"/>
              </a:rPr>
              <a:t>   </a:t>
            </a:r>
            <a:r>
              <a:rPr sz="2600" spc="55" dirty="0">
                <a:latin typeface="Cambria"/>
                <a:cs typeface="Cambria"/>
              </a:rPr>
              <a:t>models</a:t>
            </a:r>
            <a:r>
              <a:rPr sz="2600" spc="335" dirty="0">
                <a:latin typeface="Cambria"/>
                <a:cs typeface="Cambria"/>
              </a:rPr>
              <a:t>   </a:t>
            </a:r>
            <a:r>
              <a:rPr sz="2600" spc="50" dirty="0">
                <a:latin typeface="Cambria"/>
                <a:cs typeface="Cambria"/>
              </a:rPr>
              <a:t>help</a:t>
            </a:r>
            <a:r>
              <a:rPr sz="2600" spc="340" dirty="0">
                <a:latin typeface="Cambria"/>
                <a:cs typeface="Cambria"/>
              </a:rPr>
              <a:t>   </a:t>
            </a:r>
            <a:r>
              <a:rPr sz="2600" spc="-10" dirty="0">
                <a:latin typeface="Cambria"/>
                <a:cs typeface="Cambria"/>
              </a:rPr>
              <a:t>stakeholders </a:t>
            </a:r>
            <a:r>
              <a:rPr sz="2600" dirty="0">
                <a:latin typeface="Cambria"/>
                <a:cs typeface="Cambria"/>
              </a:rPr>
              <a:t>comprehend</a:t>
            </a:r>
            <a:r>
              <a:rPr sz="2600" spc="7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40" dirty="0">
                <a:latin typeface="Cambria"/>
                <a:cs typeface="Cambria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structure</a:t>
            </a:r>
            <a:r>
              <a:rPr sz="2600" b="1" spc="62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and</a:t>
            </a:r>
            <a:r>
              <a:rPr sz="2600" b="1" spc="57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behavior</a:t>
            </a:r>
            <a:r>
              <a:rPr sz="2600" b="1" spc="64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of</a:t>
            </a:r>
            <a:r>
              <a:rPr sz="2600" b="1" spc="645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the</a:t>
            </a:r>
            <a:r>
              <a:rPr sz="2600" b="1" spc="595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system</a:t>
            </a:r>
            <a:r>
              <a:rPr sz="2600" dirty="0">
                <a:latin typeface="Cambria"/>
                <a:cs typeface="Cambria"/>
              </a:rPr>
              <a:t>,</a:t>
            </a:r>
            <a:r>
              <a:rPr sz="2600" spc="6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breaking</a:t>
            </a:r>
            <a:r>
              <a:rPr sz="2600" spc="40" dirty="0">
                <a:latin typeface="Cambria"/>
                <a:cs typeface="Cambria"/>
              </a:rPr>
              <a:t>  </a:t>
            </a:r>
            <a:r>
              <a:rPr sz="2600" spc="75" dirty="0">
                <a:latin typeface="Cambria"/>
                <a:cs typeface="Cambria"/>
              </a:rPr>
              <a:t>down </a:t>
            </a:r>
            <a:r>
              <a:rPr sz="2600" spc="50" dirty="0">
                <a:latin typeface="Cambria"/>
                <a:cs typeface="Cambria"/>
              </a:rPr>
              <a:t>complexity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into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manageable</a:t>
            </a:r>
            <a:r>
              <a:rPr sz="2600" spc="28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parts.</a:t>
            </a:r>
            <a:endParaRPr sz="2600">
              <a:latin typeface="Cambria"/>
              <a:cs typeface="Cambria"/>
            </a:endParaRPr>
          </a:p>
          <a:p>
            <a:pPr marL="241300" marR="12700" indent="-233045" algn="just">
              <a:lnSpc>
                <a:spcPct val="130000"/>
              </a:lnSpc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	Communication</a:t>
            </a:r>
            <a:r>
              <a:rPr sz="2600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2600" spc="390" dirty="0">
                <a:solidFill>
                  <a:srgbClr val="C00000"/>
                </a:solidFill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They</a:t>
            </a:r>
            <a:r>
              <a:rPr sz="2600" spc="385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provide</a:t>
            </a:r>
            <a:r>
              <a:rPr sz="2600" spc="37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390" dirty="0">
                <a:latin typeface="Cambria"/>
                <a:cs typeface="Cambria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common</a:t>
            </a:r>
            <a:r>
              <a:rPr sz="2600" b="1" spc="295" dirty="0">
                <a:latin typeface="Palatino Linotype"/>
                <a:cs typeface="Palatino Linotype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language</a:t>
            </a:r>
            <a:r>
              <a:rPr sz="2600" b="1" spc="315" dirty="0">
                <a:latin typeface="Palatino Linotype"/>
                <a:cs typeface="Palatino Linotype"/>
              </a:rPr>
              <a:t>  </a:t>
            </a:r>
            <a:r>
              <a:rPr sz="2600" dirty="0">
                <a:latin typeface="Cambria"/>
                <a:cs typeface="Cambria"/>
              </a:rPr>
              <a:t>that</a:t>
            </a:r>
            <a:r>
              <a:rPr sz="2600" spc="385" dirty="0">
                <a:latin typeface="Cambria"/>
                <a:cs typeface="Cambria"/>
              </a:rPr>
              <a:t>  </a:t>
            </a:r>
            <a:r>
              <a:rPr sz="2600" spc="-10" dirty="0">
                <a:latin typeface="Cambria"/>
                <a:cs typeface="Cambria"/>
              </a:rPr>
              <a:t>facilitates </a:t>
            </a:r>
            <a:r>
              <a:rPr sz="2600" b="1" dirty="0">
                <a:latin typeface="Palatino Linotype"/>
                <a:cs typeface="Palatino Linotype"/>
              </a:rPr>
              <a:t>discussions</a:t>
            </a:r>
            <a:r>
              <a:rPr sz="2600" b="1" spc="19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among</a:t>
            </a:r>
            <a:r>
              <a:rPr sz="2600" b="1" spc="14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developers,</a:t>
            </a:r>
            <a:r>
              <a:rPr sz="2600" b="1" spc="19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clients,</a:t>
            </a:r>
            <a:r>
              <a:rPr sz="2600" b="1" spc="14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and</a:t>
            </a:r>
            <a:r>
              <a:rPr sz="2600" b="1" spc="12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other</a:t>
            </a:r>
            <a:r>
              <a:rPr sz="2600" b="1" spc="19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stakeholders</a:t>
            </a:r>
            <a:r>
              <a:rPr sz="2600" dirty="0">
                <a:latin typeface="Cambria"/>
                <a:cs typeface="Cambria"/>
              </a:rPr>
              <a:t>,</a:t>
            </a:r>
            <a:r>
              <a:rPr sz="2600" spc="24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ensuring </a:t>
            </a:r>
            <a:r>
              <a:rPr sz="2600" dirty="0">
                <a:latin typeface="Cambria"/>
                <a:cs typeface="Cambria"/>
              </a:rPr>
              <a:t>everyone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has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shared</a:t>
            </a:r>
            <a:r>
              <a:rPr sz="2600" b="1" spc="5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understanding</a:t>
            </a:r>
            <a:r>
              <a:rPr sz="2600" b="1" spc="1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of</a:t>
            </a:r>
            <a:r>
              <a:rPr sz="2600" b="1" spc="7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the</a:t>
            </a:r>
            <a:r>
              <a:rPr sz="2600" b="1" spc="15" dirty="0">
                <a:latin typeface="Palatino Linotype"/>
                <a:cs typeface="Palatino Linotype"/>
              </a:rPr>
              <a:t> </a:t>
            </a:r>
            <a:r>
              <a:rPr sz="2600" b="1" spc="-10" dirty="0">
                <a:latin typeface="Palatino Linotype"/>
                <a:cs typeface="Palatino Linotype"/>
              </a:rPr>
              <a:t>system</a:t>
            </a:r>
            <a:r>
              <a:rPr sz="2600" spc="-10" dirty="0">
                <a:latin typeface="Cambria"/>
                <a:cs typeface="Cambria"/>
              </a:rPr>
              <a:t>.</a:t>
            </a:r>
            <a:endParaRPr sz="2600">
              <a:latin typeface="Cambria"/>
              <a:cs typeface="Cambria"/>
            </a:endParaRPr>
          </a:p>
          <a:p>
            <a:pPr marL="241300" marR="5080" indent="-232410" algn="just">
              <a:lnSpc>
                <a:spcPct val="130000"/>
              </a:lnSpc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	Specification</a:t>
            </a:r>
            <a:r>
              <a:rPr sz="2600" dirty="0">
                <a:solidFill>
                  <a:srgbClr val="C00000"/>
                </a:solidFill>
                <a:latin typeface="Cambria"/>
                <a:cs typeface="Cambria"/>
              </a:rPr>
              <a:t>:</a:t>
            </a:r>
            <a:r>
              <a:rPr sz="2600" spc="505" dirty="0">
                <a:solidFill>
                  <a:srgbClr val="C00000"/>
                </a:solidFill>
                <a:latin typeface="Cambria"/>
                <a:cs typeface="Cambria"/>
              </a:rPr>
              <a:t>    </a:t>
            </a:r>
            <a:r>
              <a:rPr sz="2600" spc="95" dirty="0">
                <a:latin typeface="Cambria"/>
                <a:cs typeface="Cambria"/>
              </a:rPr>
              <a:t>Models</a:t>
            </a:r>
            <a:r>
              <a:rPr sz="2600" spc="505" dirty="0">
                <a:latin typeface="Cambria"/>
                <a:cs typeface="Cambria"/>
              </a:rPr>
              <a:t>    </a:t>
            </a:r>
            <a:r>
              <a:rPr sz="2600" b="1" dirty="0">
                <a:latin typeface="Palatino Linotype"/>
                <a:cs typeface="Palatino Linotype"/>
              </a:rPr>
              <a:t>capture</a:t>
            </a:r>
            <a:r>
              <a:rPr sz="2600" b="1" spc="425" dirty="0">
                <a:latin typeface="Palatino Linotype"/>
                <a:cs typeface="Palatino Linotype"/>
              </a:rPr>
              <a:t>    </a:t>
            </a:r>
            <a:r>
              <a:rPr sz="2600" b="1" dirty="0">
                <a:latin typeface="Palatino Linotype"/>
                <a:cs typeface="Palatino Linotype"/>
              </a:rPr>
              <a:t>essential</a:t>
            </a:r>
            <a:r>
              <a:rPr sz="2600" b="1" spc="420" dirty="0">
                <a:latin typeface="Palatino Linotype"/>
                <a:cs typeface="Palatino Linotype"/>
              </a:rPr>
              <a:t>    </a:t>
            </a:r>
            <a:r>
              <a:rPr sz="2600" b="1" dirty="0">
                <a:latin typeface="Palatino Linotype"/>
                <a:cs typeface="Palatino Linotype"/>
              </a:rPr>
              <a:t>requirements</a:t>
            </a:r>
            <a:r>
              <a:rPr sz="2600" b="1" spc="440" dirty="0">
                <a:latin typeface="Palatino Linotype"/>
                <a:cs typeface="Palatino Linotype"/>
              </a:rPr>
              <a:t>    </a:t>
            </a:r>
            <a:r>
              <a:rPr sz="2600" b="1" spc="-25" dirty="0">
                <a:latin typeface="Palatino Linotype"/>
                <a:cs typeface="Palatino Linotype"/>
              </a:rPr>
              <a:t>and </a:t>
            </a:r>
            <a:r>
              <a:rPr sz="2600" b="1" dirty="0">
                <a:latin typeface="Palatino Linotype"/>
                <a:cs typeface="Palatino Linotype"/>
              </a:rPr>
              <a:t>functionalities</a:t>
            </a:r>
            <a:r>
              <a:rPr sz="2600" dirty="0">
                <a:latin typeface="Cambria"/>
                <a:cs typeface="Cambria"/>
              </a:rPr>
              <a:t>,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guiding</a:t>
            </a:r>
            <a:r>
              <a:rPr sz="2600" spc="1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development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process.</a:t>
            </a:r>
            <a:endParaRPr sz="2600">
              <a:latin typeface="Cambria"/>
              <a:cs typeface="Cambria"/>
            </a:endParaRPr>
          </a:p>
          <a:p>
            <a:pPr marL="241300" marR="11430" indent="-233045" algn="just">
              <a:lnSpc>
                <a:spcPct val="130000"/>
              </a:lnSpc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	Validation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565" dirty="0"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They</a:t>
            </a:r>
            <a:r>
              <a:rPr sz="2600" spc="565" dirty="0">
                <a:latin typeface="Cambria"/>
                <a:cs typeface="Cambria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enable</a:t>
            </a:r>
            <a:r>
              <a:rPr sz="2600" b="1" spc="470" dirty="0">
                <a:latin typeface="Palatino Linotype"/>
                <a:cs typeface="Palatino Linotype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testing</a:t>
            </a:r>
            <a:r>
              <a:rPr sz="2600" b="1" spc="495" dirty="0">
                <a:latin typeface="Palatino Linotype"/>
                <a:cs typeface="Palatino Linotype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of</a:t>
            </a:r>
            <a:r>
              <a:rPr sz="2600" b="1" spc="500" dirty="0">
                <a:latin typeface="Palatino Linotype"/>
                <a:cs typeface="Palatino Linotype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the</a:t>
            </a:r>
            <a:r>
              <a:rPr sz="2600" b="1" spc="475" dirty="0">
                <a:latin typeface="Palatino Linotype"/>
                <a:cs typeface="Palatino Linotype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system's</a:t>
            </a:r>
            <a:r>
              <a:rPr sz="2600" b="1" spc="459" dirty="0">
                <a:latin typeface="Palatino Linotype"/>
                <a:cs typeface="Palatino Linotype"/>
              </a:rPr>
              <a:t>  </a:t>
            </a:r>
            <a:r>
              <a:rPr sz="2600" b="1" dirty="0">
                <a:latin typeface="Palatino Linotype"/>
                <a:cs typeface="Palatino Linotype"/>
              </a:rPr>
              <a:t>design</a:t>
            </a:r>
            <a:r>
              <a:rPr sz="2600" b="1" spc="470" dirty="0">
                <a:latin typeface="Palatino Linotype"/>
                <a:cs typeface="Palatino Linotype"/>
              </a:rPr>
              <a:t>  </a:t>
            </a:r>
            <a:r>
              <a:rPr sz="2600" b="1" spc="-10" dirty="0">
                <a:latin typeface="Palatino Linotype"/>
                <a:cs typeface="Palatino Linotype"/>
              </a:rPr>
              <a:t>against </a:t>
            </a:r>
            <a:r>
              <a:rPr sz="2600" b="1" dirty="0">
                <a:latin typeface="Palatino Linotype"/>
                <a:cs typeface="Palatino Linotype"/>
              </a:rPr>
              <a:t>requirements</a:t>
            </a:r>
            <a:r>
              <a:rPr sz="2600" b="1" spc="75" dirty="0">
                <a:latin typeface="Palatino Linotype"/>
                <a:cs typeface="Palatino Linotype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ensure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it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meets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stakeholder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expectations.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45" dirty="0"/>
              <a:t> </a:t>
            </a:r>
            <a:r>
              <a:rPr sz="3600" spc="85" dirty="0"/>
              <a:t>Modelling</a:t>
            </a:r>
            <a:r>
              <a:rPr sz="3600" spc="280" dirty="0"/>
              <a:t> </a:t>
            </a:r>
            <a:r>
              <a:rPr sz="3600" spc="80" dirty="0"/>
              <a:t>-</a:t>
            </a:r>
            <a:r>
              <a:rPr sz="3600" spc="285" dirty="0"/>
              <a:t> </a:t>
            </a:r>
            <a:r>
              <a:rPr sz="3600" spc="95" dirty="0"/>
              <a:t>Models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352550" y="2143125"/>
            <a:ext cx="9293225" cy="1771014"/>
            <a:chOff x="1352550" y="2143125"/>
            <a:chExt cx="9293225" cy="1771014"/>
          </a:xfrm>
        </p:grpSpPr>
        <p:sp>
          <p:nvSpPr>
            <p:cNvPr id="4" name="object 4"/>
            <p:cNvSpPr/>
            <p:nvPr/>
          </p:nvSpPr>
          <p:spPr>
            <a:xfrm>
              <a:off x="1362075" y="3352800"/>
              <a:ext cx="9274175" cy="551815"/>
            </a:xfrm>
            <a:custGeom>
              <a:avLst/>
              <a:gdLst/>
              <a:ahLst/>
              <a:cxnLst/>
              <a:rect l="l" t="t" r="r" b="b"/>
              <a:pathLst>
                <a:path w="9274175" h="551814">
                  <a:moveTo>
                    <a:pt x="4638675" y="0"/>
                  </a:moveTo>
                  <a:lnTo>
                    <a:pt x="4638675" y="375793"/>
                  </a:lnTo>
                  <a:lnTo>
                    <a:pt x="9274048" y="375793"/>
                  </a:lnTo>
                  <a:lnTo>
                    <a:pt x="9274048" y="551561"/>
                  </a:lnTo>
                </a:path>
                <a:path w="9274175" h="551814">
                  <a:moveTo>
                    <a:pt x="4638675" y="0"/>
                  </a:moveTo>
                  <a:lnTo>
                    <a:pt x="4638675" y="375793"/>
                  </a:lnTo>
                  <a:lnTo>
                    <a:pt x="6956425" y="375793"/>
                  </a:lnTo>
                  <a:lnTo>
                    <a:pt x="6956425" y="551561"/>
                  </a:lnTo>
                </a:path>
                <a:path w="9274175" h="551814">
                  <a:moveTo>
                    <a:pt x="4636770" y="0"/>
                  </a:moveTo>
                  <a:lnTo>
                    <a:pt x="4636770" y="551561"/>
                  </a:lnTo>
                </a:path>
                <a:path w="9274175" h="551814">
                  <a:moveTo>
                    <a:pt x="4632325" y="0"/>
                  </a:moveTo>
                  <a:lnTo>
                    <a:pt x="4632325" y="375793"/>
                  </a:lnTo>
                  <a:lnTo>
                    <a:pt x="2314575" y="375793"/>
                  </a:lnTo>
                  <a:lnTo>
                    <a:pt x="2314575" y="551561"/>
                  </a:lnTo>
                </a:path>
                <a:path w="9274175" h="551814">
                  <a:moveTo>
                    <a:pt x="4635373" y="0"/>
                  </a:moveTo>
                  <a:lnTo>
                    <a:pt x="4635373" y="375793"/>
                  </a:lnTo>
                  <a:lnTo>
                    <a:pt x="0" y="375793"/>
                  </a:lnTo>
                  <a:lnTo>
                    <a:pt x="0" y="551561"/>
                  </a:lnTo>
                </a:path>
              </a:pathLst>
            </a:custGeom>
            <a:ln w="19050">
              <a:solidFill>
                <a:srgbClr val="CAA0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048250" y="21526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48250" y="21526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57800" y="23526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257800" y="23526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692394" y="2535872"/>
            <a:ext cx="1038860" cy="75628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5240" marR="5080" indent="-3175">
              <a:lnSpc>
                <a:spcPts val="2780"/>
              </a:lnSpc>
              <a:spcBef>
                <a:spcPts val="350"/>
              </a:spcBef>
            </a:pPr>
            <a:r>
              <a:rPr sz="2450" spc="-10" dirty="0">
                <a:latin typeface="Trebuchet MS"/>
                <a:cs typeface="Trebuchet MS"/>
              </a:rPr>
              <a:t>System </a:t>
            </a:r>
            <a:r>
              <a:rPr sz="2450" spc="55" dirty="0">
                <a:latin typeface="Trebuchet MS"/>
                <a:cs typeface="Trebuchet MS"/>
              </a:rPr>
              <a:t>Models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0050" y="3895725"/>
            <a:ext cx="2133600" cy="1419225"/>
            <a:chOff x="400050" y="3895725"/>
            <a:chExt cx="2133600" cy="1419225"/>
          </a:xfrm>
        </p:grpSpPr>
        <p:sp>
          <p:nvSpPr>
            <p:cNvPr id="11" name="object 11"/>
            <p:cNvSpPr/>
            <p:nvPr/>
          </p:nvSpPr>
          <p:spPr>
            <a:xfrm>
              <a:off x="409575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60" y="0"/>
                  </a:moveTo>
                  <a:lnTo>
                    <a:pt x="120015" y="0"/>
                  </a:lnTo>
                  <a:lnTo>
                    <a:pt x="73300" y="9429"/>
                  </a:lnTo>
                  <a:lnTo>
                    <a:pt x="35152" y="35147"/>
                  </a:lnTo>
                  <a:lnTo>
                    <a:pt x="9431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31" y="1126855"/>
                  </a:lnTo>
                  <a:lnTo>
                    <a:pt x="35152" y="1165002"/>
                  </a:lnTo>
                  <a:lnTo>
                    <a:pt x="73300" y="1190720"/>
                  </a:lnTo>
                  <a:lnTo>
                    <a:pt x="120015" y="1200150"/>
                  </a:lnTo>
                  <a:lnTo>
                    <a:pt x="1775460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60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575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31" y="73294"/>
                  </a:lnTo>
                  <a:lnTo>
                    <a:pt x="35152" y="35147"/>
                  </a:lnTo>
                  <a:lnTo>
                    <a:pt x="73300" y="9429"/>
                  </a:lnTo>
                  <a:lnTo>
                    <a:pt x="120015" y="0"/>
                  </a:lnTo>
                  <a:lnTo>
                    <a:pt x="1775460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60" y="1200150"/>
                  </a:lnTo>
                  <a:lnTo>
                    <a:pt x="120015" y="1200150"/>
                  </a:lnTo>
                  <a:lnTo>
                    <a:pt x="73300" y="1190720"/>
                  </a:lnTo>
                  <a:lnTo>
                    <a:pt x="35152" y="1165002"/>
                  </a:lnTo>
                  <a:lnTo>
                    <a:pt x="9431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8650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60" y="0"/>
                  </a:moveTo>
                  <a:lnTo>
                    <a:pt x="120015" y="0"/>
                  </a:lnTo>
                  <a:lnTo>
                    <a:pt x="73300" y="9429"/>
                  </a:lnTo>
                  <a:lnTo>
                    <a:pt x="35152" y="35147"/>
                  </a:lnTo>
                  <a:lnTo>
                    <a:pt x="9431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31" y="1126855"/>
                  </a:lnTo>
                  <a:lnTo>
                    <a:pt x="35152" y="1165002"/>
                  </a:lnTo>
                  <a:lnTo>
                    <a:pt x="73300" y="1190720"/>
                  </a:lnTo>
                  <a:lnTo>
                    <a:pt x="120015" y="1200150"/>
                  </a:lnTo>
                  <a:lnTo>
                    <a:pt x="1775460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8650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31" y="73294"/>
                  </a:lnTo>
                  <a:lnTo>
                    <a:pt x="35152" y="35147"/>
                  </a:lnTo>
                  <a:lnTo>
                    <a:pt x="73300" y="9429"/>
                  </a:lnTo>
                  <a:lnTo>
                    <a:pt x="120015" y="0"/>
                  </a:lnTo>
                  <a:lnTo>
                    <a:pt x="1775460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60" y="1200150"/>
                  </a:lnTo>
                  <a:lnTo>
                    <a:pt x="120015" y="1200150"/>
                  </a:lnTo>
                  <a:lnTo>
                    <a:pt x="73300" y="1190720"/>
                  </a:lnTo>
                  <a:lnTo>
                    <a:pt x="35152" y="1165002"/>
                  </a:lnTo>
                  <a:lnTo>
                    <a:pt x="9431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22032" y="4293489"/>
            <a:ext cx="1099185" cy="756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130"/>
              </a:spcBef>
            </a:pPr>
            <a:r>
              <a:rPr sz="2450" spc="-25" dirty="0">
                <a:latin typeface="Trebuchet MS"/>
                <a:cs typeface="Trebuchet MS"/>
              </a:rPr>
              <a:t>Context</a:t>
            </a:r>
            <a:endParaRPr sz="2450">
              <a:latin typeface="Trebuchet MS"/>
              <a:cs typeface="Trebuchet MS"/>
            </a:endParaRPr>
          </a:p>
          <a:p>
            <a:pPr marL="46990">
              <a:lnSpc>
                <a:spcPts val="2860"/>
              </a:lnSpc>
            </a:pPr>
            <a:r>
              <a:rPr sz="2450" spc="55" dirty="0">
                <a:latin typeface="Trebuchet MS"/>
                <a:cs typeface="Trebuchet MS"/>
              </a:rPr>
              <a:t>Models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24150" y="3895725"/>
            <a:ext cx="2124075" cy="1419225"/>
            <a:chOff x="2724150" y="3895725"/>
            <a:chExt cx="2124075" cy="1419225"/>
          </a:xfrm>
        </p:grpSpPr>
        <p:sp>
          <p:nvSpPr>
            <p:cNvPr id="17" name="object 17"/>
            <p:cNvSpPr/>
            <p:nvPr/>
          </p:nvSpPr>
          <p:spPr>
            <a:xfrm>
              <a:off x="2733675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60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60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60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33675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60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60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43225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60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60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43225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60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60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36264" y="4293489"/>
            <a:ext cx="1514475" cy="756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860"/>
              </a:lnSpc>
              <a:spcBef>
                <a:spcPts val="130"/>
              </a:spcBef>
            </a:pPr>
            <a:r>
              <a:rPr sz="2450" spc="-30" dirty="0">
                <a:latin typeface="Trebuchet MS"/>
                <a:cs typeface="Trebuchet MS"/>
              </a:rPr>
              <a:t>Interaction</a:t>
            </a:r>
            <a:endParaRPr sz="2450">
              <a:latin typeface="Trebuchet MS"/>
              <a:cs typeface="Trebuchet MS"/>
            </a:endParaRPr>
          </a:p>
          <a:p>
            <a:pPr algn="ctr">
              <a:lnSpc>
                <a:spcPts val="2860"/>
              </a:lnSpc>
            </a:pPr>
            <a:r>
              <a:rPr sz="2450" spc="55" dirty="0">
                <a:latin typeface="Trebuchet MS"/>
                <a:cs typeface="Trebuchet MS"/>
              </a:rPr>
              <a:t>Models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038725" y="3895725"/>
            <a:ext cx="2124075" cy="1419225"/>
            <a:chOff x="5038725" y="3895725"/>
            <a:chExt cx="2124075" cy="1419225"/>
          </a:xfrm>
        </p:grpSpPr>
        <p:sp>
          <p:nvSpPr>
            <p:cNvPr id="23" name="object 23"/>
            <p:cNvSpPr/>
            <p:nvPr/>
          </p:nvSpPr>
          <p:spPr>
            <a:xfrm>
              <a:off x="5048250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048250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257800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4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4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257800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4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4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19039" y="4293489"/>
            <a:ext cx="1382395" cy="756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2860"/>
              </a:lnSpc>
              <a:spcBef>
                <a:spcPts val="130"/>
              </a:spcBef>
            </a:pPr>
            <a:r>
              <a:rPr sz="2450" spc="-25" dirty="0">
                <a:latin typeface="Trebuchet MS"/>
                <a:cs typeface="Trebuchet MS"/>
              </a:rPr>
              <a:t>Structural</a:t>
            </a:r>
            <a:endParaRPr sz="2450">
              <a:latin typeface="Trebuchet MS"/>
              <a:cs typeface="Trebuchet MS"/>
            </a:endParaRPr>
          </a:p>
          <a:p>
            <a:pPr marL="188595">
              <a:lnSpc>
                <a:spcPts val="2860"/>
              </a:lnSpc>
            </a:pPr>
            <a:r>
              <a:rPr sz="2450" spc="55" dirty="0">
                <a:latin typeface="Trebuchet MS"/>
                <a:cs typeface="Trebuchet MS"/>
              </a:rPr>
              <a:t>Models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353300" y="3895725"/>
            <a:ext cx="2133600" cy="1419225"/>
            <a:chOff x="7353300" y="3895725"/>
            <a:chExt cx="2133600" cy="1419225"/>
          </a:xfrm>
        </p:grpSpPr>
        <p:sp>
          <p:nvSpPr>
            <p:cNvPr id="29" name="object 29"/>
            <p:cNvSpPr/>
            <p:nvPr/>
          </p:nvSpPr>
          <p:spPr>
            <a:xfrm>
              <a:off x="7362825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5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5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362825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5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5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81900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5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5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81900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5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5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707630" y="4293489"/>
            <a:ext cx="1649095" cy="756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2860"/>
              </a:lnSpc>
              <a:spcBef>
                <a:spcPts val="130"/>
              </a:spcBef>
            </a:pPr>
            <a:r>
              <a:rPr sz="2450" spc="-10" dirty="0">
                <a:latin typeface="Trebuchet MS"/>
                <a:cs typeface="Trebuchet MS"/>
              </a:rPr>
              <a:t>Behavioural</a:t>
            </a:r>
            <a:endParaRPr sz="2450">
              <a:latin typeface="Trebuchet MS"/>
              <a:cs typeface="Trebuchet MS"/>
            </a:endParaRPr>
          </a:p>
          <a:p>
            <a:pPr marL="1270" algn="ctr">
              <a:lnSpc>
                <a:spcPts val="2860"/>
              </a:lnSpc>
            </a:pPr>
            <a:r>
              <a:rPr sz="2450" spc="55" dirty="0">
                <a:latin typeface="Trebuchet MS"/>
                <a:cs typeface="Trebuchet MS"/>
              </a:rPr>
              <a:t>Models</a:t>
            </a:r>
            <a:endParaRPr sz="2450">
              <a:latin typeface="Trebuchet MS"/>
              <a:cs typeface="Trebuchet MS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677400" y="3895725"/>
            <a:ext cx="2124075" cy="1419225"/>
            <a:chOff x="9677400" y="3895725"/>
            <a:chExt cx="2124075" cy="1419225"/>
          </a:xfrm>
        </p:grpSpPr>
        <p:sp>
          <p:nvSpPr>
            <p:cNvPr id="35" name="object 35"/>
            <p:cNvSpPr/>
            <p:nvPr/>
          </p:nvSpPr>
          <p:spPr>
            <a:xfrm>
              <a:off x="9686925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5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5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686925" y="3905250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5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5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896475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1775459" y="0"/>
                  </a:moveTo>
                  <a:lnTo>
                    <a:pt x="120015" y="0"/>
                  </a:lnTo>
                  <a:lnTo>
                    <a:pt x="73294" y="9429"/>
                  </a:lnTo>
                  <a:lnTo>
                    <a:pt x="35147" y="35147"/>
                  </a:lnTo>
                  <a:lnTo>
                    <a:pt x="9429" y="73294"/>
                  </a:lnTo>
                  <a:lnTo>
                    <a:pt x="0" y="120014"/>
                  </a:lnTo>
                  <a:lnTo>
                    <a:pt x="0" y="1080135"/>
                  </a:lnTo>
                  <a:lnTo>
                    <a:pt x="9429" y="1126855"/>
                  </a:lnTo>
                  <a:lnTo>
                    <a:pt x="35147" y="1165002"/>
                  </a:lnTo>
                  <a:lnTo>
                    <a:pt x="73294" y="1190720"/>
                  </a:lnTo>
                  <a:lnTo>
                    <a:pt x="120015" y="1200150"/>
                  </a:lnTo>
                  <a:lnTo>
                    <a:pt x="1775459" y="1200150"/>
                  </a:lnTo>
                  <a:lnTo>
                    <a:pt x="1822180" y="1190720"/>
                  </a:lnTo>
                  <a:lnTo>
                    <a:pt x="1860327" y="1165002"/>
                  </a:lnTo>
                  <a:lnTo>
                    <a:pt x="1886045" y="1126855"/>
                  </a:lnTo>
                  <a:lnTo>
                    <a:pt x="1895475" y="1080135"/>
                  </a:lnTo>
                  <a:lnTo>
                    <a:pt x="1895475" y="120014"/>
                  </a:lnTo>
                  <a:lnTo>
                    <a:pt x="1886045" y="73294"/>
                  </a:lnTo>
                  <a:lnTo>
                    <a:pt x="1860327" y="35147"/>
                  </a:lnTo>
                  <a:lnTo>
                    <a:pt x="1822180" y="9429"/>
                  </a:lnTo>
                  <a:lnTo>
                    <a:pt x="17754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896475" y="4105275"/>
              <a:ext cx="1895475" cy="1200150"/>
            </a:xfrm>
            <a:custGeom>
              <a:avLst/>
              <a:gdLst/>
              <a:ahLst/>
              <a:cxnLst/>
              <a:rect l="l" t="t" r="r" b="b"/>
              <a:pathLst>
                <a:path w="1895475" h="1200150">
                  <a:moveTo>
                    <a:pt x="0" y="120014"/>
                  </a:moveTo>
                  <a:lnTo>
                    <a:pt x="9429" y="73294"/>
                  </a:lnTo>
                  <a:lnTo>
                    <a:pt x="35147" y="35147"/>
                  </a:lnTo>
                  <a:lnTo>
                    <a:pt x="73294" y="9429"/>
                  </a:lnTo>
                  <a:lnTo>
                    <a:pt x="120015" y="0"/>
                  </a:lnTo>
                  <a:lnTo>
                    <a:pt x="1775459" y="0"/>
                  </a:lnTo>
                  <a:lnTo>
                    <a:pt x="1822180" y="9429"/>
                  </a:lnTo>
                  <a:lnTo>
                    <a:pt x="1860327" y="35147"/>
                  </a:lnTo>
                  <a:lnTo>
                    <a:pt x="1886045" y="73294"/>
                  </a:lnTo>
                  <a:lnTo>
                    <a:pt x="1895475" y="120014"/>
                  </a:lnTo>
                  <a:lnTo>
                    <a:pt x="1895475" y="1080135"/>
                  </a:lnTo>
                  <a:lnTo>
                    <a:pt x="1886045" y="1126855"/>
                  </a:lnTo>
                  <a:lnTo>
                    <a:pt x="1860327" y="1165002"/>
                  </a:lnTo>
                  <a:lnTo>
                    <a:pt x="1822180" y="1190720"/>
                  </a:lnTo>
                  <a:lnTo>
                    <a:pt x="1775459" y="1200150"/>
                  </a:lnTo>
                  <a:lnTo>
                    <a:pt x="120015" y="1200150"/>
                  </a:lnTo>
                  <a:lnTo>
                    <a:pt x="73294" y="1190720"/>
                  </a:lnTo>
                  <a:lnTo>
                    <a:pt x="35147" y="1165002"/>
                  </a:lnTo>
                  <a:lnTo>
                    <a:pt x="9429" y="1126855"/>
                  </a:lnTo>
                  <a:lnTo>
                    <a:pt x="0" y="1080135"/>
                  </a:lnTo>
                  <a:lnTo>
                    <a:pt x="0" y="120014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0334370" y="4293489"/>
            <a:ext cx="1035050" cy="756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9865">
              <a:lnSpc>
                <a:spcPts val="2860"/>
              </a:lnSpc>
              <a:spcBef>
                <a:spcPts val="130"/>
              </a:spcBef>
            </a:pPr>
            <a:r>
              <a:rPr sz="2450" spc="-20" dirty="0">
                <a:latin typeface="Trebuchet MS"/>
                <a:cs typeface="Trebuchet MS"/>
              </a:rPr>
              <a:t>Data</a:t>
            </a:r>
            <a:endParaRPr sz="2450">
              <a:latin typeface="Trebuchet MS"/>
              <a:cs typeface="Trebuchet MS"/>
            </a:endParaRPr>
          </a:p>
          <a:p>
            <a:pPr marL="12700">
              <a:lnSpc>
                <a:spcPts val="2860"/>
              </a:lnSpc>
            </a:pPr>
            <a:r>
              <a:rPr sz="2450" spc="55" dirty="0">
                <a:latin typeface="Trebuchet MS"/>
                <a:cs typeface="Trebuchet MS"/>
              </a:rPr>
              <a:t>Models</a:t>
            </a:r>
            <a:endParaRPr sz="2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45" dirty="0"/>
              <a:t> </a:t>
            </a:r>
            <a:r>
              <a:rPr sz="3600" spc="85" dirty="0"/>
              <a:t>Modelling</a:t>
            </a:r>
            <a:r>
              <a:rPr sz="3600" spc="280" dirty="0"/>
              <a:t> </a:t>
            </a:r>
            <a:r>
              <a:rPr sz="3600" spc="80" dirty="0"/>
              <a:t>-</a:t>
            </a:r>
            <a:r>
              <a:rPr sz="3600" spc="285" dirty="0"/>
              <a:t> </a:t>
            </a:r>
            <a:r>
              <a:rPr sz="3600" spc="95" dirty="0"/>
              <a:t>Models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13360"/>
            <a:ext cx="11241405" cy="515683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55270" indent="-255270">
              <a:lnSpc>
                <a:spcPct val="100000"/>
              </a:lnSpc>
              <a:spcBef>
                <a:spcPts val="1270"/>
              </a:spcBef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Context</a:t>
            </a:r>
            <a:r>
              <a:rPr sz="2400" b="1" spc="26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Models:</a:t>
            </a:r>
            <a:r>
              <a:rPr sz="2400" b="1" spc="25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latin typeface="Cambria"/>
                <a:cs typeface="Cambria"/>
              </a:rPr>
              <a:t>Illustrate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35" dirty="0">
                <a:latin typeface="Cambria"/>
                <a:cs typeface="Cambria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system's</a:t>
            </a:r>
            <a:r>
              <a:rPr sz="2400" b="1" spc="2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environment</a:t>
            </a:r>
            <a:r>
              <a:rPr sz="2400" b="1" spc="23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and</a:t>
            </a:r>
            <a:r>
              <a:rPr sz="2400" b="1" spc="2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its</a:t>
            </a:r>
            <a:r>
              <a:rPr sz="2400" b="1" spc="27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interactions</a:t>
            </a:r>
            <a:r>
              <a:rPr sz="2400" b="1" spc="285" dirty="0">
                <a:latin typeface="Palatino Linotype"/>
                <a:cs typeface="Palatino Linotype"/>
              </a:rPr>
              <a:t> </a:t>
            </a:r>
            <a:r>
              <a:rPr sz="2400" b="1" spc="-20" dirty="0">
                <a:latin typeface="Palatino Linotype"/>
                <a:cs typeface="Palatino Linotype"/>
              </a:rPr>
              <a:t>with</a:t>
            </a:r>
            <a:endParaRPr sz="2400">
              <a:latin typeface="Palatino Linotype"/>
              <a:cs typeface="Palatino Linotype"/>
            </a:endParaRPr>
          </a:p>
          <a:p>
            <a:pPr marL="241300">
              <a:lnSpc>
                <a:spcPct val="100000"/>
              </a:lnSpc>
              <a:spcBef>
                <a:spcPts val="1175"/>
              </a:spcBef>
            </a:pPr>
            <a:r>
              <a:rPr sz="2400" b="1" dirty="0">
                <a:latin typeface="Palatino Linotype"/>
                <a:cs typeface="Palatino Linotype"/>
              </a:rPr>
              <a:t>external</a:t>
            </a:r>
            <a:r>
              <a:rPr sz="2400" b="1" spc="5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entities</a:t>
            </a:r>
            <a:r>
              <a:rPr sz="2400" b="1" spc="100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define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boundaries.</a:t>
            </a:r>
            <a:endParaRPr sz="2400">
              <a:latin typeface="Cambria"/>
              <a:cs typeface="Cambria"/>
            </a:endParaRPr>
          </a:p>
          <a:p>
            <a:pPr marL="255270" indent="-249554">
              <a:lnSpc>
                <a:spcPct val="100000"/>
              </a:lnSpc>
              <a:spcBef>
                <a:spcPts val="1175"/>
              </a:spcBef>
              <a:buSzPct val="93750"/>
              <a:buFont typeface="Wingdings"/>
              <a:buChar char=""/>
              <a:tabLst>
                <a:tab pos="255270" algn="l"/>
              </a:tabLst>
            </a:pPr>
            <a:r>
              <a:rPr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Interaction</a:t>
            </a:r>
            <a:r>
              <a:rPr sz="2400" b="1" spc="-2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Models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Focus</a:t>
            </a:r>
            <a:r>
              <a:rPr sz="2400" spc="55" dirty="0">
                <a:latin typeface="Cambria"/>
                <a:cs typeface="Cambria"/>
              </a:rPr>
              <a:t> on</a:t>
            </a:r>
            <a:r>
              <a:rPr sz="2400" spc="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how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components</a:t>
            </a:r>
            <a:r>
              <a:rPr sz="2400" b="1" spc="-4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within</a:t>
            </a:r>
            <a:r>
              <a:rPr sz="2400" b="1" spc="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the</a:t>
            </a:r>
            <a:r>
              <a:rPr sz="2400" b="1" spc="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system </a:t>
            </a:r>
            <a:r>
              <a:rPr sz="2400" b="1" spc="-10" dirty="0">
                <a:latin typeface="Palatino Linotype"/>
                <a:cs typeface="Palatino Linotype"/>
              </a:rPr>
              <a:t>communicate</a:t>
            </a:r>
            <a:endParaRPr sz="2400">
              <a:latin typeface="Palatino Linotype"/>
              <a:cs typeface="Palatino Linotype"/>
            </a:endParaRPr>
          </a:p>
          <a:p>
            <a:pPr marL="241300">
              <a:lnSpc>
                <a:spcPct val="100000"/>
              </a:lnSpc>
              <a:spcBef>
                <a:spcPts val="1175"/>
              </a:spcBef>
            </a:pPr>
            <a:r>
              <a:rPr sz="2400" b="1" dirty="0">
                <a:latin typeface="Palatino Linotype"/>
                <a:cs typeface="Palatino Linotype"/>
              </a:rPr>
              <a:t>and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interact</a:t>
            </a:r>
            <a:r>
              <a:rPr sz="2400" b="1" spc="-15" dirty="0">
                <a:latin typeface="Palatino Linotype"/>
                <a:cs typeface="Palatino Linotype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each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other.</a:t>
            </a:r>
            <a:endParaRPr sz="2400">
              <a:latin typeface="Cambria"/>
              <a:cs typeface="Cambria"/>
            </a:endParaRPr>
          </a:p>
          <a:p>
            <a:pPr marL="241300" marR="5080" indent="-235585">
              <a:lnSpc>
                <a:spcPts val="4050"/>
              </a:lnSpc>
              <a:spcBef>
                <a:spcPts val="260"/>
              </a:spcBef>
              <a:buSzPct val="93750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Structural</a:t>
            </a:r>
            <a:r>
              <a:rPr sz="2400" b="1" spc="6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Models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organization</a:t>
            </a:r>
            <a:r>
              <a:rPr sz="2400" b="1" spc="1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of</a:t>
            </a:r>
            <a:r>
              <a:rPr sz="2400" b="1" spc="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the</a:t>
            </a:r>
            <a:r>
              <a:rPr sz="2400" b="1" spc="5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system’s</a:t>
            </a:r>
            <a:r>
              <a:rPr sz="2400" b="1" spc="6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components</a:t>
            </a:r>
            <a:r>
              <a:rPr sz="2400" b="1" spc="10" dirty="0">
                <a:latin typeface="Palatino Linotype"/>
                <a:cs typeface="Palatino Linotype"/>
              </a:rPr>
              <a:t> </a:t>
            </a:r>
            <a:r>
              <a:rPr sz="2400" b="1" spc="-25" dirty="0">
                <a:latin typeface="Palatino Linotype"/>
                <a:cs typeface="Palatino Linotype"/>
              </a:rPr>
              <a:t>and </a:t>
            </a:r>
            <a:r>
              <a:rPr sz="2400" b="1" dirty="0">
                <a:latin typeface="Palatino Linotype"/>
                <a:cs typeface="Palatino Linotype"/>
              </a:rPr>
              <a:t>their</a:t>
            </a:r>
            <a:r>
              <a:rPr sz="2400" b="1" spc="6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relationships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often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using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diagrams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entity-relationship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diagrams.</a:t>
            </a:r>
            <a:endParaRPr sz="2400">
              <a:latin typeface="Cambria"/>
              <a:cs typeface="Cambria"/>
            </a:endParaRPr>
          </a:p>
          <a:p>
            <a:pPr marL="255270" indent="-249554">
              <a:lnSpc>
                <a:spcPct val="100000"/>
              </a:lnSpc>
              <a:spcBef>
                <a:spcPts val="850"/>
              </a:spcBef>
              <a:buSzPct val="93750"/>
              <a:buFont typeface="Wingdings"/>
              <a:buChar char=""/>
              <a:tabLst>
                <a:tab pos="255270" algn="l"/>
                <a:tab pos="3146425" algn="l"/>
                <a:tab pos="4376420" algn="l"/>
                <a:tab pos="5102860" algn="l"/>
                <a:tab pos="5654675" algn="l"/>
              </a:tabLst>
            </a:pPr>
            <a:r>
              <a:rPr sz="2400" b="1" dirty="0">
                <a:solidFill>
                  <a:srgbClr val="C00000"/>
                </a:solidFill>
                <a:latin typeface="Palatino Linotype"/>
                <a:cs typeface="Palatino Linotype"/>
              </a:rPr>
              <a:t>Behavioral</a:t>
            </a:r>
            <a:r>
              <a:rPr sz="2400" b="1" spc="37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400" b="1" spc="-10" dirty="0">
                <a:solidFill>
                  <a:srgbClr val="C00000"/>
                </a:solidFill>
                <a:latin typeface="Palatino Linotype"/>
                <a:cs typeface="Palatino Linotype"/>
              </a:rPr>
              <a:t>Models</a:t>
            </a:r>
            <a:r>
              <a:rPr sz="2400" spc="-1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0" dirty="0">
                <a:latin typeface="Cambria"/>
                <a:cs typeface="Cambria"/>
              </a:rPr>
              <a:t>Capture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how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b="1" dirty="0">
                <a:latin typeface="Palatino Linotype"/>
                <a:cs typeface="Palatino Linotype"/>
              </a:rPr>
              <a:t>system</a:t>
            </a:r>
            <a:r>
              <a:rPr sz="2400" b="1" spc="39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behaves</a:t>
            </a:r>
            <a:r>
              <a:rPr sz="2400" b="1" spc="37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in</a:t>
            </a:r>
            <a:r>
              <a:rPr sz="2400" b="1" spc="37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response</a:t>
            </a:r>
            <a:r>
              <a:rPr sz="2400" b="1" spc="38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to</a:t>
            </a:r>
            <a:r>
              <a:rPr sz="2400" b="1" spc="380" dirty="0">
                <a:latin typeface="Palatino Linotype"/>
                <a:cs typeface="Palatino Linotype"/>
              </a:rPr>
              <a:t> </a:t>
            </a:r>
            <a:r>
              <a:rPr sz="2400" b="1" spc="-10" dirty="0">
                <a:latin typeface="Palatino Linotype"/>
                <a:cs typeface="Palatino Linotype"/>
              </a:rPr>
              <a:t>various</a:t>
            </a:r>
            <a:endParaRPr sz="2400">
              <a:latin typeface="Palatino Linotype"/>
              <a:cs typeface="Palatino Linotype"/>
            </a:endParaRPr>
          </a:p>
          <a:p>
            <a:pPr marL="241300">
              <a:lnSpc>
                <a:spcPct val="100000"/>
              </a:lnSpc>
              <a:spcBef>
                <a:spcPts val="1180"/>
              </a:spcBef>
            </a:pPr>
            <a:r>
              <a:rPr sz="2400" b="1" dirty="0">
                <a:latin typeface="Palatino Linotype"/>
                <a:cs typeface="Palatino Linotype"/>
              </a:rPr>
              <a:t>inputs</a:t>
            </a:r>
            <a:r>
              <a:rPr sz="2400" b="1" spc="2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or</a:t>
            </a:r>
            <a:r>
              <a:rPr sz="2400" b="1" spc="1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events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using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machine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diagrams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sequence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diagrams.</a:t>
            </a:r>
            <a:endParaRPr sz="2400">
              <a:latin typeface="Cambria"/>
              <a:cs typeface="Cambria"/>
            </a:endParaRPr>
          </a:p>
          <a:p>
            <a:pPr marL="241300" marR="12065" indent="-229235">
              <a:lnSpc>
                <a:spcPts val="4060"/>
              </a:lnSpc>
              <a:spcBef>
                <a:spcPts val="50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  <a:tab pos="330835" algn="l"/>
                <a:tab pos="1137285" algn="l"/>
                <a:tab pos="2383155" algn="l"/>
                <a:tab pos="4027804" algn="l"/>
                <a:tab pos="4615815" algn="l"/>
                <a:tab pos="5999480" algn="l"/>
                <a:tab pos="6679565" algn="l"/>
                <a:tab pos="8559165" algn="l"/>
                <a:tab pos="8991600" algn="l"/>
                <a:tab pos="9746615" algn="l"/>
                <a:tab pos="10798175" algn="l"/>
              </a:tabLst>
            </a:pPr>
            <a:r>
              <a:rPr sz="2400" spc="40" dirty="0">
                <a:solidFill>
                  <a:srgbClr val="FF0000"/>
                </a:solidFill>
                <a:latin typeface="Cambria"/>
                <a:cs typeface="Cambria"/>
              </a:rPr>
              <a:t>Data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40" dirty="0">
                <a:solidFill>
                  <a:srgbClr val="FF0000"/>
                </a:solidFill>
                <a:latin typeface="Cambria"/>
                <a:cs typeface="Cambria"/>
              </a:rPr>
              <a:t>Models: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Represents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structure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organization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of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data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within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spc="-10" dirty="0">
                <a:latin typeface="Cambria"/>
                <a:cs typeface="Cambria"/>
              </a:rPr>
              <a:t>system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4" dirty="0"/>
              <a:t> </a:t>
            </a:r>
            <a:r>
              <a:rPr sz="3600" spc="85" dirty="0"/>
              <a:t>Modelling</a:t>
            </a:r>
            <a:r>
              <a:rPr sz="3600" spc="290" dirty="0"/>
              <a:t> </a:t>
            </a:r>
            <a:r>
              <a:rPr sz="3600" spc="-535" dirty="0"/>
              <a:t>–</a:t>
            </a:r>
            <a:r>
              <a:rPr sz="3600" spc="295" dirty="0"/>
              <a:t> </a:t>
            </a:r>
            <a:r>
              <a:rPr sz="3600" spc="80" dirty="0"/>
              <a:t>Modelling</a:t>
            </a:r>
            <a:r>
              <a:rPr sz="3600" spc="275" dirty="0"/>
              <a:t> </a:t>
            </a:r>
            <a:r>
              <a:rPr sz="3600" spc="155" dirty="0"/>
              <a:t>Techniques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1590675" y="1733550"/>
            <a:ext cx="8757285" cy="2226310"/>
            <a:chOff x="1590675" y="1733550"/>
            <a:chExt cx="8757285" cy="2226310"/>
          </a:xfrm>
        </p:grpSpPr>
        <p:sp>
          <p:nvSpPr>
            <p:cNvPr id="4" name="object 4"/>
            <p:cNvSpPr/>
            <p:nvPr/>
          </p:nvSpPr>
          <p:spPr>
            <a:xfrm>
              <a:off x="1600200" y="3257550"/>
              <a:ext cx="8738235" cy="692785"/>
            </a:xfrm>
            <a:custGeom>
              <a:avLst/>
              <a:gdLst/>
              <a:ahLst/>
              <a:cxnLst/>
              <a:rect l="l" t="t" r="r" b="b"/>
              <a:pathLst>
                <a:path w="8738235" h="692785">
                  <a:moveTo>
                    <a:pt x="4371975" y="0"/>
                  </a:moveTo>
                  <a:lnTo>
                    <a:pt x="4371975" y="472058"/>
                  </a:lnTo>
                  <a:lnTo>
                    <a:pt x="8738235" y="472058"/>
                  </a:lnTo>
                  <a:lnTo>
                    <a:pt x="8738235" y="692657"/>
                  </a:lnTo>
                </a:path>
                <a:path w="8738235" h="692785">
                  <a:moveTo>
                    <a:pt x="4371975" y="0"/>
                  </a:moveTo>
                  <a:lnTo>
                    <a:pt x="4371975" y="472058"/>
                  </a:lnTo>
                  <a:lnTo>
                    <a:pt x="5827395" y="472058"/>
                  </a:lnTo>
                  <a:lnTo>
                    <a:pt x="5827395" y="692657"/>
                  </a:lnTo>
                </a:path>
                <a:path w="8738235" h="692785">
                  <a:moveTo>
                    <a:pt x="4370070" y="0"/>
                  </a:moveTo>
                  <a:lnTo>
                    <a:pt x="4370070" y="472058"/>
                  </a:lnTo>
                  <a:lnTo>
                    <a:pt x="2914650" y="472058"/>
                  </a:lnTo>
                  <a:lnTo>
                    <a:pt x="2914650" y="692657"/>
                  </a:lnTo>
                </a:path>
                <a:path w="8738235" h="692785">
                  <a:moveTo>
                    <a:pt x="4366260" y="0"/>
                  </a:moveTo>
                  <a:lnTo>
                    <a:pt x="4366260" y="472058"/>
                  </a:lnTo>
                  <a:lnTo>
                    <a:pt x="0" y="472058"/>
                  </a:lnTo>
                  <a:lnTo>
                    <a:pt x="0" y="692657"/>
                  </a:lnTo>
                </a:path>
              </a:pathLst>
            </a:custGeom>
            <a:ln w="19050">
              <a:solidFill>
                <a:srgbClr val="CAA00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81550" y="17430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1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59"/>
                  </a:lnTo>
                  <a:lnTo>
                    <a:pt x="29228" y="1452451"/>
                  </a:lnTo>
                  <a:lnTo>
                    <a:pt x="62023" y="1485246"/>
                  </a:lnTo>
                  <a:lnTo>
                    <a:pt x="103615" y="1506752"/>
                  </a:lnTo>
                  <a:lnTo>
                    <a:pt x="151511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81550" y="17430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1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511" y="1514475"/>
                  </a:lnTo>
                  <a:lnTo>
                    <a:pt x="103615" y="1506752"/>
                  </a:lnTo>
                  <a:lnTo>
                    <a:pt x="62023" y="1485246"/>
                  </a:lnTo>
                  <a:lnTo>
                    <a:pt x="29228" y="1452451"/>
                  </a:lnTo>
                  <a:lnTo>
                    <a:pt x="7722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48250" y="2000250"/>
              <a:ext cx="2381250" cy="1504950"/>
            </a:xfrm>
            <a:custGeom>
              <a:avLst/>
              <a:gdLst/>
              <a:ahLst/>
              <a:cxnLst/>
              <a:rect l="l" t="t" r="r" b="b"/>
              <a:pathLst>
                <a:path w="2381250" h="1504950">
                  <a:moveTo>
                    <a:pt x="2230754" y="0"/>
                  </a:moveTo>
                  <a:lnTo>
                    <a:pt x="150495" y="0"/>
                  </a:lnTo>
                  <a:lnTo>
                    <a:pt x="102949" y="7677"/>
                  </a:lnTo>
                  <a:lnTo>
                    <a:pt x="61639" y="29053"/>
                  </a:lnTo>
                  <a:lnTo>
                    <a:pt x="29053" y="61639"/>
                  </a:lnTo>
                  <a:lnTo>
                    <a:pt x="7677" y="102949"/>
                  </a:lnTo>
                  <a:lnTo>
                    <a:pt x="0" y="150495"/>
                  </a:lnTo>
                  <a:lnTo>
                    <a:pt x="0" y="1354454"/>
                  </a:lnTo>
                  <a:lnTo>
                    <a:pt x="7677" y="1402000"/>
                  </a:lnTo>
                  <a:lnTo>
                    <a:pt x="29053" y="1443310"/>
                  </a:lnTo>
                  <a:lnTo>
                    <a:pt x="61639" y="1475896"/>
                  </a:lnTo>
                  <a:lnTo>
                    <a:pt x="102949" y="1497272"/>
                  </a:lnTo>
                  <a:lnTo>
                    <a:pt x="150495" y="1504950"/>
                  </a:lnTo>
                  <a:lnTo>
                    <a:pt x="2230754" y="1504950"/>
                  </a:lnTo>
                  <a:lnTo>
                    <a:pt x="2278300" y="1497272"/>
                  </a:lnTo>
                  <a:lnTo>
                    <a:pt x="2319610" y="1475896"/>
                  </a:lnTo>
                  <a:lnTo>
                    <a:pt x="2352196" y="1443310"/>
                  </a:lnTo>
                  <a:lnTo>
                    <a:pt x="2373572" y="1402000"/>
                  </a:lnTo>
                  <a:lnTo>
                    <a:pt x="2381250" y="1354454"/>
                  </a:lnTo>
                  <a:lnTo>
                    <a:pt x="2381250" y="150495"/>
                  </a:lnTo>
                  <a:lnTo>
                    <a:pt x="2373572" y="102949"/>
                  </a:lnTo>
                  <a:lnTo>
                    <a:pt x="2352196" y="61639"/>
                  </a:lnTo>
                  <a:lnTo>
                    <a:pt x="2319610" y="29053"/>
                  </a:lnTo>
                  <a:lnTo>
                    <a:pt x="2278300" y="7677"/>
                  </a:lnTo>
                  <a:lnTo>
                    <a:pt x="223075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48250" y="2000250"/>
              <a:ext cx="2381250" cy="1504950"/>
            </a:xfrm>
            <a:custGeom>
              <a:avLst/>
              <a:gdLst/>
              <a:ahLst/>
              <a:cxnLst/>
              <a:rect l="l" t="t" r="r" b="b"/>
              <a:pathLst>
                <a:path w="2381250" h="1504950">
                  <a:moveTo>
                    <a:pt x="0" y="150495"/>
                  </a:moveTo>
                  <a:lnTo>
                    <a:pt x="7677" y="102949"/>
                  </a:lnTo>
                  <a:lnTo>
                    <a:pt x="29053" y="61639"/>
                  </a:lnTo>
                  <a:lnTo>
                    <a:pt x="61639" y="29053"/>
                  </a:lnTo>
                  <a:lnTo>
                    <a:pt x="102949" y="7677"/>
                  </a:lnTo>
                  <a:lnTo>
                    <a:pt x="150495" y="0"/>
                  </a:lnTo>
                  <a:lnTo>
                    <a:pt x="2230754" y="0"/>
                  </a:lnTo>
                  <a:lnTo>
                    <a:pt x="2278300" y="7677"/>
                  </a:lnTo>
                  <a:lnTo>
                    <a:pt x="2319610" y="29053"/>
                  </a:lnTo>
                  <a:lnTo>
                    <a:pt x="2352196" y="61639"/>
                  </a:lnTo>
                  <a:lnTo>
                    <a:pt x="2373572" y="102949"/>
                  </a:lnTo>
                  <a:lnTo>
                    <a:pt x="2381250" y="150495"/>
                  </a:lnTo>
                  <a:lnTo>
                    <a:pt x="2381250" y="1354454"/>
                  </a:lnTo>
                  <a:lnTo>
                    <a:pt x="2373572" y="1402000"/>
                  </a:lnTo>
                  <a:lnTo>
                    <a:pt x="2352196" y="1443310"/>
                  </a:lnTo>
                  <a:lnTo>
                    <a:pt x="2319610" y="1475896"/>
                  </a:lnTo>
                  <a:lnTo>
                    <a:pt x="2278300" y="1497272"/>
                  </a:lnTo>
                  <a:lnTo>
                    <a:pt x="2230754" y="1504950"/>
                  </a:lnTo>
                  <a:lnTo>
                    <a:pt x="150495" y="1504950"/>
                  </a:lnTo>
                  <a:lnTo>
                    <a:pt x="102949" y="1497272"/>
                  </a:lnTo>
                  <a:lnTo>
                    <a:pt x="61639" y="1475896"/>
                  </a:lnTo>
                  <a:lnTo>
                    <a:pt x="29053" y="1443310"/>
                  </a:lnTo>
                  <a:lnTo>
                    <a:pt x="7677" y="1402000"/>
                  </a:lnTo>
                  <a:lnTo>
                    <a:pt x="0" y="1354454"/>
                  </a:lnTo>
                  <a:lnTo>
                    <a:pt x="0" y="150495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50764" y="2489835"/>
            <a:ext cx="1777364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" dirty="0">
                <a:latin typeface="Trebuchet MS"/>
                <a:cs typeface="Trebuchet MS"/>
              </a:rPr>
              <a:t>Techniques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0050" y="3943350"/>
            <a:ext cx="2667000" cy="1781175"/>
            <a:chOff x="400050" y="3943350"/>
            <a:chExt cx="2667000" cy="1781175"/>
          </a:xfrm>
        </p:grpSpPr>
        <p:sp>
          <p:nvSpPr>
            <p:cNvPr id="11" name="object 11"/>
            <p:cNvSpPr/>
            <p:nvPr/>
          </p:nvSpPr>
          <p:spPr>
            <a:xfrm>
              <a:off x="40957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447" y="0"/>
                  </a:lnTo>
                  <a:lnTo>
                    <a:pt x="103578" y="7722"/>
                  </a:lnTo>
                  <a:lnTo>
                    <a:pt x="62004" y="29228"/>
                  </a:lnTo>
                  <a:lnTo>
                    <a:pt x="29220" y="62023"/>
                  </a:lnTo>
                  <a:lnTo>
                    <a:pt x="7720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0" y="1410859"/>
                  </a:lnTo>
                  <a:lnTo>
                    <a:pt x="29220" y="1452451"/>
                  </a:lnTo>
                  <a:lnTo>
                    <a:pt x="62004" y="1485246"/>
                  </a:lnTo>
                  <a:lnTo>
                    <a:pt x="103578" y="1506752"/>
                  </a:lnTo>
                  <a:lnTo>
                    <a:pt x="151447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0957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0" y="103615"/>
                  </a:lnTo>
                  <a:lnTo>
                    <a:pt x="29220" y="62023"/>
                  </a:lnTo>
                  <a:lnTo>
                    <a:pt x="62004" y="29228"/>
                  </a:lnTo>
                  <a:lnTo>
                    <a:pt x="103578" y="7722"/>
                  </a:lnTo>
                  <a:lnTo>
                    <a:pt x="151447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447" y="1514475"/>
                  </a:lnTo>
                  <a:lnTo>
                    <a:pt x="103578" y="1506752"/>
                  </a:lnTo>
                  <a:lnTo>
                    <a:pt x="62004" y="1485246"/>
                  </a:lnTo>
                  <a:lnTo>
                    <a:pt x="29220" y="1452451"/>
                  </a:lnTo>
                  <a:lnTo>
                    <a:pt x="7720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6275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447" y="0"/>
                  </a:lnTo>
                  <a:lnTo>
                    <a:pt x="103578" y="7722"/>
                  </a:lnTo>
                  <a:lnTo>
                    <a:pt x="62004" y="29228"/>
                  </a:lnTo>
                  <a:lnTo>
                    <a:pt x="29220" y="62023"/>
                  </a:lnTo>
                  <a:lnTo>
                    <a:pt x="7720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0" y="1410864"/>
                  </a:lnTo>
                  <a:lnTo>
                    <a:pt x="29220" y="1452456"/>
                  </a:lnTo>
                  <a:lnTo>
                    <a:pt x="62004" y="1485250"/>
                  </a:lnTo>
                  <a:lnTo>
                    <a:pt x="103578" y="1506753"/>
                  </a:lnTo>
                  <a:lnTo>
                    <a:pt x="151447" y="1514475"/>
                  </a:lnTo>
                  <a:lnTo>
                    <a:pt x="2229739" y="1514475"/>
                  </a:lnTo>
                  <a:lnTo>
                    <a:pt x="2277634" y="1506753"/>
                  </a:lnTo>
                  <a:lnTo>
                    <a:pt x="2319226" y="1485250"/>
                  </a:lnTo>
                  <a:lnTo>
                    <a:pt x="2352021" y="1452456"/>
                  </a:lnTo>
                  <a:lnTo>
                    <a:pt x="2373527" y="1410864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76275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0" y="103615"/>
                  </a:lnTo>
                  <a:lnTo>
                    <a:pt x="29220" y="62023"/>
                  </a:lnTo>
                  <a:lnTo>
                    <a:pt x="62004" y="29228"/>
                  </a:lnTo>
                  <a:lnTo>
                    <a:pt x="103578" y="7722"/>
                  </a:lnTo>
                  <a:lnTo>
                    <a:pt x="151447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64"/>
                  </a:lnTo>
                  <a:lnTo>
                    <a:pt x="2352021" y="1452456"/>
                  </a:lnTo>
                  <a:lnTo>
                    <a:pt x="2319226" y="1485250"/>
                  </a:lnTo>
                  <a:lnTo>
                    <a:pt x="2277634" y="1506753"/>
                  </a:lnTo>
                  <a:lnTo>
                    <a:pt x="2229739" y="1514475"/>
                  </a:lnTo>
                  <a:lnTo>
                    <a:pt x="151447" y="1514475"/>
                  </a:lnTo>
                  <a:lnTo>
                    <a:pt x="103578" y="1506753"/>
                  </a:lnTo>
                  <a:lnTo>
                    <a:pt x="62004" y="1485250"/>
                  </a:lnTo>
                  <a:lnTo>
                    <a:pt x="29220" y="1452456"/>
                  </a:lnTo>
                  <a:lnTo>
                    <a:pt x="7720" y="1410864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90294" y="4502848"/>
            <a:ext cx="1557655" cy="84010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14629" marR="5080" indent="-201930">
              <a:lnSpc>
                <a:spcPts val="3080"/>
              </a:lnSpc>
              <a:spcBef>
                <a:spcPts val="409"/>
              </a:spcBef>
            </a:pPr>
            <a:r>
              <a:rPr sz="2750" dirty="0">
                <a:latin typeface="Trebuchet MS"/>
                <a:cs typeface="Trebuchet MS"/>
              </a:rPr>
              <a:t>Data</a:t>
            </a:r>
            <a:r>
              <a:rPr sz="2750" spc="-254" dirty="0">
                <a:latin typeface="Trebuchet MS"/>
                <a:cs typeface="Trebuchet MS"/>
              </a:rPr>
              <a:t> </a:t>
            </a:r>
            <a:r>
              <a:rPr sz="2750" spc="-20" dirty="0">
                <a:latin typeface="Trebuchet MS"/>
                <a:cs typeface="Trebuchet MS"/>
              </a:rPr>
              <a:t>Flow </a:t>
            </a:r>
            <a:r>
              <a:rPr sz="2750" spc="55" dirty="0">
                <a:latin typeface="Trebuchet MS"/>
                <a:cs typeface="Trebuchet MS"/>
              </a:rPr>
              <a:t>Models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314700" y="3943350"/>
            <a:ext cx="2667000" cy="1781175"/>
            <a:chOff x="3314700" y="3943350"/>
            <a:chExt cx="2667000" cy="1781175"/>
          </a:xfrm>
        </p:grpSpPr>
        <p:sp>
          <p:nvSpPr>
            <p:cNvPr id="17" name="object 17"/>
            <p:cNvSpPr/>
            <p:nvPr/>
          </p:nvSpPr>
          <p:spPr>
            <a:xfrm>
              <a:off x="332422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1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59"/>
                  </a:lnTo>
                  <a:lnTo>
                    <a:pt x="29228" y="1452451"/>
                  </a:lnTo>
                  <a:lnTo>
                    <a:pt x="62023" y="1485246"/>
                  </a:lnTo>
                  <a:lnTo>
                    <a:pt x="103615" y="1506752"/>
                  </a:lnTo>
                  <a:lnTo>
                    <a:pt x="151511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2422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1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511" y="1514475"/>
                  </a:lnTo>
                  <a:lnTo>
                    <a:pt x="103615" y="1506752"/>
                  </a:lnTo>
                  <a:lnTo>
                    <a:pt x="62023" y="1485246"/>
                  </a:lnTo>
                  <a:lnTo>
                    <a:pt x="29228" y="1452451"/>
                  </a:lnTo>
                  <a:lnTo>
                    <a:pt x="7722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90925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1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64"/>
                  </a:lnTo>
                  <a:lnTo>
                    <a:pt x="29228" y="1452456"/>
                  </a:lnTo>
                  <a:lnTo>
                    <a:pt x="62023" y="1485250"/>
                  </a:lnTo>
                  <a:lnTo>
                    <a:pt x="103615" y="1506753"/>
                  </a:lnTo>
                  <a:lnTo>
                    <a:pt x="151511" y="1514475"/>
                  </a:lnTo>
                  <a:lnTo>
                    <a:pt x="2229739" y="1514475"/>
                  </a:lnTo>
                  <a:lnTo>
                    <a:pt x="2277634" y="1506753"/>
                  </a:lnTo>
                  <a:lnTo>
                    <a:pt x="2319226" y="1485250"/>
                  </a:lnTo>
                  <a:lnTo>
                    <a:pt x="2352021" y="1452456"/>
                  </a:lnTo>
                  <a:lnTo>
                    <a:pt x="2373527" y="1410864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0925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1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64"/>
                  </a:lnTo>
                  <a:lnTo>
                    <a:pt x="2352021" y="1452456"/>
                  </a:lnTo>
                  <a:lnTo>
                    <a:pt x="2319226" y="1485250"/>
                  </a:lnTo>
                  <a:lnTo>
                    <a:pt x="2277634" y="1506753"/>
                  </a:lnTo>
                  <a:lnTo>
                    <a:pt x="2229739" y="1514475"/>
                  </a:lnTo>
                  <a:lnTo>
                    <a:pt x="151511" y="1514475"/>
                  </a:lnTo>
                  <a:lnTo>
                    <a:pt x="103615" y="1506753"/>
                  </a:lnTo>
                  <a:lnTo>
                    <a:pt x="62023" y="1485250"/>
                  </a:lnTo>
                  <a:lnTo>
                    <a:pt x="29228" y="1452456"/>
                  </a:lnTo>
                  <a:lnTo>
                    <a:pt x="7722" y="1410864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806190" y="4307141"/>
            <a:ext cx="1947545" cy="12312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4445" algn="ctr">
              <a:lnSpc>
                <a:spcPct val="93300"/>
              </a:lnSpc>
              <a:spcBef>
                <a:spcPts val="345"/>
              </a:spcBef>
            </a:pPr>
            <a:r>
              <a:rPr sz="2750" spc="-10" dirty="0">
                <a:latin typeface="Trebuchet MS"/>
                <a:cs typeface="Trebuchet MS"/>
              </a:rPr>
              <a:t>Entity- Relationship Model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29350" y="3943350"/>
            <a:ext cx="2657475" cy="1781175"/>
            <a:chOff x="6229350" y="3943350"/>
            <a:chExt cx="2657475" cy="1781175"/>
          </a:xfrm>
        </p:grpSpPr>
        <p:sp>
          <p:nvSpPr>
            <p:cNvPr id="23" name="object 23"/>
            <p:cNvSpPr/>
            <p:nvPr/>
          </p:nvSpPr>
          <p:spPr>
            <a:xfrm>
              <a:off x="623887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1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59"/>
                  </a:lnTo>
                  <a:lnTo>
                    <a:pt x="29228" y="1452451"/>
                  </a:lnTo>
                  <a:lnTo>
                    <a:pt x="62023" y="1485246"/>
                  </a:lnTo>
                  <a:lnTo>
                    <a:pt x="103615" y="1506752"/>
                  </a:lnTo>
                  <a:lnTo>
                    <a:pt x="151511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38875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1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511" y="1514475"/>
                  </a:lnTo>
                  <a:lnTo>
                    <a:pt x="103615" y="1506752"/>
                  </a:lnTo>
                  <a:lnTo>
                    <a:pt x="62023" y="1485246"/>
                  </a:lnTo>
                  <a:lnTo>
                    <a:pt x="29228" y="1452451"/>
                  </a:lnTo>
                  <a:lnTo>
                    <a:pt x="7722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96050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0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64"/>
                  </a:lnTo>
                  <a:lnTo>
                    <a:pt x="29228" y="1452456"/>
                  </a:lnTo>
                  <a:lnTo>
                    <a:pt x="62023" y="1485250"/>
                  </a:lnTo>
                  <a:lnTo>
                    <a:pt x="103615" y="1506753"/>
                  </a:lnTo>
                  <a:lnTo>
                    <a:pt x="151510" y="1514475"/>
                  </a:lnTo>
                  <a:lnTo>
                    <a:pt x="2229739" y="1514475"/>
                  </a:lnTo>
                  <a:lnTo>
                    <a:pt x="2277634" y="1506753"/>
                  </a:lnTo>
                  <a:lnTo>
                    <a:pt x="2319226" y="1485250"/>
                  </a:lnTo>
                  <a:lnTo>
                    <a:pt x="2352021" y="1452456"/>
                  </a:lnTo>
                  <a:lnTo>
                    <a:pt x="2373527" y="1410864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96050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0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64"/>
                  </a:lnTo>
                  <a:lnTo>
                    <a:pt x="2352021" y="1452456"/>
                  </a:lnTo>
                  <a:lnTo>
                    <a:pt x="2319226" y="1485250"/>
                  </a:lnTo>
                  <a:lnTo>
                    <a:pt x="2277634" y="1506753"/>
                  </a:lnTo>
                  <a:lnTo>
                    <a:pt x="2229739" y="1514475"/>
                  </a:lnTo>
                  <a:lnTo>
                    <a:pt x="151510" y="1514475"/>
                  </a:lnTo>
                  <a:lnTo>
                    <a:pt x="103615" y="1506753"/>
                  </a:lnTo>
                  <a:lnTo>
                    <a:pt x="62023" y="1485250"/>
                  </a:lnTo>
                  <a:lnTo>
                    <a:pt x="29228" y="1452456"/>
                  </a:lnTo>
                  <a:lnTo>
                    <a:pt x="7722" y="1410864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037451" y="4307141"/>
            <a:ext cx="1317625" cy="12312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-7620" algn="ctr">
              <a:lnSpc>
                <a:spcPct val="93300"/>
              </a:lnSpc>
              <a:spcBef>
                <a:spcPts val="345"/>
              </a:spcBef>
            </a:pPr>
            <a:r>
              <a:rPr sz="2750" spc="-10" dirty="0">
                <a:latin typeface="Trebuchet MS"/>
                <a:cs typeface="Trebuchet MS"/>
              </a:rPr>
              <a:t>State Diagram </a:t>
            </a:r>
            <a:r>
              <a:rPr sz="2750" spc="55" dirty="0">
                <a:latin typeface="Trebuchet MS"/>
                <a:cs typeface="Trebuchet MS"/>
              </a:rPr>
              <a:t>Models</a:t>
            </a:r>
            <a:endParaRPr sz="275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134475" y="3943350"/>
            <a:ext cx="2667000" cy="1781175"/>
            <a:chOff x="9134475" y="3943350"/>
            <a:chExt cx="2667000" cy="1781175"/>
          </a:xfrm>
        </p:grpSpPr>
        <p:sp>
          <p:nvSpPr>
            <p:cNvPr id="29" name="object 29"/>
            <p:cNvSpPr/>
            <p:nvPr/>
          </p:nvSpPr>
          <p:spPr>
            <a:xfrm>
              <a:off x="9144000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0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59"/>
                  </a:lnTo>
                  <a:lnTo>
                    <a:pt x="29228" y="1452451"/>
                  </a:lnTo>
                  <a:lnTo>
                    <a:pt x="62023" y="1485246"/>
                  </a:lnTo>
                  <a:lnTo>
                    <a:pt x="103615" y="1506752"/>
                  </a:lnTo>
                  <a:lnTo>
                    <a:pt x="151510" y="1514475"/>
                  </a:lnTo>
                  <a:lnTo>
                    <a:pt x="2229739" y="1514475"/>
                  </a:lnTo>
                  <a:lnTo>
                    <a:pt x="2277634" y="1506752"/>
                  </a:lnTo>
                  <a:lnTo>
                    <a:pt x="2319226" y="1485246"/>
                  </a:lnTo>
                  <a:lnTo>
                    <a:pt x="2352021" y="1452451"/>
                  </a:lnTo>
                  <a:lnTo>
                    <a:pt x="2373527" y="1410859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C9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44000" y="395287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0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59"/>
                  </a:lnTo>
                  <a:lnTo>
                    <a:pt x="2352021" y="1452451"/>
                  </a:lnTo>
                  <a:lnTo>
                    <a:pt x="2319226" y="1485246"/>
                  </a:lnTo>
                  <a:lnTo>
                    <a:pt x="2277634" y="1506752"/>
                  </a:lnTo>
                  <a:lnTo>
                    <a:pt x="2229739" y="1514475"/>
                  </a:lnTo>
                  <a:lnTo>
                    <a:pt x="151510" y="1514475"/>
                  </a:lnTo>
                  <a:lnTo>
                    <a:pt x="103615" y="1506752"/>
                  </a:lnTo>
                  <a:lnTo>
                    <a:pt x="62023" y="1485246"/>
                  </a:lnTo>
                  <a:lnTo>
                    <a:pt x="29228" y="1452451"/>
                  </a:lnTo>
                  <a:lnTo>
                    <a:pt x="7722" y="1410859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410700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2229739" y="0"/>
                  </a:moveTo>
                  <a:lnTo>
                    <a:pt x="151510" y="0"/>
                  </a:lnTo>
                  <a:lnTo>
                    <a:pt x="103615" y="7722"/>
                  </a:lnTo>
                  <a:lnTo>
                    <a:pt x="62023" y="29228"/>
                  </a:lnTo>
                  <a:lnTo>
                    <a:pt x="29228" y="62023"/>
                  </a:lnTo>
                  <a:lnTo>
                    <a:pt x="7722" y="103615"/>
                  </a:lnTo>
                  <a:lnTo>
                    <a:pt x="0" y="151511"/>
                  </a:lnTo>
                  <a:lnTo>
                    <a:pt x="0" y="1362964"/>
                  </a:lnTo>
                  <a:lnTo>
                    <a:pt x="7722" y="1410864"/>
                  </a:lnTo>
                  <a:lnTo>
                    <a:pt x="29228" y="1452456"/>
                  </a:lnTo>
                  <a:lnTo>
                    <a:pt x="62023" y="1485250"/>
                  </a:lnTo>
                  <a:lnTo>
                    <a:pt x="103615" y="1506753"/>
                  </a:lnTo>
                  <a:lnTo>
                    <a:pt x="151510" y="1514475"/>
                  </a:lnTo>
                  <a:lnTo>
                    <a:pt x="2229739" y="1514475"/>
                  </a:lnTo>
                  <a:lnTo>
                    <a:pt x="2277634" y="1506753"/>
                  </a:lnTo>
                  <a:lnTo>
                    <a:pt x="2319226" y="1485250"/>
                  </a:lnTo>
                  <a:lnTo>
                    <a:pt x="2352021" y="1452456"/>
                  </a:lnTo>
                  <a:lnTo>
                    <a:pt x="2373527" y="1410864"/>
                  </a:lnTo>
                  <a:lnTo>
                    <a:pt x="2381250" y="1362964"/>
                  </a:lnTo>
                  <a:lnTo>
                    <a:pt x="2381250" y="151511"/>
                  </a:lnTo>
                  <a:lnTo>
                    <a:pt x="2373527" y="103615"/>
                  </a:lnTo>
                  <a:lnTo>
                    <a:pt x="2352021" y="62023"/>
                  </a:lnTo>
                  <a:lnTo>
                    <a:pt x="2319226" y="29228"/>
                  </a:lnTo>
                  <a:lnTo>
                    <a:pt x="2277634" y="7722"/>
                  </a:lnTo>
                  <a:lnTo>
                    <a:pt x="222973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410700" y="4200525"/>
              <a:ext cx="2381250" cy="1514475"/>
            </a:xfrm>
            <a:custGeom>
              <a:avLst/>
              <a:gdLst/>
              <a:ahLst/>
              <a:cxnLst/>
              <a:rect l="l" t="t" r="r" b="b"/>
              <a:pathLst>
                <a:path w="2381250" h="1514475">
                  <a:moveTo>
                    <a:pt x="0" y="151511"/>
                  </a:moveTo>
                  <a:lnTo>
                    <a:pt x="7722" y="103615"/>
                  </a:lnTo>
                  <a:lnTo>
                    <a:pt x="29228" y="62023"/>
                  </a:lnTo>
                  <a:lnTo>
                    <a:pt x="62023" y="29228"/>
                  </a:lnTo>
                  <a:lnTo>
                    <a:pt x="103615" y="7722"/>
                  </a:lnTo>
                  <a:lnTo>
                    <a:pt x="151510" y="0"/>
                  </a:lnTo>
                  <a:lnTo>
                    <a:pt x="2229739" y="0"/>
                  </a:lnTo>
                  <a:lnTo>
                    <a:pt x="2277634" y="7722"/>
                  </a:lnTo>
                  <a:lnTo>
                    <a:pt x="2319226" y="29228"/>
                  </a:lnTo>
                  <a:lnTo>
                    <a:pt x="2352021" y="62023"/>
                  </a:lnTo>
                  <a:lnTo>
                    <a:pt x="2373527" y="103615"/>
                  </a:lnTo>
                  <a:lnTo>
                    <a:pt x="2381250" y="151511"/>
                  </a:lnTo>
                  <a:lnTo>
                    <a:pt x="2381250" y="1362964"/>
                  </a:lnTo>
                  <a:lnTo>
                    <a:pt x="2373527" y="1410864"/>
                  </a:lnTo>
                  <a:lnTo>
                    <a:pt x="2352021" y="1452456"/>
                  </a:lnTo>
                  <a:lnTo>
                    <a:pt x="2319226" y="1485250"/>
                  </a:lnTo>
                  <a:lnTo>
                    <a:pt x="2277634" y="1506753"/>
                  </a:lnTo>
                  <a:lnTo>
                    <a:pt x="2229739" y="1514475"/>
                  </a:lnTo>
                  <a:lnTo>
                    <a:pt x="151510" y="1514475"/>
                  </a:lnTo>
                  <a:lnTo>
                    <a:pt x="103615" y="1506753"/>
                  </a:lnTo>
                  <a:lnTo>
                    <a:pt x="62023" y="1485250"/>
                  </a:lnTo>
                  <a:lnTo>
                    <a:pt x="29228" y="1452456"/>
                  </a:lnTo>
                  <a:lnTo>
                    <a:pt x="7722" y="1410864"/>
                  </a:lnTo>
                  <a:lnTo>
                    <a:pt x="0" y="1362964"/>
                  </a:lnTo>
                  <a:lnTo>
                    <a:pt x="0" y="151511"/>
                  </a:lnTo>
                  <a:close/>
                </a:path>
              </a:pathLst>
            </a:custGeom>
            <a:ln w="19050">
              <a:solidFill>
                <a:srgbClr val="FFC90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844785" y="4307141"/>
            <a:ext cx="1530350" cy="12312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200025">
              <a:lnSpc>
                <a:spcPct val="93300"/>
              </a:lnSpc>
              <a:spcBef>
                <a:spcPts val="345"/>
              </a:spcBef>
            </a:pPr>
            <a:r>
              <a:rPr sz="2750" spc="-10" dirty="0">
                <a:latin typeface="Trebuchet MS"/>
                <a:cs typeface="Trebuchet MS"/>
              </a:rPr>
              <a:t>Unified Modelling Language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45" dirty="0"/>
              <a:t> </a:t>
            </a:r>
            <a:r>
              <a:rPr sz="3600" spc="85" dirty="0"/>
              <a:t>Modelling</a:t>
            </a:r>
            <a:r>
              <a:rPr sz="3600" spc="280" dirty="0"/>
              <a:t> </a:t>
            </a:r>
            <a:r>
              <a:rPr sz="3600" spc="80" dirty="0"/>
              <a:t>-</a:t>
            </a:r>
            <a:r>
              <a:rPr sz="3600" spc="285" dirty="0"/>
              <a:t> </a:t>
            </a:r>
            <a:r>
              <a:rPr sz="3600" spc="155" dirty="0"/>
              <a:t>Techniques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5356860" cy="324040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0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90" dirty="0">
                <a:latin typeface="Cambria"/>
                <a:cs typeface="Cambria"/>
              </a:rPr>
              <a:t>Context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Models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–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320" dirty="0">
                <a:latin typeface="Cambria"/>
                <a:cs typeface="Cambria"/>
              </a:rPr>
              <a:t>UML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260" dirty="0">
                <a:latin typeface="Cambria"/>
                <a:cs typeface="Cambria"/>
              </a:rPr>
              <a:t>&amp;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215" dirty="0">
                <a:latin typeface="Cambria"/>
                <a:cs typeface="Cambria"/>
              </a:rPr>
              <a:t>DFD</a:t>
            </a:r>
            <a:endParaRPr sz="275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spcBef>
                <a:spcPts val="181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dirty="0">
                <a:latin typeface="Cambria"/>
                <a:cs typeface="Cambria"/>
              </a:rPr>
              <a:t>Interaction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spc="135" dirty="0">
                <a:latin typeface="Cambria"/>
                <a:cs typeface="Cambria"/>
              </a:rPr>
              <a:t>Model</a:t>
            </a:r>
            <a:r>
              <a:rPr sz="2750" spc="2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–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290" dirty="0">
                <a:latin typeface="Cambria"/>
                <a:cs typeface="Cambria"/>
              </a:rPr>
              <a:t>UML</a:t>
            </a:r>
            <a:endParaRPr sz="275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spcBef>
                <a:spcPts val="17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dirty="0">
                <a:latin typeface="Cambria"/>
                <a:cs typeface="Cambria"/>
              </a:rPr>
              <a:t>Structural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130" dirty="0">
                <a:latin typeface="Cambria"/>
                <a:cs typeface="Cambria"/>
              </a:rPr>
              <a:t>Model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–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320" dirty="0">
                <a:latin typeface="Cambria"/>
                <a:cs typeface="Cambria"/>
              </a:rPr>
              <a:t>UML</a:t>
            </a:r>
            <a:r>
              <a:rPr sz="2750" spc="235" dirty="0">
                <a:latin typeface="Cambria"/>
                <a:cs typeface="Cambria"/>
              </a:rPr>
              <a:t> </a:t>
            </a:r>
            <a:r>
              <a:rPr sz="2750" spc="260" dirty="0">
                <a:latin typeface="Cambria"/>
                <a:cs typeface="Cambria"/>
              </a:rPr>
              <a:t>&amp;</a:t>
            </a:r>
            <a:r>
              <a:rPr sz="2750" spc="200" dirty="0">
                <a:latin typeface="Cambria"/>
                <a:cs typeface="Cambria"/>
              </a:rPr>
              <a:t> </a:t>
            </a:r>
            <a:r>
              <a:rPr sz="2750" spc="165" dirty="0">
                <a:latin typeface="Cambria"/>
                <a:cs typeface="Cambria"/>
              </a:rPr>
              <a:t>ERD</a:t>
            </a: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spc="50" dirty="0">
                <a:latin typeface="Cambria"/>
                <a:cs typeface="Cambria"/>
              </a:rPr>
              <a:t>Behavioral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125" dirty="0">
                <a:latin typeface="Cambria"/>
                <a:cs typeface="Cambria"/>
              </a:rPr>
              <a:t>Model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–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295" dirty="0">
                <a:latin typeface="Cambria"/>
                <a:cs typeface="Cambria"/>
              </a:rPr>
              <a:t>UML</a:t>
            </a: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730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spc="105" dirty="0">
                <a:latin typeface="Cambria"/>
                <a:cs typeface="Cambria"/>
              </a:rPr>
              <a:t>Data</a:t>
            </a:r>
            <a:r>
              <a:rPr sz="2750" spc="85" dirty="0">
                <a:latin typeface="Cambria"/>
                <a:cs typeface="Cambria"/>
              </a:rPr>
              <a:t> </a:t>
            </a:r>
            <a:r>
              <a:rPr sz="2750" spc="125" dirty="0">
                <a:latin typeface="Cambria"/>
                <a:cs typeface="Cambria"/>
              </a:rPr>
              <a:t>Model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–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190" dirty="0">
                <a:latin typeface="Cambria"/>
                <a:cs typeface="Cambria"/>
              </a:rPr>
              <a:t>ERD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260" dirty="0">
                <a:latin typeface="Cambria"/>
                <a:cs typeface="Cambria"/>
              </a:rPr>
              <a:t>&amp;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295" dirty="0">
                <a:latin typeface="Cambria"/>
                <a:cs typeface="Cambria"/>
              </a:rPr>
              <a:t>UML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642363"/>
            <a:ext cx="11238865" cy="3869690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825"/>
              </a:spcBef>
              <a:buSzPct val="96363"/>
              <a:buFont typeface="Wingdings"/>
              <a:buChar char=""/>
              <a:tabLst>
                <a:tab pos="294640" algn="l"/>
                <a:tab pos="786765" algn="l"/>
                <a:tab pos="1748155" algn="l"/>
                <a:tab pos="2755900" algn="l"/>
                <a:tab pos="4358005" algn="l"/>
                <a:tab pos="5559425" algn="l"/>
                <a:tab pos="6028690" algn="l"/>
                <a:tab pos="6421755" algn="l"/>
                <a:tab pos="8115934" algn="l"/>
                <a:tab pos="10605770" algn="l"/>
              </a:tabLst>
            </a:pPr>
            <a:r>
              <a:rPr sz="2750" spc="395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5" dirty="0">
                <a:latin typeface="Cambria"/>
                <a:cs typeface="Cambria"/>
              </a:rPr>
              <a:t>Data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Flow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0" dirty="0">
                <a:latin typeface="Cambria"/>
                <a:cs typeface="Cambria"/>
              </a:rPr>
              <a:t>Diagram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(DFD)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is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0" dirty="0">
                <a:latin typeface="Cambria"/>
                <a:cs typeface="Cambria"/>
              </a:rPr>
              <a:t>graphical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representation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that</a:t>
            </a:r>
            <a:endParaRPr sz="275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730"/>
              </a:spcBef>
            </a:pP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illustrates</a:t>
            </a:r>
            <a:r>
              <a:rPr sz="2750" b="1" spc="8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the</a:t>
            </a:r>
            <a:r>
              <a:rPr sz="2750" b="1" spc="15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flow</a:t>
            </a:r>
            <a:r>
              <a:rPr sz="2750" b="1" spc="114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of</a:t>
            </a:r>
            <a:r>
              <a:rPr sz="2750" b="1" spc="10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data</a:t>
            </a:r>
            <a:r>
              <a:rPr sz="2750" b="1" spc="114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within</a:t>
            </a:r>
            <a:r>
              <a:rPr sz="2750" b="1" spc="8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a</a:t>
            </a:r>
            <a:r>
              <a:rPr sz="2750" b="1" spc="114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spc="-10" dirty="0">
                <a:solidFill>
                  <a:srgbClr val="C00000"/>
                </a:solidFill>
                <a:latin typeface="Palatino Linotype"/>
                <a:cs typeface="Palatino Linotype"/>
              </a:rPr>
              <a:t>system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750">
              <a:latin typeface="Cambria"/>
              <a:cs typeface="Cambria"/>
            </a:endParaRPr>
          </a:p>
          <a:p>
            <a:pPr marL="241300" marR="5080" indent="-229235" algn="just">
              <a:lnSpc>
                <a:spcPct val="1536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dirty="0">
                <a:latin typeface="Cambria"/>
                <a:cs typeface="Cambria"/>
              </a:rPr>
              <a:t>	It</a:t>
            </a:r>
            <a:r>
              <a:rPr sz="2750" spc="3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serves</a:t>
            </a:r>
            <a:r>
              <a:rPr sz="2750" spc="4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</a:t>
            </a:r>
            <a:r>
              <a:rPr sz="2750" spc="3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409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powerful</a:t>
            </a:r>
            <a:r>
              <a:rPr sz="2750" spc="3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tool</a:t>
            </a:r>
            <a:r>
              <a:rPr sz="2750" spc="4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395" dirty="0">
                <a:latin typeface="Cambria"/>
                <a:cs typeface="Cambria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visualizing</a:t>
            </a:r>
            <a:r>
              <a:rPr sz="2750" b="1" spc="38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and</a:t>
            </a:r>
            <a:r>
              <a:rPr sz="2750" b="1" spc="31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understanding</a:t>
            </a:r>
            <a:r>
              <a:rPr sz="2750" b="1" spc="41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750" b="1" spc="-25" dirty="0">
                <a:solidFill>
                  <a:srgbClr val="C00000"/>
                </a:solidFill>
                <a:latin typeface="Palatino Linotype"/>
                <a:cs typeface="Palatino Linotype"/>
              </a:rPr>
              <a:t>how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information</a:t>
            </a:r>
            <a:r>
              <a:rPr sz="2750" b="1" spc="204" dirty="0">
                <a:solidFill>
                  <a:srgbClr val="C00000"/>
                </a:solidFill>
                <a:latin typeface="Palatino Linotype"/>
                <a:cs typeface="Palatino Linotype"/>
              </a:rPr>
              <a:t> 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is</a:t>
            </a:r>
            <a:r>
              <a:rPr sz="2750" b="1" spc="180" dirty="0">
                <a:solidFill>
                  <a:srgbClr val="C00000"/>
                </a:solidFill>
                <a:latin typeface="Palatino Linotype"/>
                <a:cs typeface="Palatino Linotype"/>
              </a:rPr>
              <a:t> 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processed,</a:t>
            </a:r>
            <a:r>
              <a:rPr sz="2750" b="1" spc="200" dirty="0">
                <a:solidFill>
                  <a:srgbClr val="C00000"/>
                </a:solidFill>
                <a:latin typeface="Palatino Linotype"/>
                <a:cs typeface="Palatino Linotype"/>
              </a:rPr>
              <a:t> 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stored,</a:t>
            </a:r>
            <a:r>
              <a:rPr sz="2750" b="1" spc="195" dirty="0">
                <a:solidFill>
                  <a:srgbClr val="C00000"/>
                </a:solidFill>
                <a:latin typeface="Palatino Linotype"/>
                <a:cs typeface="Palatino Linotype"/>
              </a:rPr>
              <a:t> 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and</a:t>
            </a:r>
            <a:r>
              <a:rPr sz="2750" b="1" spc="190" dirty="0">
                <a:solidFill>
                  <a:srgbClr val="C00000"/>
                </a:solidFill>
                <a:latin typeface="Palatino Linotype"/>
                <a:cs typeface="Palatino Linotype"/>
              </a:rPr>
              <a:t>  </a:t>
            </a:r>
            <a:r>
              <a:rPr sz="2750" b="1" dirty="0">
                <a:solidFill>
                  <a:srgbClr val="C00000"/>
                </a:solidFill>
                <a:latin typeface="Palatino Linotype"/>
                <a:cs typeface="Palatino Linotype"/>
              </a:rPr>
              <a:t>communicated</a:t>
            </a:r>
            <a:r>
              <a:rPr sz="2750" dirty="0">
                <a:latin typeface="Cambria"/>
                <a:cs typeface="Cambria"/>
              </a:rPr>
              <a:t>,</a:t>
            </a:r>
            <a:r>
              <a:rPr sz="2750" spc="280" dirty="0">
                <a:latin typeface="Cambria"/>
                <a:cs typeface="Cambria"/>
              </a:rPr>
              <a:t>  </a:t>
            </a:r>
            <a:r>
              <a:rPr sz="2750" spc="105" dirty="0">
                <a:latin typeface="Cambria"/>
                <a:cs typeface="Cambria"/>
              </a:rPr>
              <a:t>making</a:t>
            </a:r>
            <a:r>
              <a:rPr sz="2750" spc="290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it </a:t>
            </a:r>
            <a:r>
              <a:rPr sz="2750" dirty="0">
                <a:latin typeface="Cambria"/>
                <a:cs typeface="Cambria"/>
              </a:rPr>
              <a:t>essential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analysis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design.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11238230" cy="527177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Purpose</a:t>
            </a:r>
            <a:r>
              <a:rPr sz="2150" b="1" spc="12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and</a:t>
            </a:r>
            <a:r>
              <a:rPr sz="2150" b="1" spc="13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150" b="1" spc="-10" dirty="0">
                <a:solidFill>
                  <a:srgbClr val="C00000"/>
                </a:solidFill>
                <a:latin typeface="Palatino Linotype"/>
                <a:cs typeface="Palatino Linotype"/>
              </a:rPr>
              <a:t>Benefits</a:t>
            </a:r>
            <a:endParaRPr sz="2150">
              <a:latin typeface="Palatino Linotype"/>
              <a:cs typeface="Palatino Linotype"/>
            </a:endParaRPr>
          </a:p>
          <a:p>
            <a:pPr marL="240029" marR="8890" indent="-227965">
              <a:lnSpc>
                <a:spcPct val="133900"/>
              </a:lnSpc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Visualization:</a:t>
            </a:r>
            <a:r>
              <a:rPr sz="2150" b="1" spc="10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150" spc="155" dirty="0">
                <a:latin typeface="Cambria"/>
                <a:cs typeface="Cambria"/>
              </a:rPr>
              <a:t>DFDs</a:t>
            </a:r>
            <a:r>
              <a:rPr sz="2150" spc="16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provide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clear</a:t>
            </a:r>
            <a:r>
              <a:rPr sz="2150" spc="210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concise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visual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representation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90" dirty="0">
                <a:latin typeface="Cambria"/>
                <a:cs typeface="Cambria"/>
              </a:rPr>
              <a:t>how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flows 	through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2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system,</a:t>
            </a:r>
            <a:r>
              <a:rPr sz="2150" spc="100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making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it</a:t>
            </a:r>
            <a:r>
              <a:rPr sz="2150" spc="7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easier</a:t>
            </a:r>
            <a:r>
              <a:rPr sz="2150" spc="10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7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understand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complex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processes.</a:t>
            </a:r>
            <a:endParaRPr sz="21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30"/>
              </a:spcBef>
              <a:buClr>
                <a:srgbClr val="C00000"/>
              </a:buClr>
              <a:buFont typeface="Wingdings"/>
              <a:buChar char=""/>
            </a:pPr>
            <a:endParaRPr sz="215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buSzPct val="95348"/>
              <a:buFont typeface="Wingdings"/>
              <a:buChar char=""/>
              <a:tabLst>
                <a:tab pos="241300" algn="l"/>
                <a:tab pos="2140585" algn="l"/>
                <a:tab pos="2545080" algn="l"/>
                <a:tab pos="4248785" algn="l"/>
                <a:tab pos="4716780" algn="l"/>
                <a:tab pos="5979160" algn="l"/>
                <a:tab pos="6531609" algn="l"/>
                <a:tab pos="7058025" algn="l"/>
                <a:tab pos="7759700" algn="l"/>
                <a:tab pos="8146415" algn="l"/>
                <a:tab pos="9829800" algn="l"/>
                <a:tab pos="10677525" algn="l"/>
              </a:tabLst>
            </a:pPr>
            <a:r>
              <a:rPr sz="2150" b="1" spc="-10" dirty="0">
                <a:solidFill>
                  <a:srgbClr val="C00000"/>
                </a:solidFill>
                <a:latin typeface="Palatino Linotype"/>
                <a:cs typeface="Palatino Linotype"/>
              </a:rPr>
              <a:t>Identification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	</a:t>
            </a:r>
            <a:r>
              <a:rPr sz="2150" b="1" spc="-25" dirty="0">
                <a:solidFill>
                  <a:srgbClr val="C00000"/>
                </a:solidFill>
                <a:latin typeface="Palatino Linotype"/>
                <a:cs typeface="Palatino Linotype"/>
              </a:rPr>
              <a:t>of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	</a:t>
            </a:r>
            <a:r>
              <a:rPr sz="2150" b="1" spc="-10" dirty="0">
                <a:solidFill>
                  <a:srgbClr val="C00000"/>
                </a:solidFill>
                <a:latin typeface="Palatino Linotype"/>
                <a:cs typeface="Palatino Linotype"/>
              </a:rPr>
              <a:t>Bottlenecks</a:t>
            </a:r>
            <a:r>
              <a:rPr sz="2150" spc="-10" dirty="0">
                <a:latin typeface="Cambria"/>
                <a:cs typeface="Cambria"/>
              </a:rPr>
              <a:t>: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By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75" dirty="0">
                <a:latin typeface="Cambria"/>
                <a:cs typeface="Cambria"/>
              </a:rPr>
              <a:t>mapping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35" dirty="0">
                <a:latin typeface="Cambria"/>
                <a:cs typeface="Cambria"/>
              </a:rPr>
              <a:t>out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the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flow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of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information,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130" dirty="0">
                <a:latin typeface="Cambria"/>
                <a:cs typeface="Cambria"/>
              </a:rPr>
              <a:t>DFDs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help</a:t>
            </a:r>
            <a:endParaRPr sz="215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875"/>
              </a:spcBef>
            </a:pPr>
            <a:r>
              <a:rPr sz="2150" spc="50" dirty="0">
                <a:latin typeface="Cambria"/>
                <a:cs typeface="Cambria"/>
              </a:rPr>
              <a:t>identify</a:t>
            </a:r>
            <a:r>
              <a:rPr sz="2150" spc="30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potential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inefficiencies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bottlenecks</a:t>
            </a:r>
            <a:r>
              <a:rPr sz="2150" spc="29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in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280" dirty="0">
                <a:latin typeface="Cambria"/>
                <a:cs typeface="Cambria"/>
              </a:rPr>
              <a:t> </a:t>
            </a:r>
            <a:r>
              <a:rPr sz="2150" spc="35" dirty="0">
                <a:latin typeface="Cambria"/>
                <a:cs typeface="Cambria"/>
              </a:rPr>
              <a:t>processing.</a:t>
            </a:r>
            <a:endParaRPr sz="21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10"/>
              </a:spcBef>
            </a:pPr>
            <a:endParaRPr sz="2150">
              <a:latin typeface="Cambria"/>
              <a:cs typeface="Cambria"/>
            </a:endParaRPr>
          </a:p>
          <a:p>
            <a:pPr marL="240029" marR="12700" indent="-227965">
              <a:lnSpc>
                <a:spcPct val="131000"/>
              </a:lnSpc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Documentation:</a:t>
            </a:r>
            <a:r>
              <a:rPr sz="2150" b="1" spc="34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150" spc="150" dirty="0">
                <a:latin typeface="Cambria"/>
                <a:cs typeface="Cambria"/>
              </a:rPr>
              <a:t>DFDs</a:t>
            </a:r>
            <a:r>
              <a:rPr sz="2150" spc="3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serve</a:t>
            </a:r>
            <a:r>
              <a:rPr sz="2150" spc="38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as</a:t>
            </a:r>
            <a:r>
              <a:rPr sz="2150" spc="38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documentation</a:t>
            </a:r>
            <a:r>
              <a:rPr sz="2150" spc="3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tools</a:t>
            </a:r>
            <a:r>
              <a:rPr sz="2150" spc="43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that</a:t>
            </a:r>
            <a:r>
              <a:rPr sz="2150" spc="41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communicate</a:t>
            </a:r>
            <a:r>
              <a:rPr sz="2150" spc="40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system</a:t>
            </a:r>
            <a:r>
              <a:rPr sz="2150" spc="395" dirty="0">
                <a:latin typeface="Cambria"/>
                <a:cs typeface="Cambria"/>
              </a:rPr>
              <a:t> </a:t>
            </a:r>
            <a:r>
              <a:rPr sz="2150" spc="40" dirty="0">
                <a:latin typeface="Cambria"/>
                <a:cs typeface="Cambria"/>
              </a:rPr>
              <a:t>designs 	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various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stakeholders,</a:t>
            </a:r>
            <a:r>
              <a:rPr sz="2150" spc="25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from</a:t>
            </a:r>
            <a:r>
              <a:rPr sz="2150" spc="22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technical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teams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non-</a:t>
            </a:r>
            <a:r>
              <a:rPr sz="2150" dirty="0">
                <a:latin typeface="Cambria"/>
                <a:cs typeface="Cambria"/>
              </a:rPr>
              <a:t>technical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spc="40" dirty="0">
                <a:latin typeface="Cambria"/>
                <a:cs typeface="Cambria"/>
              </a:rPr>
              <a:t>audiences.</a:t>
            </a:r>
            <a:endParaRPr sz="21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Clr>
                <a:srgbClr val="C00000"/>
              </a:buClr>
              <a:buFont typeface="Wingdings"/>
              <a:buChar char=""/>
            </a:pPr>
            <a:endParaRPr sz="2150">
              <a:latin typeface="Cambria"/>
              <a:cs typeface="Cambria"/>
            </a:endParaRPr>
          </a:p>
          <a:p>
            <a:pPr marL="240029" marR="5080" indent="-227965">
              <a:lnSpc>
                <a:spcPct val="133900"/>
              </a:lnSpc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System</a:t>
            </a:r>
            <a:r>
              <a:rPr sz="2150" b="1" spc="509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Analysis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45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They  </a:t>
            </a:r>
            <a:r>
              <a:rPr sz="2150" dirty="0">
                <a:latin typeface="Cambria"/>
                <a:cs typeface="Cambria"/>
              </a:rPr>
              <a:t>can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be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used</a:t>
            </a:r>
            <a:r>
              <a:rPr sz="2150" spc="6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3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analyze</a:t>
            </a:r>
            <a:r>
              <a:rPr sz="2150" spc="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existing</a:t>
            </a:r>
            <a:r>
              <a:rPr sz="2150" spc="6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systems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spc="75" dirty="0">
                <a:latin typeface="Cambria"/>
                <a:cs typeface="Cambria"/>
              </a:rPr>
              <a:t>model</a:t>
            </a:r>
            <a:r>
              <a:rPr sz="2150" spc="40" dirty="0">
                <a:latin typeface="Cambria"/>
                <a:cs typeface="Cambria"/>
              </a:rPr>
              <a:t>  </a:t>
            </a:r>
            <a:r>
              <a:rPr sz="2150" spc="70" dirty="0">
                <a:latin typeface="Cambria"/>
                <a:cs typeface="Cambria"/>
              </a:rPr>
              <a:t>new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spc="40" dirty="0">
                <a:latin typeface="Cambria"/>
                <a:cs typeface="Cambria"/>
              </a:rPr>
              <a:t>ones, 	</a:t>
            </a:r>
            <a:r>
              <a:rPr sz="2150" dirty="0">
                <a:latin typeface="Cambria"/>
                <a:cs typeface="Cambria"/>
              </a:rPr>
              <a:t>facilitating</a:t>
            </a:r>
            <a:r>
              <a:rPr sz="2150" spc="31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discussions</a:t>
            </a:r>
            <a:r>
              <a:rPr sz="2150" spc="30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around</a:t>
            </a:r>
            <a:r>
              <a:rPr sz="2150" spc="30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improvements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280" dirty="0">
                <a:latin typeface="Cambria"/>
                <a:cs typeface="Cambria"/>
              </a:rPr>
              <a:t> </a:t>
            </a:r>
            <a:r>
              <a:rPr sz="2150" spc="35" dirty="0">
                <a:latin typeface="Cambria"/>
                <a:cs typeface="Cambria"/>
              </a:rPr>
              <a:t>redesigns.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11238865" cy="527177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70"/>
              </a:spcBef>
            </a:pPr>
            <a:r>
              <a:rPr sz="2150" b="1" dirty="0">
                <a:latin typeface="Palatino Linotype"/>
                <a:cs typeface="Palatino Linotype"/>
              </a:rPr>
              <a:t>DFDs</a:t>
            </a:r>
            <a:r>
              <a:rPr sz="2150" b="1" spc="110" dirty="0">
                <a:latin typeface="Palatino Linotype"/>
                <a:cs typeface="Palatino Linotype"/>
              </a:rPr>
              <a:t> </a:t>
            </a:r>
            <a:r>
              <a:rPr sz="2150" b="1" dirty="0">
                <a:latin typeface="Palatino Linotype"/>
                <a:cs typeface="Palatino Linotype"/>
              </a:rPr>
              <a:t>consist</a:t>
            </a:r>
            <a:r>
              <a:rPr sz="2150" b="1" spc="114" dirty="0">
                <a:latin typeface="Palatino Linotype"/>
                <a:cs typeface="Palatino Linotype"/>
              </a:rPr>
              <a:t> </a:t>
            </a:r>
            <a:r>
              <a:rPr sz="2150" b="1" dirty="0">
                <a:latin typeface="Palatino Linotype"/>
                <a:cs typeface="Palatino Linotype"/>
              </a:rPr>
              <a:t>of</a:t>
            </a:r>
            <a:r>
              <a:rPr sz="2150" b="1" spc="114" dirty="0">
                <a:latin typeface="Palatino Linotype"/>
                <a:cs typeface="Palatino Linotype"/>
              </a:rPr>
              <a:t> </a:t>
            </a:r>
            <a:r>
              <a:rPr sz="2150" b="1" dirty="0">
                <a:latin typeface="Palatino Linotype"/>
                <a:cs typeface="Palatino Linotype"/>
              </a:rPr>
              <a:t>four</a:t>
            </a:r>
            <a:r>
              <a:rPr sz="2150" b="1" spc="55" dirty="0">
                <a:latin typeface="Palatino Linotype"/>
                <a:cs typeface="Palatino Linotype"/>
              </a:rPr>
              <a:t> </a:t>
            </a:r>
            <a:r>
              <a:rPr sz="2150" b="1" dirty="0">
                <a:latin typeface="Palatino Linotype"/>
                <a:cs typeface="Palatino Linotype"/>
              </a:rPr>
              <a:t>primary</a:t>
            </a:r>
            <a:r>
              <a:rPr sz="2150" b="1" spc="130" dirty="0">
                <a:latin typeface="Palatino Linotype"/>
                <a:cs typeface="Palatino Linotype"/>
              </a:rPr>
              <a:t> </a:t>
            </a:r>
            <a:r>
              <a:rPr sz="2150" b="1" spc="-10" dirty="0">
                <a:latin typeface="Palatino Linotype"/>
                <a:cs typeface="Palatino Linotype"/>
              </a:rPr>
              <a:t>components:</a:t>
            </a:r>
            <a:endParaRPr sz="2150">
              <a:latin typeface="Palatino Linotype"/>
              <a:cs typeface="Palatino Linotype"/>
            </a:endParaRPr>
          </a:p>
          <a:p>
            <a:pPr marL="240029" marR="10160" indent="-227965" algn="just">
              <a:lnSpc>
                <a:spcPct val="133900"/>
              </a:lnSpc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Processes:</a:t>
            </a:r>
            <a:r>
              <a:rPr sz="2150" b="1" spc="125" dirty="0">
                <a:solidFill>
                  <a:srgbClr val="C00000"/>
                </a:solidFill>
                <a:latin typeface="Palatino Linotype"/>
                <a:cs typeface="Palatino Linotype"/>
              </a:rPr>
              <a:t>  </a:t>
            </a:r>
            <a:r>
              <a:rPr sz="2150" dirty="0">
                <a:latin typeface="Cambria"/>
                <a:cs typeface="Cambria"/>
              </a:rPr>
              <a:t>Represented</a:t>
            </a:r>
            <a:r>
              <a:rPr sz="2150" spc="225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by</a:t>
            </a:r>
            <a:r>
              <a:rPr sz="2150" spc="215" dirty="0">
                <a:latin typeface="Cambria"/>
                <a:cs typeface="Cambria"/>
              </a:rPr>
              <a:t>  </a:t>
            </a:r>
            <a:r>
              <a:rPr sz="2150" spc="70" dirty="0">
                <a:latin typeface="Cambria"/>
                <a:cs typeface="Cambria"/>
              </a:rPr>
              <a:t>rounded</a:t>
            </a:r>
            <a:r>
              <a:rPr sz="2150" spc="229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rectangles,</a:t>
            </a:r>
            <a:r>
              <a:rPr sz="2150" spc="22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processes</a:t>
            </a:r>
            <a:r>
              <a:rPr sz="2150" spc="22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transform</a:t>
            </a:r>
            <a:r>
              <a:rPr sz="2150" spc="210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input</a:t>
            </a:r>
            <a:r>
              <a:rPr sz="2150" spc="19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215" dirty="0">
                <a:latin typeface="Cambria"/>
                <a:cs typeface="Cambria"/>
              </a:rPr>
              <a:t>  </a:t>
            </a:r>
            <a:r>
              <a:rPr sz="2150" spc="-20" dirty="0">
                <a:latin typeface="Cambria"/>
                <a:cs typeface="Cambria"/>
              </a:rPr>
              <a:t>into 	</a:t>
            </a:r>
            <a:r>
              <a:rPr sz="2150" spc="65" dirty="0">
                <a:latin typeface="Cambria"/>
                <a:cs typeface="Cambria"/>
              </a:rPr>
              <a:t>output</a:t>
            </a:r>
            <a:r>
              <a:rPr sz="2150" spc="11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data.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Each</a:t>
            </a:r>
            <a:r>
              <a:rPr sz="2150" spc="114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process</a:t>
            </a:r>
            <a:r>
              <a:rPr sz="2150" spc="1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110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typically</a:t>
            </a:r>
            <a:r>
              <a:rPr sz="2150" spc="12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labeled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spc="70" dirty="0">
                <a:latin typeface="Cambria"/>
                <a:cs typeface="Cambria"/>
              </a:rPr>
              <a:t>with</a:t>
            </a:r>
            <a:r>
              <a:rPr sz="2150" spc="11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verb</a:t>
            </a:r>
            <a:r>
              <a:rPr sz="2150" spc="1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phrase</a:t>
            </a:r>
            <a:r>
              <a:rPr sz="2150" spc="11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that</a:t>
            </a:r>
            <a:r>
              <a:rPr sz="2150" spc="1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describes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spc="-25" dirty="0">
                <a:latin typeface="Cambria"/>
                <a:cs typeface="Cambria"/>
              </a:rPr>
              <a:t>its 	</a:t>
            </a:r>
            <a:r>
              <a:rPr sz="2150" spc="50" dirty="0">
                <a:latin typeface="Cambria"/>
                <a:cs typeface="Cambria"/>
              </a:rPr>
              <a:t>function.</a:t>
            </a:r>
            <a:endParaRPr sz="2150">
              <a:latin typeface="Cambria"/>
              <a:cs typeface="Cambria"/>
            </a:endParaRPr>
          </a:p>
          <a:p>
            <a:pPr marL="241300" indent="-229235" algn="just">
              <a:lnSpc>
                <a:spcPct val="100000"/>
              </a:lnSpc>
              <a:spcBef>
                <a:spcPts val="800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Data</a:t>
            </a:r>
            <a:r>
              <a:rPr sz="2150" b="1" spc="45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Flows</a:t>
            </a:r>
            <a:r>
              <a:rPr sz="2150" b="1" dirty="0">
                <a:latin typeface="Palatino Linotype"/>
                <a:cs typeface="Palatino Linotype"/>
              </a:rPr>
              <a:t>:</a:t>
            </a:r>
            <a:r>
              <a:rPr sz="2150" b="1" spc="445" dirty="0">
                <a:latin typeface="Palatino Linotype"/>
                <a:cs typeface="Palatino Linotype"/>
              </a:rPr>
              <a:t> </a:t>
            </a:r>
            <a:r>
              <a:rPr sz="2150" dirty="0">
                <a:latin typeface="Cambria"/>
                <a:cs typeface="Cambria"/>
              </a:rPr>
              <a:t>Illustrated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as</a:t>
            </a:r>
            <a:r>
              <a:rPr sz="2150" spc="50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arrows,</a:t>
            </a:r>
            <a:r>
              <a:rPr sz="2150" spc="52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flows</a:t>
            </a:r>
            <a:r>
              <a:rPr sz="2150" spc="52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indicate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49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movement</a:t>
            </a:r>
            <a:r>
              <a:rPr sz="2150" spc="53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52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spc="-10" dirty="0">
                <a:latin typeface="Cambria"/>
                <a:cs typeface="Cambria"/>
              </a:rPr>
              <a:t>between</a:t>
            </a:r>
            <a:endParaRPr sz="2150">
              <a:latin typeface="Cambria"/>
              <a:cs typeface="Cambria"/>
            </a:endParaRPr>
          </a:p>
          <a:p>
            <a:pPr marL="241300" marR="5080" algn="just">
              <a:lnSpc>
                <a:spcPct val="133900"/>
              </a:lnSpc>
            </a:pPr>
            <a:r>
              <a:rPr sz="2150" dirty="0">
                <a:latin typeface="Cambria"/>
                <a:cs typeface="Cambria"/>
              </a:rPr>
              <a:t>processes,</a:t>
            </a:r>
            <a:r>
              <a:rPr sz="2150" spc="4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stores,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external</a:t>
            </a:r>
            <a:r>
              <a:rPr sz="2150" spc="4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entities.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They</a:t>
            </a:r>
            <a:r>
              <a:rPr sz="2150" spc="4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are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labeled</a:t>
            </a:r>
            <a:r>
              <a:rPr sz="2150" spc="40" dirty="0">
                <a:latin typeface="Cambria"/>
                <a:cs typeface="Cambria"/>
              </a:rPr>
              <a:t>  </a:t>
            </a:r>
            <a:r>
              <a:rPr sz="2150" spc="70" dirty="0">
                <a:latin typeface="Cambria"/>
                <a:cs typeface="Cambria"/>
              </a:rPr>
              <a:t>with</a:t>
            </a:r>
            <a:r>
              <a:rPr sz="2150" spc="53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descriptions</a:t>
            </a:r>
            <a:r>
              <a:rPr sz="2150" spc="70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40" dirty="0">
                <a:latin typeface="Cambria"/>
                <a:cs typeface="Cambria"/>
              </a:rPr>
              <a:t>  </a:t>
            </a:r>
            <a:r>
              <a:rPr sz="2150" spc="-25" dirty="0">
                <a:latin typeface="Cambria"/>
                <a:cs typeface="Cambria"/>
              </a:rPr>
              <a:t>the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being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transferred.</a:t>
            </a:r>
            <a:endParaRPr sz="2150">
              <a:latin typeface="Cambria"/>
              <a:cs typeface="Cambria"/>
            </a:endParaRPr>
          </a:p>
          <a:p>
            <a:pPr marL="240029" marR="13970" indent="-227965" algn="just">
              <a:lnSpc>
                <a:spcPct val="131000"/>
              </a:lnSpc>
              <a:spcBef>
                <a:spcPts val="75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Data</a:t>
            </a:r>
            <a:r>
              <a:rPr sz="2150" b="1" spc="18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Stores</a:t>
            </a:r>
            <a:r>
              <a:rPr sz="2150" b="1" spc="204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(Warehouses)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24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Depicted</a:t>
            </a:r>
            <a:r>
              <a:rPr sz="2150" spc="29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as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open-</a:t>
            </a:r>
            <a:r>
              <a:rPr sz="2150" spc="65" dirty="0">
                <a:latin typeface="Cambria"/>
                <a:cs typeface="Cambria"/>
              </a:rPr>
              <a:t>ended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rectangles,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these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represent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locations 	</a:t>
            </a:r>
            <a:r>
              <a:rPr sz="2150" dirty="0">
                <a:latin typeface="Cambria"/>
                <a:cs typeface="Cambria"/>
              </a:rPr>
              <a:t>where</a:t>
            </a:r>
            <a:r>
              <a:rPr sz="2150" spc="1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11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stored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for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later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use.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Data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can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flow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into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out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these</a:t>
            </a:r>
            <a:r>
              <a:rPr sz="2150" spc="1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stores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as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needed.</a:t>
            </a:r>
            <a:endParaRPr sz="2150">
              <a:latin typeface="Cambria"/>
              <a:cs typeface="Cambria"/>
            </a:endParaRPr>
          </a:p>
          <a:p>
            <a:pPr marL="240029" marR="5080" indent="-227965" algn="just">
              <a:lnSpc>
                <a:spcPct val="133900"/>
              </a:lnSpc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External</a:t>
            </a:r>
            <a:r>
              <a:rPr sz="2150" b="1" spc="10" dirty="0">
                <a:solidFill>
                  <a:srgbClr val="C00000"/>
                </a:solidFill>
                <a:latin typeface="Palatino Linotype"/>
                <a:cs typeface="Palatino Linotype"/>
              </a:rPr>
              <a:t>  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Entities</a:t>
            </a:r>
            <a:r>
              <a:rPr sz="2150" b="1" spc="10" dirty="0">
                <a:solidFill>
                  <a:srgbClr val="C00000"/>
                </a:solidFill>
                <a:latin typeface="Palatino Linotype"/>
                <a:cs typeface="Palatino Linotype"/>
              </a:rPr>
              <a:t>  </a:t>
            </a:r>
            <a:r>
              <a:rPr sz="2150" b="1" dirty="0">
                <a:solidFill>
                  <a:srgbClr val="C00000"/>
                </a:solidFill>
                <a:latin typeface="Palatino Linotype"/>
                <a:cs typeface="Palatino Linotype"/>
              </a:rPr>
              <a:t>(Terminators)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65" dirty="0">
                <a:latin typeface="Cambria"/>
                <a:cs typeface="Cambria"/>
              </a:rPr>
              <a:t>  </a:t>
            </a:r>
            <a:r>
              <a:rPr sz="2150" spc="90" dirty="0">
                <a:latin typeface="Cambria"/>
                <a:cs typeface="Cambria"/>
              </a:rPr>
              <a:t>Shown</a:t>
            </a:r>
            <a:r>
              <a:rPr sz="2150" spc="6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as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squares</a:t>
            </a:r>
            <a:r>
              <a:rPr sz="2150" spc="7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7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rectangles,</a:t>
            </a:r>
            <a:r>
              <a:rPr sz="2150" spc="8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external</a:t>
            </a:r>
            <a:r>
              <a:rPr sz="2150" spc="7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entities</a:t>
            </a:r>
            <a:r>
              <a:rPr sz="2150" spc="80" dirty="0">
                <a:latin typeface="Cambria"/>
                <a:cs typeface="Cambria"/>
              </a:rPr>
              <a:t>  </a:t>
            </a:r>
            <a:r>
              <a:rPr sz="2150" spc="-25" dirty="0">
                <a:latin typeface="Cambria"/>
                <a:cs typeface="Cambria"/>
              </a:rPr>
              <a:t>are 	</a:t>
            </a:r>
            <a:r>
              <a:rPr sz="2150" dirty="0">
                <a:latin typeface="Cambria"/>
                <a:cs typeface="Cambria"/>
              </a:rPr>
              <a:t>sources</a:t>
            </a:r>
            <a:r>
              <a:rPr sz="2150" spc="22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destinations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outside</a:t>
            </a:r>
            <a:r>
              <a:rPr sz="2150" spc="22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7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system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being</a:t>
            </a:r>
            <a:r>
              <a:rPr sz="2150" spc="200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modeled.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They</a:t>
            </a:r>
            <a:r>
              <a:rPr sz="2150" spc="22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interact</a:t>
            </a:r>
            <a:r>
              <a:rPr sz="2150" spc="240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with</a:t>
            </a:r>
            <a:r>
              <a:rPr sz="2150" spc="175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the 	</a:t>
            </a:r>
            <a:r>
              <a:rPr sz="2150" dirty="0">
                <a:latin typeface="Cambria"/>
                <a:cs typeface="Cambria"/>
              </a:rPr>
              <a:t>system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by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providing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inputs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or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receiving</a:t>
            </a:r>
            <a:r>
              <a:rPr sz="2150" spc="27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outputs.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3785" cy="452755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750" spc="105" dirty="0">
                <a:latin typeface="Cambria"/>
                <a:cs typeface="Cambria"/>
              </a:rPr>
              <a:t>When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creating</a:t>
            </a:r>
            <a:r>
              <a:rPr sz="2750" spc="2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215" dirty="0">
                <a:latin typeface="Cambria"/>
                <a:cs typeface="Cambria"/>
              </a:rPr>
              <a:t>DFD,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several</a:t>
            </a:r>
            <a:r>
              <a:rPr sz="2750" spc="2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rules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should</a:t>
            </a:r>
            <a:r>
              <a:rPr sz="2750" spc="2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followed:</a:t>
            </a:r>
            <a:endParaRPr sz="275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spcBef>
                <a:spcPts val="181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65" dirty="0">
                <a:latin typeface="Cambria"/>
                <a:cs typeface="Cambria"/>
              </a:rPr>
              <a:t>Identify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key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processes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external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entities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involved.</a:t>
            </a:r>
            <a:endParaRPr sz="275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spcBef>
                <a:spcPts val="17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55" dirty="0">
                <a:latin typeface="Cambria"/>
                <a:cs typeface="Cambria"/>
              </a:rPr>
              <a:t>Determine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input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output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data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each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process.</a:t>
            </a: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spc="114" dirty="0">
                <a:latin typeface="Cambria"/>
                <a:cs typeface="Cambria"/>
              </a:rPr>
              <a:t>Use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standardized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symbols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represent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components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clearly.</a:t>
            </a:r>
            <a:endParaRPr sz="2750">
              <a:latin typeface="Cambria"/>
              <a:cs typeface="Cambria"/>
            </a:endParaRPr>
          </a:p>
          <a:p>
            <a:pPr marL="295275" indent="-282575">
              <a:lnSpc>
                <a:spcPct val="100000"/>
              </a:lnSpc>
              <a:spcBef>
                <a:spcPts val="1730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spc="70" dirty="0">
                <a:latin typeface="Cambria"/>
                <a:cs typeface="Cambria"/>
              </a:rPr>
              <a:t>Label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all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arrows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with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type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data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being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transferred.</a:t>
            </a:r>
            <a:endParaRPr sz="2750">
              <a:latin typeface="Cambria"/>
              <a:cs typeface="Cambria"/>
            </a:endParaRPr>
          </a:p>
          <a:p>
            <a:pPr marL="241300" marR="5080" indent="-229235">
              <a:lnSpc>
                <a:spcPts val="5110"/>
              </a:lnSpc>
              <a:spcBef>
                <a:spcPts val="1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1334770" algn="l"/>
                <a:tab pos="2052955" algn="l"/>
                <a:tab pos="3608704" algn="l"/>
                <a:tab pos="4891405" algn="l"/>
                <a:tab pos="5427345" algn="l"/>
                <a:tab pos="6948170" algn="l"/>
                <a:tab pos="9499600" algn="l"/>
                <a:tab pos="10327640" algn="l"/>
              </a:tabLst>
            </a:pPr>
            <a:r>
              <a:rPr sz="2750" spc="85" dirty="0">
                <a:latin typeface="Cambria"/>
                <a:cs typeface="Cambria"/>
              </a:rPr>
              <a:t>	Keep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0" dirty="0">
                <a:latin typeface="Cambria"/>
                <a:cs typeface="Cambria"/>
              </a:rPr>
              <a:t>diagram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latin typeface="Cambria"/>
                <a:cs typeface="Cambria"/>
              </a:rPr>
              <a:t>simple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enhance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understanding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and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90" dirty="0">
                <a:latin typeface="Cambria"/>
                <a:cs typeface="Cambria"/>
              </a:rPr>
              <a:t>avoid </a:t>
            </a:r>
            <a:r>
              <a:rPr sz="2750" spc="70" dirty="0">
                <a:latin typeface="Cambria"/>
                <a:cs typeface="Cambria"/>
              </a:rPr>
              <a:t>complexity.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08261"/>
            <a:ext cx="10936605" cy="478599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35"/>
              </a:spcBef>
            </a:pPr>
            <a:r>
              <a:rPr sz="2600" b="1" spc="-10" dirty="0">
                <a:latin typeface="Palatino Linotype"/>
                <a:cs typeface="Palatino Linotype"/>
              </a:rPr>
              <a:t>Advantages:</a:t>
            </a:r>
            <a:endParaRPr sz="2600">
              <a:latin typeface="Palatino Linotype"/>
              <a:cs typeface="Palatino Linotype"/>
            </a:endParaRPr>
          </a:p>
          <a:p>
            <a:pPr marL="274320" indent="-265430">
              <a:lnSpc>
                <a:spcPct val="100000"/>
              </a:lnSpc>
              <a:spcBef>
                <a:spcPts val="15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Provides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clear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overview</a:t>
            </a:r>
            <a:r>
              <a:rPr sz="2600" spc="10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of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data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flow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within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system.</a:t>
            </a:r>
            <a:endParaRPr sz="2600">
              <a:latin typeface="Cambria"/>
              <a:cs typeface="Cambria"/>
            </a:endParaRPr>
          </a:p>
          <a:p>
            <a:pPr marL="274320" indent="-264795">
              <a:lnSpc>
                <a:spcPct val="100000"/>
              </a:lnSpc>
              <a:spcBef>
                <a:spcPts val="161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105" dirty="0">
                <a:latin typeface="Cambria"/>
                <a:cs typeface="Cambria"/>
              </a:rPr>
              <a:t>Helps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identifying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potential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issues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data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handling.</a:t>
            </a:r>
            <a:endParaRPr sz="2600">
              <a:latin typeface="Cambria"/>
              <a:cs typeface="Cambria"/>
            </a:endParaRPr>
          </a:p>
          <a:p>
            <a:pPr marL="274320" indent="-265430">
              <a:lnSpc>
                <a:spcPct val="100000"/>
              </a:lnSpc>
              <a:spcBef>
                <a:spcPts val="154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Facilitates</a:t>
            </a:r>
            <a:r>
              <a:rPr sz="2600" spc="185" dirty="0">
                <a:latin typeface="Cambria"/>
                <a:cs typeface="Cambria"/>
              </a:rPr>
              <a:t> </a:t>
            </a:r>
            <a:r>
              <a:rPr sz="2600" spc="45" dirty="0">
                <a:latin typeface="Cambria"/>
                <a:cs typeface="Cambria"/>
              </a:rPr>
              <a:t>communication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among</a:t>
            </a:r>
            <a:r>
              <a:rPr sz="2600" spc="1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stakeholders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spc="45" dirty="0">
                <a:latin typeface="Cambria"/>
                <a:cs typeface="Cambria"/>
              </a:rPr>
              <a:t>regarding</a:t>
            </a:r>
            <a:r>
              <a:rPr sz="2600" spc="18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design.</a:t>
            </a:r>
            <a:endParaRPr sz="26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2600" b="1" spc="-10" dirty="0">
                <a:latin typeface="Palatino Linotype"/>
                <a:cs typeface="Palatino Linotype"/>
              </a:rPr>
              <a:t>Disadvantages:</a:t>
            </a:r>
            <a:endParaRPr sz="2600">
              <a:latin typeface="Palatino Linotype"/>
              <a:cs typeface="Palatino Linotype"/>
            </a:endParaRPr>
          </a:p>
          <a:p>
            <a:pPr marL="274320" indent="-264795">
              <a:lnSpc>
                <a:spcPct val="100000"/>
              </a:lnSpc>
              <a:spcBef>
                <a:spcPts val="161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155" dirty="0">
                <a:latin typeface="Cambria"/>
                <a:cs typeface="Cambria"/>
              </a:rPr>
              <a:t>Can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become</a:t>
            </a:r>
            <a:r>
              <a:rPr sz="2600" spc="10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complex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if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too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many</a:t>
            </a:r>
            <a:r>
              <a:rPr sz="2600" spc="1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elements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are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included.</a:t>
            </a:r>
            <a:endParaRPr sz="2600">
              <a:latin typeface="Cambria"/>
              <a:cs typeface="Cambria"/>
            </a:endParaRPr>
          </a:p>
          <a:p>
            <a:pPr marL="274320" indent="-265430">
              <a:lnSpc>
                <a:spcPct val="100000"/>
              </a:lnSpc>
              <a:spcBef>
                <a:spcPts val="154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155" dirty="0">
                <a:latin typeface="Cambria"/>
                <a:cs typeface="Cambria"/>
              </a:rPr>
              <a:t>May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require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significant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time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create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maintain.</a:t>
            </a:r>
            <a:endParaRPr sz="2600">
              <a:latin typeface="Cambria"/>
              <a:cs typeface="Cambria"/>
            </a:endParaRPr>
          </a:p>
          <a:p>
            <a:pPr marL="274320" indent="-264795">
              <a:lnSpc>
                <a:spcPct val="100000"/>
              </a:lnSpc>
              <a:spcBef>
                <a:spcPts val="161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120" dirty="0">
                <a:latin typeface="Cambria"/>
                <a:cs typeface="Cambria"/>
              </a:rPr>
              <a:t>Might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not</a:t>
            </a:r>
            <a:r>
              <a:rPr sz="2600" spc="1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capture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dynamic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aspects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of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behavior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effectively.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11243310" cy="502412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74320" indent="-274320">
              <a:lnSpc>
                <a:spcPct val="100000"/>
              </a:lnSpc>
              <a:spcBef>
                <a:spcPts val="13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b="1" dirty="0">
                <a:latin typeface="Palatino Linotype"/>
                <a:cs typeface="Palatino Linotype"/>
              </a:rPr>
              <a:t>Levels</a:t>
            </a:r>
            <a:r>
              <a:rPr sz="2600" b="1" spc="-5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of</a:t>
            </a:r>
            <a:r>
              <a:rPr sz="2600" b="1" spc="5" dirty="0">
                <a:latin typeface="Palatino Linotype"/>
                <a:cs typeface="Palatino Linotype"/>
              </a:rPr>
              <a:t> </a:t>
            </a:r>
            <a:r>
              <a:rPr sz="2600" b="1" spc="-20" dirty="0">
                <a:latin typeface="Palatino Linotype"/>
                <a:cs typeface="Palatino Linotype"/>
              </a:rPr>
              <a:t>DFDs</a:t>
            </a:r>
            <a:endParaRPr sz="2600">
              <a:latin typeface="Palatino Linotype"/>
              <a:cs typeface="Palatino Linotype"/>
            </a:endParaRPr>
          </a:p>
          <a:p>
            <a:pPr marL="241300" marR="18415" indent="-237490">
              <a:lnSpc>
                <a:spcPct val="139600"/>
              </a:lnSpc>
              <a:buSzPct val="94230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Context</a:t>
            </a:r>
            <a:r>
              <a:rPr sz="2600" b="1" spc="9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Diagram</a:t>
            </a:r>
            <a:r>
              <a:rPr sz="2600" b="1" spc="9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(Level</a:t>
            </a:r>
            <a:r>
              <a:rPr sz="2600" b="1" spc="100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0)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highest-level</a:t>
            </a:r>
            <a:r>
              <a:rPr sz="2600" spc="229" dirty="0">
                <a:latin typeface="Cambria"/>
                <a:cs typeface="Cambria"/>
              </a:rPr>
              <a:t> </a:t>
            </a:r>
            <a:r>
              <a:rPr sz="2600" spc="175" dirty="0">
                <a:latin typeface="Cambria"/>
                <a:cs typeface="Cambria"/>
              </a:rPr>
              <a:t>DFD,</a:t>
            </a:r>
            <a:r>
              <a:rPr sz="2600" spc="20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showing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as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single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process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with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external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entities.</a:t>
            </a:r>
            <a:endParaRPr sz="2600">
              <a:latin typeface="Cambria"/>
              <a:cs typeface="Cambria"/>
            </a:endParaRPr>
          </a:p>
          <a:p>
            <a:pPr marL="241300" marR="5080" indent="-237490">
              <a:lnSpc>
                <a:spcPts val="4430"/>
              </a:lnSpc>
              <a:spcBef>
                <a:spcPts val="295"/>
              </a:spcBef>
              <a:buSzPct val="94230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Level</a:t>
            </a:r>
            <a:r>
              <a:rPr sz="2600" b="1" spc="28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1</a:t>
            </a:r>
            <a:r>
              <a:rPr sz="2600" b="1" spc="275" dirty="0">
                <a:solidFill>
                  <a:srgbClr val="C00000"/>
                </a:solidFill>
                <a:latin typeface="Palatino Linotype"/>
                <a:cs typeface="Palatino Linotype"/>
              </a:rPr>
              <a:t> 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DFD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35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Decomposes</a:t>
            </a:r>
            <a:r>
              <a:rPr sz="2600" spc="3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3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context</a:t>
            </a:r>
            <a:r>
              <a:rPr sz="2600" spc="38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diagram</a:t>
            </a:r>
            <a:r>
              <a:rPr sz="2600" spc="3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into</a:t>
            </a:r>
            <a:r>
              <a:rPr sz="2600" spc="3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major</a:t>
            </a:r>
            <a:r>
              <a:rPr sz="2600" spc="3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processes</a:t>
            </a:r>
            <a:r>
              <a:rPr sz="2600" spc="31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and </a:t>
            </a:r>
            <a:r>
              <a:rPr sz="2600" dirty="0">
                <a:latin typeface="Cambria"/>
                <a:cs typeface="Cambria"/>
              </a:rPr>
              <a:t>data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flows.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869"/>
              </a:spcBef>
              <a:buSzPct val="96153"/>
              <a:buFont typeface="Wingdings"/>
              <a:buChar char=""/>
              <a:tabLst>
                <a:tab pos="274320" algn="l"/>
                <a:tab pos="1235075" algn="l"/>
                <a:tab pos="1535430" algn="l"/>
                <a:tab pos="2486660" algn="l"/>
                <a:tab pos="3723640" algn="l"/>
                <a:tab pos="5657215" algn="l"/>
                <a:tab pos="6595745" algn="l"/>
                <a:tab pos="6895465" algn="l"/>
                <a:tab pos="8423910" algn="l"/>
                <a:tab pos="9136380" algn="l"/>
                <a:tab pos="10034270" algn="l"/>
              </a:tabLst>
            </a:pPr>
            <a:r>
              <a:rPr sz="2600" b="1" spc="-10" dirty="0">
                <a:solidFill>
                  <a:srgbClr val="C00000"/>
                </a:solidFill>
                <a:latin typeface="Palatino Linotype"/>
                <a:cs typeface="Palatino Linotype"/>
              </a:rPr>
              <a:t>Level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	</a:t>
            </a:r>
            <a:r>
              <a:rPr sz="2600" b="1" spc="-50" dirty="0">
                <a:solidFill>
                  <a:srgbClr val="C00000"/>
                </a:solidFill>
                <a:latin typeface="Palatino Linotype"/>
                <a:cs typeface="Palatino Linotype"/>
              </a:rPr>
              <a:t>2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	</a:t>
            </a:r>
            <a:r>
              <a:rPr sz="2600" b="1" spc="-20" dirty="0">
                <a:solidFill>
                  <a:srgbClr val="C00000"/>
                </a:solidFill>
                <a:latin typeface="Palatino Linotype"/>
                <a:cs typeface="Palatino Linotype"/>
              </a:rPr>
              <a:t>DFD</a:t>
            </a:r>
            <a:r>
              <a:rPr sz="2600" spc="-20" dirty="0">
                <a:latin typeface="Cambria"/>
                <a:cs typeface="Cambria"/>
              </a:rPr>
              <a:t>: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Further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decomposes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5" dirty="0">
                <a:latin typeface="Cambria"/>
                <a:cs typeface="Cambria"/>
              </a:rPr>
              <a:t>Level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50" dirty="0">
                <a:latin typeface="Cambria"/>
                <a:cs typeface="Cambria"/>
              </a:rPr>
              <a:t>1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processes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into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more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detailed</a:t>
            </a:r>
            <a:endParaRPr sz="26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35"/>
              </a:spcBef>
            </a:pPr>
            <a:r>
              <a:rPr sz="2600" dirty="0">
                <a:latin typeface="Cambria"/>
                <a:cs typeface="Cambria"/>
              </a:rPr>
              <a:t>processes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data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flows.</a:t>
            </a:r>
            <a:endParaRPr sz="2600">
              <a:latin typeface="Cambria"/>
              <a:cs typeface="Cambria"/>
            </a:endParaRPr>
          </a:p>
          <a:p>
            <a:pPr marL="241300" marR="6985" indent="-237490">
              <a:lnSpc>
                <a:spcPts val="4430"/>
              </a:lnSpc>
              <a:spcBef>
                <a:spcPts val="95"/>
              </a:spcBef>
              <a:buSzPct val="94230"/>
              <a:buFont typeface="Wingdings"/>
              <a:buChar char=""/>
              <a:tabLst>
                <a:tab pos="241300" algn="l"/>
                <a:tab pos="273685" algn="l"/>
                <a:tab pos="1270635" algn="l"/>
                <a:tab pos="1605280" algn="l"/>
                <a:tab pos="2592070" algn="l"/>
                <a:tab pos="4614545" algn="l"/>
                <a:tab pos="5588000" algn="l"/>
                <a:tab pos="5923280" algn="l"/>
                <a:tab pos="7486015" algn="l"/>
                <a:tab pos="8234045" algn="l"/>
                <a:tab pos="9101455" algn="l"/>
                <a:tab pos="10034270" algn="l"/>
              </a:tabLst>
            </a:pPr>
            <a:r>
              <a:rPr sz="2600" b="1" spc="-10" dirty="0">
                <a:solidFill>
                  <a:srgbClr val="C00000"/>
                </a:solidFill>
                <a:latin typeface="Palatino Linotype"/>
                <a:cs typeface="Palatino Linotype"/>
              </a:rPr>
              <a:t>Level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	</a:t>
            </a:r>
            <a:r>
              <a:rPr sz="2600" b="1" spc="-50" dirty="0">
                <a:solidFill>
                  <a:srgbClr val="C00000"/>
                </a:solidFill>
                <a:latin typeface="Palatino Linotype"/>
                <a:cs typeface="Palatino Linotype"/>
              </a:rPr>
              <a:t>3</a:t>
            </a:r>
            <a:r>
              <a:rPr sz="2600" b="1" dirty="0">
                <a:solidFill>
                  <a:srgbClr val="C00000"/>
                </a:solidFill>
                <a:latin typeface="Palatino Linotype"/>
                <a:cs typeface="Palatino Linotype"/>
              </a:rPr>
              <a:t>	</a:t>
            </a:r>
            <a:r>
              <a:rPr sz="2600" b="1" spc="-20" dirty="0">
                <a:solidFill>
                  <a:srgbClr val="C00000"/>
                </a:solidFill>
                <a:latin typeface="Palatino Linotype"/>
                <a:cs typeface="Palatino Linotype"/>
              </a:rPr>
              <a:t>DFD</a:t>
            </a:r>
            <a:r>
              <a:rPr sz="2600" spc="-20" dirty="0">
                <a:latin typeface="Cambria"/>
                <a:cs typeface="Cambria"/>
              </a:rPr>
              <a:t>: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0" dirty="0">
                <a:latin typeface="Cambria"/>
                <a:cs typeface="Cambria"/>
              </a:rPr>
              <a:t>Decomposes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5" dirty="0">
                <a:latin typeface="Cambria"/>
                <a:cs typeface="Cambria"/>
              </a:rPr>
              <a:t>Level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50" dirty="0">
                <a:latin typeface="Cambria"/>
                <a:cs typeface="Cambria"/>
              </a:rPr>
              <a:t>2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processes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into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even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more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detailed </a:t>
            </a:r>
            <a:r>
              <a:rPr sz="2600" dirty="0">
                <a:latin typeface="Cambria"/>
                <a:cs typeface="Cambria"/>
              </a:rPr>
              <a:t>processes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data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flows.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11238230" cy="30873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marR="5080" indent="-227965" algn="just">
              <a:lnSpc>
                <a:spcPct val="133900"/>
              </a:lnSpc>
              <a:spcBef>
                <a:spcPts val="95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spc="60" dirty="0">
                <a:solidFill>
                  <a:srgbClr val="C00000"/>
                </a:solidFill>
                <a:latin typeface="Cambria"/>
                <a:cs typeface="Cambria"/>
              </a:rPr>
              <a:t>Visualization</a:t>
            </a:r>
            <a:r>
              <a:rPr sz="2150" spc="18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150" spc="1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50" spc="80" dirty="0">
                <a:solidFill>
                  <a:srgbClr val="C00000"/>
                </a:solidFill>
                <a:latin typeface="Cambria"/>
                <a:cs typeface="Cambria"/>
              </a:rPr>
              <a:t>Data</a:t>
            </a:r>
            <a:r>
              <a:rPr sz="2150" spc="1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50" spc="60" dirty="0">
                <a:solidFill>
                  <a:srgbClr val="C00000"/>
                </a:solidFill>
                <a:latin typeface="Cambria"/>
                <a:cs typeface="Cambria"/>
              </a:rPr>
              <a:t>Flow</a:t>
            </a:r>
            <a:r>
              <a:rPr sz="2150" spc="60" dirty="0">
                <a:latin typeface="Cambria"/>
                <a:cs typeface="Cambria"/>
              </a:rPr>
              <a:t>:</a:t>
            </a:r>
            <a:r>
              <a:rPr sz="2150" spc="175" dirty="0">
                <a:latin typeface="Cambria"/>
                <a:cs typeface="Cambria"/>
              </a:rPr>
              <a:t> </a:t>
            </a:r>
            <a:r>
              <a:rPr sz="2150" spc="150" dirty="0">
                <a:latin typeface="Cambria"/>
                <a:cs typeface="Cambria"/>
              </a:rPr>
              <a:t>DFDs</a:t>
            </a:r>
            <a:r>
              <a:rPr sz="2150" spc="16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provide</a:t>
            </a:r>
            <a:r>
              <a:rPr sz="2150" spc="20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7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graphical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representation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90" dirty="0">
                <a:latin typeface="Cambria"/>
                <a:cs typeface="Cambria"/>
              </a:rPr>
              <a:t>how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195" dirty="0">
                <a:latin typeface="Cambria"/>
                <a:cs typeface="Cambria"/>
              </a:rPr>
              <a:t> </a:t>
            </a:r>
            <a:r>
              <a:rPr sz="2150" spc="35" dirty="0">
                <a:latin typeface="Cambria"/>
                <a:cs typeface="Cambria"/>
              </a:rPr>
              <a:t>moves 	</a:t>
            </a:r>
            <a:r>
              <a:rPr sz="2150" spc="55" dirty="0">
                <a:latin typeface="Cambria"/>
                <a:cs typeface="Cambria"/>
              </a:rPr>
              <a:t>through</a:t>
            </a:r>
            <a:r>
              <a:rPr sz="2150" spc="39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395" dirty="0">
                <a:latin typeface="Cambria"/>
                <a:cs typeface="Cambria"/>
              </a:rPr>
              <a:t>  </a:t>
            </a:r>
            <a:r>
              <a:rPr sz="2150" spc="50" dirty="0">
                <a:latin typeface="Cambria"/>
                <a:cs typeface="Cambria"/>
              </a:rPr>
              <a:t>system,</a:t>
            </a:r>
            <a:r>
              <a:rPr sz="2150" spc="38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illustrating</a:t>
            </a:r>
            <a:r>
              <a:rPr sz="2150" spc="37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processes,</a:t>
            </a:r>
            <a:r>
              <a:rPr sz="2150" spc="39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40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stores,</a:t>
            </a:r>
            <a:r>
              <a:rPr sz="2150" spc="400" dirty="0">
                <a:latin typeface="Cambria"/>
                <a:cs typeface="Cambria"/>
              </a:rPr>
              <a:t> 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38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external</a:t>
            </a:r>
            <a:r>
              <a:rPr sz="2150" spc="39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entities.</a:t>
            </a:r>
            <a:r>
              <a:rPr sz="2150" spc="385" dirty="0">
                <a:latin typeface="Cambria"/>
                <a:cs typeface="Cambria"/>
              </a:rPr>
              <a:t>  </a:t>
            </a:r>
            <a:r>
              <a:rPr sz="2150" spc="-20" dirty="0">
                <a:latin typeface="Cambria"/>
                <a:cs typeface="Cambria"/>
              </a:rPr>
              <a:t>This 	</a:t>
            </a:r>
            <a:r>
              <a:rPr sz="2150" spc="50" dirty="0">
                <a:latin typeface="Cambria"/>
                <a:cs typeface="Cambria"/>
              </a:rPr>
              <a:t>visualization</a:t>
            </a:r>
            <a:r>
              <a:rPr sz="2150" spc="49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helps</a:t>
            </a:r>
            <a:r>
              <a:rPr sz="2150" spc="49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stakeholders</a:t>
            </a:r>
            <a:r>
              <a:rPr sz="2150" spc="495" dirty="0">
                <a:latin typeface="Cambria"/>
                <a:cs typeface="Cambria"/>
              </a:rPr>
              <a:t>  </a:t>
            </a:r>
            <a:r>
              <a:rPr sz="2150" spc="50" dirty="0">
                <a:latin typeface="Cambria"/>
                <a:cs typeface="Cambria"/>
              </a:rPr>
              <a:t>understand</a:t>
            </a:r>
            <a:r>
              <a:rPr sz="2150" spc="495" dirty="0">
                <a:latin typeface="Cambria"/>
                <a:cs typeface="Cambria"/>
              </a:rPr>
              <a:t>  </a:t>
            </a:r>
            <a:r>
              <a:rPr sz="2150" spc="90" dirty="0">
                <a:latin typeface="Cambria"/>
                <a:cs typeface="Cambria"/>
              </a:rPr>
              <a:t>how</a:t>
            </a:r>
            <a:r>
              <a:rPr sz="2150" spc="495" dirty="0">
                <a:latin typeface="Cambria"/>
                <a:cs typeface="Cambria"/>
              </a:rPr>
              <a:t>  </a:t>
            </a:r>
            <a:r>
              <a:rPr sz="2150" spc="45" dirty="0">
                <a:latin typeface="Cambria"/>
                <a:cs typeface="Cambria"/>
              </a:rPr>
              <a:t>information</a:t>
            </a:r>
            <a:r>
              <a:rPr sz="2150" spc="46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46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processed</a:t>
            </a:r>
            <a:r>
              <a:rPr sz="2150" spc="509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and 	</a:t>
            </a:r>
            <a:r>
              <a:rPr sz="2150" dirty="0">
                <a:latin typeface="Cambria"/>
                <a:cs typeface="Cambria"/>
              </a:rPr>
              <a:t>transferred,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which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essential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for</a:t>
            </a:r>
            <a:r>
              <a:rPr sz="2150" spc="26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accurately</a:t>
            </a:r>
            <a:r>
              <a:rPr sz="2150" spc="26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capturing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requirements16.</a:t>
            </a:r>
            <a:endParaRPr sz="2150">
              <a:latin typeface="Cambria"/>
              <a:cs typeface="Cambria"/>
            </a:endParaRPr>
          </a:p>
          <a:p>
            <a:pPr marL="241300" indent="-229235" algn="just">
              <a:lnSpc>
                <a:spcPct val="100000"/>
              </a:lnSpc>
              <a:spcBef>
                <a:spcPts val="800"/>
              </a:spcBef>
              <a:buSzPct val="95348"/>
              <a:buFont typeface="Wingdings"/>
              <a:buChar char=""/>
              <a:tabLst>
                <a:tab pos="241300" algn="l"/>
              </a:tabLst>
            </a:pPr>
            <a:r>
              <a:rPr sz="2150" spc="50" dirty="0">
                <a:solidFill>
                  <a:srgbClr val="C00000"/>
                </a:solidFill>
                <a:latin typeface="Cambria"/>
                <a:cs typeface="Cambria"/>
              </a:rPr>
              <a:t>Clarification</a:t>
            </a:r>
            <a:r>
              <a:rPr sz="2150" spc="409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150" spc="36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50" spc="55" dirty="0">
                <a:solidFill>
                  <a:srgbClr val="C00000"/>
                </a:solidFill>
                <a:latin typeface="Cambria"/>
                <a:cs typeface="Cambria"/>
              </a:rPr>
              <a:t>System</a:t>
            </a:r>
            <a:r>
              <a:rPr sz="2150" spc="3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C00000"/>
                </a:solidFill>
                <a:latin typeface="Cambria"/>
                <a:cs typeface="Cambria"/>
              </a:rPr>
              <a:t>Boundaries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360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By</a:t>
            </a:r>
            <a:r>
              <a:rPr sz="2150" spc="37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defining</a:t>
            </a:r>
            <a:r>
              <a:rPr sz="2150" spc="38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what</a:t>
            </a:r>
            <a:r>
              <a:rPr sz="2150" spc="3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33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inside</a:t>
            </a:r>
            <a:r>
              <a:rPr sz="2150" spc="325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36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outside</a:t>
            </a:r>
            <a:r>
              <a:rPr sz="2150" spc="39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335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system,</a:t>
            </a:r>
            <a:endParaRPr sz="2150">
              <a:latin typeface="Cambria"/>
              <a:cs typeface="Cambria"/>
            </a:endParaRPr>
          </a:p>
          <a:p>
            <a:pPr marL="241300" marR="8890" algn="just">
              <a:lnSpc>
                <a:spcPct val="133900"/>
              </a:lnSpc>
            </a:pPr>
            <a:r>
              <a:rPr sz="2150" spc="150" dirty="0">
                <a:latin typeface="Cambria"/>
                <a:cs typeface="Cambria"/>
              </a:rPr>
              <a:t>DFDs</a:t>
            </a:r>
            <a:r>
              <a:rPr sz="2150" spc="45" dirty="0">
                <a:latin typeface="Cambria"/>
                <a:cs typeface="Cambria"/>
              </a:rPr>
              <a:t>  </a:t>
            </a:r>
            <a:r>
              <a:rPr sz="2150" spc="60" dirty="0">
                <a:latin typeface="Cambria"/>
                <a:cs typeface="Cambria"/>
              </a:rPr>
              <a:t>help</a:t>
            </a:r>
            <a:r>
              <a:rPr sz="2150" spc="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delineate</a:t>
            </a:r>
            <a:r>
              <a:rPr sz="2150" spc="7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5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scope</a:t>
            </a:r>
            <a:r>
              <a:rPr sz="2150" spc="60" dirty="0">
                <a:latin typeface="Cambria"/>
                <a:cs typeface="Cambria"/>
              </a:rPr>
              <a:t> 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project.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This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clarity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is</a:t>
            </a:r>
            <a:r>
              <a:rPr sz="2150" spc="3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vital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spc="80" dirty="0">
                <a:latin typeface="Cambria"/>
                <a:cs typeface="Cambria"/>
              </a:rPr>
              <a:t>during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spc="-10" dirty="0">
                <a:latin typeface="Cambria"/>
                <a:cs typeface="Cambria"/>
              </a:rPr>
              <a:t>requirement </a:t>
            </a:r>
            <a:r>
              <a:rPr sz="2150" dirty="0">
                <a:latin typeface="Cambria"/>
                <a:cs typeface="Cambria"/>
              </a:rPr>
              <a:t>elicitation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ensure</a:t>
            </a:r>
            <a:r>
              <a:rPr sz="2150" spc="2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that</a:t>
            </a:r>
            <a:r>
              <a:rPr sz="2150" spc="2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all</a:t>
            </a:r>
            <a:r>
              <a:rPr sz="2150" spc="229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necessary</a:t>
            </a:r>
            <a:r>
              <a:rPr sz="2150" spc="26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functionalities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are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identified</a:t>
            </a:r>
            <a:r>
              <a:rPr sz="2150" spc="245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and</a:t>
            </a:r>
            <a:r>
              <a:rPr sz="2150" spc="210" dirty="0">
                <a:latin typeface="Cambria"/>
                <a:cs typeface="Cambria"/>
              </a:rPr>
              <a:t> </a:t>
            </a:r>
            <a:r>
              <a:rPr sz="2150" spc="35" dirty="0">
                <a:latin typeface="Cambria"/>
                <a:cs typeface="Cambria"/>
              </a:rPr>
              <a:t>documented34.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950" y="4097591"/>
            <a:ext cx="9598025" cy="8839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0029" marR="5080" indent="-227965">
              <a:lnSpc>
                <a:spcPct val="131000"/>
              </a:lnSpc>
              <a:spcBef>
                <a:spcPts val="90"/>
              </a:spcBef>
              <a:buSzPct val="95348"/>
              <a:buFont typeface="Wingdings"/>
              <a:buChar char=""/>
              <a:tabLst>
                <a:tab pos="241300" algn="l"/>
                <a:tab pos="1870710" algn="l"/>
                <a:tab pos="2085975" algn="l"/>
                <a:tab pos="2367915" algn="l"/>
                <a:tab pos="3477895" algn="l"/>
                <a:tab pos="4693920" algn="l"/>
                <a:tab pos="5114290" algn="l"/>
                <a:tab pos="5651500" algn="l"/>
                <a:tab pos="6180455" algn="l"/>
                <a:tab pos="6557009" algn="l"/>
                <a:tab pos="6859270" algn="l"/>
                <a:tab pos="7066915" algn="l"/>
                <a:tab pos="7457440" algn="l"/>
                <a:tab pos="7785734" algn="l"/>
                <a:tab pos="8613140" algn="l"/>
              </a:tabLst>
            </a:pPr>
            <a:r>
              <a:rPr sz="2150" spc="-10" dirty="0">
                <a:solidFill>
                  <a:srgbClr val="C00000"/>
                </a:solidFill>
                <a:latin typeface="Cambria"/>
                <a:cs typeface="Cambria"/>
              </a:rPr>
              <a:t>Facilitation</a:t>
            </a:r>
            <a:r>
              <a:rPr sz="2150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150" spc="40" dirty="0">
                <a:solidFill>
                  <a:srgbClr val="C00000"/>
                </a:solidFill>
                <a:latin typeface="Cambria"/>
                <a:cs typeface="Cambria"/>
              </a:rPr>
              <a:t>of</a:t>
            </a:r>
            <a:r>
              <a:rPr sz="2150" dirty="0">
                <a:solidFill>
                  <a:srgbClr val="C00000"/>
                </a:solidFill>
                <a:latin typeface="Cambria"/>
                <a:cs typeface="Cambria"/>
              </a:rPr>
              <a:t>	</a:t>
            </a:r>
            <a:r>
              <a:rPr sz="2150" spc="65" dirty="0">
                <a:solidFill>
                  <a:srgbClr val="C00000"/>
                </a:solidFill>
                <a:latin typeface="Cambria"/>
                <a:cs typeface="Cambria"/>
              </a:rPr>
              <a:t>Communication</a:t>
            </a:r>
            <a:r>
              <a:rPr sz="2150" spc="65" dirty="0">
                <a:latin typeface="Cambria"/>
                <a:cs typeface="Cambria"/>
              </a:rPr>
              <a:t>: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135" dirty="0">
                <a:latin typeface="Cambria"/>
                <a:cs typeface="Cambria"/>
              </a:rPr>
              <a:t>DFDs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serve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as</a:t>
            </a:r>
            <a:r>
              <a:rPr sz="2150" dirty="0">
                <a:latin typeface="Cambria"/>
                <a:cs typeface="Cambria"/>
              </a:rPr>
              <a:t>		</a:t>
            </a:r>
            <a:r>
              <a:rPr sz="2150" spc="-50" dirty="0">
                <a:latin typeface="Cambria"/>
                <a:cs typeface="Cambria"/>
              </a:rPr>
              <a:t>a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communication 	</a:t>
            </a:r>
            <a:r>
              <a:rPr sz="2150" spc="-10" dirty="0">
                <a:latin typeface="Cambria"/>
                <a:cs typeface="Cambria"/>
              </a:rPr>
              <a:t>stakeholders,</a:t>
            </a:r>
            <a:r>
              <a:rPr sz="2150" dirty="0">
                <a:latin typeface="Cambria"/>
                <a:cs typeface="Cambria"/>
              </a:rPr>
              <a:t>		</a:t>
            </a:r>
            <a:r>
              <a:rPr sz="2150" spc="60" dirty="0">
                <a:latin typeface="Cambria"/>
                <a:cs typeface="Cambria"/>
              </a:rPr>
              <a:t>including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developers,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clients,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0" dirty="0">
                <a:latin typeface="Cambria"/>
                <a:cs typeface="Cambria"/>
              </a:rPr>
              <a:t>and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users.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They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5" dirty="0">
                <a:latin typeface="Cambria"/>
                <a:cs typeface="Cambria"/>
              </a:rPr>
              <a:t>provide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15168" y="4097591"/>
            <a:ext cx="1612265" cy="8839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8275" marR="5080" indent="-155575">
              <a:lnSpc>
                <a:spcPct val="131000"/>
              </a:lnSpc>
              <a:spcBef>
                <a:spcPts val="90"/>
              </a:spcBef>
              <a:tabLst>
                <a:tab pos="513080" algn="l"/>
                <a:tab pos="739775" algn="l"/>
              </a:tabLst>
            </a:pPr>
            <a:r>
              <a:rPr sz="2150" spc="-20" dirty="0">
                <a:latin typeface="Cambria"/>
                <a:cs typeface="Cambria"/>
              </a:rPr>
              <a:t>tool</a:t>
            </a:r>
            <a:r>
              <a:rPr sz="2150" dirty="0">
                <a:latin typeface="Cambria"/>
                <a:cs typeface="Cambria"/>
              </a:rPr>
              <a:t>		</a:t>
            </a:r>
            <a:r>
              <a:rPr sz="2150" spc="85" dirty="0">
                <a:latin typeface="Cambria"/>
                <a:cs typeface="Cambria"/>
              </a:rPr>
              <a:t>among </a:t>
            </a:r>
            <a:r>
              <a:rPr sz="2150" spc="-50" dirty="0">
                <a:latin typeface="Cambria"/>
                <a:cs typeface="Cambria"/>
              </a:rPr>
              <a:t>a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65" dirty="0">
                <a:latin typeface="Cambria"/>
                <a:cs typeface="Cambria"/>
              </a:rPr>
              <a:t>common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7867" y="4956047"/>
            <a:ext cx="11005185" cy="902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95"/>
              </a:spcBef>
              <a:tabLst>
                <a:tab pos="1561465" algn="l"/>
                <a:tab pos="2091055" algn="l"/>
                <a:tab pos="3563620" algn="l"/>
                <a:tab pos="4599940" algn="l"/>
                <a:tab pos="6021705" algn="l"/>
                <a:tab pos="7286625" algn="l"/>
                <a:tab pos="7941309" algn="l"/>
                <a:tab pos="9251950" algn="l"/>
                <a:tab pos="9844405" algn="l"/>
                <a:tab pos="10156190" algn="l"/>
              </a:tabLst>
            </a:pPr>
            <a:r>
              <a:rPr sz="2150" spc="40" dirty="0">
                <a:latin typeface="Cambria"/>
                <a:cs typeface="Cambria"/>
              </a:rPr>
              <a:t>framework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for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discussing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system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processes,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35" dirty="0">
                <a:latin typeface="Cambria"/>
                <a:cs typeface="Cambria"/>
              </a:rPr>
              <a:t>ensuring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that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35" dirty="0">
                <a:latin typeface="Cambria"/>
                <a:cs typeface="Cambria"/>
              </a:rPr>
              <a:t>everyone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has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50" dirty="0">
                <a:latin typeface="Cambria"/>
                <a:cs typeface="Cambria"/>
              </a:rPr>
              <a:t>a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shared </a:t>
            </a:r>
            <a:r>
              <a:rPr sz="2150" spc="60" dirty="0">
                <a:latin typeface="Cambria"/>
                <a:cs typeface="Cambria"/>
              </a:rPr>
              <a:t>understanding</a:t>
            </a:r>
            <a:r>
              <a:rPr sz="2150" spc="12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spc="90" dirty="0">
                <a:latin typeface="Cambria"/>
                <a:cs typeface="Cambria"/>
              </a:rPr>
              <a:t>how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data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flows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within</a:t>
            </a:r>
            <a:r>
              <a:rPr sz="2150" spc="1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0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system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6325" cy="463296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0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90" dirty="0">
                <a:latin typeface="Cambria"/>
                <a:cs typeface="Cambria"/>
              </a:rPr>
              <a:t>Example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-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Lemonade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endParaRPr sz="2750">
              <a:latin typeface="Cambria"/>
              <a:cs typeface="Cambria"/>
            </a:endParaRPr>
          </a:p>
          <a:p>
            <a:pPr marL="294640" indent="-290195">
              <a:lnSpc>
                <a:spcPct val="100000"/>
              </a:lnSpc>
              <a:spcBef>
                <a:spcPts val="1810"/>
              </a:spcBef>
              <a:buFont typeface="Wingdings"/>
              <a:buChar char=""/>
              <a:tabLst>
                <a:tab pos="294640" algn="l"/>
              </a:tabLst>
            </a:pPr>
            <a:r>
              <a:rPr sz="2750" spc="60" dirty="0">
                <a:latin typeface="Cambria"/>
                <a:cs typeface="Cambria"/>
              </a:rPr>
              <a:t>The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Lemonade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System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involves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following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processes:</a:t>
            </a:r>
            <a:endParaRPr sz="275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Customer</a:t>
            </a:r>
            <a:r>
              <a:rPr sz="2400" b="1" spc="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Orders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360" dirty="0">
                <a:latin typeface="Cambria"/>
                <a:cs typeface="Cambria"/>
              </a:rPr>
              <a:t>A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customer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places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order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lemonade.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Make</a:t>
            </a:r>
            <a:r>
              <a:rPr sz="2400" b="1" spc="14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Lemonade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lemonade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stand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owner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makes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lemonade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according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mbria"/>
                <a:cs typeface="Cambria"/>
              </a:rPr>
              <a:t>to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customer's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request.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0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Payment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customer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pays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lemonade.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0"/>
              </a:spcBef>
              <a:buSzPct val="95833"/>
              <a:buFont typeface="Wingdings"/>
              <a:buChar char=""/>
              <a:tabLst>
                <a:tab pos="712470" algn="l"/>
                <a:tab pos="1637664" algn="l"/>
                <a:tab pos="3315335" algn="l"/>
                <a:tab pos="3971925" algn="l"/>
                <a:tab pos="5450840" algn="l"/>
                <a:tab pos="6341110" algn="l"/>
                <a:tab pos="7351395" algn="l"/>
                <a:tab pos="8338184" algn="l"/>
                <a:tab pos="8907145" algn="l"/>
                <a:tab pos="10386695" algn="l"/>
                <a:tab pos="10798175" algn="l"/>
              </a:tabLst>
            </a:pPr>
            <a:r>
              <a:rPr sz="2400" b="1" spc="-10" dirty="0">
                <a:latin typeface="Palatino Linotype"/>
                <a:cs typeface="Palatino Linotype"/>
              </a:rPr>
              <a:t>Serve</a:t>
            </a:r>
            <a:r>
              <a:rPr sz="2400" b="1" dirty="0">
                <a:latin typeface="Palatino Linotype"/>
                <a:cs typeface="Palatino Linotype"/>
              </a:rPr>
              <a:t>	</a:t>
            </a:r>
            <a:r>
              <a:rPr sz="2400" b="1" spc="-10" dirty="0">
                <a:latin typeface="Palatino Linotype"/>
                <a:cs typeface="Palatino Linotype"/>
              </a:rPr>
              <a:t>Lemonade</a:t>
            </a:r>
            <a:r>
              <a:rPr sz="2400" spc="-10" dirty="0">
                <a:latin typeface="Cambria"/>
                <a:cs typeface="Cambria"/>
              </a:rPr>
              <a:t>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lemonade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stand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owner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serves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lemonade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80"/>
              </a:spcBef>
            </a:pPr>
            <a:r>
              <a:rPr sz="2400" spc="-10" dirty="0">
                <a:latin typeface="Cambria"/>
                <a:cs typeface="Cambria"/>
              </a:rPr>
              <a:t>customer.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42310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90" dirty="0">
                <a:latin typeface="Cambria"/>
                <a:cs typeface="Cambria"/>
              </a:rPr>
              <a:t>Context </a:t>
            </a:r>
            <a:r>
              <a:rPr sz="2750" spc="135" dirty="0">
                <a:latin typeface="Cambria"/>
                <a:cs typeface="Cambria"/>
              </a:rPr>
              <a:t>Model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–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Level</a:t>
            </a:r>
            <a:r>
              <a:rPr sz="2750" spc="85" dirty="0">
                <a:latin typeface="Cambria"/>
                <a:cs typeface="Cambria"/>
              </a:rPr>
              <a:t> </a:t>
            </a:r>
            <a:r>
              <a:rPr sz="2750" spc="-50" dirty="0">
                <a:latin typeface="Cambria"/>
                <a:cs typeface="Cambria"/>
              </a:rPr>
              <a:t>0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6850" y="1600200"/>
            <a:ext cx="9258300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4690745" cy="1323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1322070" algn="l"/>
                <a:tab pos="1663700" algn="l"/>
                <a:tab pos="2576195" algn="l"/>
                <a:tab pos="2917825" algn="l"/>
              </a:tabLst>
            </a:pPr>
            <a:r>
              <a:rPr sz="2750" spc="85" dirty="0">
                <a:latin typeface="Cambria"/>
                <a:cs typeface="Cambria"/>
              </a:rPr>
              <a:t>	Level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0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210" dirty="0">
                <a:latin typeface="Cambria"/>
                <a:cs typeface="Cambria"/>
              </a:rPr>
              <a:t>DFD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–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Identifying </a:t>
            </a:r>
            <a:r>
              <a:rPr sz="2750" spc="65" dirty="0">
                <a:latin typeface="Cambria"/>
                <a:cs typeface="Cambria"/>
              </a:rPr>
              <a:t>manageable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sub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processes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6939" y="1072673"/>
            <a:ext cx="6383932" cy="54614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3629025" cy="502412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74320" indent="-274320">
              <a:lnSpc>
                <a:spcPct val="100000"/>
              </a:lnSpc>
              <a:spcBef>
                <a:spcPts val="13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latin typeface="Cambria"/>
                <a:cs typeface="Cambria"/>
              </a:rPr>
              <a:t>Level</a:t>
            </a:r>
            <a:r>
              <a:rPr sz="2600" spc="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1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spc="170" dirty="0">
                <a:latin typeface="Cambria"/>
                <a:cs typeface="Cambria"/>
              </a:rPr>
              <a:t>DFD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70" dirty="0">
                <a:solidFill>
                  <a:srgbClr val="FF0000"/>
                </a:solidFill>
                <a:latin typeface="Cambria"/>
                <a:cs typeface="Cambria"/>
              </a:rPr>
              <a:t>Customer</a:t>
            </a:r>
            <a:r>
              <a:rPr sz="260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spc="60" dirty="0">
                <a:solidFill>
                  <a:srgbClr val="FF0000"/>
                </a:solidFill>
                <a:latin typeface="Cambria"/>
                <a:cs typeface="Cambria"/>
              </a:rPr>
              <a:t>Order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Serve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solidFill>
                  <a:srgbClr val="FF0000"/>
                </a:solidFill>
                <a:latin typeface="Cambria"/>
                <a:cs typeface="Cambria"/>
              </a:rPr>
              <a:t>Collect</a:t>
            </a:r>
            <a:r>
              <a:rPr sz="2600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spc="40" dirty="0">
                <a:solidFill>
                  <a:srgbClr val="FF0000"/>
                </a:solidFill>
                <a:latin typeface="Cambria"/>
                <a:cs typeface="Cambria"/>
              </a:rPr>
              <a:t>Payment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31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45" dirty="0">
                <a:latin typeface="Cambria"/>
                <a:cs typeface="Cambria"/>
              </a:rPr>
              <a:t>Produce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Store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70" dirty="0">
                <a:latin typeface="Cambria"/>
                <a:cs typeface="Cambria"/>
              </a:rPr>
              <a:t>Order</a:t>
            </a:r>
            <a:r>
              <a:rPr sz="2600" spc="65" dirty="0">
                <a:latin typeface="Cambria"/>
                <a:cs typeface="Cambria"/>
              </a:rPr>
              <a:t> </a:t>
            </a:r>
            <a:r>
              <a:rPr sz="2600" spc="110" dirty="0">
                <a:latin typeface="Cambria"/>
                <a:cs typeface="Cambria"/>
              </a:rPr>
              <a:t>Raw</a:t>
            </a:r>
            <a:r>
              <a:rPr sz="2600" spc="1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Materials</a:t>
            </a:r>
            <a:endParaRPr sz="26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235"/>
              </a:spcBef>
              <a:buFont typeface="Wingdings"/>
              <a:buChar char=""/>
              <a:tabLst>
                <a:tab pos="356870" algn="l"/>
              </a:tabLst>
            </a:pPr>
            <a:r>
              <a:rPr sz="2600" spc="75" dirty="0">
                <a:latin typeface="Cambria"/>
                <a:cs typeface="Cambria"/>
              </a:rPr>
              <a:t>Pay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Raw</a:t>
            </a:r>
            <a:r>
              <a:rPr sz="2600" spc="5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Materials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31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75" dirty="0">
                <a:latin typeface="Cambria"/>
                <a:cs typeface="Cambria"/>
              </a:rPr>
              <a:t>Pay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Labor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3475" y="1868878"/>
            <a:ext cx="6605412" cy="45525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3629025" cy="502412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74320" indent="-274320">
              <a:lnSpc>
                <a:spcPct val="100000"/>
              </a:lnSpc>
              <a:spcBef>
                <a:spcPts val="13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latin typeface="Cambria"/>
                <a:cs typeface="Cambria"/>
              </a:rPr>
              <a:t>Level</a:t>
            </a:r>
            <a:r>
              <a:rPr sz="2600" spc="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1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spc="170" dirty="0">
                <a:latin typeface="Cambria"/>
                <a:cs typeface="Cambria"/>
              </a:rPr>
              <a:t>DFD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70" dirty="0">
                <a:latin typeface="Cambria"/>
                <a:cs typeface="Cambria"/>
              </a:rPr>
              <a:t>Customer</a:t>
            </a:r>
            <a:r>
              <a:rPr sz="2600" spc="5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Order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Serve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latin typeface="Cambria"/>
                <a:cs typeface="Cambria"/>
              </a:rPr>
              <a:t>Collect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spc="40" dirty="0">
                <a:latin typeface="Cambria"/>
                <a:cs typeface="Cambria"/>
              </a:rPr>
              <a:t>Payment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31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45" dirty="0">
                <a:solidFill>
                  <a:srgbClr val="FF0000"/>
                </a:solidFill>
                <a:latin typeface="Cambria"/>
                <a:cs typeface="Cambria"/>
              </a:rPr>
              <a:t>Produce</a:t>
            </a:r>
            <a:r>
              <a:rPr sz="26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spc="35" dirty="0">
                <a:solidFill>
                  <a:srgbClr val="FF0000"/>
                </a:solidFill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solidFill>
                  <a:srgbClr val="FF0000"/>
                </a:solidFill>
                <a:latin typeface="Cambria"/>
                <a:cs typeface="Cambria"/>
              </a:rPr>
              <a:t>Store</a:t>
            </a:r>
            <a:r>
              <a:rPr sz="2600" spc="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70" dirty="0">
                <a:latin typeface="Cambria"/>
                <a:cs typeface="Cambria"/>
              </a:rPr>
              <a:t>Order</a:t>
            </a:r>
            <a:r>
              <a:rPr sz="2600" spc="65" dirty="0">
                <a:latin typeface="Cambria"/>
                <a:cs typeface="Cambria"/>
              </a:rPr>
              <a:t> </a:t>
            </a:r>
            <a:r>
              <a:rPr sz="2600" spc="110" dirty="0">
                <a:latin typeface="Cambria"/>
                <a:cs typeface="Cambria"/>
              </a:rPr>
              <a:t>Raw</a:t>
            </a:r>
            <a:r>
              <a:rPr sz="2600" spc="1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Materials</a:t>
            </a:r>
            <a:endParaRPr sz="26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235"/>
              </a:spcBef>
              <a:buFont typeface="Wingdings"/>
              <a:buChar char=""/>
              <a:tabLst>
                <a:tab pos="356870" algn="l"/>
              </a:tabLst>
            </a:pPr>
            <a:r>
              <a:rPr sz="2600" spc="75" dirty="0">
                <a:latin typeface="Cambria"/>
                <a:cs typeface="Cambria"/>
              </a:rPr>
              <a:t>Pay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Raw</a:t>
            </a:r>
            <a:r>
              <a:rPr sz="2600" spc="5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Materials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31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75" dirty="0">
                <a:latin typeface="Cambria"/>
                <a:cs typeface="Cambria"/>
              </a:rPr>
              <a:t>Pay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Labor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0476" y="1134835"/>
            <a:ext cx="4657628" cy="53884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3629025" cy="502412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74320" indent="-274320">
              <a:lnSpc>
                <a:spcPct val="100000"/>
              </a:lnSpc>
              <a:spcBef>
                <a:spcPts val="13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latin typeface="Cambria"/>
                <a:cs typeface="Cambria"/>
              </a:rPr>
              <a:t>Level</a:t>
            </a:r>
            <a:r>
              <a:rPr sz="2600" spc="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1</a:t>
            </a:r>
            <a:r>
              <a:rPr sz="2600" spc="5" dirty="0">
                <a:latin typeface="Cambria"/>
                <a:cs typeface="Cambria"/>
              </a:rPr>
              <a:t> </a:t>
            </a:r>
            <a:r>
              <a:rPr sz="2600" spc="170" dirty="0">
                <a:latin typeface="Cambria"/>
                <a:cs typeface="Cambria"/>
              </a:rPr>
              <a:t>DFD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70" dirty="0">
                <a:latin typeface="Cambria"/>
                <a:cs typeface="Cambria"/>
              </a:rPr>
              <a:t>Customer</a:t>
            </a:r>
            <a:r>
              <a:rPr sz="2600" spc="5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Order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Serve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latin typeface="Cambria"/>
                <a:cs typeface="Cambria"/>
              </a:rPr>
              <a:t>Collect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spc="40" dirty="0">
                <a:latin typeface="Cambria"/>
                <a:cs typeface="Cambria"/>
              </a:rPr>
              <a:t>Payment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31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45" dirty="0">
                <a:latin typeface="Cambria"/>
                <a:cs typeface="Cambria"/>
              </a:rPr>
              <a:t>Produce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Store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70" dirty="0">
                <a:solidFill>
                  <a:srgbClr val="FF0000"/>
                </a:solidFill>
                <a:latin typeface="Cambria"/>
                <a:cs typeface="Cambria"/>
              </a:rPr>
              <a:t>Order</a:t>
            </a:r>
            <a:r>
              <a:rPr sz="2600" spc="6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spc="110" dirty="0">
                <a:solidFill>
                  <a:srgbClr val="FF0000"/>
                </a:solidFill>
                <a:latin typeface="Cambria"/>
                <a:cs typeface="Cambria"/>
              </a:rPr>
              <a:t>Raw</a:t>
            </a:r>
            <a:r>
              <a:rPr sz="2600" spc="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mbria"/>
                <a:cs typeface="Cambria"/>
              </a:rPr>
              <a:t>Materials</a:t>
            </a:r>
            <a:endParaRPr sz="26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235"/>
              </a:spcBef>
              <a:buFont typeface="Wingdings"/>
              <a:buChar char=""/>
              <a:tabLst>
                <a:tab pos="356870" algn="l"/>
              </a:tabLst>
            </a:pPr>
            <a:r>
              <a:rPr sz="2600" spc="75" dirty="0">
                <a:solidFill>
                  <a:srgbClr val="FF0000"/>
                </a:solidFill>
                <a:latin typeface="Cambria"/>
                <a:cs typeface="Cambria"/>
              </a:rPr>
              <a:t>Pay</a:t>
            </a:r>
            <a:r>
              <a:rPr sz="26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0000"/>
                </a:solidFill>
                <a:latin typeface="Cambria"/>
                <a:cs typeface="Cambria"/>
              </a:rPr>
              <a:t>for</a:t>
            </a:r>
            <a:r>
              <a:rPr sz="2600" spc="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spc="105" dirty="0">
                <a:solidFill>
                  <a:srgbClr val="FF0000"/>
                </a:solidFill>
                <a:latin typeface="Cambria"/>
                <a:cs typeface="Cambria"/>
              </a:rPr>
              <a:t>Raw</a:t>
            </a:r>
            <a:r>
              <a:rPr sz="26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mbria"/>
                <a:cs typeface="Cambria"/>
              </a:rPr>
              <a:t>Materials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31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75" dirty="0">
                <a:latin typeface="Cambria"/>
                <a:cs typeface="Cambria"/>
              </a:rPr>
              <a:t>Pay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Labor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3103" y="998276"/>
            <a:ext cx="5440891" cy="54985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3629025" cy="502412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74320" indent="-274320">
              <a:lnSpc>
                <a:spcPct val="100000"/>
              </a:lnSpc>
              <a:spcBef>
                <a:spcPts val="13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latin typeface="Cambria"/>
                <a:cs typeface="Cambria"/>
              </a:rPr>
              <a:t>Level</a:t>
            </a:r>
            <a:r>
              <a:rPr sz="2600" spc="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1</a:t>
            </a:r>
            <a:r>
              <a:rPr sz="2600" spc="25" dirty="0">
                <a:latin typeface="Cambria"/>
                <a:cs typeface="Cambria"/>
              </a:rPr>
              <a:t> </a:t>
            </a:r>
            <a:r>
              <a:rPr sz="2600" spc="195" dirty="0">
                <a:latin typeface="Cambria"/>
                <a:cs typeface="Cambria"/>
              </a:rPr>
              <a:t>DFD</a:t>
            </a:r>
            <a:r>
              <a:rPr sz="2600" spc="30" dirty="0">
                <a:latin typeface="Cambria"/>
                <a:cs typeface="Cambria"/>
              </a:rPr>
              <a:t> </a:t>
            </a:r>
            <a:r>
              <a:rPr sz="2600" spc="-50" dirty="0">
                <a:latin typeface="Cambria"/>
                <a:cs typeface="Cambria"/>
              </a:rPr>
              <a:t>–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70" dirty="0">
                <a:latin typeface="Cambria"/>
                <a:cs typeface="Cambria"/>
              </a:rPr>
              <a:t>Customer</a:t>
            </a:r>
            <a:r>
              <a:rPr sz="2600" spc="5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Order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Serve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latin typeface="Cambria"/>
                <a:cs typeface="Cambria"/>
              </a:rPr>
              <a:t>Collect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spc="40" dirty="0">
                <a:latin typeface="Cambria"/>
                <a:cs typeface="Cambria"/>
              </a:rPr>
              <a:t>Payment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31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45" dirty="0">
                <a:latin typeface="Cambria"/>
                <a:cs typeface="Cambria"/>
              </a:rPr>
              <a:t>Produce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2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latin typeface="Cambria"/>
                <a:cs typeface="Cambria"/>
              </a:rPr>
              <a:t>Store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Product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235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spc="70" dirty="0">
                <a:latin typeface="Cambria"/>
                <a:cs typeface="Cambria"/>
              </a:rPr>
              <a:t>Order</a:t>
            </a:r>
            <a:r>
              <a:rPr sz="2600" spc="65" dirty="0">
                <a:latin typeface="Cambria"/>
                <a:cs typeface="Cambria"/>
              </a:rPr>
              <a:t> </a:t>
            </a:r>
            <a:r>
              <a:rPr sz="2600" spc="110" dirty="0">
                <a:latin typeface="Cambria"/>
                <a:cs typeface="Cambria"/>
              </a:rPr>
              <a:t>Raw</a:t>
            </a:r>
            <a:r>
              <a:rPr sz="2600" spc="1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Materials</a:t>
            </a:r>
            <a:endParaRPr sz="2600">
              <a:latin typeface="Cambria"/>
              <a:cs typeface="Cambria"/>
            </a:endParaRPr>
          </a:p>
          <a:p>
            <a:pPr marL="356870" indent="-344170">
              <a:lnSpc>
                <a:spcPct val="100000"/>
              </a:lnSpc>
              <a:spcBef>
                <a:spcPts val="1235"/>
              </a:spcBef>
              <a:buFont typeface="Wingdings"/>
              <a:buChar char=""/>
              <a:tabLst>
                <a:tab pos="356870" algn="l"/>
              </a:tabLst>
            </a:pPr>
            <a:r>
              <a:rPr sz="2600" spc="75" dirty="0">
                <a:latin typeface="Cambria"/>
                <a:cs typeface="Cambria"/>
              </a:rPr>
              <a:t>Pay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Raw</a:t>
            </a:r>
            <a:r>
              <a:rPr sz="2600" spc="5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Materials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31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75" dirty="0">
                <a:solidFill>
                  <a:srgbClr val="C00000"/>
                </a:solidFill>
                <a:latin typeface="Cambria"/>
                <a:cs typeface="Cambria"/>
              </a:rPr>
              <a:t>Pay</a:t>
            </a:r>
            <a:r>
              <a:rPr sz="2600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C00000"/>
                </a:solidFill>
                <a:latin typeface="Cambria"/>
                <a:cs typeface="Cambria"/>
              </a:rPr>
              <a:t>for</a:t>
            </a:r>
            <a:r>
              <a:rPr sz="2600" spc="8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sz="2600" spc="-10" dirty="0">
                <a:solidFill>
                  <a:srgbClr val="C00000"/>
                </a:solidFill>
                <a:latin typeface="Cambria"/>
                <a:cs typeface="Cambria"/>
              </a:rPr>
              <a:t>Labor</a:t>
            </a:r>
            <a:endParaRPr sz="26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8132" y="1070082"/>
            <a:ext cx="5388512" cy="54282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50" dirty="0"/>
              <a:t> </a:t>
            </a:r>
            <a:r>
              <a:rPr sz="3600" spc="85" dirty="0"/>
              <a:t>Modelling</a:t>
            </a:r>
            <a:r>
              <a:rPr sz="3600" spc="285" dirty="0"/>
              <a:t> </a:t>
            </a:r>
            <a:r>
              <a:rPr sz="3600" spc="-535" dirty="0"/>
              <a:t>–</a:t>
            </a:r>
            <a:r>
              <a:rPr sz="3600" spc="290" dirty="0"/>
              <a:t> </a:t>
            </a:r>
            <a:r>
              <a:rPr sz="3600" spc="190" dirty="0"/>
              <a:t>Data</a:t>
            </a:r>
            <a:r>
              <a:rPr sz="3600" spc="345" dirty="0"/>
              <a:t> </a:t>
            </a:r>
            <a:r>
              <a:rPr sz="3600" spc="80" dirty="0"/>
              <a:t>Flow</a:t>
            </a:r>
            <a:r>
              <a:rPr sz="3600" spc="305" dirty="0"/>
              <a:t> </a:t>
            </a:r>
            <a:r>
              <a:rPr sz="3600" spc="160" dirty="0"/>
              <a:t>Diagram</a:t>
            </a:r>
            <a:r>
              <a:rPr sz="3600" spc="265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3961129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dirty="0">
                <a:latin typeface="Cambria"/>
                <a:cs typeface="Cambria"/>
              </a:rPr>
              <a:t>Process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Decomposition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29125" y="1143000"/>
            <a:ext cx="7353300" cy="53625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60" dirty="0"/>
              <a:t> </a:t>
            </a:r>
            <a:r>
              <a:rPr sz="3600" spc="85" dirty="0"/>
              <a:t>Modelling</a:t>
            </a:r>
            <a:r>
              <a:rPr sz="3600" spc="295" dirty="0"/>
              <a:t> </a:t>
            </a:r>
            <a:r>
              <a:rPr sz="3600" spc="-535" dirty="0"/>
              <a:t>–</a:t>
            </a:r>
            <a:r>
              <a:rPr sz="3600" spc="300" dirty="0"/>
              <a:t> </a:t>
            </a:r>
            <a:r>
              <a:rPr sz="3600" spc="140" dirty="0"/>
              <a:t>Entity</a:t>
            </a:r>
            <a:r>
              <a:rPr sz="3600" spc="280" dirty="0"/>
              <a:t> </a:t>
            </a:r>
            <a:r>
              <a:rPr sz="3600" spc="135" dirty="0"/>
              <a:t>Relationship</a:t>
            </a:r>
            <a:r>
              <a:rPr sz="3600" spc="290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642363"/>
            <a:ext cx="11232515" cy="3220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25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dirty="0">
                <a:latin typeface="Cambria"/>
                <a:cs typeface="Cambria"/>
              </a:rPr>
              <a:t>	Represents</a:t>
            </a:r>
            <a:r>
              <a:rPr sz="2750" spc="3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310" dirty="0">
                <a:latin typeface="Cambria"/>
                <a:cs typeface="Cambria"/>
              </a:rPr>
              <a:t>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logical</a:t>
            </a:r>
            <a:r>
              <a:rPr sz="2750" spc="3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design</a:t>
            </a:r>
            <a:r>
              <a:rPr sz="2750" spc="3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of</a:t>
            </a:r>
            <a:r>
              <a:rPr sz="2750" spc="3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750" spc="3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FF1C05"/>
                </a:solidFill>
                <a:latin typeface="Cambria"/>
                <a:cs typeface="Cambria"/>
              </a:rPr>
              <a:t>database</a:t>
            </a:r>
            <a:r>
              <a:rPr sz="2750" spc="2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by</a:t>
            </a:r>
            <a:r>
              <a:rPr sz="2750" spc="305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abstracting</a:t>
            </a:r>
            <a:r>
              <a:rPr sz="2750" spc="33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real-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world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objects</a:t>
            </a:r>
            <a:r>
              <a:rPr sz="2750" spc="21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as</a:t>
            </a:r>
            <a:r>
              <a:rPr sz="2750" spc="18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entities</a:t>
            </a:r>
            <a:r>
              <a:rPr sz="2750" spc="25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their</a:t>
            </a:r>
            <a:r>
              <a:rPr sz="2750" spc="1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associations</a:t>
            </a:r>
            <a:r>
              <a:rPr sz="2750" spc="1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as</a:t>
            </a:r>
            <a:r>
              <a:rPr sz="2750" spc="1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relationships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14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11430" indent="-229235">
              <a:lnSpc>
                <a:spcPct val="1524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  <a:tab pos="2019300" algn="l"/>
                <a:tab pos="3456304" algn="l"/>
                <a:tab pos="5200650" algn="l"/>
                <a:tab pos="6055995" algn="l"/>
                <a:tab pos="7614920" algn="l"/>
                <a:tab pos="8590915" algn="l"/>
                <a:tab pos="9336405" algn="l"/>
              </a:tabLst>
            </a:pPr>
            <a:r>
              <a:rPr sz="2750" spc="70" dirty="0">
                <a:latin typeface="Cambria"/>
                <a:cs typeface="Cambria"/>
              </a:rPr>
              <a:t>	Example: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Entities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"Student"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latin typeface="Cambria"/>
                <a:cs typeface="Cambria"/>
              </a:rPr>
              <a:t>and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"School"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with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relationship </a:t>
            </a:r>
            <a:r>
              <a:rPr sz="2750" spc="50" dirty="0">
                <a:latin typeface="Cambria"/>
                <a:cs typeface="Cambria"/>
              </a:rPr>
              <a:t>"Studies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125" dirty="0">
                <a:latin typeface="Cambria"/>
                <a:cs typeface="Cambria"/>
              </a:rPr>
              <a:t>in.”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60" dirty="0"/>
              <a:t> </a:t>
            </a:r>
            <a:r>
              <a:rPr sz="3600" spc="85" dirty="0"/>
              <a:t>Modelling</a:t>
            </a:r>
            <a:r>
              <a:rPr sz="3600" spc="295" dirty="0"/>
              <a:t> </a:t>
            </a:r>
            <a:r>
              <a:rPr sz="3600" spc="-535" dirty="0"/>
              <a:t>–</a:t>
            </a:r>
            <a:r>
              <a:rPr sz="3600" spc="300" dirty="0"/>
              <a:t> </a:t>
            </a:r>
            <a:r>
              <a:rPr sz="3600" spc="140" dirty="0"/>
              <a:t>Entity</a:t>
            </a:r>
            <a:r>
              <a:rPr sz="3600" spc="280" dirty="0"/>
              <a:t> </a:t>
            </a:r>
            <a:r>
              <a:rPr sz="3600" spc="135" dirty="0"/>
              <a:t>Relationship</a:t>
            </a:r>
            <a:r>
              <a:rPr sz="3600" spc="290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8865" cy="452755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294640" indent="-290195">
              <a:lnSpc>
                <a:spcPct val="100000"/>
              </a:lnSpc>
              <a:spcBef>
                <a:spcPts val="190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Entity</a:t>
            </a:r>
            <a:r>
              <a:rPr sz="2750" spc="1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Set</a:t>
            </a:r>
            <a:r>
              <a:rPr sz="2750" spc="1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260" dirty="0">
                <a:solidFill>
                  <a:srgbClr val="FF1C05"/>
                </a:solidFill>
                <a:latin typeface="Cambria"/>
                <a:cs typeface="Cambria"/>
              </a:rPr>
              <a:t>&amp;</a:t>
            </a:r>
            <a:r>
              <a:rPr sz="2750" spc="15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Relationship</a:t>
            </a:r>
            <a:r>
              <a:rPr sz="2750" spc="1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-20" dirty="0">
                <a:solidFill>
                  <a:srgbClr val="FF1C05"/>
                </a:solidFill>
                <a:latin typeface="Cambria"/>
                <a:cs typeface="Cambria"/>
              </a:rPr>
              <a:t>Set:</a:t>
            </a:r>
            <a:endParaRPr sz="2750">
              <a:latin typeface="Cambria"/>
              <a:cs typeface="Cambria"/>
            </a:endParaRPr>
          </a:p>
          <a:p>
            <a:pPr marL="241300" marR="8890" indent="-237490">
              <a:lnSpc>
                <a:spcPct val="152500"/>
              </a:lnSpc>
              <a:spcBef>
                <a:spcPts val="7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b="1" dirty="0">
                <a:latin typeface="Palatino Linotype"/>
                <a:cs typeface="Palatino Linotype"/>
              </a:rPr>
              <a:t>Entity</a:t>
            </a:r>
            <a:r>
              <a:rPr sz="2750" b="1" spc="430" dirty="0">
                <a:latin typeface="Palatino Linotype"/>
                <a:cs typeface="Palatino Linotype"/>
              </a:rPr>
              <a:t> </a:t>
            </a:r>
            <a:r>
              <a:rPr sz="2750" b="1" dirty="0">
                <a:latin typeface="Palatino Linotype"/>
                <a:cs typeface="Palatino Linotype"/>
              </a:rPr>
              <a:t>Set</a:t>
            </a:r>
            <a:r>
              <a:rPr sz="2750" dirty="0">
                <a:latin typeface="Cambria"/>
                <a:cs typeface="Cambria"/>
              </a:rPr>
              <a:t>: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4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collection</a:t>
            </a:r>
            <a:r>
              <a:rPr sz="2750" spc="48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50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similar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entities</a:t>
            </a:r>
            <a:r>
              <a:rPr sz="2750" spc="50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(e.g.,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"Student"</a:t>
            </a:r>
            <a:r>
              <a:rPr sz="2750" spc="4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entity</a:t>
            </a:r>
            <a:r>
              <a:rPr sz="2750" spc="44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set). </a:t>
            </a:r>
            <a:r>
              <a:rPr sz="2750" spc="100" dirty="0">
                <a:latin typeface="Cambria"/>
                <a:cs typeface="Cambria"/>
              </a:rPr>
              <a:t>Individual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instances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entities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(e.g.,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"Ram").</a:t>
            </a:r>
            <a:endParaRPr sz="2750">
              <a:latin typeface="Cambria"/>
              <a:cs typeface="Cambria"/>
            </a:endParaRPr>
          </a:p>
          <a:p>
            <a:pPr marL="241300" marR="5080" indent="-237490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  <a:tab pos="2633345" algn="l"/>
                <a:tab pos="3475990" algn="l"/>
                <a:tab pos="3991610" algn="l"/>
                <a:tab pos="5735320" algn="l"/>
                <a:tab pos="6287770" algn="l"/>
                <a:tab pos="7620000" algn="l"/>
                <a:tab pos="9895840" algn="l"/>
              </a:tabLst>
            </a:pPr>
            <a:r>
              <a:rPr sz="2750" b="1" spc="-10" dirty="0">
                <a:latin typeface="Palatino Linotype"/>
                <a:cs typeface="Palatino Linotype"/>
              </a:rPr>
              <a:t>Relationship</a:t>
            </a:r>
            <a:r>
              <a:rPr sz="2750" b="1" dirty="0">
                <a:latin typeface="Palatino Linotype"/>
                <a:cs typeface="Palatino Linotype"/>
              </a:rPr>
              <a:t>	</a:t>
            </a:r>
            <a:r>
              <a:rPr sz="2750" b="1" spc="-20" dirty="0">
                <a:latin typeface="Palatino Linotype"/>
                <a:cs typeface="Palatino Linotype"/>
              </a:rPr>
              <a:t>Set</a:t>
            </a:r>
            <a:r>
              <a:rPr sz="2750" spc="-20" dirty="0">
                <a:latin typeface="Cambria"/>
                <a:cs typeface="Cambria"/>
              </a:rPr>
              <a:t>: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95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collection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of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similar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relationships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between entities.</a:t>
            </a:r>
            <a:endParaRPr sz="2750">
              <a:latin typeface="Cambria"/>
              <a:cs typeface="Cambria"/>
            </a:endParaRPr>
          </a:p>
          <a:p>
            <a:pPr marL="241300" marR="6985" indent="-237490">
              <a:lnSpc>
                <a:spcPts val="5110"/>
              </a:lnSpc>
              <a:spcBef>
                <a:spcPts val="19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2368550" algn="l"/>
                <a:tab pos="5010150" algn="l"/>
                <a:tab pos="6977380" algn="l"/>
                <a:tab pos="7684134" algn="l"/>
                <a:tab pos="8917305" algn="l"/>
                <a:tab pos="9994265" algn="l"/>
              </a:tabLst>
            </a:pPr>
            <a:r>
              <a:rPr sz="2750" b="1" spc="-10" dirty="0">
                <a:latin typeface="Palatino Linotype"/>
                <a:cs typeface="Palatino Linotype"/>
              </a:rPr>
              <a:t>Attributes</a:t>
            </a:r>
            <a:r>
              <a:rPr sz="2750" spc="-10" dirty="0">
                <a:latin typeface="Cambria"/>
                <a:cs typeface="Cambria"/>
              </a:rPr>
              <a:t>: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Characteristics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5" dirty="0">
                <a:latin typeface="Cambria"/>
                <a:cs typeface="Cambria"/>
              </a:rPr>
              <a:t>describing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0" dirty="0">
                <a:latin typeface="Cambria"/>
                <a:cs typeface="Cambria"/>
              </a:rPr>
              <a:t>an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entity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latin typeface="Cambria"/>
                <a:cs typeface="Cambria"/>
              </a:rPr>
              <a:t>(e.g.,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Student </a:t>
            </a:r>
            <a:r>
              <a:rPr sz="2750" dirty="0">
                <a:latin typeface="Cambria"/>
                <a:cs typeface="Cambria"/>
              </a:rPr>
              <a:t>attributes: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name,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age,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address,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roll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number,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grade).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60" dirty="0"/>
              <a:t> </a:t>
            </a:r>
            <a:r>
              <a:rPr sz="3600" spc="85" dirty="0"/>
              <a:t>Modelling</a:t>
            </a:r>
            <a:r>
              <a:rPr sz="3600" spc="295" dirty="0"/>
              <a:t> </a:t>
            </a:r>
            <a:r>
              <a:rPr sz="3600" spc="-535" dirty="0"/>
              <a:t>–</a:t>
            </a:r>
            <a:r>
              <a:rPr sz="3600" spc="300" dirty="0"/>
              <a:t> </a:t>
            </a:r>
            <a:r>
              <a:rPr sz="3600" spc="140" dirty="0"/>
              <a:t>Entity</a:t>
            </a:r>
            <a:r>
              <a:rPr sz="3600" spc="280" dirty="0"/>
              <a:t> </a:t>
            </a:r>
            <a:r>
              <a:rPr sz="3600" spc="135" dirty="0"/>
              <a:t>Relationship</a:t>
            </a:r>
            <a:r>
              <a:rPr sz="3600" spc="290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11237595" cy="49422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90195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Keys: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5715" indent="-237490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1399540" algn="l"/>
                <a:tab pos="2276475" algn="l"/>
                <a:tab pos="3067685" algn="l"/>
                <a:tab pos="3536315" algn="l"/>
                <a:tab pos="4490085" algn="l"/>
                <a:tab pos="6126480" algn="l"/>
                <a:tab pos="6878320" algn="l"/>
                <a:tab pos="8422640" algn="l"/>
                <a:tab pos="9792335" algn="l"/>
                <a:tab pos="10311765" algn="l"/>
              </a:tabLst>
            </a:pPr>
            <a:r>
              <a:rPr sz="2750" b="1" spc="-10" dirty="0">
                <a:latin typeface="Palatino Linotype"/>
                <a:cs typeface="Palatino Linotype"/>
              </a:rPr>
              <a:t>Super</a:t>
            </a:r>
            <a:r>
              <a:rPr sz="2750" b="1" dirty="0">
                <a:latin typeface="Palatino Linotype"/>
                <a:cs typeface="Palatino Linotype"/>
              </a:rPr>
              <a:t>	</a:t>
            </a:r>
            <a:r>
              <a:rPr sz="2750" b="1" spc="-20" dirty="0">
                <a:latin typeface="Palatino Linotype"/>
                <a:cs typeface="Palatino Linotype"/>
              </a:rPr>
              <a:t>Key</a:t>
            </a:r>
            <a:r>
              <a:rPr sz="2750" spc="-20" dirty="0">
                <a:latin typeface="Cambria"/>
                <a:cs typeface="Cambria"/>
              </a:rPr>
              <a:t>: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25" dirty="0">
                <a:latin typeface="Cambria"/>
                <a:cs typeface="Cambria"/>
              </a:rPr>
              <a:t>One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or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more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attributes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that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5" dirty="0">
                <a:latin typeface="Cambria"/>
                <a:cs typeface="Cambria"/>
              </a:rPr>
              <a:t>uniquely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identify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0" dirty="0">
                <a:latin typeface="Cambria"/>
                <a:cs typeface="Cambria"/>
              </a:rPr>
              <a:t>an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entity </a:t>
            </a:r>
            <a:r>
              <a:rPr sz="2750" spc="75" dirty="0">
                <a:latin typeface="Cambria"/>
                <a:cs typeface="Cambria"/>
              </a:rPr>
              <a:t>(e.g.,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grade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150" dirty="0">
                <a:latin typeface="Cambria"/>
                <a:cs typeface="Cambria"/>
              </a:rPr>
              <a:t>+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roll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number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school).</a:t>
            </a:r>
            <a:endParaRPr sz="2750">
              <a:latin typeface="Cambria"/>
              <a:cs typeface="Cambria"/>
            </a:endParaRPr>
          </a:p>
          <a:p>
            <a:pPr marL="241300" marR="5080" indent="-237490">
              <a:lnSpc>
                <a:spcPct val="152400"/>
              </a:lnSpc>
              <a:spcBef>
                <a:spcPts val="5"/>
              </a:spcBef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b="1" dirty="0">
                <a:latin typeface="Palatino Linotype"/>
                <a:cs typeface="Palatino Linotype"/>
              </a:rPr>
              <a:t>Candidate</a:t>
            </a:r>
            <a:r>
              <a:rPr sz="2750" b="1" spc="185" dirty="0">
                <a:latin typeface="Palatino Linotype"/>
                <a:cs typeface="Palatino Linotype"/>
              </a:rPr>
              <a:t> </a:t>
            </a:r>
            <a:r>
              <a:rPr sz="2750" b="1" dirty="0">
                <a:latin typeface="Palatino Linotype"/>
                <a:cs typeface="Palatino Linotype"/>
              </a:rPr>
              <a:t>Key</a:t>
            </a:r>
            <a:r>
              <a:rPr sz="2750" dirty="0">
                <a:latin typeface="Cambria"/>
                <a:cs typeface="Cambria"/>
              </a:rPr>
              <a:t>: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28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minimal</a:t>
            </a:r>
            <a:r>
              <a:rPr sz="2750" spc="2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subset</a:t>
            </a:r>
            <a:r>
              <a:rPr sz="2750" spc="26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of</a:t>
            </a:r>
            <a:r>
              <a:rPr sz="2750" spc="3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super</a:t>
            </a:r>
            <a:r>
              <a:rPr sz="2750" spc="24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key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(super</a:t>
            </a:r>
            <a:r>
              <a:rPr sz="2750" spc="29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key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without </a:t>
            </a:r>
            <a:r>
              <a:rPr sz="2750" dirty="0">
                <a:latin typeface="Cambria"/>
                <a:cs typeface="Cambria"/>
              </a:rPr>
              <a:t>extraneous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attributes).</a:t>
            </a:r>
            <a:endParaRPr sz="2750">
              <a:latin typeface="Cambria"/>
              <a:cs typeface="Cambria"/>
            </a:endParaRPr>
          </a:p>
          <a:p>
            <a:pPr marL="294640" indent="-290195">
              <a:lnSpc>
                <a:spcPct val="100000"/>
              </a:lnSpc>
              <a:spcBef>
                <a:spcPts val="180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dirty="0">
                <a:latin typeface="Palatino Linotype"/>
                <a:cs typeface="Palatino Linotype"/>
              </a:rPr>
              <a:t>Primary</a:t>
            </a:r>
            <a:r>
              <a:rPr sz="2750" b="1" spc="110" dirty="0">
                <a:latin typeface="Palatino Linotype"/>
                <a:cs typeface="Palatino Linotype"/>
              </a:rPr>
              <a:t> </a:t>
            </a:r>
            <a:r>
              <a:rPr sz="2750" b="1" dirty="0">
                <a:latin typeface="Palatino Linotype"/>
                <a:cs typeface="Palatino Linotype"/>
              </a:rPr>
              <a:t>Key</a:t>
            </a:r>
            <a:r>
              <a:rPr sz="2750" dirty="0">
                <a:latin typeface="Cambria"/>
                <a:cs typeface="Cambria"/>
              </a:rPr>
              <a:t>: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chosen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candidate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key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database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implementation.</a:t>
            </a:r>
            <a:endParaRPr sz="2750">
              <a:latin typeface="Cambria"/>
              <a:cs typeface="Cambria"/>
            </a:endParaRPr>
          </a:p>
          <a:p>
            <a:pPr marL="294640" indent="-290195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dirty="0">
                <a:latin typeface="Palatino Linotype"/>
                <a:cs typeface="Palatino Linotype"/>
              </a:rPr>
              <a:t>Prime</a:t>
            </a:r>
            <a:r>
              <a:rPr sz="2750" b="1" spc="110" dirty="0">
                <a:latin typeface="Palatino Linotype"/>
                <a:cs typeface="Palatino Linotype"/>
              </a:rPr>
              <a:t> </a:t>
            </a:r>
            <a:r>
              <a:rPr sz="2750" b="1" dirty="0">
                <a:latin typeface="Palatino Linotype"/>
                <a:cs typeface="Palatino Linotype"/>
              </a:rPr>
              <a:t>Attribute</a:t>
            </a:r>
            <a:r>
              <a:rPr sz="2750" dirty="0">
                <a:latin typeface="Cambria"/>
                <a:cs typeface="Cambria"/>
              </a:rPr>
              <a:t>: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235" dirty="0">
                <a:latin typeface="Cambria"/>
                <a:cs typeface="Cambria"/>
              </a:rPr>
              <a:t>Any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attribute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part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super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key.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60" dirty="0"/>
              <a:t> </a:t>
            </a:r>
            <a:r>
              <a:rPr sz="3600" spc="85" dirty="0"/>
              <a:t>Modelling</a:t>
            </a:r>
            <a:r>
              <a:rPr sz="3600" spc="295" dirty="0"/>
              <a:t> </a:t>
            </a:r>
            <a:r>
              <a:rPr sz="3600" spc="-535" dirty="0"/>
              <a:t>–</a:t>
            </a:r>
            <a:r>
              <a:rPr sz="3600" spc="300" dirty="0"/>
              <a:t> </a:t>
            </a:r>
            <a:r>
              <a:rPr sz="3600" spc="140" dirty="0"/>
              <a:t>Entity</a:t>
            </a:r>
            <a:r>
              <a:rPr sz="3600" spc="280" dirty="0"/>
              <a:t> </a:t>
            </a:r>
            <a:r>
              <a:rPr sz="3600" spc="135" dirty="0"/>
              <a:t>Relationship</a:t>
            </a:r>
            <a:r>
              <a:rPr sz="3600" spc="290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11240770" cy="5024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715" indent="-232410" algn="just">
              <a:lnSpc>
                <a:spcPct val="139700"/>
              </a:lnSpc>
              <a:spcBef>
                <a:spcPts val="95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dirty="0">
                <a:latin typeface="Palatino Linotype"/>
                <a:cs typeface="Palatino Linotype"/>
              </a:rPr>
              <a:t>	Weak</a:t>
            </a:r>
            <a:r>
              <a:rPr sz="2600" b="1" spc="310" dirty="0">
                <a:latin typeface="Palatino Linotype"/>
                <a:cs typeface="Palatino Linotype"/>
              </a:rPr>
              <a:t> </a:t>
            </a:r>
            <a:r>
              <a:rPr sz="2600" b="1" dirty="0">
                <a:latin typeface="Palatino Linotype"/>
                <a:cs typeface="Palatino Linotype"/>
              </a:rPr>
              <a:t>Entity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380" dirty="0">
                <a:latin typeface="Cambria"/>
                <a:cs typeface="Cambria"/>
              </a:rPr>
              <a:t> </a:t>
            </a:r>
            <a:r>
              <a:rPr sz="2600" spc="235" dirty="0">
                <a:latin typeface="Cambria"/>
                <a:cs typeface="Cambria"/>
              </a:rPr>
              <a:t>An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345" dirty="0">
                <a:latin typeface="Cambria"/>
                <a:cs typeface="Cambria"/>
              </a:rPr>
              <a:t> </a:t>
            </a:r>
            <a:r>
              <a:rPr sz="2600" spc="45" dirty="0">
                <a:latin typeface="Cambria"/>
                <a:cs typeface="Cambria"/>
              </a:rPr>
              <a:t>dependent</a:t>
            </a:r>
            <a:r>
              <a:rPr sz="2600" spc="36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on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another</a:t>
            </a:r>
            <a:r>
              <a:rPr sz="2600" spc="3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3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3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its</a:t>
            </a:r>
            <a:r>
              <a:rPr sz="2600" spc="33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identification </a:t>
            </a:r>
            <a:r>
              <a:rPr sz="2600" dirty="0">
                <a:latin typeface="Cambria"/>
                <a:cs typeface="Cambria"/>
              </a:rPr>
              <a:t>(doesn't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have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its</a:t>
            </a:r>
            <a:r>
              <a:rPr sz="2600" spc="4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own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super</a:t>
            </a:r>
            <a:r>
              <a:rPr sz="2600" spc="9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key).</a:t>
            </a:r>
            <a:endParaRPr sz="2600">
              <a:latin typeface="Cambria"/>
              <a:cs typeface="Cambria"/>
            </a:endParaRPr>
          </a:p>
          <a:p>
            <a:pPr marL="241300" marR="8890" indent="-233045" algn="just">
              <a:lnSpc>
                <a:spcPts val="4360"/>
              </a:lnSpc>
              <a:spcBef>
                <a:spcPts val="345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spc="50" dirty="0">
                <a:latin typeface="Cambria"/>
                <a:cs typeface="Cambria"/>
              </a:rPr>
              <a:t>	Example:</a:t>
            </a:r>
            <a:r>
              <a:rPr sz="2600" spc="36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"Family"</a:t>
            </a:r>
            <a:r>
              <a:rPr sz="2600" spc="36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(weak</a:t>
            </a:r>
            <a:r>
              <a:rPr sz="2600" spc="38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entity)</a:t>
            </a:r>
            <a:r>
              <a:rPr sz="2600" spc="365" dirty="0">
                <a:latin typeface="Cambria"/>
                <a:cs typeface="Cambria"/>
              </a:rPr>
              <a:t>  </a:t>
            </a:r>
            <a:r>
              <a:rPr sz="2600" spc="45" dirty="0">
                <a:latin typeface="Cambria"/>
                <a:cs typeface="Cambria"/>
              </a:rPr>
              <a:t>dependent</a:t>
            </a:r>
            <a:r>
              <a:rPr sz="2600" spc="355" dirty="0">
                <a:latin typeface="Cambria"/>
                <a:cs typeface="Cambria"/>
              </a:rPr>
              <a:t>  </a:t>
            </a:r>
            <a:r>
              <a:rPr sz="2600" spc="50" dirty="0">
                <a:latin typeface="Cambria"/>
                <a:cs typeface="Cambria"/>
              </a:rPr>
              <a:t>on</a:t>
            </a:r>
            <a:r>
              <a:rPr sz="2600" spc="35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"Employee"</a:t>
            </a:r>
            <a:r>
              <a:rPr sz="2600" spc="380" dirty="0">
                <a:latin typeface="Cambria"/>
                <a:cs typeface="Cambria"/>
              </a:rPr>
              <a:t>  </a:t>
            </a:r>
            <a:r>
              <a:rPr sz="2600" spc="35" dirty="0">
                <a:latin typeface="Cambria"/>
                <a:cs typeface="Cambria"/>
              </a:rPr>
              <a:t>(owning </a:t>
            </a:r>
            <a:r>
              <a:rPr sz="2600" dirty="0">
                <a:latin typeface="Cambria"/>
                <a:cs typeface="Cambria"/>
              </a:rPr>
              <a:t>entity)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identification.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Font typeface="Wingdings"/>
              <a:buChar char=""/>
            </a:pPr>
            <a:endParaRPr sz="2600">
              <a:latin typeface="Cambria"/>
              <a:cs typeface="Cambria"/>
            </a:endParaRPr>
          </a:p>
          <a:p>
            <a:pPr marL="241300" marR="5080" indent="-232410" algn="just">
              <a:lnSpc>
                <a:spcPct val="140400"/>
              </a:lnSpc>
              <a:buSzPct val="96153"/>
              <a:buFont typeface="Wingdings"/>
              <a:buChar char=""/>
              <a:tabLst>
                <a:tab pos="241300" algn="l"/>
                <a:tab pos="273685" algn="l"/>
                <a:tab pos="7367270" algn="l"/>
              </a:tabLst>
            </a:pPr>
            <a:r>
              <a:rPr sz="2600" b="1" dirty="0">
                <a:latin typeface="Palatino Linotype"/>
                <a:cs typeface="Palatino Linotype"/>
              </a:rPr>
              <a:t>	Entity</a:t>
            </a:r>
            <a:r>
              <a:rPr sz="2600" b="1" spc="390" dirty="0">
                <a:latin typeface="Palatino Linotype"/>
                <a:cs typeface="Palatino Linotype"/>
              </a:rPr>
              <a:t>    </a:t>
            </a:r>
            <a:r>
              <a:rPr sz="2600" b="1" spc="-10" dirty="0">
                <a:latin typeface="Palatino Linotype"/>
                <a:cs typeface="Palatino Linotype"/>
              </a:rPr>
              <a:t>Generalization/Specialization</a:t>
            </a:r>
            <a:r>
              <a:rPr sz="2600" spc="-10" dirty="0">
                <a:latin typeface="Cambria"/>
                <a:cs typeface="Cambria"/>
              </a:rPr>
              <a:t>:</a:t>
            </a:r>
            <a:r>
              <a:rPr sz="2600" dirty="0">
                <a:latin typeface="Cambria"/>
                <a:cs typeface="Cambria"/>
              </a:rPr>
              <a:t>	Represents</a:t>
            </a:r>
            <a:r>
              <a:rPr sz="2600" spc="490" dirty="0">
                <a:latin typeface="Cambria"/>
                <a:cs typeface="Cambria"/>
              </a:rPr>
              <a:t>    </a:t>
            </a:r>
            <a:r>
              <a:rPr sz="2600" spc="-10" dirty="0">
                <a:latin typeface="Cambria"/>
                <a:cs typeface="Cambria"/>
              </a:rPr>
              <a:t>hierarchical </a:t>
            </a:r>
            <a:r>
              <a:rPr sz="2600" dirty="0">
                <a:latin typeface="Cambria"/>
                <a:cs typeface="Cambria"/>
              </a:rPr>
              <a:t>relationships</a:t>
            </a:r>
            <a:r>
              <a:rPr sz="2600" spc="4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between</a:t>
            </a:r>
            <a:r>
              <a:rPr sz="2600" spc="4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3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sets.</a:t>
            </a:r>
            <a:r>
              <a:rPr sz="2600" spc="405" dirty="0">
                <a:latin typeface="Cambria"/>
                <a:cs typeface="Cambria"/>
              </a:rPr>
              <a:t> A</a:t>
            </a:r>
            <a:r>
              <a:rPr sz="2600" spc="38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generalized</a:t>
            </a:r>
            <a:r>
              <a:rPr sz="2600" spc="4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36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(e.g.,</a:t>
            </a:r>
            <a:r>
              <a:rPr sz="2600" spc="40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"Person")</a:t>
            </a:r>
            <a:r>
              <a:rPr sz="2600" spc="375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can </a:t>
            </a:r>
            <a:r>
              <a:rPr sz="2600" spc="50" dirty="0">
                <a:latin typeface="Cambria"/>
                <a:cs typeface="Cambria"/>
              </a:rPr>
              <a:t>have</a:t>
            </a:r>
            <a:r>
              <a:rPr sz="2600" spc="38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specialized</a:t>
            </a:r>
            <a:r>
              <a:rPr sz="2600" spc="38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subtypes</a:t>
            </a:r>
            <a:r>
              <a:rPr sz="2600" spc="370" dirty="0"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(e.g.,</a:t>
            </a:r>
            <a:r>
              <a:rPr sz="2600" spc="37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"Customer,"</a:t>
            </a:r>
            <a:r>
              <a:rPr sz="2600" spc="36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"Employee").</a:t>
            </a:r>
            <a:r>
              <a:rPr sz="2600" spc="375" dirty="0">
                <a:latin typeface="Cambria"/>
                <a:cs typeface="Cambria"/>
              </a:rPr>
              <a:t>  </a:t>
            </a:r>
            <a:r>
              <a:rPr sz="2600" spc="65" dirty="0">
                <a:latin typeface="Cambria"/>
                <a:cs typeface="Cambria"/>
              </a:rPr>
              <a:t>Uses</a:t>
            </a:r>
            <a:r>
              <a:rPr sz="2600" spc="385" dirty="0">
                <a:latin typeface="Cambria"/>
                <a:cs typeface="Cambria"/>
              </a:rPr>
              <a:t>  </a:t>
            </a:r>
            <a:r>
              <a:rPr sz="2600" spc="65" dirty="0">
                <a:latin typeface="Cambria"/>
                <a:cs typeface="Cambria"/>
              </a:rPr>
              <a:t>"ISA" </a:t>
            </a:r>
            <a:r>
              <a:rPr sz="2600" spc="-10" dirty="0">
                <a:latin typeface="Cambria"/>
                <a:cs typeface="Cambria"/>
              </a:rPr>
              <a:t>hierarchy.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60" dirty="0"/>
              <a:t> </a:t>
            </a:r>
            <a:r>
              <a:rPr sz="3600" spc="85" dirty="0"/>
              <a:t>Modelling</a:t>
            </a:r>
            <a:r>
              <a:rPr sz="3600" spc="295" dirty="0"/>
              <a:t> </a:t>
            </a:r>
            <a:r>
              <a:rPr sz="3600" spc="-535" dirty="0"/>
              <a:t>–</a:t>
            </a:r>
            <a:r>
              <a:rPr sz="3600" spc="300" dirty="0"/>
              <a:t> </a:t>
            </a:r>
            <a:r>
              <a:rPr sz="3600" spc="140" dirty="0"/>
              <a:t>Entity</a:t>
            </a:r>
            <a:r>
              <a:rPr sz="3600" spc="280" dirty="0"/>
              <a:t> </a:t>
            </a:r>
            <a:r>
              <a:rPr sz="3600" spc="135" dirty="0"/>
              <a:t>Relationship</a:t>
            </a:r>
            <a:r>
              <a:rPr sz="3600" spc="290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1008261"/>
            <a:ext cx="11241405" cy="478599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274320" indent="-274320">
              <a:lnSpc>
                <a:spcPct val="100000"/>
              </a:lnSpc>
              <a:spcBef>
                <a:spcPts val="163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114" dirty="0">
                <a:solidFill>
                  <a:srgbClr val="FF1C05"/>
                </a:solidFill>
                <a:latin typeface="Cambria"/>
                <a:cs typeface="Cambria"/>
              </a:rPr>
              <a:t>Mapping</a:t>
            </a:r>
            <a:r>
              <a:rPr sz="2600" spc="15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spc="50" dirty="0">
                <a:solidFill>
                  <a:srgbClr val="FF1C05"/>
                </a:solidFill>
                <a:latin typeface="Cambria"/>
                <a:cs typeface="Cambria"/>
              </a:rPr>
              <a:t>Cardinalities</a:t>
            </a:r>
            <a:r>
              <a:rPr sz="2600" spc="11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(Relationships</a:t>
            </a:r>
            <a:r>
              <a:rPr sz="2600" spc="1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between</a:t>
            </a:r>
            <a:r>
              <a:rPr sz="2600" spc="1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Entity</a:t>
            </a:r>
            <a:r>
              <a:rPr sz="2600" spc="1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Sets</a:t>
            </a:r>
            <a:r>
              <a:rPr sz="2600" spc="1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E1</a:t>
            </a:r>
            <a:r>
              <a:rPr sz="2600" spc="1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spc="85" dirty="0">
                <a:solidFill>
                  <a:srgbClr val="FF1C05"/>
                </a:solidFill>
                <a:latin typeface="Cambria"/>
                <a:cs typeface="Cambria"/>
              </a:rPr>
              <a:t>and</a:t>
            </a:r>
            <a:r>
              <a:rPr sz="2600" spc="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spc="-20" dirty="0">
                <a:solidFill>
                  <a:srgbClr val="FF1C05"/>
                </a:solidFill>
                <a:latin typeface="Cambria"/>
                <a:cs typeface="Cambria"/>
              </a:rPr>
              <a:t>E2):</a:t>
            </a:r>
            <a:endParaRPr sz="2600">
              <a:latin typeface="Cambria"/>
              <a:cs typeface="Cambria"/>
            </a:endParaRPr>
          </a:p>
          <a:p>
            <a:pPr marL="241300" marR="12065" indent="-237490">
              <a:lnSpc>
                <a:spcPts val="4730"/>
              </a:lnSpc>
              <a:spcBef>
                <a:spcPts val="355"/>
              </a:spcBef>
              <a:buSzPct val="94230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spc="-10" dirty="0">
                <a:latin typeface="Palatino Linotype"/>
                <a:cs typeface="Palatino Linotype"/>
              </a:rPr>
              <a:t>One-to-</a:t>
            </a:r>
            <a:r>
              <a:rPr sz="2600" b="1" dirty="0">
                <a:latin typeface="Palatino Linotype"/>
                <a:cs typeface="Palatino Linotype"/>
              </a:rPr>
              <a:t>One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spc="135" dirty="0">
                <a:latin typeface="Cambria"/>
                <a:cs typeface="Cambria"/>
              </a:rPr>
              <a:t>One</a:t>
            </a:r>
            <a:r>
              <a:rPr sz="2600" spc="2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E1</a:t>
            </a:r>
            <a:r>
              <a:rPr sz="2600" spc="2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relates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2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at</a:t>
            </a:r>
            <a:r>
              <a:rPr sz="2600" spc="2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most</a:t>
            </a:r>
            <a:r>
              <a:rPr sz="2600" spc="3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one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2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E2,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225" dirty="0">
                <a:latin typeface="Cambria"/>
                <a:cs typeface="Cambria"/>
              </a:rPr>
              <a:t> </a:t>
            </a:r>
            <a:r>
              <a:rPr sz="2600" spc="-20" dirty="0">
                <a:latin typeface="Cambria"/>
                <a:cs typeface="Cambria"/>
              </a:rPr>
              <a:t>vice </a:t>
            </a:r>
            <a:r>
              <a:rPr sz="2600" spc="-10" dirty="0">
                <a:latin typeface="Cambria"/>
                <a:cs typeface="Cambria"/>
              </a:rPr>
              <a:t>versa.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1110"/>
              </a:spcBef>
              <a:buSzPct val="94230"/>
              <a:buFont typeface="Wingdings"/>
              <a:buChar char=""/>
              <a:tabLst>
                <a:tab pos="274320" algn="l"/>
              </a:tabLst>
            </a:pPr>
            <a:r>
              <a:rPr sz="2600" b="1" spc="-10" dirty="0">
                <a:latin typeface="Palatino Linotype"/>
                <a:cs typeface="Palatino Linotype"/>
              </a:rPr>
              <a:t>One-to-</a:t>
            </a:r>
            <a:r>
              <a:rPr sz="2600" b="1" dirty="0">
                <a:latin typeface="Palatino Linotype"/>
                <a:cs typeface="Palatino Linotype"/>
              </a:rPr>
              <a:t>Many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spc="135" dirty="0">
                <a:latin typeface="Cambria"/>
                <a:cs typeface="Cambria"/>
              </a:rPr>
              <a:t>One</a:t>
            </a:r>
            <a:r>
              <a:rPr sz="2600" spc="2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E1</a:t>
            </a:r>
            <a:r>
              <a:rPr sz="2600" spc="2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relates</a:t>
            </a:r>
            <a:r>
              <a:rPr sz="2600" spc="2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2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zero</a:t>
            </a:r>
            <a:r>
              <a:rPr sz="2600" spc="2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or</a:t>
            </a:r>
            <a:r>
              <a:rPr sz="2600" spc="2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more</a:t>
            </a:r>
            <a:r>
              <a:rPr sz="2600" spc="2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entities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2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E2.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spc="110" dirty="0">
                <a:latin typeface="Cambria"/>
                <a:cs typeface="Cambria"/>
              </a:rPr>
              <a:t>One</a:t>
            </a:r>
            <a:endParaRPr sz="26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535"/>
              </a:spcBef>
            </a:pP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E2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relates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at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most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one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E1.</a:t>
            </a:r>
            <a:endParaRPr sz="2600">
              <a:latin typeface="Cambria"/>
              <a:cs typeface="Cambria"/>
            </a:endParaRPr>
          </a:p>
          <a:p>
            <a:pPr marL="241300" marR="12065" indent="-237490">
              <a:lnSpc>
                <a:spcPct val="149300"/>
              </a:lnSpc>
              <a:spcBef>
                <a:spcPts val="75"/>
              </a:spcBef>
              <a:buSzPct val="94230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b="1" spc="-10" dirty="0">
                <a:latin typeface="Palatino Linotype"/>
                <a:cs typeface="Palatino Linotype"/>
              </a:rPr>
              <a:t>Many-to-</a:t>
            </a:r>
            <a:r>
              <a:rPr sz="2600" b="1" dirty="0">
                <a:latin typeface="Palatino Linotype"/>
                <a:cs typeface="Palatino Linotype"/>
              </a:rPr>
              <a:t>One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spc="130" dirty="0">
                <a:latin typeface="Cambria"/>
                <a:cs typeface="Cambria"/>
              </a:rPr>
              <a:t>Many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entities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2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E1</a:t>
            </a:r>
            <a:r>
              <a:rPr sz="2600" spc="2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relate</a:t>
            </a:r>
            <a:r>
              <a:rPr sz="2600" spc="2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2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one</a:t>
            </a:r>
            <a:r>
              <a:rPr sz="2600" spc="25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E2.</a:t>
            </a:r>
            <a:r>
              <a:rPr sz="2600" spc="245" dirty="0">
                <a:latin typeface="Cambria"/>
                <a:cs typeface="Cambria"/>
              </a:rPr>
              <a:t> </a:t>
            </a:r>
            <a:r>
              <a:rPr sz="2600" spc="135" dirty="0">
                <a:latin typeface="Cambria"/>
                <a:cs typeface="Cambria"/>
              </a:rPr>
              <a:t>One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22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in </a:t>
            </a:r>
            <a:r>
              <a:rPr sz="2600" dirty="0">
                <a:latin typeface="Cambria"/>
                <a:cs typeface="Cambria"/>
              </a:rPr>
              <a:t>E2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relates</a:t>
            </a:r>
            <a:r>
              <a:rPr sz="2600" spc="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at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most</a:t>
            </a:r>
            <a:r>
              <a:rPr sz="2600" spc="1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one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entity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E1.</a:t>
            </a:r>
            <a:endParaRPr sz="2600">
              <a:latin typeface="Cambria"/>
              <a:cs typeface="Cambria"/>
            </a:endParaRPr>
          </a:p>
          <a:p>
            <a:pPr marL="274320" indent="-274320">
              <a:lnSpc>
                <a:spcPct val="100000"/>
              </a:lnSpc>
              <a:spcBef>
                <a:spcPts val="161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b="1" spc="-10" dirty="0">
                <a:latin typeface="Palatino Linotype"/>
                <a:cs typeface="Palatino Linotype"/>
              </a:rPr>
              <a:t>Many-to-</a:t>
            </a:r>
            <a:r>
              <a:rPr sz="2600" b="1" dirty="0">
                <a:latin typeface="Palatino Linotype"/>
                <a:cs typeface="Palatino Linotype"/>
              </a:rPr>
              <a:t>Many</a:t>
            </a:r>
            <a:r>
              <a:rPr sz="2600" dirty="0">
                <a:latin typeface="Cambria"/>
                <a:cs typeface="Cambria"/>
              </a:rPr>
              <a:t>: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spc="130" dirty="0">
                <a:latin typeface="Cambria"/>
                <a:cs typeface="Cambria"/>
              </a:rPr>
              <a:t>Many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entities</a:t>
            </a:r>
            <a:r>
              <a:rPr sz="2600" spc="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E1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relate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spc="75" dirty="0">
                <a:latin typeface="Cambria"/>
                <a:cs typeface="Cambria"/>
              </a:rPr>
              <a:t>many</a:t>
            </a:r>
            <a:r>
              <a:rPr sz="2600" spc="1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entities</a:t>
            </a:r>
            <a:r>
              <a:rPr sz="2600" spc="4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E2.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60" dirty="0"/>
              <a:t> </a:t>
            </a:r>
            <a:r>
              <a:rPr sz="3600" spc="85" dirty="0"/>
              <a:t>Modelling</a:t>
            </a:r>
            <a:r>
              <a:rPr sz="3600" spc="295" dirty="0"/>
              <a:t> </a:t>
            </a:r>
            <a:r>
              <a:rPr sz="3600" spc="-535" dirty="0"/>
              <a:t>–</a:t>
            </a:r>
            <a:r>
              <a:rPr sz="3600" spc="300" dirty="0"/>
              <a:t> </a:t>
            </a:r>
            <a:r>
              <a:rPr sz="3600" spc="140" dirty="0"/>
              <a:t>Entity</a:t>
            </a:r>
            <a:r>
              <a:rPr sz="3600" spc="280" dirty="0"/>
              <a:t> </a:t>
            </a:r>
            <a:r>
              <a:rPr sz="3600" spc="135" dirty="0"/>
              <a:t>Relationship</a:t>
            </a:r>
            <a:r>
              <a:rPr sz="3600" spc="290" dirty="0"/>
              <a:t> </a:t>
            </a:r>
            <a:r>
              <a:rPr sz="3600" spc="60" dirty="0"/>
              <a:t>Model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35690" cy="2889885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125" dirty="0">
                <a:latin typeface="Cambria"/>
                <a:cs typeface="Cambria"/>
              </a:rPr>
              <a:t>ER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Diagram</a:t>
            </a:r>
            <a:endParaRPr sz="275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dirty="0">
                <a:latin typeface="Cambria"/>
                <a:cs typeface="Cambria"/>
              </a:rPr>
              <a:t>From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given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problem</a:t>
            </a:r>
            <a:r>
              <a:rPr sz="2400" spc="45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statement,</a:t>
            </a:r>
            <a:r>
              <a:rPr sz="2400" spc="45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we</a:t>
            </a:r>
            <a:r>
              <a:rPr sz="2400" spc="44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identify</a:t>
            </a:r>
            <a:r>
              <a:rPr sz="2400" spc="509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2400" spc="48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possible</a:t>
            </a:r>
            <a:r>
              <a:rPr sz="2400" spc="4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entity</a:t>
            </a:r>
            <a:r>
              <a:rPr sz="2400" spc="50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sets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470" dirty="0"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1C05"/>
                </a:solidFill>
                <a:latin typeface="Cambria"/>
                <a:cs typeface="Cambria"/>
              </a:rPr>
              <a:t>their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attributes</a:t>
            </a:r>
            <a:r>
              <a:rPr sz="2400" dirty="0">
                <a:latin typeface="Cambria"/>
                <a:cs typeface="Cambria"/>
              </a:rPr>
              <a:t>,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and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relationships</a:t>
            </a:r>
            <a:r>
              <a:rPr sz="2400" spc="1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FF1C05"/>
                </a:solidFill>
                <a:latin typeface="Cambria"/>
                <a:cs typeface="Cambria"/>
              </a:rPr>
              <a:t>among</a:t>
            </a:r>
            <a:r>
              <a:rPr sz="2400" spc="1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different</a:t>
            </a:r>
            <a:r>
              <a:rPr sz="2400" spc="1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entity</a:t>
            </a:r>
            <a:r>
              <a:rPr sz="2400" spc="2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1C05"/>
                </a:solidFill>
                <a:latin typeface="Cambria"/>
                <a:cs typeface="Cambria"/>
              </a:rPr>
              <a:t>sets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699135" marR="5715" lvl="1" indent="-229235">
              <a:lnSpc>
                <a:spcPct val="148600"/>
              </a:lnSpc>
              <a:spcBef>
                <a:spcPts val="75"/>
              </a:spcBef>
              <a:buFont typeface="Wingdings"/>
              <a:buChar char=""/>
              <a:tabLst>
                <a:tab pos="699135" algn="l"/>
                <a:tab pos="788670" algn="l"/>
                <a:tab pos="1623060" algn="l"/>
                <a:tab pos="2157730" algn="l"/>
                <a:tab pos="2940685" algn="l"/>
                <a:tab pos="3773804" algn="l"/>
                <a:tab pos="5597525" algn="l"/>
                <a:tab pos="6132195" algn="l"/>
                <a:tab pos="7536180" algn="l"/>
                <a:tab pos="8364855" algn="l"/>
                <a:tab pos="9959975" algn="l"/>
                <a:tab pos="10892155" algn="l"/>
              </a:tabLst>
            </a:pPr>
            <a:r>
              <a:rPr sz="2400" spc="60" dirty="0">
                <a:latin typeface="Cambria"/>
                <a:cs typeface="Cambria"/>
              </a:rPr>
              <a:t>	Once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30" dirty="0">
                <a:latin typeface="Cambria"/>
                <a:cs typeface="Cambria"/>
              </a:rPr>
              <a:t>we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35" dirty="0">
                <a:latin typeface="Cambria"/>
                <a:cs typeface="Cambria"/>
              </a:rPr>
              <a:t>have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these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information,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30" dirty="0">
                <a:latin typeface="Cambria"/>
                <a:cs typeface="Cambria"/>
              </a:rPr>
              <a:t>we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represent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them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pictorially,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called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an </a:t>
            </a:r>
            <a:r>
              <a:rPr sz="2400" dirty="0">
                <a:latin typeface="Cambria"/>
                <a:cs typeface="Cambria"/>
              </a:rPr>
              <a:t>entity-relationship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(ER)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diagram.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215" dirty="0"/>
              <a:t>System</a:t>
            </a:r>
            <a:r>
              <a:rPr sz="3600" spc="260" dirty="0"/>
              <a:t> </a:t>
            </a:r>
            <a:r>
              <a:rPr sz="3600" spc="85" dirty="0"/>
              <a:t>Modelling</a:t>
            </a:r>
            <a:r>
              <a:rPr sz="3600" spc="295" dirty="0"/>
              <a:t> </a:t>
            </a:r>
            <a:r>
              <a:rPr sz="3600" spc="-535" dirty="0"/>
              <a:t>–</a:t>
            </a:r>
            <a:r>
              <a:rPr sz="3600" spc="300" dirty="0"/>
              <a:t> </a:t>
            </a:r>
            <a:r>
              <a:rPr sz="3600" spc="140" dirty="0"/>
              <a:t>Entity</a:t>
            </a:r>
            <a:r>
              <a:rPr sz="3600" spc="280" dirty="0"/>
              <a:t> </a:t>
            </a:r>
            <a:r>
              <a:rPr sz="3600" spc="135" dirty="0"/>
              <a:t>Relationship</a:t>
            </a:r>
            <a:r>
              <a:rPr sz="3600" spc="290" dirty="0"/>
              <a:t> </a:t>
            </a:r>
            <a:r>
              <a:rPr sz="3600" spc="105" dirty="0"/>
              <a:t>Notations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847725"/>
            <a:ext cx="7829550" cy="56864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30" dirty="0"/>
              <a:t>Entity</a:t>
            </a:r>
            <a:r>
              <a:rPr spc="270" dirty="0"/>
              <a:t> </a:t>
            </a:r>
            <a:r>
              <a:rPr spc="120" dirty="0"/>
              <a:t>Relationship</a:t>
            </a:r>
            <a:r>
              <a:rPr spc="310" dirty="0"/>
              <a:t> </a:t>
            </a:r>
            <a:r>
              <a:rPr spc="105" dirty="0"/>
              <a:t>Importance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13360"/>
            <a:ext cx="11238230" cy="5156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6985" indent="-229235" algn="just">
              <a:lnSpc>
                <a:spcPct val="140800"/>
              </a:lnSpc>
              <a:spcBef>
                <a:spcPts val="95"/>
              </a:spcBef>
              <a:buSzPct val="97916"/>
              <a:buFont typeface="Wingdings"/>
              <a:buChar char=""/>
              <a:tabLst>
                <a:tab pos="241300" algn="l"/>
                <a:tab pos="330835" algn="l"/>
              </a:tabLst>
            </a:pPr>
            <a:r>
              <a:rPr sz="2400" b="1" dirty="0">
                <a:latin typeface="Palatino Linotype"/>
                <a:cs typeface="Palatino Linotype"/>
              </a:rPr>
              <a:t>	Foundation</a:t>
            </a:r>
            <a:r>
              <a:rPr sz="2400" b="1" spc="90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for</a:t>
            </a:r>
            <a:r>
              <a:rPr sz="2400" b="1" spc="90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Database</a:t>
            </a:r>
            <a:r>
              <a:rPr sz="2400" b="1" spc="75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Design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50" dirty="0">
                <a:latin typeface="Cambria"/>
                <a:cs typeface="Cambria"/>
              </a:rPr>
              <a:t>  </a:t>
            </a:r>
            <a:r>
              <a:rPr sz="2400" spc="114" dirty="0">
                <a:latin typeface="Cambria"/>
                <a:cs typeface="Cambria"/>
              </a:rPr>
              <a:t>ER</a:t>
            </a:r>
            <a:r>
              <a:rPr sz="2400" spc="130" dirty="0">
                <a:latin typeface="Cambria"/>
                <a:cs typeface="Cambria"/>
              </a:rPr>
              <a:t>  </a:t>
            </a:r>
            <a:r>
              <a:rPr sz="2400" spc="60" dirty="0">
                <a:latin typeface="Cambria"/>
                <a:cs typeface="Cambria"/>
              </a:rPr>
              <a:t>modeling</a:t>
            </a:r>
            <a:r>
              <a:rPr sz="2400" spc="15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crucial</a:t>
            </a:r>
            <a:r>
              <a:rPr sz="2400" spc="14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first</a:t>
            </a:r>
            <a:r>
              <a:rPr sz="2400" spc="1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step</a:t>
            </a:r>
            <a:r>
              <a:rPr sz="2400" spc="15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in </a:t>
            </a:r>
            <a:r>
              <a:rPr sz="2400" spc="50" dirty="0">
                <a:latin typeface="Cambria"/>
                <a:cs typeface="Cambria"/>
              </a:rPr>
              <a:t>designing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relational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database.</a:t>
            </a:r>
            <a:r>
              <a:rPr sz="2400" spc="25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provides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clear</a:t>
            </a:r>
            <a:r>
              <a:rPr sz="2400" spc="2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blueprint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translating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real- </a:t>
            </a:r>
            <a:r>
              <a:rPr sz="2400" spc="50" dirty="0">
                <a:latin typeface="Cambria"/>
                <a:cs typeface="Cambria"/>
              </a:rPr>
              <a:t>world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concepts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into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database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structures.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41300" marR="5080" indent="-235585" algn="just">
              <a:lnSpc>
                <a:spcPct val="140800"/>
              </a:lnSpc>
              <a:buSzPct val="97916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dirty="0">
                <a:latin typeface="Palatino Linotype"/>
                <a:cs typeface="Palatino Linotype"/>
              </a:rPr>
              <a:t>	Identifies</a:t>
            </a:r>
            <a:r>
              <a:rPr sz="2400" b="1" spc="22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Key</a:t>
            </a:r>
            <a:r>
              <a:rPr sz="2400" b="1" spc="18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Elements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ER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modeling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helps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pinpoint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essential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components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3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database:</a:t>
            </a:r>
            <a:r>
              <a:rPr sz="2400" spc="3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entities</a:t>
            </a:r>
            <a:r>
              <a:rPr sz="2400" spc="38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(objects),</a:t>
            </a:r>
            <a:r>
              <a:rPr sz="2400" spc="3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attributes</a:t>
            </a:r>
            <a:r>
              <a:rPr sz="2400" spc="38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(properties),</a:t>
            </a:r>
            <a:r>
              <a:rPr sz="2400" spc="370" dirty="0">
                <a:latin typeface="Cambria"/>
                <a:cs typeface="Cambria"/>
              </a:rPr>
              <a:t> 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370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relationships (associations).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65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41300" marR="8890" indent="-235585" algn="just">
              <a:lnSpc>
                <a:spcPct val="140800"/>
              </a:lnSpc>
              <a:spcBef>
                <a:spcPts val="5"/>
              </a:spcBef>
              <a:buSzPct val="97916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dirty="0">
                <a:latin typeface="Palatino Linotype"/>
                <a:cs typeface="Palatino Linotype"/>
              </a:rPr>
              <a:t>	Visual</a:t>
            </a:r>
            <a:r>
              <a:rPr sz="2400" b="1" spc="260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Representation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320" dirty="0">
                <a:latin typeface="Cambria"/>
                <a:cs typeface="Cambria"/>
              </a:rPr>
              <a:t>  </a:t>
            </a:r>
            <a:r>
              <a:rPr sz="2400" spc="114" dirty="0">
                <a:latin typeface="Cambria"/>
                <a:cs typeface="Cambria"/>
              </a:rPr>
              <a:t>ER</a:t>
            </a:r>
            <a:r>
              <a:rPr sz="2400" spc="300" dirty="0">
                <a:latin typeface="Cambria"/>
                <a:cs typeface="Cambria"/>
              </a:rPr>
              <a:t>  </a:t>
            </a:r>
            <a:r>
              <a:rPr sz="2400" spc="45" dirty="0">
                <a:latin typeface="Cambria"/>
                <a:cs typeface="Cambria"/>
              </a:rPr>
              <a:t>diagrams</a:t>
            </a:r>
            <a:r>
              <a:rPr sz="2400" spc="31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offer</a:t>
            </a:r>
            <a:r>
              <a:rPr sz="2400" spc="33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20" dirty="0">
                <a:latin typeface="Cambria"/>
                <a:cs typeface="Cambria"/>
              </a:rPr>
              <a:t>  </a:t>
            </a:r>
            <a:r>
              <a:rPr sz="2400" spc="50" dirty="0">
                <a:latin typeface="Cambria"/>
                <a:cs typeface="Cambria"/>
              </a:rPr>
              <a:t>visual</a:t>
            </a:r>
            <a:r>
              <a:rPr sz="2400" spc="33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representation</a:t>
            </a:r>
            <a:r>
              <a:rPr sz="2400" spc="315" dirty="0">
                <a:latin typeface="Cambria"/>
                <a:cs typeface="Cambria"/>
              </a:rPr>
              <a:t>  </a:t>
            </a:r>
            <a:r>
              <a:rPr sz="2400" spc="70" dirty="0">
                <a:latin typeface="Cambria"/>
                <a:cs typeface="Cambria"/>
              </a:rPr>
              <a:t>of</a:t>
            </a:r>
            <a:r>
              <a:rPr sz="2400" spc="30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the </a:t>
            </a:r>
            <a:r>
              <a:rPr sz="2400" dirty="0">
                <a:latin typeface="Cambria"/>
                <a:cs typeface="Cambria"/>
              </a:rPr>
              <a:t>database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structure,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making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easier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understand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communicate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design.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30" dirty="0"/>
              <a:t>Entity</a:t>
            </a:r>
            <a:r>
              <a:rPr spc="270" dirty="0"/>
              <a:t> </a:t>
            </a:r>
            <a:r>
              <a:rPr spc="120" dirty="0"/>
              <a:t>Relationship</a:t>
            </a:r>
            <a:r>
              <a:rPr spc="310" dirty="0"/>
              <a:t> </a:t>
            </a:r>
            <a:r>
              <a:rPr spc="105" dirty="0"/>
              <a:t>Importance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22413"/>
            <a:ext cx="11245215" cy="527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31140" algn="just">
              <a:lnSpc>
                <a:spcPct val="130400"/>
              </a:lnSpc>
              <a:spcBef>
                <a:spcPts val="95"/>
              </a:spcBef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dirty="0">
                <a:latin typeface="Palatino Linotype"/>
                <a:cs typeface="Palatino Linotype"/>
              </a:rPr>
              <a:t>	Facilitates</a:t>
            </a:r>
            <a:r>
              <a:rPr sz="2400" b="1" spc="55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Table</a:t>
            </a:r>
            <a:r>
              <a:rPr sz="2400" b="1" spc="15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Creation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 </a:t>
            </a:r>
            <a:r>
              <a:rPr sz="2400" spc="114" dirty="0">
                <a:latin typeface="Cambria"/>
                <a:cs typeface="Cambria"/>
              </a:rPr>
              <a:t>ER</a:t>
            </a:r>
            <a:r>
              <a:rPr sz="2400" spc="85" dirty="0">
                <a:latin typeface="Cambria"/>
                <a:cs typeface="Cambria"/>
              </a:rPr>
              <a:t>  </a:t>
            </a:r>
            <a:r>
              <a:rPr sz="2400" spc="50" dirty="0">
                <a:latin typeface="Cambria"/>
                <a:cs typeface="Cambria"/>
              </a:rPr>
              <a:t>diagram</a:t>
            </a:r>
            <a:r>
              <a:rPr sz="2400" spc="12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directly</a:t>
            </a:r>
            <a:r>
              <a:rPr sz="2400" spc="1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informs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1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creation</a:t>
            </a:r>
            <a:r>
              <a:rPr sz="2400" spc="90" dirty="0">
                <a:latin typeface="Cambria"/>
                <a:cs typeface="Cambria"/>
              </a:rPr>
              <a:t>  </a:t>
            </a:r>
            <a:r>
              <a:rPr sz="2400" spc="60" dirty="0">
                <a:latin typeface="Cambria"/>
                <a:cs typeface="Cambria"/>
              </a:rPr>
              <a:t>of </a:t>
            </a:r>
            <a:r>
              <a:rPr sz="2400" dirty="0">
                <a:latin typeface="Cambria"/>
                <a:cs typeface="Cambria"/>
              </a:rPr>
              <a:t>database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tables,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including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columns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(attributes)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connections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(relationships).</a:t>
            </a:r>
            <a:endParaRPr sz="2400">
              <a:latin typeface="Cambria"/>
              <a:cs typeface="Cambria"/>
            </a:endParaRPr>
          </a:p>
          <a:p>
            <a:pPr marL="241300" marR="11430" indent="-231140" algn="just">
              <a:lnSpc>
                <a:spcPct val="130400"/>
              </a:lnSpc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dirty="0">
                <a:latin typeface="Palatino Linotype"/>
                <a:cs typeface="Palatino Linotype"/>
              </a:rPr>
              <a:t>	Supports</a:t>
            </a:r>
            <a:r>
              <a:rPr sz="2400" b="1" spc="170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Constraint</a:t>
            </a:r>
            <a:r>
              <a:rPr sz="2400" b="1" spc="170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Definition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235" dirty="0">
                <a:latin typeface="Cambria"/>
                <a:cs typeface="Cambria"/>
              </a:rPr>
              <a:t>  </a:t>
            </a:r>
            <a:r>
              <a:rPr sz="2400" spc="114" dirty="0">
                <a:latin typeface="Cambria"/>
                <a:cs typeface="Cambria"/>
              </a:rPr>
              <a:t>ER</a:t>
            </a:r>
            <a:r>
              <a:rPr sz="2400" spc="210" dirty="0">
                <a:latin typeface="Cambria"/>
                <a:cs typeface="Cambria"/>
              </a:rPr>
              <a:t>  </a:t>
            </a:r>
            <a:r>
              <a:rPr sz="2400" spc="60" dirty="0">
                <a:latin typeface="Cambria"/>
                <a:cs typeface="Cambria"/>
              </a:rPr>
              <a:t>modeling</a:t>
            </a:r>
            <a:r>
              <a:rPr sz="2400" spc="23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aids</a:t>
            </a:r>
            <a:r>
              <a:rPr sz="2400" spc="229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45" dirty="0">
                <a:latin typeface="Cambria"/>
                <a:cs typeface="Cambria"/>
              </a:rPr>
              <a:t>  </a:t>
            </a:r>
            <a:r>
              <a:rPr sz="2400" spc="55" dirty="0">
                <a:latin typeface="Cambria"/>
                <a:cs typeface="Cambria"/>
              </a:rPr>
              <a:t>defining</a:t>
            </a:r>
            <a:r>
              <a:rPr sz="2400" spc="225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constraints </a:t>
            </a:r>
            <a:r>
              <a:rPr sz="2400" dirty="0">
                <a:latin typeface="Cambria"/>
                <a:cs typeface="Cambria"/>
              </a:rPr>
              <a:t>(rules)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data,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ensuring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integrity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consistency.</a:t>
            </a:r>
            <a:endParaRPr sz="2400">
              <a:latin typeface="Cambria"/>
              <a:cs typeface="Cambria"/>
            </a:endParaRPr>
          </a:p>
          <a:p>
            <a:pPr marL="241300" marR="15875" indent="-231140" algn="just">
              <a:lnSpc>
                <a:spcPct val="130400"/>
              </a:lnSpc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dirty="0">
                <a:latin typeface="Palatino Linotype"/>
                <a:cs typeface="Palatino Linotype"/>
              </a:rPr>
              <a:t>	Enables</a:t>
            </a:r>
            <a:r>
              <a:rPr sz="2400" b="1" spc="85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Database</a:t>
            </a:r>
            <a:r>
              <a:rPr sz="2400" b="1" spc="70" dirty="0">
                <a:latin typeface="Palatino Linotype"/>
                <a:cs typeface="Palatino Linotype"/>
              </a:rPr>
              <a:t>  </a:t>
            </a:r>
            <a:r>
              <a:rPr sz="2400" b="1" dirty="0">
                <a:latin typeface="Palatino Linotype"/>
                <a:cs typeface="Palatino Linotype"/>
              </a:rPr>
              <a:t>Normalization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45" dirty="0">
                <a:latin typeface="Cambria"/>
                <a:cs typeface="Cambria"/>
              </a:rPr>
              <a:t>  </a:t>
            </a:r>
            <a:r>
              <a:rPr sz="2400" spc="36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well-defined</a:t>
            </a:r>
            <a:r>
              <a:rPr sz="2400" spc="150" dirty="0">
                <a:latin typeface="Cambria"/>
                <a:cs typeface="Cambria"/>
              </a:rPr>
              <a:t>  </a:t>
            </a:r>
            <a:r>
              <a:rPr sz="2400" spc="114" dirty="0">
                <a:latin typeface="Cambria"/>
                <a:cs typeface="Cambria"/>
              </a:rPr>
              <a:t>ER</a:t>
            </a:r>
            <a:r>
              <a:rPr sz="2400" spc="125" dirty="0">
                <a:latin typeface="Cambria"/>
                <a:cs typeface="Cambria"/>
              </a:rPr>
              <a:t>  </a:t>
            </a:r>
            <a:r>
              <a:rPr sz="2400" spc="55" dirty="0">
                <a:latin typeface="Cambria"/>
                <a:cs typeface="Cambria"/>
              </a:rPr>
              <a:t>model</a:t>
            </a:r>
            <a:r>
              <a:rPr sz="2400" spc="13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5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essential</a:t>
            </a:r>
            <a:r>
              <a:rPr sz="2400" spc="15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for </a:t>
            </a:r>
            <a:r>
              <a:rPr sz="2400" dirty="0">
                <a:latin typeface="Cambria"/>
                <a:cs typeface="Cambria"/>
              </a:rPr>
              <a:t>effective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database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normalization,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which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reduces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redundancy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and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improves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management.</a:t>
            </a:r>
            <a:endParaRPr sz="2400">
              <a:latin typeface="Cambria"/>
              <a:cs typeface="Cambria"/>
            </a:endParaRPr>
          </a:p>
          <a:p>
            <a:pPr marL="241300" marR="12700" indent="-231140" algn="just">
              <a:lnSpc>
                <a:spcPct val="130400"/>
              </a:lnSpc>
              <a:buSzPct val="95833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dirty="0">
                <a:latin typeface="Palatino Linotype"/>
                <a:cs typeface="Palatino Linotype"/>
              </a:rPr>
              <a:t>	Detailed</a:t>
            </a:r>
            <a:r>
              <a:rPr sz="2400" b="1" spc="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and</a:t>
            </a:r>
            <a:r>
              <a:rPr sz="2400" b="1" spc="1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Accurate</a:t>
            </a:r>
            <a:r>
              <a:rPr sz="2400" b="1" spc="4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Design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2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importance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ER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modeling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its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ability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capture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detailed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accurate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representation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requirements,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which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crucial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efficient</a:t>
            </a:r>
            <a:r>
              <a:rPr sz="2400" spc="3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storage</a:t>
            </a:r>
            <a:r>
              <a:rPr sz="2400" spc="3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retrieval.</a:t>
            </a:r>
            <a:r>
              <a:rPr sz="2400" spc="315" dirty="0">
                <a:latin typeface="Cambria"/>
                <a:cs typeface="Cambria"/>
              </a:rPr>
              <a:t>  </a:t>
            </a:r>
            <a:r>
              <a:rPr sz="2400" spc="360" dirty="0">
                <a:latin typeface="Cambria"/>
                <a:cs typeface="Cambria"/>
              </a:rPr>
              <a:t>A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good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ER</a:t>
            </a:r>
            <a:r>
              <a:rPr sz="2400" spc="2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diagram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leads</a:t>
            </a:r>
            <a:r>
              <a:rPr sz="2400" spc="3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 </a:t>
            </a:r>
            <a:r>
              <a:rPr sz="2400" spc="75" dirty="0">
                <a:latin typeface="Cambria"/>
                <a:cs typeface="Cambria"/>
              </a:rPr>
              <a:t>good </a:t>
            </a:r>
            <a:r>
              <a:rPr sz="2400" spc="-10" dirty="0">
                <a:latin typeface="Cambria"/>
                <a:cs typeface="Cambria"/>
              </a:rPr>
              <a:t>database.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30" dirty="0"/>
              <a:t>Entity</a:t>
            </a:r>
            <a:r>
              <a:rPr spc="270" dirty="0"/>
              <a:t> </a:t>
            </a:r>
            <a:r>
              <a:rPr spc="120" dirty="0"/>
              <a:t>Relationship</a:t>
            </a:r>
            <a:r>
              <a:rPr spc="310" dirty="0"/>
              <a:t> </a:t>
            </a:r>
            <a:r>
              <a:rPr spc="14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5690" cy="516699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384175" indent="-371475" algn="just">
              <a:lnSpc>
                <a:spcPct val="100000"/>
              </a:lnSpc>
              <a:spcBef>
                <a:spcPts val="190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50" dirty="0">
                <a:latin typeface="Cambria"/>
                <a:cs typeface="Cambria"/>
              </a:rPr>
              <a:t>Problem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-50" dirty="0">
                <a:latin typeface="Cambria"/>
                <a:cs typeface="Cambria"/>
              </a:rPr>
              <a:t>1</a:t>
            </a:r>
            <a:endParaRPr sz="2750">
              <a:latin typeface="Cambria"/>
              <a:cs typeface="Cambria"/>
            </a:endParaRPr>
          </a:p>
          <a:p>
            <a:pPr marL="12700" marR="5080" algn="just">
              <a:lnSpc>
                <a:spcPct val="152900"/>
              </a:lnSpc>
              <a:spcBef>
                <a:spcPts val="65"/>
              </a:spcBef>
            </a:pP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32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manufacturing</a:t>
            </a:r>
            <a:r>
              <a:rPr sz="2750" spc="360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company</a:t>
            </a:r>
            <a:r>
              <a:rPr sz="2750" spc="31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produces</a:t>
            </a:r>
            <a:r>
              <a:rPr sz="2750" spc="33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products.</a:t>
            </a:r>
            <a:r>
              <a:rPr sz="2750" spc="31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The</a:t>
            </a:r>
            <a:r>
              <a:rPr sz="2750" spc="290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following</a:t>
            </a:r>
            <a:r>
              <a:rPr sz="2750" spc="30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product information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stored: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product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name,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product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195" dirty="0">
                <a:latin typeface="Cambria"/>
                <a:cs typeface="Cambria"/>
              </a:rPr>
              <a:t>ID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quantity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on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hand. </a:t>
            </a:r>
            <a:r>
              <a:rPr sz="2750" dirty="0">
                <a:latin typeface="Cambria"/>
                <a:cs typeface="Cambria"/>
              </a:rPr>
              <a:t>These</a:t>
            </a:r>
            <a:r>
              <a:rPr sz="2750" spc="59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products</a:t>
            </a:r>
            <a:r>
              <a:rPr sz="2750" spc="5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605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made</a:t>
            </a:r>
            <a:r>
              <a:rPr sz="2750" spc="555" dirty="0">
                <a:latin typeface="Cambria"/>
                <a:cs typeface="Cambria"/>
              </a:rPr>
              <a:t> </a:t>
            </a:r>
            <a:r>
              <a:rPr sz="2750" spc="175" dirty="0">
                <a:latin typeface="Cambria"/>
                <a:cs typeface="Cambria"/>
              </a:rPr>
              <a:t>up</a:t>
            </a:r>
            <a:r>
              <a:rPr sz="2750" spc="56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615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many</a:t>
            </a:r>
            <a:r>
              <a:rPr sz="2750" spc="62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components.</a:t>
            </a:r>
            <a:r>
              <a:rPr sz="2750" spc="58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Each</a:t>
            </a:r>
            <a:r>
              <a:rPr sz="2750" spc="58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component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5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49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supplied</a:t>
            </a:r>
            <a:r>
              <a:rPr sz="2750" spc="530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by</a:t>
            </a:r>
            <a:r>
              <a:rPr sz="2750" spc="5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one</a:t>
            </a:r>
            <a:r>
              <a:rPr sz="2750" spc="5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5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more</a:t>
            </a:r>
            <a:r>
              <a:rPr sz="2750" spc="53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suppliers.</a:t>
            </a:r>
            <a:r>
              <a:rPr sz="2750" spc="51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The</a:t>
            </a:r>
            <a:r>
              <a:rPr sz="2750" spc="48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following</a:t>
            </a:r>
            <a:r>
              <a:rPr sz="2750" spc="51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component information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4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kept:</a:t>
            </a:r>
            <a:r>
              <a:rPr sz="2750" spc="48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component</a:t>
            </a:r>
            <a:r>
              <a:rPr sz="2750" spc="475" dirty="0">
                <a:latin typeface="Cambria"/>
                <a:cs typeface="Cambria"/>
              </a:rPr>
              <a:t> </a:t>
            </a:r>
            <a:r>
              <a:rPr sz="2750" spc="150" dirty="0">
                <a:latin typeface="Cambria"/>
                <a:cs typeface="Cambria"/>
              </a:rPr>
              <a:t>ID,</a:t>
            </a:r>
            <a:r>
              <a:rPr sz="2750" spc="500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name,</a:t>
            </a:r>
            <a:r>
              <a:rPr sz="2750" spc="49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description,</a:t>
            </a:r>
            <a:r>
              <a:rPr sz="2750" spc="484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suppliers</a:t>
            </a:r>
            <a:r>
              <a:rPr sz="2750" spc="459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who </a:t>
            </a:r>
            <a:r>
              <a:rPr sz="2750" spc="105" dirty="0">
                <a:latin typeface="Cambria"/>
                <a:cs typeface="Cambria"/>
              </a:rPr>
              <a:t>supply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them,</a:t>
            </a:r>
            <a:r>
              <a:rPr sz="2750" spc="9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products</a:t>
            </a:r>
            <a:r>
              <a:rPr sz="2750" spc="7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which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they</a:t>
            </a:r>
            <a:r>
              <a:rPr sz="2750" spc="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used.</a:t>
            </a:r>
            <a:endParaRPr sz="2750">
              <a:latin typeface="Cambria"/>
              <a:cs typeface="Cambria"/>
            </a:endParaRPr>
          </a:p>
          <a:p>
            <a:pPr marL="12700" algn="just">
              <a:lnSpc>
                <a:spcPct val="100000"/>
              </a:lnSpc>
              <a:spcBef>
                <a:spcPts val="1730"/>
              </a:spcBef>
            </a:pPr>
            <a:r>
              <a:rPr sz="2750" spc="65" dirty="0">
                <a:latin typeface="Cambria"/>
                <a:cs typeface="Cambria"/>
              </a:rPr>
              <a:t>Create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an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190" dirty="0">
                <a:latin typeface="Cambria"/>
                <a:cs typeface="Cambria"/>
              </a:rPr>
              <a:t>ERD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show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how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114" dirty="0">
                <a:latin typeface="Cambria"/>
                <a:cs typeface="Cambria"/>
              </a:rPr>
              <a:t>you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125" dirty="0">
                <a:latin typeface="Cambria"/>
                <a:cs typeface="Cambria"/>
              </a:rPr>
              <a:t>would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track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this</a:t>
            </a:r>
            <a:r>
              <a:rPr sz="2750" spc="114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information.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30" dirty="0"/>
              <a:t>Entity</a:t>
            </a:r>
            <a:r>
              <a:rPr spc="270" dirty="0"/>
              <a:t> </a:t>
            </a:r>
            <a:r>
              <a:rPr spc="120" dirty="0"/>
              <a:t>Relationship</a:t>
            </a:r>
            <a:r>
              <a:rPr spc="310" dirty="0"/>
              <a:t> </a:t>
            </a:r>
            <a:r>
              <a:rPr spc="14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8865" cy="387921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2750" b="1" spc="-10" dirty="0">
                <a:latin typeface="Palatino Linotype"/>
                <a:cs typeface="Palatino Linotype"/>
              </a:rPr>
              <a:t>Assumptions</a:t>
            </a:r>
            <a:endParaRPr sz="2750">
              <a:latin typeface="Palatino Linotype"/>
              <a:cs typeface="Palatino Linotype"/>
            </a:endParaRPr>
          </a:p>
          <a:p>
            <a:pPr marL="316230" indent="-303530">
              <a:lnSpc>
                <a:spcPct val="100000"/>
              </a:lnSpc>
              <a:spcBef>
                <a:spcPts val="1810"/>
              </a:spcBef>
              <a:buChar char="•"/>
              <a:tabLst>
                <a:tab pos="316230" algn="l"/>
              </a:tabLst>
            </a:pP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supplier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exist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without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providing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components.</a:t>
            </a:r>
            <a:endParaRPr sz="2750">
              <a:latin typeface="Cambria"/>
              <a:cs typeface="Cambria"/>
            </a:endParaRPr>
          </a:p>
          <a:p>
            <a:pPr marL="316230" indent="-303530">
              <a:lnSpc>
                <a:spcPct val="100000"/>
              </a:lnSpc>
              <a:spcBef>
                <a:spcPts val="1730"/>
              </a:spcBef>
              <a:buChar char="•"/>
              <a:tabLst>
                <a:tab pos="316230" algn="l"/>
              </a:tabLst>
            </a:pP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component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does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not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have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associated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with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supplier.</a:t>
            </a:r>
            <a:endParaRPr sz="2750">
              <a:latin typeface="Cambria"/>
              <a:cs typeface="Cambria"/>
            </a:endParaRPr>
          </a:p>
          <a:p>
            <a:pPr marL="12700" marR="5080" indent="323215">
              <a:lnSpc>
                <a:spcPct val="152500"/>
              </a:lnSpc>
              <a:buChar char="•"/>
              <a:tabLst>
                <a:tab pos="335915" algn="l"/>
              </a:tabLst>
            </a:pP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32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component</a:t>
            </a:r>
            <a:r>
              <a:rPr sz="2750" spc="30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does</a:t>
            </a:r>
            <a:r>
              <a:rPr sz="2750" spc="3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not</a:t>
            </a:r>
            <a:r>
              <a:rPr sz="2750" spc="31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have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3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2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associated</a:t>
            </a:r>
            <a:r>
              <a:rPr sz="2750" spc="300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with</a:t>
            </a:r>
            <a:r>
              <a:rPr sz="2750" spc="3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32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product.</a:t>
            </a:r>
            <a:r>
              <a:rPr sz="2750" spc="305" dirty="0">
                <a:latin typeface="Cambria"/>
                <a:cs typeface="Cambria"/>
              </a:rPr>
              <a:t> </a:t>
            </a:r>
            <a:r>
              <a:rPr sz="2750" spc="145" dirty="0">
                <a:latin typeface="Cambria"/>
                <a:cs typeface="Cambria"/>
              </a:rPr>
              <a:t>Not</a:t>
            </a:r>
            <a:r>
              <a:rPr sz="2750" spc="340" dirty="0">
                <a:latin typeface="Cambria"/>
                <a:cs typeface="Cambria"/>
              </a:rPr>
              <a:t> </a:t>
            </a:r>
            <a:r>
              <a:rPr sz="2750" spc="35" dirty="0">
                <a:latin typeface="Cambria"/>
                <a:cs typeface="Cambria"/>
              </a:rPr>
              <a:t>all </a:t>
            </a:r>
            <a:r>
              <a:rPr sz="2750" spc="55" dirty="0">
                <a:latin typeface="Cambria"/>
                <a:cs typeface="Cambria"/>
              </a:rPr>
              <a:t>components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used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products.</a:t>
            </a:r>
            <a:endParaRPr sz="2750">
              <a:latin typeface="Cambria"/>
              <a:cs typeface="Cambria"/>
            </a:endParaRPr>
          </a:p>
          <a:p>
            <a:pPr marL="316230" indent="-303530">
              <a:lnSpc>
                <a:spcPct val="100000"/>
              </a:lnSpc>
              <a:spcBef>
                <a:spcPts val="1730"/>
              </a:spcBef>
              <a:buChar char="•"/>
              <a:tabLst>
                <a:tab pos="316230" algn="l"/>
              </a:tabLst>
            </a:pPr>
            <a:r>
              <a:rPr sz="2750" spc="445" dirty="0">
                <a:latin typeface="Cambria"/>
                <a:cs typeface="Cambria"/>
              </a:rPr>
              <a:t>A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product</a:t>
            </a:r>
            <a:r>
              <a:rPr sz="2750" spc="2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cannot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exist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without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components.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30" dirty="0"/>
              <a:t>Entity</a:t>
            </a:r>
            <a:r>
              <a:rPr spc="270" dirty="0"/>
              <a:t> </a:t>
            </a:r>
            <a:r>
              <a:rPr spc="120" dirty="0"/>
              <a:t>Relationship</a:t>
            </a:r>
            <a:r>
              <a:rPr spc="310" dirty="0"/>
              <a:t> </a:t>
            </a:r>
            <a:r>
              <a:rPr spc="14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170939"/>
            <a:ext cx="9350375" cy="48710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74320" indent="-264795">
              <a:lnSpc>
                <a:spcPct val="100000"/>
              </a:lnSpc>
              <a:spcBef>
                <a:spcPts val="130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95" dirty="0">
                <a:latin typeface="Cambria"/>
                <a:cs typeface="Cambria"/>
              </a:rPr>
              <a:t>Component(CompID,</a:t>
            </a:r>
            <a:r>
              <a:rPr sz="2600" spc="165" dirty="0">
                <a:latin typeface="Cambria"/>
                <a:cs typeface="Cambria"/>
              </a:rPr>
              <a:t> </a:t>
            </a:r>
            <a:r>
              <a:rPr sz="2600" spc="135" dirty="0">
                <a:latin typeface="Cambria"/>
                <a:cs typeface="Cambria"/>
              </a:rPr>
              <a:t>CompName,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Description)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145" dirty="0">
                <a:latin typeface="Cambria"/>
                <a:cs typeface="Cambria"/>
              </a:rPr>
              <a:t>PK=CompID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40"/>
              </a:spcBef>
              <a:buFont typeface="Wingdings"/>
              <a:buChar char=""/>
            </a:pPr>
            <a:endParaRPr sz="2600">
              <a:latin typeface="Cambria"/>
              <a:cs typeface="Cambria"/>
            </a:endParaRPr>
          </a:p>
          <a:p>
            <a:pPr marL="274320" indent="-265430">
              <a:lnSpc>
                <a:spcPct val="100000"/>
              </a:lnSpc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50" dirty="0">
                <a:latin typeface="Cambria"/>
                <a:cs typeface="Cambria"/>
              </a:rPr>
              <a:t>Product(ProdID,</a:t>
            </a:r>
            <a:r>
              <a:rPr sz="2600" spc="10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ProdName,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spc="130" dirty="0">
                <a:latin typeface="Cambria"/>
                <a:cs typeface="Cambria"/>
              </a:rPr>
              <a:t>QtyOnHand)</a:t>
            </a:r>
            <a:r>
              <a:rPr sz="2600" spc="100" dirty="0">
                <a:latin typeface="Cambria"/>
                <a:cs typeface="Cambria"/>
              </a:rPr>
              <a:t> PK=ProdID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620"/>
              </a:spcBef>
              <a:buFont typeface="Wingdings"/>
              <a:buChar char=""/>
            </a:pPr>
            <a:endParaRPr sz="2600">
              <a:latin typeface="Cambria"/>
              <a:cs typeface="Cambria"/>
            </a:endParaRPr>
          </a:p>
          <a:p>
            <a:pPr marL="274320" indent="-265430">
              <a:lnSpc>
                <a:spcPct val="100000"/>
              </a:lnSpc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65" dirty="0">
                <a:latin typeface="Cambria"/>
                <a:cs typeface="Cambria"/>
              </a:rPr>
              <a:t>Supplier(SuppID,</a:t>
            </a:r>
            <a:r>
              <a:rPr sz="2600" spc="85" dirty="0">
                <a:latin typeface="Cambria"/>
                <a:cs typeface="Cambria"/>
              </a:rPr>
              <a:t> SuppName)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spc="175" dirty="0">
                <a:latin typeface="Cambria"/>
                <a:cs typeface="Cambria"/>
              </a:rPr>
              <a:t>PK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140" dirty="0">
                <a:latin typeface="Cambria"/>
                <a:cs typeface="Cambria"/>
              </a:rPr>
              <a:t>=</a:t>
            </a:r>
            <a:r>
              <a:rPr sz="2600" spc="75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SuppID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45"/>
              </a:spcBef>
              <a:buFont typeface="Wingdings"/>
              <a:buChar char=""/>
            </a:pPr>
            <a:endParaRPr sz="2600">
              <a:latin typeface="Cambria"/>
              <a:cs typeface="Cambria"/>
            </a:endParaRPr>
          </a:p>
          <a:p>
            <a:pPr marL="274320" indent="-265430">
              <a:lnSpc>
                <a:spcPct val="100000"/>
              </a:lnSpc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120" dirty="0">
                <a:latin typeface="Cambria"/>
                <a:cs typeface="Cambria"/>
              </a:rPr>
              <a:t>CompSupp(CompID,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SuppID) </a:t>
            </a:r>
            <a:r>
              <a:rPr sz="2600" spc="180" dirty="0">
                <a:latin typeface="Cambria"/>
                <a:cs typeface="Cambria"/>
              </a:rPr>
              <a:t>PK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140" dirty="0">
                <a:latin typeface="Cambria"/>
                <a:cs typeface="Cambria"/>
              </a:rPr>
              <a:t>=</a:t>
            </a:r>
            <a:r>
              <a:rPr sz="2600" spc="80" dirty="0">
                <a:latin typeface="Cambria"/>
                <a:cs typeface="Cambria"/>
              </a:rPr>
              <a:t> </a:t>
            </a:r>
            <a:r>
              <a:rPr sz="2600" spc="150" dirty="0">
                <a:latin typeface="Cambria"/>
                <a:cs typeface="Cambria"/>
              </a:rPr>
              <a:t>CompID,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SuppID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615"/>
              </a:spcBef>
              <a:buFont typeface="Wingdings"/>
              <a:buChar char=""/>
            </a:pPr>
            <a:endParaRPr sz="2600">
              <a:latin typeface="Cambria"/>
              <a:cs typeface="Cambria"/>
            </a:endParaRPr>
          </a:p>
          <a:p>
            <a:pPr marL="274320" indent="-264795">
              <a:lnSpc>
                <a:spcPct val="100000"/>
              </a:lnSpc>
              <a:spcBef>
                <a:spcPts val="5"/>
              </a:spcBef>
              <a:buSzPct val="96153"/>
              <a:buFont typeface="Wingdings"/>
              <a:buChar char=""/>
              <a:tabLst>
                <a:tab pos="274320" algn="l"/>
              </a:tabLst>
            </a:pPr>
            <a:r>
              <a:rPr sz="2600" spc="95" dirty="0">
                <a:latin typeface="Cambria"/>
                <a:cs typeface="Cambria"/>
              </a:rPr>
              <a:t>Build(CompID,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ProdID,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spc="135" dirty="0">
                <a:latin typeface="Cambria"/>
                <a:cs typeface="Cambria"/>
              </a:rPr>
              <a:t>QtyOfComp)</a:t>
            </a:r>
            <a:r>
              <a:rPr sz="2600" spc="85" dirty="0">
                <a:latin typeface="Cambria"/>
                <a:cs typeface="Cambria"/>
              </a:rPr>
              <a:t> </a:t>
            </a:r>
            <a:r>
              <a:rPr sz="2600" spc="150" dirty="0">
                <a:latin typeface="Cambria"/>
                <a:cs typeface="Cambria"/>
              </a:rPr>
              <a:t>PK=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spc="150" dirty="0">
                <a:latin typeface="Cambria"/>
                <a:cs typeface="Cambria"/>
              </a:rPr>
              <a:t>CompID,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ProdID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30" dirty="0"/>
              <a:t>Entity</a:t>
            </a:r>
            <a:r>
              <a:rPr spc="270" dirty="0"/>
              <a:t> </a:t>
            </a:r>
            <a:r>
              <a:rPr spc="120" dirty="0"/>
              <a:t>Relationship</a:t>
            </a:r>
            <a:r>
              <a:rPr spc="310" dirty="0"/>
              <a:t> </a:t>
            </a:r>
            <a:r>
              <a:rPr spc="14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1075" y="1000125"/>
            <a:ext cx="10182225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950" y="337438"/>
            <a:ext cx="108172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75" dirty="0"/>
              <a:t>Unified</a:t>
            </a:r>
            <a:r>
              <a:rPr spc="240" dirty="0"/>
              <a:t> </a:t>
            </a:r>
            <a:r>
              <a:rPr spc="80" dirty="0"/>
              <a:t>Modelling</a:t>
            </a:r>
            <a:r>
              <a:rPr spc="195" dirty="0"/>
              <a:t> </a:t>
            </a:r>
            <a:r>
              <a:rPr spc="165" dirty="0"/>
              <a:t>Language</a:t>
            </a:r>
            <a:r>
              <a:rPr spc="260" dirty="0"/>
              <a:t> </a:t>
            </a:r>
            <a:r>
              <a:rPr spc="-10" dirty="0"/>
              <a:t>(UML)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2445385"/>
            <a:ext cx="11240770" cy="2228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33045" algn="just">
              <a:lnSpc>
                <a:spcPct val="150600"/>
              </a:lnSpc>
              <a:spcBef>
                <a:spcPts val="90"/>
              </a:spcBef>
              <a:buSzPct val="96875"/>
              <a:buFont typeface="Wingdings"/>
              <a:buChar char=""/>
              <a:tabLst>
                <a:tab pos="241300" algn="l"/>
                <a:tab pos="334010" algn="l"/>
              </a:tabLst>
            </a:pPr>
            <a:r>
              <a:rPr sz="3200" spc="500" dirty="0">
                <a:latin typeface="Cambria"/>
                <a:cs typeface="Cambria"/>
              </a:rPr>
              <a:t>	A</a:t>
            </a:r>
            <a:r>
              <a:rPr sz="3200" spc="620" dirty="0">
                <a:latin typeface="Cambria"/>
                <a:cs typeface="Cambria"/>
              </a:rPr>
              <a:t>  </a:t>
            </a:r>
            <a:r>
              <a:rPr sz="3200" spc="55" dirty="0">
                <a:solidFill>
                  <a:srgbClr val="FF1C05"/>
                </a:solidFill>
                <a:latin typeface="Cambria"/>
                <a:cs typeface="Cambria"/>
              </a:rPr>
              <a:t>standardized</a:t>
            </a:r>
            <a:r>
              <a:rPr sz="3200" spc="62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3200" spc="80" dirty="0">
                <a:solidFill>
                  <a:srgbClr val="FF1C05"/>
                </a:solidFill>
                <a:latin typeface="Cambria"/>
                <a:cs typeface="Cambria"/>
              </a:rPr>
              <a:t>modeling</a:t>
            </a:r>
            <a:r>
              <a:rPr sz="3200" spc="63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3200" spc="85" dirty="0">
                <a:solidFill>
                  <a:srgbClr val="FF1C05"/>
                </a:solidFill>
                <a:latin typeface="Cambria"/>
                <a:cs typeface="Cambria"/>
              </a:rPr>
              <a:t>language</a:t>
            </a:r>
            <a:r>
              <a:rPr sz="3200" spc="63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3200" spc="65" dirty="0">
                <a:latin typeface="Cambria"/>
                <a:cs typeface="Cambria"/>
              </a:rPr>
              <a:t>used</a:t>
            </a:r>
            <a:r>
              <a:rPr sz="3200" spc="635" dirty="0">
                <a:latin typeface="Cambria"/>
                <a:cs typeface="Cambria"/>
              </a:rPr>
              <a:t>  </a:t>
            </a:r>
            <a:r>
              <a:rPr sz="3200" spc="80" dirty="0">
                <a:latin typeface="Cambria"/>
                <a:cs typeface="Cambria"/>
              </a:rPr>
              <a:t>in</a:t>
            </a:r>
            <a:r>
              <a:rPr sz="3200" spc="605" dirty="0">
                <a:latin typeface="Cambria"/>
                <a:cs typeface="Cambria"/>
              </a:rPr>
              <a:t>  </a:t>
            </a:r>
            <a:r>
              <a:rPr sz="3200" spc="-10" dirty="0">
                <a:latin typeface="Cambria"/>
                <a:cs typeface="Cambria"/>
              </a:rPr>
              <a:t>software </a:t>
            </a:r>
            <a:r>
              <a:rPr sz="3200" spc="45" dirty="0">
                <a:latin typeface="Cambria"/>
                <a:cs typeface="Cambria"/>
              </a:rPr>
              <a:t>engineering</a:t>
            </a:r>
            <a:r>
              <a:rPr sz="3200" spc="70" dirty="0">
                <a:latin typeface="Cambria"/>
                <a:cs typeface="Cambria"/>
              </a:rPr>
              <a:t>  </a:t>
            </a:r>
            <a:r>
              <a:rPr sz="3200" dirty="0">
                <a:latin typeface="Cambria"/>
                <a:cs typeface="Cambria"/>
              </a:rPr>
              <a:t>for</a:t>
            </a:r>
            <a:r>
              <a:rPr sz="3200" spc="70" dirty="0">
                <a:latin typeface="Cambria"/>
                <a:cs typeface="Cambria"/>
              </a:rPr>
              <a:t>  </a:t>
            </a:r>
            <a:r>
              <a:rPr sz="3200" b="1" dirty="0">
                <a:solidFill>
                  <a:srgbClr val="FF1C05"/>
                </a:solidFill>
                <a:latin typeface="Palatino Linotype"/>
                <a:cs typeface="Palatino Linotype"/>
              </a:rPr>
              <a:t>visualizing,</a:t>
            </a:r>
            <a:r>
              <a:rPr sz="3200" b="1" spc="770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3200" b="1" dirty="0">
                <a:solidFill>
                  <a:srgbClr val="FF1C05"/>
                </a:solidFill>
                <a:latin typeface="Palatino Linotype"/>
                <a:cs typeface="Palatino Linotype"/>
              </a:rPr>
              <a:t>specifying,</a:t>
            </a:r>
            <a:r>
              <a:rPr sz="3200" b="1" spc="77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3200" b="1" dirty="0">
                <a:solidFill>
                  <a:srgbClr val="FF1C05"/>
                </a:solidFill>
                <a:latin typeface="Palatino Linotype"/>
                <a:cs typeface="Palatino Linotype"/>
              </a:rPr>
              <a:t>constructing</a:t>
            </a:r>
            <a:r>
              <a:rPr sz="3200" dirty="0">
                <a:latin typeface="Cambria"/>
                <a:cs typeface="Cambria"/>
              </a:rPr>
              <a:t>,</a:t>
            </a:r>
            <a:r>
              <a:rPr sz="3200" spc="90" dirty="0">
                <a:latin typeface="Cambria"/>
                <a:cs typeface="Cambria"/>
              </a:rPr>
              <a:t>  </a:t>
            </a:r>
            <a:r>
              <a:rPr sz="3200" spc="70" dirty="0">
                <a:latin typeface="Cambria"/>
                <a:cs typeface="Cambria"/>
              </a:rPr>
              <a:t>and </a:t>
            </a:r>
            <a:r>
              <a:rPr sz="3200" b="1" dirty="0">
                <a:solidFill>
                  <a:srgbClr val="FF1C05"/>
                </a:solidFill>
                <a:latin typeface="Palatino Linotype"/>
                <a:cs typeface="Palatino Linotype"/>
              </a:rPr>
              <a:t>documenting</a:t>
            </a:r>
            <a:r>
              <a:rPr sz="3200" b="1" spc="3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3200" dirty="0">
                <a:latin typeface="Cambria"/>
                <a:cs typeface="Cambria"/>
              </a:rPr>
              <a:t>the</a:t>
            </a:r>
            <a:r>
              <a:rPr sz="3200" spc="110" dirty="0"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FF1C05"/>
                </a:solidFill>
                <a:latin typeface="Cambria"/>
                <a:cs typeface="Cambria"/>
              </a:rPr>
              <a:t>artifacts</a:t>
            </a:r>
            <a:r>
              <a:rPr sz="3200" spc="14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3200" spc="60" dirty="0">
                <a:solidFill>
                  <a:srgbClr val="FF1C05"/>
                </a:solidFill>
                <a:latin typeface="Cambria"/>
                <a:cs typeface="Cambria"/>
              </a:rPr>
              <a:t>of</a:t>
            </a:r>
            <a:r>
              <a:rPr sz="3200" spc="14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3200" dirty="0">
                <a:solidFill>
                  <a:srgbClr val="FF1C05"/>
                </a:solidFill>
                <a:latin typeface="Cambria"/>
                <a:cs typeface="Cambria"/>
              </a:rPr>
              <a:t>software</a:t>
            </a:r>
            <a:r>
              <a:rPr sz="3200" spc="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3200" spc="-10" dirty="0">
                <a:solidFill>
                  <a:srgbClr val="FF1C05"/>
                </a:solidFill>
                <a:latin typeface="Cambria"/>
                <a:cs typeface="Cambria"/>
              </a:rPr>
              <a:t>systems.</a:t>
            </a:r>
            <a:endParaRPr sz="3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950" y="337438"/>
            <a:ext cx="108172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75" dirty="0"/>
              <a:t>Unified</a:t>
            </a:r>
            <a:r>
              <a:rPr spc="240" dirty="0"/>
              <a:t> </a:t>
            </a:r>
            <a:r>
              <a:rPr spc="80" dirty="0"/>
              <a:t>Modelling</a:t>
            </a:r>
            <a:r>
              <a:rPr spc="195" dirty="0"/>
              <a:t> </a:t>
            </a:r>
            <a:r>
              <a:rPr spc="165" dirty="0"/>
              <a:t>Language</a:t>
            </a:r>
            <a:r>
              <a:rPr spc="260" dirty="0"/>
              <a:t> </a:t>
            </a:r>
            <a:r>
              <a:rPr spc="-10" dirty="0"/>
              <a:t>(UML)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68482"/>
            <a:ext cx="11238230" cy="3351529"/>
          </a:xfrm>
          <a:prstGeom prst="rect">
            <a:avLst/>
          </a:prstGeom>
        </p:spPr>
        <p:txBody>
          <a:bodyPr vert="horz" wrap="square" lIns="0" tIns="276225" rIns="0" bIns="0" rtlCol="0">
            <a:spAutoFit/>
          </a:bodyPr>
          <a:lstStyle/>
          <a:p>
            <a:pPr marL="334645" indent="-325755">
              <a:lnSpc>
                <a:spcPct val="100000"/>
              </a:lnSpc>
              <a:spcBef>
                <a:spcPts val="2175"/>
              </a:spcBef>
              <a:buSzPct val="96875"/>
              <a:buFont typeface="Wingdings"/>
              <a:buChar char=""/>
              <a:tabLst>
                <a:tab pos="334645" algn="l"/>
              </a:tabLst>
            </a:pPr>
            <a:r>
              <a:rPr sz="320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Visualization:</a:t>
            </a:r>
            <a:endParaRPr sz="3200">
              <a:latin typeface="Palatino Linotype"/>
              <a:cs typeface="Palatino Linotype"/>
            </a:endParaRPr>
          </a:p>
          <a:p>
            <a:pPr marL="699135" marR="7620" lvl="1" indent="-229235">
              <a:lnSpc>
                <a:spcPct val="152400"/>
              </a:lnSpc>
              <a:spcBef>
                <a:spcPts val="65"/>
              </a:spcBef>
              <a:buSzPct val="96363"/>
              <a:buFont typeface="Wingdings"/>
              <a:buChar char=""/>
              <a:tabLst>
                <a:tab pos="699135" algn="l"/>
                <a:tab pos="752475" algn="l"/>
                <a:tab pos="1724025" algn="l"/>
                <a:tab pos="3255645" algn="l"/>
                <a:tab pos="3573779" algn="l"/>
                <a:tab pos="4387850" algn="l"/>
                <a:tab pos="4837430" algn="l"/>
                <a:tab pos="6455410" algn="l"/>
                <a:tab pos="7960359" algn="l"/>
                <a:tab pos="9352280" algn="l"/>
              </a:tabLst>
            </a:pPr>
            <a:r>
              <a:rPr sz="2750" spc="295" dirty="0">
                <a:latin typeface="Cambria"/>
                <a:cs typeface="Cambria"/>
              </a:rPr>
              <a:t>	UML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latin typeface="Cambria"/>
                <a:cs typeface="Cambria"/>
              </a:rPr>
              <a:t>provides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10" dirty="0">
                <a:latin typeface="Cambria"/>
                <a:cs typeface="Cambria"/>
              </a:rPr>
              <a:t>way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represent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software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latin typeface="Cambria"/>
                <a:cs typeface="Cambria"/>
              </a:rPr>
              <a:t>systems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graphically</a:t>
            </a:r>
            <a:r>
              <a:rPr sz="2750" spc="70" dirty="0">
                <a:latin typeface="Cambria"/>
                <a:cs typeface="Cambria"/>
              </a:rPr>
              <a:t>, </a:t>
            </a:r>
            <a:r>
              <a:rPr sz="2750" spc="105" dirty="0">
                <a:latin typeface="Cambria"/>
                <a:cs typeface="Cambria"/>
              </a:rPr>
              <a:t>making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complex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designs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easier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understand.</a:t>
            </a:r>
            <a:endParaRPr sz="2750">
              <a:latin typeface="Cambria"/>
              <a:cs typeface="Cambria"/>
            </a:endParaRPr>
          </a:p>
          <a:p>
            <a:pPr marL="699135" marR="5080" lvl="1" indent="-229235">
              <a:lnSpc>
                <a:spcPct val="152500"/>
              </a:lnSpc>
              <a:spcBef>
                <a:spcPts val="75"/>
              </a:spcBef>
              <a:buSzPct val="96363"/>
              <a:buFont typeface="Wingdings"/>
              <a:buChar char=""/>
              <a:tabLst>
                <a:tab pos="699135" algn="l"/>
                <a:tab pos="751840" algn="l"/>
                <a:tab pos="2044700" algn="l"/>
                <a:tab pos="2491105" algn="l"/>
                <a:tab pos="3188335" algn="l"/>
                <a:tab pos="4056379" algn="l"/>
                <a:tab pos="4502785" algn="l"/>
                <a:tab pos="5464175" algn="l"/>
                <a:tab pos="7329170" algn="l"/>
                <a:tab pos="8004809" algn="l"/>
                <a:tab pos="8673465" algn="l"/>
                <a:tab pos="10288270" algn="l"/>
                <a:tab pos="10731500" algn="l"/>
              </a:tabLst>
            </a:pPr>
            <a:r>
              <a:rPr sz="2750" spc="35" dirty="0">
                <a:latin typeface="Cambria"/>
                <a:cs typeface="Cambria"/>
              </a:rPr>
              <a:t>	Instead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of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just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lines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of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code,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developers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can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use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diagrams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to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see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structure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1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behavior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their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software.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950" y="337438"/>
            <a:ext cx="108172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75" dirty="0"/>
              <a:t>Unified</a:t>
            </a:r>
            <a:r>
              <a:rPr spc="240" dirty="0"/>
              <a:t> </a:t>
            </a:r>
            <a:r>
              <a:rPr spc="80" dirty="0"/>
              <a:t>Modelling</a:t>
            </a:r>
            <a:r>
              <a:rPr spc="195" dirty="0"/>
              <a:t> </a:t>
            </a:r>
            <a:r>
              <a:rPr spc="165" dirty="0"/>
              <a:t>Language</a:t>
            </a:r>
            <a:r>
              <a:rPr spc="260" dirty="0"/>
              <a:t> </a:t>
            </a:r>
            <a:r>
              <a:rPr spc="-10" dirty="0"/>
              <a:t>(UML)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35055" cy="2889885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Specification:</a:t>
            </a:r>
            <a:endParaRPr sz="2750">
              <a:latin typeface="Palatino Linotype"/>
              <a:cs typeface="Palatino Linotype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250" dirty="0">
                <a:latin typeface="Cambria"/>
                <a:cs typeface="Cambria"/>
              </a:rPr>
              <a:t>UML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used</a:t>
            </a:r>
            <a:r>
              <a:rPr sz="2400" spc="22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specify</a:t>
            </a:r>
            <a:r>
              <a:rPr sz="2400" spc="2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2400" spc="2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components</a:t>
            </a:r>
            <a:r>
              <a:rPr sz="2400" spc="1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FF1C05"/>
                </a:solidFill>
                <a:latin typeface="Cambria"/>
                <a:cs typeface="Cambria"/>
              </a:rPr>
              <a:t>of</a:t>
            </a:r>
            <a:r>
              <a:rPr sz="2400" spc="1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a</a:t>
            </a:r>
            <a:r>
              <a:rPr sz="2400" spc="21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software</a:t>
            </a:r>
            <a:r>
              <a:rPr sz="2400" spc="18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system</a:t>
            </a:r>
            <a:r>
              <a:rPr sz="2400" spc="1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precise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65" dirty="0">
                <a:latin typeface="Cambria"/>
                <a:cs typeface="Cambria"/>
              </a:rPr>
              <a:t>and </a:t>
            </a:r>
            <a:r>
              <a:rPr sz="2400" spc="60" dirty="0">
                <a:latin typeface="Cambria"/>
                <a:cs typeface="Cambria"/>
              </a:rPr>
              <a:t>unambiguous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way.</a:t>
            </a:r>
            <a:endParaRPr sz="2400">
              <a:latin typeface="Cambria"/>
              <a:cs typeface="Cambria"/>
            </a:endParaRPr>
          </a:p>
          <a:p>
            <a:pPr marL="699135" marR="5080" lvl="1" indent="-231140">
              <a:lnSpc>
                <a:spcPct val="148600"/>
              </a:lnSpc>
              <a:spcBef>
                <a:spcPts val="75"/>
              </a:spcBef>
              <a:buSzPct val="95833"/>
              <a:buFont typeface="Wingdings"/>
              <a:buChar char=""/>
              <a:tabLst>
                <a:tab pos="699135" algn="l"/>
                <a:tab pos="712470" algn="l"/>
                <a:tab pos="1457960" algn="l"/>
                <a:tab pos="2343785" algn="l"/>
                <a:tab pos="3409315" algn="l"/>
                <a:tab pos="4101465" algn="l"/>
                <a:tab pos="5508625" algn="l"/>
                <a:tab pos="6015355" algn="l"/>
                <a:tab pos="6600825" algn="l"/>
                <a:tab pos="8545195" algn="l"/>
                <a:tab pos="9375775" algn="l"/>
                <a:tab pos="9996170" algn="l"/>
                <a:tab pos="10310495" algn="l"/>
              </a:tabLst>
            </a:pPr>
            <a:r>
              <a:rPr sz="2400" spc="-20" dirty="0">
                <a:latin typeface="Cambria"/>
                <a:cs typeface="Cambria"/>
              </a:rPr>
              <a:t>	This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helps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ensure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that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everyone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30" dirty="0">
                <a:latin typeface="Cambria"/>
                <a:cs typeface="Cambria"/>
              </a:rPr>
              <a:t>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development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team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has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5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solidFill>
                  <a:srgbClr val="FF1C05"/>
                </a:solidFill>
                <a:latin typeface="Cambria"/>
                <a:cs typeface="Cambria"/>
              </a:rPr>
              <a:t>shared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understanding</a:t>
            </a:r>
            <a:r>
              <a:rPr sz="2400" spc="2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FF1C05"/>
                </a:solidFill>
                <a:latin typeface="Cambria"/>
                <a:cs typeface="Cambria"/>
              </a:rPr>
              <a:t>of</a:t>
            </a:r>
            <a:r>
              <a:rPr sz="2400" spc="17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the</a:t>
            </a:r>
            <a:r>
              <a:rPr sz="2400" spc="2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system's</a:t>
            </a:r>
            <a:r>
              <a:rPr sz="2400" spc="2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1C05"/>
                </a:solidFill>
                <a:latin typeface="Cambria"/>
                <a:cs typeface="Cambria"/>
              </a:rPr>
              <a:t>design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8950" y="337438"/>
            <a:ext cx="108172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75" dirty="0"/>
              <a:t>Unified</a:t>
            </a:r>
            <a:r>
              <a:rPr spc="240" dirty="0"/>
              <a:t> </a:t>
            </a:r>
            <a:r>
              <a:rPr spc="80" dirty="0"/>
              <a:t>Modelling</a:t>
            </a:r>
            <a:r>
              <a:rPr spc="195" dirty="0"/>
              <a:t> </a:t>
            </a:r>
            <a:r>
              <a:rPr spc="165" dirty="0"/>
              <a:t>Language</a:t>
            </a:r>
            <a:r>
              <a:rPr spc="260" dirty="0"/>
              <a:t> </a:t>
            </a:r>
            <a:r>
              <a:rPr spc="-10" dirty="0"/>
              <a:t>(UML)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8230" cy="5166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 algn="just">
              <a:lnSpc>
                <a:spcPct val="153600"/>
              </a:lnSpc>
              <a:spcBef>
                <a:spcPts val="130"/>
              </a:spcBef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	Construction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:</a:t>
            </a:r>
            <a:r>
              <a:rPr sz="2750" spc="15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90" dirty="0">
                <a:latin typeface="Cambria"/>
                <a:cs typeface="Cambria"/>
              </a:rPr>
              <a:t>While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320" dirty="0">
                <a:latin typeface="Cambria"/>
                <a:cs typeface="Cambria"/>
              </a:rPr>
              <a:t>UML</a:t>
            </a:r>
            <a:r>
              <a:rPr sz="2750" spc="2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itself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isn't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code,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used</a:t>
            </a:r>
            <a:r>
              <a:rPr sz="2750" spc="1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to</a:t>
            </a:r>
            <a:r>
              <a:rPr sz="2750" spc="1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generate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code</a:t>
            </a:r>
            <a:r>
              <a:rPr sz="2750" spc="114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20" dirty="0">
                <a:latin typeface="Cambria"/>
                <a:cs typeface="Cambria"/>
              </a:rPr>
              <a:t>  </a:t>
            </a:r>
            <a:r>
              <a:rPr sz="2750" spc="60" dirty="0">
                <a:latin typeface="Cambria"/>
                <a:cs typeface="Cambria"/>
              </a:rPr>
              <a:t>various</a:t>
            </a:r>
            <a:r>
              <a:rPr sz="2750" spc="140" dirty="0">
                <a:latin typeface="Cambria"/>
                <a:cs typeface="Cambria"/>
              </a:rPr>
              <a:t>  </a:t>
            </a:r>
            <a:r>
              <a:rPr sz="2750" spc="90" dirty="0">
                <a:latin typeface="Cambria"/>
                <a:cs typeface="Cambria"/>
              </a:rPr>
              <a:t>programming</a:t>
            </a:r>
            <a:r>
              <a:rPr sz="2750" spc="145" dirty="0">
                <a:latin typeface="Cambria"/>
                <a:cs typeface="Cambria"/>
              </a:rPr>
              <a:t>  </a:t>
            </a:r>
            <a:r>
              <a:rPr sz="2750" spc="85" dirty="0">
                <a:latin typeface="Cambria"/>
                <a:cs typeface="Cambria"/>
              </a:rPr>
              <a:t>languages.</a:t>
            </a:r>
            <a:r>
              <a:rPr sz="2750" spc="360" dirty="0">
                <a:latin typeface="Cambria"/>
                <a:cs typeface="Cambria"/>
              </a:rPr>
              <a:t>   </a:t>
            </a:r>
            <a:r>
              <a:rPr sz="2750" dirty="0">
                <a:latin typeface="Cambria"/>
                <a:cs typeface="Cambria"/>
              </a:rPr>
              <a:t>This</a:t>
            </a:r>
            <a:r>
              <a:rPr sz="2750" spc="14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speed</a:t>
            </a:r>
            <a:r>
              <a:rPr sz="2750" spc="12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175" dirty="0">
                <a:solidFill>
                  <a:srgbClr val="FF1C05"/>
                </a:solidFill>
                <a:latin typeface="Cambria"/>
                <a:cs typeface="Cambria"/>
              </a:rPr>
              <a:t>up</a:t>
            </a:r>
            <a:r>
              <a:rPr sz="2750" spc="11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-25" dirty="0">
                <a:solidFill>
                  <a:srgbClr val="FF1C05"/>
                </a:solidFill>
                <a:latin typeface="Cambria"/>
                <a:cs typeface="Cambria"/>
              </a:rPr>
              <a:t>the </a:t>
            </a:r>
            <a:r>
              <a:rPr sz="2750" spc="75" dirty="0">
                <a:solidFill>
                  <a:srgbClr val="FF1C05"/>
                </a:solidFill>
                <a:latin typeface="Cambria"/>
                <a:cs typeface="Cambria"/>
              </a:rPr>
              <a:t>development</a:t>
            </a:r>
            <a:r>
              <a:rPr sz="2750" spc="2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process</a:t>
            </a:r>
            <a:r>
              <a:rPr sz="2750" spc="1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reduce</a:t>
            </a:r>
            <a:r>
              <a:rPr sz="2750" spc="254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errors.</a:t>
            </a:r>
            <a:endParaRPr sz="27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85"/>
              </a:spcBef>
              <a:buClr>
                <a:srgbClr val="FF1C05"/>
              </a:buClr>
              <a:buFont typeface="Wingdings"/>
              <a:buChar char=""/>
            </a:pPr>
            <a:endParaRPr sz="2750">
              <a:latin typeface="Cambria"/>
              <a:cs typeface="Cambria"/>
            </a:endParaRPr>
          </a:p>
          <a:p>
            <a:pPr marL="241300" marR="10795" indent="-229235" algn="just">
              <a:lnSpc>
                <a:spcPct val="153200"/>
              </a:lnSpc>
              <a:buFont typeface="Wingdings"/>
              <a:buChar char=""/>
              <a:tabLst>
                <a:tab pos="241300" algn="l"/>
                <a:tab pos="472440" algn="l"/>
              </a:tabLst>
            </a:pP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	Documentation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:</a:t>
            </a:r>
            <a:r>
              <a:rPr sz="2750" spc="4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320" dirty="0">
                <a:latin typeface="Cambria"/>
                <a:cs typeface="Cambria"/>
              </a:rPr>
              <a:t>UML</a:t>
            </a:r>
            <a:r>
              <a:rPr sz="2750" spc="75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diagrams</a:t>
            </a:r>
            <a:r>
              <a:rPr sz="2750" spc="6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serve</a:t>
            </a:r>
            <a:r>
              <a:rPr sz="2750" spc="6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</a:t>
            </a:r>
            <a:r>
              <a:rPr sz="2750" spc="675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excellent</a:t>
            </a:r>
            <a:r>
              <a:rPr sz="2750" spc="4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documentation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for</a:t>
            </a:r>
            <a:r>
              <a:rPr sz="2750" spc="3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software</a:t>
            </a:r>
            <a:r>
              <a:rPr sz="2750" spc="45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systems</a:t>
            </a:r>
            <a:r>
              <a:rPr sz="2750" spc="50" dirty="0">
                <a:latin typeface="Cambria"/>
                <a:cs typeface="Cambria"/>
              </a:rPr>
              <a:t>.</a:t>
            </a:r>
            <a:r>
              <a:rPr sz="2750" spc="415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They</a:t>
            </a:r>
            <a:r>
              <a:rPr sz="2750" spc="45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provide</a:t>
            </a:r>
            <a:r>
              <a:rPr sz="2750" spc="4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4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clear</a:t>
            </a:r>
            <a:r>
              <a:rPr sz="2750" spc="409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4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concise</a:t>
            </a:r>
            <a:r>
              <a:rPr sz="2750" spc="40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overview</a:t>
            </a:r>
            <a:r>
              <a:rPr sz="2750" spc="430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of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2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system's</a:t>
            </a:r>
            <a:r>
              <a:rPr sz="2750" spc="160" dirty="0">
                <a:latin typeface="Cambria"/>
                <a:cs typeface="Cambria"/>
              </a:rPr>
              <a:t>  </a:t>
            </a:r>
            <a:r>
              <a:rPr sz="2750" spc="85" dirty="0">
                <a:latin typeface="Cambria"/>
                <a:cs typeface="Cambria"/>
              </a:rPr>
              <a:t>design,</a:t>
            </a:r>
            <a:r>
              <a:rPr sz="2750" spc="140" dirty="0">
                <a:latin typeface="Cambria"/>
                <a:cs typeface="Cambria"/>
              </a:rPr>
              <a:t>  </a:t>
            </a:r>
            <a:r>
              <a:rPr sz="2750" spc="85" dirty="0">
                <a:latin typeface="Cambria"/>
                <a:cs typeface="Cambria"/>
              </a:rPr>
              <a:t>which</a:t>
            </a:r>
            <a:r>
              <a:rPr sz="2750" spc="15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140" dirty="0">
                <a:latin typeface="Cambria"/>
                <a:cs typeface="Cambria"/>
              </a:rPr>
              <a:t>  </a:t>
            </a:r>
            <a:r>
              <a:rPr sz="2750" spc="85" dirty="0">
                <a:solidFill>
                  <a:srgbClr val="FF1C05"/>
                </a:solidFill>
                <a:latin typeface="Cambria"/>
                <a:cs typeface="Cambria"/>
              </a:rPr>
              <a:t>helpful</a:t>
            </a:r>
            <a:r>
              <a:rPr sz="2750" spc="14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for</a:t>
            </a:r>
            <a:r>
              <a:rPr sz="2750" spc="13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45" dirty="0">
                <a:solidFill>
                  <a:srgbClr val="FF1C05"/>
                </a:solidFill>
                <a:latin typeface="Cambria"/>
                <a:cs typeface="Cambria"/>
              </a:rPr>
              <a:t>maintenance</a:t>
            </a:r>
            <a:r>
              <a:rPr sz="2750" spc="14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60" dirty="0">
                <a:latin typeface="Cambria"/>
                <a:cs typeface="Cambria"/>
              </a:rPr>
              <a:t>  </a:t>
            </a:r>
            <a:r>
              <a:rPr sz="2750" spc="-10" dirty="0">
                <a:latin typeface="Cambria"/>
                <a:cs typeface="Cambria"/>
              </a:rPr>
              <a:t>future </a:t>
            </a:r>
            <a:r>
              <a:rPr sz="2750" spc="70" dirty="0">
                <a:latin typeface="Cambria"/>
                <a:cs typeface="Cambria"/>
              </a:rPr>
              <a:t>development.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114" dirty="0"/>
              <a:t>Perspectives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30816" y="1209039"/>
            <a:ext cx="189293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100" dirty="0">
                <a:latin typeface="Cambria"/>
                <a:cs typeface="Cambria"/>
              </a:rPr>
              <a:t>Component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950" y="983996"/>
            <a:ext cx="9081135" cy="1323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  <a:tab pos="383540" algn="l"/>
                <a:tab pos="2240280" algn="l"/>
                <a:tab pos="3551554" algn="l"/>
                <a:tab pos="4817745" algn="l"/>
                <a:tab pos="6054725" algn="l"/>
                <a:tab pos="6463030" algn="l"/>
                <a:tab pos="7588250" algn="l"/>
              </a:tabLst>
            </a:pPr>
            <a:r>
              <a:rPr sz="2750" spc="-10" dirty="0">
                <a:latin typeface="Cambria"/>
                <a:cs typeface="Cambria"/>
              </a:rPr>
              <a:t>	Structural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14" dirty="0">
                <a:latin typeface="Cambria"/>
                <a:cs typeface="Cambria"/>
              </a:rPr>
              <a:t>Model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(Static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5" dirty="0">
                <a:latin typeface="Cambria"/>
                <a:cs typeface="Cambria"/>
              </a:rPr>
              <a:t>View)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-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5" dirty="0">
                <a:latin typeface="Cambria"/>
                <a:cs typeface="Cambria"/>
              </a:rPr>
              <a:t>Class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5" dirty="0">
                <a:latin typeface="Cambria"/>
                <a:cs typeface="Cambria"/>
              </a:rPr>
              <a:t>Diagram, </a:t>
            </a:r>
            <a:r>
              <a:rPr sz="2750" spc="114" dirty="0">
                <a:latin typeface="Cambria"/>
                <a:cs typeface="Cambria"/>
              </a:rPr>
              <a:t>Diagram,</a:t>
            </a:r>
            <a:r>
              <a:rPr sz="2750" spc="95" dirty="0">
                <a:latin typeface="Cambria"/>
                <a:cs typeface="Cambria"/>
              </a:rPr>
              <a:t> Deployment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114" dirty="0">
                <a:latin typeface="Cambria"/>
                <a:cs typeface="Cambria"/>
              </a:rPr>
              <a:t>Diagram,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Object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Diagram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8950" y="2920555"/>
            <a:ext cx="11237595" cy="18662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25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  <a:tab pos="382905" algn="l"/>
                <a:tab pos="2492375" algn="l"/>
                <a:tab pos="3930015" algn="l"/>
                <a:tab pos="5898515" algn="l"/>
                <a:tab pos="7261859" algn="l"/>
                <a:tab pos="7855584" algn="l"/>
                <a:tab pos="9746615" algn="l"/>
              </a:tabLst>
            </a:pPr>
            <a:r>
              <a:rPr sz="2750" spc="40" dirty="0">
                <a:latin typeface="Cambria"/>
                <a:cs typeface="Cambria"/>
              </a:rPr>
              <a:t>	Behavioral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14" dirty="0">
                <a:latin typeface="Cambria"/>
                <a:cs typeface="Cambria"/>
              </a:rPr>
              <a:t>Model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5" dirty="0">
                <a:latin typeface="Cambria"/>
                <a:cs typeface="Cambria"/>
              </a:rPr>
              <a:t>(Dynamic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5" dirty="0">
                <a:latin typeface="Cambria"/>
                <a:cs typeface="Cambria"/>
              </a:rPr>
              <a:t>View)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–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Sequence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105" dirty="0">
                <a:latin typeface="Cambria"/>
                <a:cs typeface="Cambria"/>
              </a:rPr>
              <a:t>Diagram, </a:t>
            </a:r>
            <a:r>
              <a:rPr sz="2750" spc="65" dirty="0">
                <a:latin typeface="Cambria"/>
                <a:cs typeface="Cambria"/>
              </a:rPr>
              <a:t>Collaboration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120" dirty="0">
                <a:latin typeface="Cambria"/>
                <a:cs typeface="Cambria"/>
              </a:rPr>
              <a:t>Diagram,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State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Chart</a:t>
            </a:r>
            <a:r>
              <a:rPr sz="2750" spc="100" dirty="0">
                <a:latin typeface="Cambria"/>
                <a:cs typeface="Cambria"/>
              </a:rPr>
              <a:t> </a:t>
            </a:r>
            <a:r>
              <a:rPr sz="2750" spc="114" dirty="0">
                <a:latin typeface="Cambria"/>
                <a:cs typeface="Cambria"/>
              </a:rPr>
              <a:t>Diagram,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Activity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Diagram</a:t>
            </a:r>
            <a:endParaRPr sz="275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55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55" dirty="0">
                <a:latin typeface="Cambria"/>
                <a:cs typeface="Cambria"/>
              </a:rPr>
              <a:t>User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Interaction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View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–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Usecase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Diagram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114" dirty="0"/>
              <a:t>Perspectives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7725" y="2476436"/>
            <a:ext cx="10377805" cy="1795780"/>
            <a:chOff x="847725" y="2476436"/>
            <a:chExt cx="10377805" cy="1795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34344" y="3971581"/>
              <a:ext cx="2890962" cy="28154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15325" y="3952811"/>
              <a:ext cx="1786001" cy="3190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15325" y="3952811"/>
              <a:ext cx="633412" cy="31908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34300" y="3952811"/>
              <a:ext cx="642937" cy="3190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1300" y="3952811"/>
              <a:ext cx="1786001" cy="3190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38775" y="3952811"/>
              <a:ext cx="2938526" cy="3190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57794" y="3104806"/>
              <a:ext cx="2900486" cy="2815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90750" y="3971581"/>
              <a:ext cx="1748000" cy="28154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1750" y="3952811"/>
              <a:ext cx="633412" cy="3190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00250" y="3952811"/>
              <a:ext cx="633412" cy="3190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7725" y="3952811"/>
              <a:ext cx="1786001" cy="31908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71750" y="3086036"/>
              <a:ext cx="2929001" cy="3190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72050" y="2476436"/>
              <a:ext cx="1004887" cy="6619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76825" y="2581211"/>
              <a:ext cx="1004887" cy="65246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227701" y="2637790"/>
            <a:ext cx="712470" cy="5118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35" algn="ctr">
              <a:lnSpc>
                <a:spcPts val="1300"/>
              </a:lnSpc>
              <a:spcBef>
                <a:spcPts val="125"/>
              </a:spcBef>
            </a:pPr>
            <a:r>
              <a:rPr sz="1100" spc="85" dirty="0">
                <a:latin typeface="Cambria"/>
                <a:cs typeface="Cambria"/>
              </a:rPr>
              <a:t>UML</a:t>
            </a:r>
            <a:endParaRPr sz="1100">
              <a:latin typeface="Cambria"/>
              <a:cs typeface="Cambria"/>
            </a:endParaRPr>
          </a:p>
          <a:p>
            <a:pPr marL="12065" marR="5080" algn="ctr">
              <a:lnSpc>
                <a:spcPts val="1200"/>
              </a:lnSpc>
              <a:spcBef>
                <a:spcPts val="114"/>
              </a:spcBef>
            </a:pPr>
            <a:r>
              <a:rPr sz="1100" spc="-10" dirty="0">
                <a:latin typeface="Cambria"/>
                <a:cs typeface="Cambria"/>
              </a:rPr>
              <a:t>Diagrams/ Models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05025" y="3352736"/>
            <a:ext cx="1100455" cy="757555"/>
            <a:chOff x="2105025" y="3352736"/>
            <a:chExt cx="1100455" cy="757555"/>
          </a:xfrm>
        </p:grpSpPr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105025" y="3352736"/>
              <a:ext cx="995362" cy="65246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209800" y="3447986"/>
              <a:ext cx="995362" cy="66198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391410" y="3586416"/>
            <a:ext cx="638175" cy="360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Structural</a:t>
            </a:r>
            <a:endParaRPr sz="1100">
              <a:latin typeface="Cambria"/>
              <a:cs typeface="Cambria"/>
            </a:endParaRPr>
          </a:p>
          <a:p>
            <a:pPr marL="89535">
              <a:lnSpc>
                <a:spcPts val="1300"/>
              </a:lnSpc>
            </a:pPr>
            <a:r>
              <a:rPr sz="1100" spc="-10" dirty="0">
                <a:latin typeface="Cambria"/>
                <a:cs typeface="Cambria"/>
              </a:rPr>
              <a:t>Models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81000" y="4219511"/>
            <a:ext cx="1109980" cy="757555"/>
            <a:chOff x="381000" y="4219511"/>
            <a:chExt cx="1109980" cy="757555"/>
          </a:xfrm>
        </p:grpSpPr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81000" y="4219511"/>
              <a:ext cx="1004887" cy="66198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85775" y="4314761"/>
              <a:ext cx="1004887" cy="661987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811847" y="4536058"/>
            <a:ext cx="35306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Class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524000" y="4219511"/>
            <a:ext cx="1109980" cy="757555"/>
            <a:chOff x="1524000" y="4219511"/>
            <a:chExt cx="1109980" cy="757555"/>
          </a:xfrm>
        </p:grpSpPr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24000" y="4219511"/>
              <a:ext cx="1004887" cy="66198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28775" y="4314761"/>
              <a:ext cx="1004887" cy="66198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927605" y="4536058"/>
            <a:ext cx="426084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Object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676525" y="4219511"/>
            <a:ext cx="1109980" cy="757555"/>
            <a:chOff x="2676525" y="4219511"/>
            <a:chExt cx="1109980" cy="757555"/>
          </a:xfrm>
        </p:grpSpPr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76525" y="4219511"/>
              <a:ext cx="1004887" cy="66198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781300" y="4314761"/>
              <a:ext cx="1004887" cy="66198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2906776" y="4536058"/>
            <a:ext cx="75819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Component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829050" y="4219511"/>
            <a:ext cx="1100455" cy="757555"/>
            <a:chOff x="3829050" y="4219511"/>
            <a:chExt cx="1100455" cy="757555"/>
          </a:xfrm>
        </p:grpSpPr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829050" y="4219511"/>
              <a:ext cx="995362" cy="6619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33825" y="4314761"/>
              <a:ext cx="995362" cy="66198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037329" y="4536058"/>
            <a:ext cx="79629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Deployment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839075" y="3352736"/>
            <a:ext cx="1109980" cy="757555"/>
            <a:chOff x="7839075" y="3352736"/>
            <a:chExt cx="1109980" cy="757555"/>
          </a:xfrm>
        </p:grpSpPr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39075" y="3352736"/>
              <a:ext cx="1004887" cy="65246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943850" y="3447986"/>
              <a:ext cx="1004887" cy="66198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8069833" y="3586416"/>
            <a:ext cx="772160" cy="3600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ts val="13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Behavioural</a:t>
            </a:r>
            <a:endParaRPr sz="1100">
              <a:latin typeface="Cambria"/>
              <a:cs typeface="Cambria"/>
            </a:endParaRPr>
          </a:p>
          <a:p>
            <a:pPr marL="3175" algn="ctr">
              <a:lnSpc>
                <a:spcPts val="1300"/>
              </a:lnSpc>
            </a:pPr>
            <a:r>
              <a:rPr sz="1100" spc="-10" dirty="0">
                <a:latin typeface="Cambria"/>
                <a:cs typeface="Cambria"/>
              </a:rPr>
              <a:t>Models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972050" y="4219511"/>
            <a:ext cx="1109980" cy="757555"/>
            <a:chOff x="4972050" y="4219511"/>
            <a:chExt cx="1109980" cy="757555"/>
          </a:xfrm>
        </p:grpSpPr>
        <p:pic>
          <p:nvPicPr>
            <p:cNvPr id="44" name="object 4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72050" y="4219511"/>
              <a:ext cx="1004887" cy="66198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76825" y="4314761"/>
              <a:ext cx="1004887" cy="661987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5289550" y="4536058"/>
            <a:ext cx="58928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latin typeface="Cambria"/>
                <a:cs typeface="Cambria"/>
              </a:rPr>
              <a:t>Use</a:t>
            </a:r>
            <a:r>
              <a:rPr sz="1100" spc="110" dirty="0">
                <a:latin typeface="Cambria"/>
                <a:cs typeface="Cambria"/>
              </a:rPr>
              <a:t> </a:t>
            </a:r>
            <a:r>
              <a:rPr sz="1100" spc="-20" dirty="0">
                <a:latin typeface="Cambria"/>
                <a:cs typeface="Cambria"/>
              </a:rPr>
              <a:t>Case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124575" y="4219511"/>
            <a:ext cx="1100455" cy="757555"/>
            <a:chOff x="6124575" y="4219511"/>
            <a:chExt cx="1100455" cy="757555"/>
          </a:xfrm>
        </p:grpSpPr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24575" y="4219511"/>
              <a:ext cx="995362" cy="66198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229350" y="4314761"/>
              <a:ext cx="995362" cy="661987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6470903" y="4536058"/>
            <a:ext cx="5238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Activity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267575" y="4219511"/>
            <a:ext cx="1109980" cy="757555"/>
            <a:chOff x="7267575" y="4219511"/>
            <a:chExt cx="1109980" cy="757555"/>
          </a:xfrm>
        </p:grpSpPr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67575" y="4219511"/>
              <a:ext cx="1004887" cy="66198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372350" y="4314761"/>
              <a:ext cx="1004887" cy="661987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7552055" y="4457382"/>
            <a:ext cx="661035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167005">
              <a:lnSpc>
                <a:spcPts val="1280"/>
              </a:lnSpc>
              <a:spcBef>
                <a:spcPts val="200"/>
              </a:spcBef>
            </a:pPr>
            <a:r>
              <a:rPr sz="1100" spc="-10" dirty="0">
                <a:latin typeface="Cambria"/>
                <a:cs typeface="Cambria"/>
              </a:rPr>
              <a:t>State Transition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420100" y="4219511"/>
            <a:ext cx="1100455" cy="757555"/>
            <a:chOff x="8420100" y="4219511"/>
            <a:chExt cx="1100455" cy="757555"/>
          </a:xfrm>
        </p:grpSpPr>
        <p:pic>
          <p:nvPicPr>
            <p:cNvPr id="56" name="object 5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420100" y="4219511"/>
              <a:ext cx="995362" cy="66198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524875" y="4314761"/>
              <a:ext cx="995362" cy="661987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8728964" y="4536058"/>
            <a:ext cx="60833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Sequence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9563100" y="4219511"/>
            <a:ext cx="1109980" cy="757555"/>
            <a:chOff x="9563100" y="4219511"/>
            <a:chExt cx="1109980" cy="757555"/>
          </a:xfrm>
        </p:grpSpPr>
        <p:pic>
          <p:nvPicPr>
            <p:cNvPr id="60" name="object 6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563100" y="4219511"/>
              <a:ext cx="1004887" cy="66198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667875" y="4314761"/>
              <a:ext cx="1004887" cy="661987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9765030" y="4457382"/>
            <a:ext cx="834390" cy="3594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16230" marR="5080" indent="-304165">
              <a:lnSpc>
                <a:spcPts val="1280"/>
              </a:lnSpc>
              <a:spcBef>
                <a:spcPts val="200"/>
              </a:spcBef>
            </a:pPr>
            <a:r>
              <a:rPr sz="1100" spc="-10" dirty="0">
                <a:latin typeface="Cambria"/>
                <a:cs typeface="Cambria"/>
              </a:rPr>
              <a:t>Communicat </a:t>
            </a:r>
            <a:r>
              <a:rPr sz="1100" spc="-25" dirty="0">
                <a:latin typeface="Cambria"/>
                <a:cs typeface="Cambria"/>
              </a:rPr>
              <a:t>ion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0715625" y="4219511"/>
            <a:ext cx="1100455" cy="757555"/>
            <a:chOff x="10715625" y="4219511"/>
            <a:chExt cx="1100455" cy="757555"/>
          </a:xfrm>
        </p:grpSpPr>
        <p:pic>
          <p:nvPicPr>
            <p:cNvPr id="64" name="object 6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715625" y="4219511"/>
              <a:ext cx="995362" cy="66198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820400" y="4314761"/>
              <a:ext cx="995362" cy="661987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11092433" y="4536058"/>
            <a:ext cx="476884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spc="-10" dirty="0">
                <a:latin typeface="Cambria"/>
                <a:cs typeface="Cambria"/>
              </a:rPr>
              <a:t>Timing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5690" cy="5166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6985" indent="-229235">
              <a:lnSpc>
                <a:spcPct val="1548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spc="70" dirty="0">
                <a:latin typeface="Cambria"/>
                <a:cs typeface="Cambria"/>
              </a:rPr>
              <a:t>Provide</a:t>
            </a:r>
            <a:r>
              <a:rPr sz="2750" spc="25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40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shared</a:t>
            </a:r>
            <a:r>
              <a:rPr sz="2750" spc="22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understanding</a:t>
            </a:r>
            <a:r>
              <a:rPr sz="2750" spc="28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1C05"/>
                </a:solidFill>
                <a:latin typeface="Cambria"/>
                <a:cs typeface="Cambria"/>
              </a:rPr>
              <a:t>of</a:t>
            </a:r>
            <a:r>
              <a:rPr sz="2750" spc="27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system</a:t>
            </a:r>
            <a:r>
              <a:rPr sz="2750" spc="21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60" dirty="0">
                <a:solidFill>
                  <a:srgbClr val="FF1C05"/>
                </a:solidFill>
                <a:latin typeface="Cambria"/>
                <a:cs typeface="Cambria"/>
              </a:rPr>
              <a:t>functionality</a:t>
            </a:r>
            <a:r>
              <a:rPr sz="2750" spc="2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among</a:t>
            </a:r>
            <a:r>
              <a:rPr sz="2750" spc="23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end- </a:t>
            </a:r>
            <a:r>
              <a:rPr sz="2750" dirty="0">
                <a:latin typeface="Cambria"/>
                <a:cs typeface="Cambria"/>
              </a:rPr>
              <a:t>users,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developers,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22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domain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experts.</a:t>
            </a:r>
            <a:endParaRPr sz="2750">
              <a:latin typeface="Cambria"/>
              <a:cs typeface="Cambria"/>
            </a:endParaRPr>
          </a:p>
          <a:p>
            <a:pPr marL="241300" marR="5715" indent="-237490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1735455" algn="l"/>
                <a:tab pos="2991485" algn="l"/>
                <a:tab pos="5162550" algn="l"/>
                <a:tab pos="5972810" algn="l"/>
                <a:tab pos="7054215" algn="l"/>
                <a:tab pos="7811134" algn="l"/>
                <a:tab pos="8792845" algn="l"/>
                <a:tab pos="10121900" algn="l"/>
                <a:tab pos="11044555" algn="l"/>
              </a:tabLst>
            </a:pPr>
            <a:r>
              <a:rPr sz="2750" spc="90" dirty="0">
                <a:solidFill>
                  <a:srgbClr val="FF1C05"/>
                </a:solidFill>
                <a:latin typeface="Cambria"/>
                <a:cs typeface="Cambria"/>
              </a:rPr>
              <a:t>Capture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40" dirty="0">
                <a:solidFill>
                  <a:srgbClr val="FF1C05"/>
                </a:solidFill>
                <a:latin typeface="Cambria"/>
                <a:cs typeface="Cambria"/>
              </a:rPr>
              <a:t>system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50" dirty="0">
                <a:solidFill>
                  <a:srgbClr val="FF1C05"/>
                </a:solidFill>
                <a:latin typeface="Cambria"/>
                <a:cs typeface="Cambria"/>
              </a:rPr>
              <a:t>functionality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(use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cases)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and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1C05"/>
                </a:solidFill>
                <a:latin typeface="Cambria"/>
                <a:cs typeface="Cambria"/>
              </a:rPr>
              <a:t>users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(actors)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latin typeface="Cambria"/>
                <a:cs typeface="Cambria"/>
              </a:rPr>
              <a:t>from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 </a:t>
            </a:r>
            <a:r>
              <a:rPr sz="2750" spc="55" dirty="0">
                <a:latin typeface="Cambria"/>
                <a:cs typeface="Cambria"/>
              </a:rPr>
              <a:t>problem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statement.</a:t>
            </a:r>
            <a:endParaRPr sz="2750">
              <a:latin typeface="Cambria"/>
              <a:cs typeface="Cambria"/>
            </a:endParaRPr>
          </a:p>
          <a:p>
            <a:pPr marL="241300" marR="5080" indent="-237490">
              <a:lnSpc>
                <a:spcPct val="152400"/>
              </a:lnSpc>
              <a:spcBef>
                <a:spcPts val="5"/>
              </a:spcBef>
              <a:buSzPct val="96363"/>
              <a:buFont typeface="Wingdings"/>
              <a:buChar char=""/>
              <a:tabLst>
                <a:tab pos="241300" algn="l"/>
                <a:tab pos="294640" algn="l"/>
                <a:tab pos="2133600" algn="l"/>
                <a:tab pos="3110230" algn="l"/>
                <a:tab pos="4585970" algn="l"/>
                <a:tab pos="6089015" algn="l"/>
                <a:tab pos="6413500" algn="l"/>
                <a:tab pos="8038465" algn="l"/>
                <a:tab pos="9662160" algn="l"/>
                <a:tab pos="10121265" algn="l"/>
              </a:tabLst>
            </a:pPr>
            <a:r>
              <a:rPr sz="2750" spc="40" dirty="0">
                <a:latin typeface="Cambria"/>
                <a:cs typeface="Cambria"/>
              </a:rPr>
              <a:t>Behavioral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295" dirty="0">
                <a:latin typeface="Cambria"/>
                <a:cs typeface="Cambria"/>
              </a:rPr>
              <a:t>UML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0" dirty="0">
                <a:latin typeface="Cambria"/>
                <a:cs typeface="Cambria"/>
              </a:rPr>
              <a:t>diagram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5" dirty="0">
                <a:latin typeface="Cambria"/>
                <a:cs typeface="Cambria"/>
              </a:rPr>
              <a:t>showing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0" dirty="0">
                <a:latin typeface="Cambria"/>
                <a:cs typeface="Cambria"/>
              </a:rPr>
              <a:t>graphical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5" dirty="0">
                <a:latin typeface="Cambria"/>
                <a:cs typeface="Cambria"/>
              </a:rPr>
              <a:t>overview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of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system </a:t>
            </a:r>
            <a:r>
              <a:rPr sz="2750" spc="55" dirty="0">
                <a:latin typeface="Cambria"/>
                <a:cs typeface="Cambria"/>
              </a:rPr>
              <a:t>functionality.</a:t>
            </a:r>
            <a:endParaRPr sz="2750">
              <a:latin typeface="Cambria"/>
              <a:cs typeface="Cambria"/>
            </a:endParaRPr>
          </a:p>
          <a:p>
            <a:pPr marL="241300" marR="10160" indent="-237490">
              <a:lnSpc>
                <a:spcPct val="152500"/>
              </a:lnSpc>
              <a:spcBef>
                <a:spcPts val="7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1623695" algn="l"/>
                <a:tab pos="2091689" algn="l"/>
                <a:tab pos="2781300" algn="l"/>
                <a:tab pos="3743325" algn="l"/>
                <a:tab pos="5330825" algn="l"/>
                <a:tab pos="6421755" algn="l"/>
                <a:tab pos="9005570" algn="l"/>
                <a:tab pos="10620375" algn="l"/>
              </a:tabLst>
            </a:pPr>
            <a:r>
              <a:rPr sz="2750" spc="70" dirty="0">
                <a:latin typeface="Cambria"/>
                <a:cs typeface="Cambria"/>
              </a:rPr>
              <a:t>Consist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of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use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cases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(actions),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actors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(users/external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systems),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and </a:t>
            </a:r>
            <a:r>
              <a:rPr sz="2750" dirty="0">
                <a:latin typeface="Cambria"/>
                <a:cs typeface="Cambria"/>
              </a:rPr>
              <a:t>their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relationships.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170939"/>
            <a:ext cx="11242675" cy="50031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30"/>
              </a:spcBef>
              <a:buSzPct val="98076"/>
              <a:buFont typeface="Wingdings"/>
              <a:buChar char=""/>
              <a:tabLst>
                <a:tab pos="356870" algn="l"/>
              </a:tabLst>
            </a:pPr>
            <a:r>
              <a:rPr sz="260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Actor</a:t>
            </a:r>
            <a:endParaRPr sz="26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844"/>
              </a:spcBef>
              <a:buClr>
                <a:srgbClr val="FF1C05"/>
              </a:buClr>
              <a:buFont typeface="Wingdings"/>
              <a:buChar char=""/>
            </a:pPr>
            <a:endParaRPr sz="2600">
              <a:latin typeface="Palatino Linotype"/>
              <a:cs typeface="Palatino Linotype"/>
            </a:endParaRPr>
          </a:p>
          <a:p>
            <a:pPr marL="241300" marR="5080" indent="-237490">
              <a:lnSpc>
                <a:spcPct val="139600"/>
              </a:lnSpc>
              <a:buSzPct val="98076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	External</a:t>
            </a:r>
            <a:r>
              <a:rPr sz="2600" spc="3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dirty="0">
                <a:solidFill>
                  <a:srgbClr val="FF1C05"/>
                </a:solidFill>
                <a:latin typeface="Cambria"/>
                <a:cs typeface="Cambria"/>
              </a:rPr>
              <a:t>entity</a:t>
            </a:r>
            <a:r>
              <a:rPr sz="2600" spc="29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(human,</a:t>
            </a:r>
            <a:r>
              <a:rPr sz="2600" spc="28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device,</a:t>
            </a:r>
            <a:r>
              <a:rPr sz="2600" spc="3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or</a:t>
            </a:r>
            <a:r>
              <a:rPr sz="2600" spc="31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system)</a:t>
            </a:r>
            <a:r>
              <a:rPr sz="2600" spc="3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interacting</a:t>
            </a:r>
            <a:r>
              <a:rPr sz="2600" spc="3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with</a:t>
            </a:r>
            <a:r>
              <a:rPr sz="2600" spc="3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2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28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for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95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purpose.</a:t>
            </a:r>
            <a:endParaRPr sz="2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445"/>
              </a:spcBef>
              <a:buClr>
                <a:srgbClr val="FF1C05"/>
              </a:buClr>
              <a:buFont typeface="Wingdings"/>
              <a:buChar char=""/>
            </a:pPr>
            <a:endParaRPr sz="2600">
              <a:latin typeface="Cambria"/>
              <a:cs typeface="Cambria"/>
            </a:endParaRPr>
          </a:p>
          <a:p>
            <a:pPr marL="697865" marR="12700" lvl="1" indent="-227965">
              <a:lnSpc>
                <a:spcPct val="142600"/>
              </a:lnSpc>
              <a:spcBef>
                <a:spcPts val="5"/>
              </a:spcBef>
              <a:buSzPct val="95348"/>
              <a:buFont typeface="Wingdings"/>
              <a:buChar char=""/>
              <a:tabLst>
                <a:tab pos="699135" algn="l"/>
                <a:tab pos="1923414" algn="l"/>
                <a:tab pos="2891790" algn="l"/>
                <a:tab pos="4208780" algn="l"/>
                <a:tab pos="4940935" algn="l"/>
                <a:tab pos="6336665" algn="l"/>
                <a:tab pos="7185025" algn="l"/>
                <a:tab pos="8387080" algn="l"/>
                <a:tab pos="9451340" algn="l"/>
                <a:tab pos="10629900" algn="l"/>
              </a:tabLst>
            </a:pPr>
            <a:r>
              <a:rPr sz="2150" b="1" spc="-10" dirty="0">
                <a:latin typeface="Palatino Linotype"/>
                <a:cs typeface="Palatino Linotype"/>
              </a:rPr>
              <a:t>Primary</a:t>
            </a:r>
            <a:r>
              <a:rPr sz="2150" b="1" dirty="0">
                <a:latin typeface="Palatino Linotype"/>
                <a:cs typeface="Palatino Linotype"/>
              </a:rPr>
              <a:t>	</a:t>
            </a:r>
            <a:r>
              <a:rPr sz="2150" b="1" spc="-10" dirty="0">
                <a:latin typeface="Palatino Linotype"/>
                <a:cs typeface="Palatino Linotype"/>
              </a:rPr>
              <a:t>Actor</a:t>
            </a:r>
            <a:r>
              <a:rPr sz="2150" spc="-10" dirty="0">
                <a:latin typeface="Cambria"/>
                <a:cs typeface="Cambria"/>
              </a:rPr>
              <a:t>: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35" dirty="0">
                <a:latin typeface="Cambria"/>
                <a:cs typeface="Cambria"/>
              </a:rPr>
              <a:t>Principal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0" dirty="0">
                <a:latin typeface="Cambria"/>
                <a:cs typeface="Cambria"/>
              </a:rPr>
              <a:t>user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achieving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goals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through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system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services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(e.g., 	</a:t>
            </a:r>
            <a:r>
              <a:rPr sz="2150" dirty="0">
                <a:latin typeface="Cambria"/>
                <a:cs typeface="Cambria"/>
              </a:rPr>
              <a:t>customer</a:t>
            </a:r>
            <a:r>
              <a:rPr sz="2150" spc="225" dirty="0">
                <a:latin typeface="Cambria"/>
                <a:cs typeface="Cambria"/>
              </a:rPr>
              <a:t> </a:t>
            </a:r>
            <a:r>
              <a:rPr sz="2150" spc="75" dirty="0">
                <a:latin typeface="Cambria"/>
                <a:cs typeface="Cambria"/>
              </a:rPr>
              <a:t>withdrawing</a:t>
            </a:r>
            <a:r>
              <a:rPr sz="2150" spc="250" dirty="0">
                <a:latin typeface="Cambria"/>
                <a:cs typeface="Cambria"/>
              </a:rPr>
              <a:t> </a:t>
            </a:r>
            <a:r>
              <a:rPr sz="2150" spc="-10" dirty="0">
                <a:latin typeface="Cambria"/>
                <a:cs typeface="Cambria"/>
              </a:rPr>
              <a:t>cash).</a:t>
            </a:r>
            <a:endParaRPr sz="215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230"/>
              </a:spcBef>
              <a:buFont typeface="Wingdings"/>
              <a:buChar char=""/>
            </a:pPr>
            <a:endParaRPr sz="2150">
              <a:latin typeface="Cambria"/>
              <a:cs typeface="Cambria"/>
            </a:endParaRPr>
          </a:p>
          <a:p>
            <a:pPr marL="697865" marR="15875" lvl="1" indent="-227965">
              <a:lnSpc>
                <a:spcPct val="142600"/>
              </a:lnSpc>
              <a:spcBef>
                <a:spcPts val="5"/>
              </a:spcBef>
              <a:buSzPct val="95348"/>
              <a:buFont typeface="Wingdings"/>
              <a:buChar char=""/>
              <a:tabLst>
                <a:tab pos="699135" algn="l"/>
                <a:tab pos="2358390" algn="l"/>
                <a:tab pos="3322320" algn="l"/>
                <a:tab pos="4612005" algn="l"/>
                <a:tab pos="5785485" algn="l"/>
                <a:tab pos="6223000" algn="l"/>
                <a:tab pos="6804025" algn="l"/>
                <a:tab pos="7863205" algn="l"/>
                <a:tab pos="8650605" algn="l"/>
                <a:tab pos="9457055" algn="l"/>
              </a:tabLst>
            </a:pPr>
            <a:r>
              <a:rPr sz="2150" b="1" spc="-10" dirty="0">
                <a:latin typeface="Palatino Linotype"/>
                <a:cs typeface="Palatino Linotype"/>
              </a:rPr>
              <a:t>Supporting</a:t>
            </a:r>
            <a:r>
              <a:rPr sz="2150" b="1" dirty="0">
                <a:latin typeface="Palatino Linotype"/>
                <a:cs typeface="Palatino Linotype"/>
              </a:rPr>
              <a:t>	</a:t>
            </a:r>
            <a:r>
              <a:rPr sz="2150" b="1" spc="-10" dirty="0">
                <a:latin typeface="Palatino Linotype"/>
                <a:cs typeface="Palatino Linotype"/>
              </a:rPr>
              <a:t>Actor</a:t>
            </a:r>
            <a:r>
              <a:rPr sz="2150" spc="-10" dirty="0">
                <a:latin typeface="Cambria"/>
                <a:cs typeface="Cambria"/>
              </a:rPr>
              <a:t>: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Provides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services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to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the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system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(e.g.,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0" dirty="0">
                <a:latin typeface="Cambria"/>
                <a:cs typeface="Cambria"/>
              </a:rPr>
              <a:t>bank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representative 	</a:t>
            </a:r>
            <a:r>
              <a:rPr sz="2150" dirty="0">
                <a:latin typeface="Cambria"/>
                <a:cs typeface="Cambria"/>
              </a:rPr>
              <a:t>restocking</a:t>
            </a:r>
            <a:r>
              <a:rPr sz="2150" spc="140" dirty="0">
                <a:latin typeface="Cambria"/>
                <a:cs typeface="Cambria"/>
              </a:rPr>
              <a:t> </a:t>
            </a:r>
            <a:r>
              <a:rPr sz="2150" spc="150" dirty="0">
                <a:latin typeface="Cambria"/>
                <a:cs typeface="Cambria"/>
              </a:rPr>
              <a:t>ATM).</a:t>
            </a:r>
            <a:r>
              <a:rPr sz="2150" spc="145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Primary</a:t>
            </a:r>
            <a:r>
              <a:rPr sz="2150" spc="16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actors</a:t>
            </a:r>
            <a:r>
              <a:rPr sz="2150" spc="155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typically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on</a:t>
            </a:r>
            <a:r>
              <a:rPr sz="2150" spc="15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10" dirty="0">
                <a:latin typeface="Cambria"/>
                <a:cs typeface="Cambria"/>
              </a:rPr>
              <a:t> </a:t>
            </a:r>
            <a:r>
              <a:rPr sz="2150" spc="55" dirty="0">
                <a:latin typeface="Cambria"/>
                <a:cs typeface="Cambria"/>
              </a:rPr>
              <a:t>top</a:t>
            </a:r>
            <a:r>
              <a:rPr sz="2150" spc="1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left</a:t>
            </a:r>
            <a:r>
              <a:rPr sz="2150" spc="180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16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the</a:t>
            </a:r>
            <a:r>
              <a:rPr sz="2150" spc="110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diagram.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7670" indent="-37147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407670" algn="l"/>
              </a:tabLst>
            </a:pPr>
            <a:r>
              <a:rPr spc="120" dirty="0"/>
              <a:t>Use</a:t>
            </a:r>
            <a:r>
              <a:rPr spc="90" dirty="0"/>
              <a:t> </a:t>
            </a:r>
            <a:r>
              <a:rPr spc="65" dirty="0"/>
              <a:t>Case:</a:t>
            </a:r>
          </a:p>
          <a:p>
            <a:pPr marL="23495">
              <a:lnSpc>
                <a:spcPct val="100000"/>
              </a:lnSpc>
              <a:spcBef>
                <a:spcPts val="1880"/>
              </a:spcBef>
              <a:buFont typeface="Wingdings"/>
              <a:buChar char=""/>
            </a:pPr>
            <a:endParaRPr spc="65" dirty="0"/>
          </a:p>
          <a:p>
            <a:pPr marL="264795" marR="5080" indent="-237490">
              <a:lnSpc>
                <a:spcPct val="152500"/>
              </a:lnSpc>
              <a:buSzPct val="96363"/>
              <a:buFont typeface="Wingdings"/>
              <a:buChar char=""/>
              <a:tabLst>
                <a:tab pos="264795" algn="l"/>
                <a:tab pos="317500" algn="l"/>
              </a:tabLst>
            </a:pPr>
            <a:r>
              <a:rPr spc="445" dirty="0">
                <a:solidFill>
                  <a:srgbClr val="000000"/>
                </a:solidFill>
              </a:rPr>
              <a:t>A</a:t>
            </a:r>
            <a:r>
              <a:rPr spc="26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specific</a:t>
            </a:r>
            <a:r>
              <a:rPr spc="265" dirty="0">
                <a:solidFill>
                  <a:srgbClr val="000000"/>
                </a:solidFill>
              </a:rPr>
              <a:t> </a:t>
            </a:r>
            <a:r>
              <a:rPr spc="60" dirty="0">
                <a:solidFill>
                  <a:srgbClr val="000000"/>
                </a:solidFill>
              </a:rPr>
              <a:t>functionality</a:t>
            </a:r>
            <a:r>
              <a:rPr spc="250" dirty="0">
                <a:solidFill>
                  <a:srgbClr val="000000"/>
                </a:solidFill>
              </a:rPr>
              <a:t> </a:t>
            </a:r>
            <a:r>
              <a:rPr spc="85" dirty="0">
                <a:solidFill>
                  <a:srgbClr val="000000"/>
                </a:solidFill>
              </a:rPr>
              <a:t>provided</a:t>
            </a:r>
            <a:r>
              <a:rPr spc="305" dirty="0">
                <a:solidFill>
                  <a:srgbClr val="000000"/>
                </a:solidFill>
              </a:rPr>
              <a:t> </a:t>
            </a:r>
            <a:r>
              <a:rPr spc="100" dirty="0">
                <a:solidFill>
                  <a:srgbClr val="000000"/>
                </a:solidFill>
              </a:rPr>
              <a:t>by</a:t>
            </a:r>
            <a:r>
              <a:rPr spc="2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the</a:t>
            </a:r>
            <a:r>
              <a:rPr spc="254" dirty="0">
                <a:solidFill>
                  <a:srgbClr val="000000"/>
                </a:solidFill>
              </a:rPr>
              <a:t> </a:t>
            </a:r>
            <a:r>
              <a:rPr spc="50" dirty="0">
                <a:solidFill>
                  <a:srgbClr val="000000"/>
                </a:solidFill>
              </a:rPr>
              <a:t>system</a:t>
            </a:r>
            <a:r>
              <a:rPr spc="250" dirty="0">
                <a:solidFill>
                  <a:srgbClr val="000000"/>
                </a:solidFill>
              </a:rPr>
              <a:t> </a:t>
            </a:r>
            <a:r>
              <a:rPr spc="75" dirty="0">
                <a:solidFill>
                  <a:srgbClr val="000000"/>
                </a:solidFill>
              </a:rPr>
              <a:t>(e.g.,</a:t>
            </a:r>
            <a:r>
              <a:rPr spc="265" dirty="0">
                <a:solidFill>
                  <a:srgbClr val="000000"/>
                </a:solidFill>
              </a:rPr>
              <a:t> </a:t>
            </a:r>
            <a:r>
              <a:rPr spc="85" dirty="0">
                <a:solidFill>
                  <a:srgbClr val="000000"/>
                </a:solidFill>
              </a:rPr>
              <a:t>withdraw</a:t>
            </a:r>
            <a:r>
              <a:rPr spc="300" dirty="0">
                <a:solidFill>
                  <a:srgbClr val="000000"/>
                </a:solidFill>
              </a:rPr>
              <a:t> </a:t>
            </a:r>
            <a:r>
              <a:rPr spc="50" dirty="0">
                <a:solidFill>
                  <a:srgbClr val="000000"/>
                </a:solidFill>
              </a:rPr>
              <a:t>cash, </a:t>
            </a:r>
            <a:r>
              <a:rPr dirty="0">
                <a:solidFill>
                  <a:srgbClr val="000000"/>
                </a:solidFill>
              </a:rPr>
              <a:t>check</a:t>
            </a:r>
            <a:r>
              <a:rPr spc="3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balance).</a:t>
            </a:r>
          </a:p>
          <a:p>
            <a:pPr marL="23495">
              <a:lnSpc>
                <a:spcPct val="100000"/>
              </a:lnSpc>
              <a:buFont typeface="Wingdings"/>
              <a:buChar char=""/>
            </a:pPr>
            <a:endParaRPr spc="-10" dirty="0">
              <a:solidFill>
                <a:srgbClr val="000000"/>
              </a:solidFill>
            </a:endParaRPr>
          </a:p>
          <a:p>
            <a:pPr marL="23495">
              <a:lnSpc>
                <a:spcPct val="100000"/>
              </a:lnSpc>
              <a:spcBef>
                <a:spcPts val="315"/>
              </a:spcBef>
              <a:buFont typeface="Wingdings"/>
              <a:buChar char=""/>
            </a:pPr>
            <a:endParaRPr spc="-10" dirty="0">
              <a:solidFill>
                <a:srgbClr val="000000"/>
              </a:solidFill>
            </a:endParaRPr>
          </a:p>
          <a:p>
            <a:pPr marL="318135" indent="-290195">
              <a:lnSpc>
                <a:spcPct val="100000"/>
              </a:lnSpc>
              <a:buSzPct val="96363"/>
              <a:buFont typeface="Wingdings"/>
              <a:buChar char=""/>
              <a:tabLst>
                <a:tab pos="318135" algn="l"/>
              </a:tabLst>
            </a:pPr>
            <a:r>
              <a:rPr spc="65" dirty="0">
                <a:solidFill>
                  <a:srgbClr val="000000"/>
                </a:solidFill>
              </a:rPr>
              <a:t>Includes</a:t>
            </a:r>
            <a:r>
              <a:rPr spc="2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both</a:t>
            </a:r>
            <a:r>
              <a:rPr spc="2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successful</a:t>
            </a:r>
            <a:r>
              <a:rPr spc="245" dirty="0">
                <a:solidFill>
                  <a:srgbClr val="000000"/>
                </a:solidFill>
              </a:rPr>
              <a:t> </a:t>
            </a:r>
            <a:r>
              <a:rPr spc="85" dirty="0">
                <a:solidFill>
                  <a:srgbClr val="000000"/>
                </a:solidFill>
              </a:rPr>
              <a:t>and</a:t>
            </a:r>
            <a:r>
              <a:rPr spc="315" dirty="0">
                <a:solidFill>
                  <a:srgbClr val="000000"/>
                </a:solidFill>
              </a:rPr>
              <a:t> </a:t>
            </a:r>
            <a:r>
              <a:rPr spc="55" dirty="0">
                <a:solidFill>
                  <a:srgbClr val="000000"/>
                </a:solidFill>
              </a:rPr>
              <a:t>unsuccessful</a:t>
            </a:r>
            <a:r>
              <a:rPr spc="2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interaction</a:t>
            </a:r>
            <a:r>
              <a:rPr spc="24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scenarios.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7326630" cy="196215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294640" indent="-290195">
              <a:lnSpc>
                <a:spcPct val="100000"/>
              </a:lnSpc>
              <a:spcBef>
                <a:spcPts val="190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Subject:</a:t>
            </a:r>
            <a:endParaRPr sz="2750">
              <a:latin typeface="Palatino Linotype"/>
              <a:cs typeface="Palatino Linotype"/>
            </a:endParaRPr>
          </a:p>
          <a:p>
            <a:pPr marL="294640" indent="-290195">
              <a:lnSpc>
                <a:spcPct val="100000"/>
              </a:lnSpc>
              <a:spcBef>
                <a:spcPts val="181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60" dirty="0">
                <a:latin typeface="Cambria"/>
                <a:cs typeface="Cambria"/>
              </a:rPr>
              <a:t>The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under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consideration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(e.g.,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spc="180" dirty="0">
                <a:latin typeface="Cambria"/>
                <a:cs typeface="Cambria"/>
              </a:rPr>
              <a:t>ATM).</a:t>
            </a:r>
            <a:endParaRPr sz="2750">
              <a:latin typeface="Cambria"/>
              <a:cs typeface="Cambria"/>
            </a:endParaRPr>
          </a:p>
          <a:p>
            <a:pPr marL="294640" indent="-290195">
              <a:lnSpc>
                <a:spcPct val="100000"/>
              </a:lnSpc>
              <a:spcBef>
                <a:spcPts val="17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114" dirty="0">
                <a:latin typeface="Cambria"/>
                <a:cs typeface="Cambria"/>
              </a:rPr>
              <a:t>Use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cases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114" dirty="0">
                <a:latin typeface="Cambria"/>
                <a:cs typeface="Cambria"/>
              </a:rPr>
              <a:t>apply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subject.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11242675" cy="4302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90195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Association</a:t>
            </a:r>
            <a:r>
              <a:rPr sz="2750" b="1" spc="250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(Actor-Use</a:t>
            </a:r>
            <a:r>
              <a:rPr sz="2750" b="1" spc="16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Case):</a:t>
            </a:r>
            <a:endParaRPr sz="275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395"/>
              </a:spcBef>
              <a:buFont typeface="Wingdings"/>
              <a:buChar char=""/>
            </a:pPr>
            <a:endParaRPr sz="2750">
              <a:latin typeface="Palatino Linotype"/>
              <a:cs typeface="Palatino Linotype"/>
            </a:endParaRPr>
          </a:p>
          <a:p>
            <a:pPr marL="241300" marR="9525" indent="-237490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005" algn="l"/>
                <a:tab pos="2355215" algn="l"/>
                <a:tab pos="3936365" algn="l"/>
                <a:tab pos="5125720" algn="l"/>
                <a:tab pos="5981700" algn="l"/>
                <a:tab pos="6771005" algn="l"/>
                <a:tab pos="7920990" algn="l"/>
                <a:tab pos="9531985" algn="l"/>
              </a:tabLst>
            </a:pPr>
            <a:r>
              <a:rPr sz="2750" spc="70" dirty="0">
                <a:latin typeface="Cambria"/>
                <a:cs typeface="Cambria"/>
              </a:rPr>
              <a:t>Connection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between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actors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and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use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cases,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5" dirty="0">
                <a:latin typeface="Cambria"/>
                <a:cs typeface="Cambria"/>
              </a:rPr>
              <a:t>showing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interaction </a:t>
            </a:r>
            <a:r>
              <a:rPr sz="2750" dirty="0">
                <a:latin typeface="Cambria"/>
                <a:cs typeface="Cambria"/>
              </a:rPr>
              <a:t>(message</a:t>
            </a:r>
            <a:r>
              <a:rPr sz="2750" spc="37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passing).</a:t>
            </a:r>
            <a:endParaRPr sz="2750">
              <a:latin typeface="Cambria"/>
              <a:cs typeface="Cambria"/>
            </a:endParaRPr>
          </a:p>
          <a:p>
            <a:pPr marL="295275" indent="-290830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5275" algn="l"/>
              </a:tabLst>
            </a:pPr>
            <a:r>
              <a:rPr sz="2750" spc="75" dirty="0">
                <a:latin typeface="Cambria"/>
                <a:cs typeface="Cambria"/>
              </a:rPr>
              <a:t>Actors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must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associated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with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at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least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one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use</a:t>
            </a:r>
            <a:r>
              <a:rPr sz="2750" spc="2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case,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and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vice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versa.</a:t>
            </a:r>
            <a:endParaRPr sz="2750">
              <a:latin typeface="Cambria"/>
              <a:cs typeface="Cambria"/>
            </a:endParaRPr>
          </a:p>
          <a:p>
            <a:pPr marL="241300" marR="5080" indent="-237490">
              <a:lnSpc>
                <a:spcPts val="5110"/>
              </a:lnSpc>
              <a:spcBef>
                <a:spcPts val="1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90" dirty="0">
                <a:latin typeface="Cambria"/>
                <a:cs typeface="Cambria"/>
              </a:rPr>
              <a:t>Actor</a:t>
            </a:r>
            <a:r>
              <a:rPr sz="2750" spc="2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associations</a:t>
            </a:r>
            <a:r>
              <a:rPr sz="2750" spc="229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not</a:t>
            </a:r>
            <a:r>
              <a:rPr sz="2750" spc="23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usually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shown,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but</a:t>
            </a:r>
            <a:r>
              <a:rPr sz="2750" spc="25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class</a:t>
            </a:r>
            <a:r>
              <a:rPr sz="2750" spc="2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hierarchies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be </a:t>
            </a:r>
            <a:r>
              <a:rPr sz="2750" spc="60" dirty="0">
                <a:latin typeface="Cambria"/>
                <a:cs typeface="Cambria"/>
              </a:rPr>
              <a:t>depicted.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26223"/>
            <a:ext cx="11238865" cy="5271770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311150" indent="-298450">
              <a:lnSpc>
                <a:spcPct val="100000"/>
              </a:lnSpc>
              <a:spcBef>
                <a:spcPts val="970"/>
              </a:spcBef>
              <a:buFont typeface="Wingdings"/>
              <a:buChar char=""/>
              <a:tabLst>
                <a:tab pos="311150" algn="l"/>
              </a:tabLst>
            </a:pPr>
            <a:r>
              <a:rPr sz="2150" b="1" dirty="0">
                <a:solidFill>
                  <a:srgbClr val="FF1C05"/>
                </a:solidFill>
                <a:latin typeface="Palatino Linotype"/>
                <a:cs typeface="Palatino Linotype"/>
              </a:rPr>
              <a:t>Use</a:t>
            </a:r>
            <a:r>
              <a:rPr sz="2150" b="1" spc="8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150" b="1" dirty="0">
                <a:solidFill>
                  <a:srgbClr val="FF1C05"/>
                </a:solidFill>
                <a:latin typeface="Palatino Linotype"/>
                <a:cs typeface="Palatino Linotype"/>
              </a:rPr>
              <a:t>Case</a:t>
            </a:r>
            <a:r>
              <a:rPr sz="2150" b="1" spc="9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1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Relationships:</a:t>
            </a:r>
            <a:endParaRPr sz="2150">
              <a:latin typeface="Palatino Linotype"/>
              <a:cs typeface="Palatino Linotype"/>
            </a:endParaRPr>
          </a:p>
          <a:p>
            <a:pPr marL="240029" marR="6985" indent="-229870" algn="just">
              <a:lnSpc>
                <a:spcPct val="133900"/>
              </a:lnSpc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FF1C05"/>
                </a:solidFill>
                <a:latin typeface="Palatino Linotype"/>
                <a:cs typeface="Palatino Linotype"/>
              </a:rPr>
              <a:t>Include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12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Represents</a:t>
            </a:r>
            <a:r>
              <a:rPr sz="2150" spc="125" dirty="0"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shared</a:t>
            </a:r>
            <a:r>
              <a:rPr sz="2150" spc="13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behavior</a:t>
            </a:r>
            <a:r>
              <a:rPr sz="2150" spc="125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150" spc="90" dirty="0">
                <a:latin typeface="Cambria"/>
                <a:cs typeface="Cambria"/>
              </a:rPr>
              <a:t>among</a:t>
            </a:r>
            <a:r>
              <a:rPr sz="2150" spc="105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use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cases</a:t>
            </a:r>
            <a:r>
              <a:rPr sz="2150" spc="14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(like</a:t>
            </a:r>
            <a:r>
              <a:rPr sz="2150" spc="13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20" dirty="0">
                <a:latin typeface="Cambria"/>
                <a:cs typeface="Cambria"/>
              </a:rPr>
              <a:t>  </a:t>
            </a:r>
            <a:r>
              <a:rPr sz="2150" spc="50" dirty="0">
                <a:latin typeface="Cambria"/>
                <a:cs typeface="Cambria"/>
              </a:rPr>
              <a:t>function</a:t>
            </a:r>
            <a:r>
              <a:rPr sz="2150" spc="11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call).</a:t>
            </a:r>
            <a:r>
              <a:rPr sz="2150" spc="120" dirty="0">
                <a:latin typeface="Cambria"/>
                <a:cs typeface="Cambria"/>
              </a:rPr>
              <a:t>  </a:t>
            </a:r>
            <a:r>
              <a:rPr sz="2150" spc="75" dirty="0">
                <a:latin typeface="Cambria"/>
                <a:cs typeface="Cambria"/>
              </a:rPr>
              <a:t>Dashed 	</a:t>
            </a:r>
            <a:r>
              <a:rPr sz="2150" dirty="0">
                <a:latin typeface="Cambria"/>
                <a:cs typeface="Cambria"/>
              </a:rPr>
              <a:t>arrow</a:t>
            </a:r>
            <a:r>
              <a:rPr sz="2150" spc="310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with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«include»</a:t>
            </a:r>
            <a:r>
              <a:rPr sz="2150" spc="3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stereotype</a:t>
            </a:r>
            <a:r>
              <a:rPr sz="2150" spc="32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from</a:t>
            </a:r>
            <a:r>
              <a:rPr sz="2150" spc="270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including</a:t>
            </a:r>
            <a:r>
              <a:rPr sz="2150" spc="33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254" dirty="0">
                <a:latin typeface="Cambria"/>
                <a:cs typeface="Cambria"/>
              </a:rPr>
              <a:t> </a:t>
            </a:r>
            <a:r>
              <a:rPr sz="2150" spc="70" dirty="0">
                <a:latin typeface="Cambria"/>
                <a:cs typeface="Cambria"/>
              </a:rPr>
              <a:t>included</a:t>
            </a:r>
            <a:r>
              <a:rPr sz="2150" spc="2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use</a:t>
            </a:r>
            <a:r>
              <a:rPr sz="2150" spc="31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case.</a:t>
            </a:r>
            <a:r>
              <a:rPr sz="2150" spc="28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Example:</a:t>
            </a:r>
            <a:r>
              <a:rPr sz="2150" spc="29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"</a:t>
            </a:r>
            <a:r>
              <a:rPr sz="2150" spc="50" dirty="0">
                <a:solidFill>
                  <a:srgbClr val="FF1C05"/>
                </a:solidFill>
                <a:latin typeface="Cambria"/>
                <a:cs typeface="Cambria"/>
              </a:rPr>
              <a:t>Login" 	</a:t>
            </a:r>
            <a:r>
              <a:rPr sz="2150" spc="75" dirty="0">
                <a:solidFill>
                  <a:srgbClr val="FF1C05"/>
                </a:solidFill>
                <a:latin typeface="Cambria"/>
                <a:cs typeface="Cambria"/>
              </a:rPr>
              <a:t>included</a:t>
            </a:r>
            <a:r>
              <a:rPr sz="2150" spc="1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60" dirty="0">
                <a:solidFill>
                  <a:srgbClr val="FF1C05"/>
                </a:solidFill>
                <a:latin typeface="Cambria"/>
                <a:cs typeface="Cambria"/>
              </a:rPr>
              <a:t>by</a:t>
            </a:r>
            <a:r>
              <a:rPr sz="2150" spc="14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"Send</a:t>
            </a:r>
            <a:r>
              <a:rPr sz="2150" spc="16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60" dirty="0">
                <a:solidFill>
                  <a:srgbClr val="FF1C05"/>
                </a:solidFill>
                <a:latin typeface="Cambria"/>
                <a:cs typeface="Cambria"/>
              </a:rPr>
              <a:t>Email,"</a:t>
            </a:r>
            <a:r>
              <a:rPr sz="2150" spc="1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45" dirty="0">
                <a:solidFill>
                  <a:srgbClr val="FF1C05"/>
                </a:solidFill>
                <a:latin typeface="Cambria"/>
                <a:cs typeface="Cambria"/>
              </a:rPr>
              <a:t>"Reply,"</a:t>
            </a:r>
            <a:r>
              <a:rPr sz="2150" spc="16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85" dirty="0">
                <a:solidFill>
                  <a:srgbClr val="FF1C05"/>
                </a:solidFill>
                <a:latin typeface="Cambria"/>
                <a:cs typeface="Cambria"/>
              </a:rPr>
              <a:t>and</a:t>
            </a:r>
            <a:r>
              <a:rPr sz="2150" spc="114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35" dirty="0">
                <a:solidFill>
                  <a:srgbClr val="FF1C05"/>
                </a:solidFill>
                <a:latin typeface="Cambria"/>
                <a:cs typeface="Cambria"/>
              </a:rPr>
              <a:t>"Forward."</a:t>
            </a:r>
            <a:endParaRPr sz="21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35"/>
              </a:spcBef>
              <a:buClr>
                <a:srgbClr val="FF1C05"/>
              </a:buClr>
              <a:buFont typeface="Wingdings"/>
              <a:buChar char=""/>
            </a:pPr>
            <a:endParaRPr sz="2150">
              <a:latin typeface="Cambria"/>
              <a:cs typeface="Cambria"/>
            </a:endParaRPr>
          </a:p>
          <a:p>
            <a:pPr marL="240665" indent="-229870">
              <a:lnSpc>
                <a:spcPct val="100000"/>
              </a:lnSpc>
              <a:buFont typeface="Wingdings"/>
              <a:buChar char=""/>
              <a:tabLst>
                <a:tab pos="240665" algn="l"/>
              </a:tabLst>
            </a:pPr>
            <a:r>
              <a:rPr sz="2150" b="1" dirty="0">
                <a:solidFill>
                  <a:srgbClr val="FF1C05"/>
                </a:solidFill>
                <a:latin typeface="Palatino Linotype"/>
                <a:cs typeface="Palatino Linotype"/>
              </a:rPr>
              <a:t>Extend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50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Represents</a:t>
            </a:r>
            <a:r>
              <a:rPr sz="2150" spc="30" dirty="0"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variations</a:t>
            </a:r>
            <a:r>
              <a:rPr sz="2150" spc="5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or</a:t>
            </a:r>
            <a:r>
              <a:rPr sz="2150" spc="51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45" dirty="0">
                <a:solidFill>
                  <a:srgbClr val="FF1C05"/>
                </a:solidFill>
                <a:latin typeface="Cambria"/>
                <a:cs typeface="Cambria"/>
              </a:rPr>
              <a:t>optional</a:t>
            </a:r>
            <a:r>
              <a:rPr sz="2150" spc="30" dirty="0">
                <a:solidFill>
                  <a:srgbClr val="FF1C05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behaviors</a:t>
            </a:r>
            <a:r>
              <a:rPr sz="2150" spc="49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of</a:t>
            </a:r>
            <a:r>
              <a:rPr sz="2150" spc="5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50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use</a:t>
            </a:r>
            <a:r>
              <a:rPr sz="2150" spc="53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case.</a:t>
            </a:r>
            <a:r>
              <a:rPr sz="2150" spc="500" dirty="0">
                <a:latin typeface="Cambria"/>
                <a:cs typeface="Cambria"/>
              </a:rPr>
              <a:t> </a:t>
            </a:r>
            <a:r>
              <a:rPr sz="2150" spc="85" dirty="0">
                <a:latin typeface="Cambria"/>
                <a:cs typeface="Cambria"/>
              </a:rPr>
              <a:t>Dashed</a:t>
            </a:r>
            <a:r>
              <a:rPr sz="2150" spc="5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arrow</a:t>
            </a:r>
            <a:r>
              <a:rPr sz="2150" spc="530" dirty="0">
                <a:latin typeface="Cambria"/>
                <a:cs typeface="Cambria"/>
              </a:rPr>
              <a:t> </a:t>
            </a:r>
            <a:r>
              <a:rPr sz="2150" spc="50" dirty="0">
                <a:latin typeface="Cambria"/>
                <a:cs typeface="Cambria"/>
              </a:rPr>
              <a:t>with</a:t>
            </a:r>
            <a:endParaRPr sz="2150">
              <a:latin typeface="Cambria"/>
              <a:cs typeface="Cambria"/>
            </a:endParaRPr>
          </a:p>
          <a:p>
            <a:pPr marL="241300" marR="8255">
              <a:lnSpc>
                <a:spcPts val="3460"/>
              </a:lnSpc>
              <a:spcBef>
                <a:spcPts val="254"/>
              </a:spcBef>
              <a:tabLst>
                <a:tab pos="1496695" algn="l"/>
                <a:tab pos="2925445" algn="l"/>
                <a:tab pos="3669665" algn="l"/>
                <a:tab pos="5045075" algn="l"/>
                <a:tab pos="5427980" algn="l"/>
                <a:tab pos="6709409" algn="l"/>
                <a:tab pos="7270750" algn="l"/>
                <a:tab pos="7997825" algn="l"/>
                <a:tab pos="9293225" algn="l"/>
                <a:tab pos="10097770" algn="l"/>
              </a:tabLst>
            </a:pPr>
            <a:r>
              <a:rPr sz="2150" spc="-10" dirty="0">
                <a:latin typeface="Cambria"/>
                <a:cs typeface="Cambria"/>
              </a:rPr>
              <a:t>«extend»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stereotype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from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extending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to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45" dirty="0">
                <a:latin typeface="Cambria"/>
                <a:cs typeface="Cambria"/>
              </a:rPr>
              <a:t>extended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25" dirty="0">
                <a:latin typeface="Cambria"/>
                <a:cs typeface="Cambria"/>
              </a:rPr>
              <a:t>use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-10" dirty="0">
                <a:latin typeface="Cambria"/>
                <a:cs typeface="Cambria"/>
              </a:rPr>
              <a:t>case.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50" dirty="0">
                <a:latin typeface="Cambria"/>
                <a:cs typeface="Cambria"/>
              </a:rPr>
              <a:t>Example:</a:t>
            </a:r>
            <a:r>
              <a:rPr sz="2150" dirty="0">
                <a:latin typeface="Cambria"/>
                <a:cs typeface="Cambria"/>
              </a:rPr>
              <a:t>	</a:t>
            </a:r>
            <a:r>
              <a:rPr sz="2150" spc="135" dirty="0">
                <a:latin typeface="Cambria"/>
                <a:cs typeface="Cambria"/>
              </a:rPr>
              <a:t>"</a:t>
            </a:r>
            <a:r>
              <a:rPr sz="2150" spc="135" dirty="0">
                <a:solidFill>
                  <a:srgbClr val="FF1C05"/>
                </a:solidFill>
                <a:latin typeface="Cambria"/>
                <a:cs typeface="Cambria"/>
              </a:rPr>
              <a:t>Add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150" spc="75" dirty="0">
                <a:solidFill>
                  <a:srgbClr val="FF1C05"/>
                </a:solidFill>
                <a:latin typeface="Cambria"/>
                <a:cs typeface="Cambria"/>
              </a:rPr>
              <a:t>Shipping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Instructions"</a:t>
            </a:r>
            <a:r>
              <a:rPr sz="2150" spc="32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extends</a:t>
            </a:r>
            <a:r>
              <a:rPr sz="2150" spc="335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dirty="0">
                <a:solidFill>
                  <a:srgbClr val="FF1C05"/>
                </a:solidFill>
                <a:latin typeface="Cambria"/>
                <a:cs typeface="Cambria"/>
              </a:rPr>
              <a:t>"Place</a:t>
            </a:r>
            <a:r>
              <a:rPr sz="2150" spc="300" dirty="0">
                <a:solidFill>
                  <a:srgbClr val="FF1C05"/>
                </a:solidFill>
                <a:latin typeface="Cambria"/>
                <a:cs typeface="Cambria"/>
              </a:rPr>
              <a:t> </a:t>
            </a:r>
            <a:r>
              <a:rPr sz="2150" spc="105" dirty="0">
                <a:solidFill>
                  <a:srgbClr val="FF1C05"/>
                </a:solidFill>
                <a:latin typeface="Cambria"/>
                <a:cs typeface="Cambria"/>
              </a:rPr>
              <a:t>Order.”</a:t>
            </a:r>
            <a:endParaRPr sz="21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2150">
              <a:latin typeface="Cambria"/>
              <a:cs typeface="Cambria"/>
            </a:endParaRPr>
          </a:p>
          <a:p>
            <a:pPr marL="240029" marR="10160" indent="-229870" algn="just">
              <a:lnSpc>
                <a:spcPct val="133900"/>
              </a:lnSpc>
              <a:buFont typeface="Wingdings"/>
              <a:buChar char=""/>
              <a:tabLst>
                <a:tab pos="241300" algn="l"/>
              </a:tabLst>
            </a:pPr>
            <a:r>
              <a:rPr sz="2150" b="1" dirty="0">
                <a:solidFill>
                  <a:srgbClr val="FF1C05"/>
                </a:solidFill>
                <a:latin typeface="Palatino Linotype"/>
                <a:cs typeface="Palatino Linotype"/>
              </a:rPr>
              <a:t>Generalization</a:t>
            </a:r>
            <a:r>
              <a:rPr sz="2150" dirty="0">
                <a:latin typeface="Cambria"/>
                <a:cs typeface="Cambria"/>
              </a:rPr>
              <a:t>:</a:t>
            </a:r>
            <a:r>
              <a:rPr sz="2150" spc="30" dirty="0"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Represents</a:t>
            </a:r>
            <a:r>
              <a:rPr sz="2150" spc="50" dirty="0"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inheritance</a:t>
            </a:r>
            <a:r>
              <a:rPr sz="2150" spc="4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between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use</a:t>
            </a:r>
            <a:r>
              <a:rPr sz="2150" spc="4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solidFill>
                  <a:srgbClr val="FF0000"/>
                </a:solidFill>
                <a:latin typeface="Cambria"/>
                <a:cs typeface="Cambria"/>
              </a:rPr>
              <a:t>cases</a:t>
            </a:r>
            <a:r>
              <a:rPr sz="2150" spc="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150" dirty="0">
                <a:latin typeface="Cambria"/>
                <a:cs typeface="Cambria"/>
              </a:rPr>
              <a:t>(specialization).</a:t>
            </a:r>
            <a:r>
              <a:rPr sz="2150" spc="535" dirty="0">
                <a:latin typeface="Cambria"/>
                <a:cs typeface="Cambria"/>
              </a:rPr>
              <a:t> </a:t>
            </a:r>
            <a:r>
              <a:rPr sz="2150" spc="65" dirty="0">
                <a:latin typeface="Cambria"/>
                <a:cs typeface="Cambria"/>
              </a:rPr>
              <a:t>Solid</a:t>
            </a:r>
            <a:r>
              <a:rPr sz="2150" spc="55" dirty="0">
                <a:latin typeface="Cambria"/>
                <a:cs typeface="Cambria"/>
              </a:rPr>
              <a:t>  </a:t>
            </a:r>
            <a:r>
              <a:rPr sz="2150" spc="-10" dirty="0">
                <a:latin typeface="Cambria"/>
                <a:cs typeface="Cambria"/>
              </a:rPr>
              <a:t>arrow 	</a:t>
            </a:r>
            <a:r>
              <a:rPr sz="2150" spc="65" dirty="0">
                <a:latin typeface="Cambria"/>
                <a:cs typeface="Cambria"/>
              </a:rPr>
              <a:t>from</a:t>
            </a:r>
            <a:r>
              <a:rPr sz="2150" spc="28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specialized</a:t>
            </a:r>
            <a:r>
              <a:rPr sz="2150" spc="34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to</a:t>
            </a:r>
            <a:r>
              <a:rPr sz="2150" spc="270" dirty="0">
                <a:latin typeface="Cambria"/>
                <a:cs typeface="Cambria"/>
              </a:rPr>
              <a:t> </a:t>
            </a:r>
            <a:r>
              <a:rPr sz="2150" spc="45" dirty="0">
                <a:latin typeface="Cambria"/>
                <a:cs typeface="Cambria"/>
              </a:rPr>
              <a:t>generalized</a:t>
            </a:r>
            <a:r>
              <a:rPr sz="2150" spc="38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use</a:t>
            </a:r>
            <a:r>
              <a:rPr sz="2150" spc="32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case.</a:t>
            </a:r>
            <a:r>
              <a:rPr sz="2150" spc="305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Example:</a:t>
            </a:r>
            <a:r>
              <a:rPr sz="2150" spc="305" dirty="0">
                <a:latin typeface="Cambria"/>
                <a:cs typeface="Cambria"/>
              </a:rPr>
              <a:t> </a:t>
            </a:r>
            <a:r>
              <a:rPr sz="2150" spc="80" dirty="0">
                <a:latin typeface="Cambria"/>
                <a:cs typeface="Cambria"/>
              </a:rPr>
              <a:t>"Draw</a:t>
            </a:r>
            <a:r>
              <a:rPr sz="2150" spc="31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Rectangle"</a:t>
            </a:r>
            <a:r>
              <a:rPr sz="2150" spc="295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generalizes</a:t>
            </a:r>
            <a:r>
              <a:rPr sz="2150" spc="380" dirty="0">
                <a:latin typeface="Cambria"/>
                <a:cs typeface="Cambria"/>
              </a:rPr>
              <a:t> </a:t>
            </a:r>
            <a:r>
              <a:rPr sz="2150" spc="60" dirty="0">
                <a:latin typeface="Cambria"/>
                <a:cs typeface="Cambria"/>
              </a:rPr>
              <a:t>"Draw 	Polygon."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8571865" cy="463550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Identifying</a:t>
            </a:r>
            <a:r>
              <a:rPr sz="2750" b="1" spc="254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Actors:</a:t>
            </a:r>
            <a:endParaRPr sz="2750">
              <a:latin typeface="Palatino Linotype"/>
              <a:cs typeface="Palatino Linotype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95" dirty="0">
                <a:latin typeface="Cambria"/>
                <a:cs typeface="Cambria"/>
              </a:rPr>
              <a:t>Who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benefits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most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system?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(Primary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actors)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95" dirty="0">
                <a:latin typeface="Cambria"/>
                <a:cs typeface="Cambria"/>
              </a:rPr>
              <a:t>Who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keeps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working?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60" dirty="0">
                <a:latin typeface="Cambria"/>
                <a:cs typeface="Cambria"/>
              </a:rPr>
              <a:t>What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software/hardware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interacts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system?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185" dirty="0">
                <a:latin typeface="Cambria"/>
                <a:cs typeface="Cambria"/>
              </a:rPr>
              <a:t>Any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interface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other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systems?</a:t>
            </a:r>
            <a:endParaRPr sz="2400">
              <a:latin typeface="Cambria"/>
              <a:cs typeface="Cambria"/>
            </a:endParaRPr>
          </a:p>
          <a:p>
            <a:pPr marL="295275" indent="-290830">
              <a:lnSpc>
                <a:spcPct val="100000"/>
              </a:lnSpc>
              <a:spcBef>
                <a:spcPts val="1655"/>
              </a:spcBef>
              <a:buFont typeface="Wingdings"/>
              <a:buChar char=""/>
              <a:tabLst>
                <a:tab pos="295275" algn="l"/>
              </a:tabLst>
            </a:pP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Identifying</a:t>
            </a:r>
            <a:r>
              <a:rPr sz="2750" b="1" spc="180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Use</a:t>
            </a:r>
            <a:r>
              <a:rPr sz="2750" b="1" spc="15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Cases:</a:t>
            </a:r>
            <a:endParaRPr sz="2750">
              <a:latin typeface="Palatino Linotype"/>
              <a:cs typeface="Palatino Linotype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Determine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actor</a:t>
            </a:r>
            <a:r>
              <a:rPr sz="2400" spc="3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goals</a:t>
            </a:r>
            <a:r>
              <a:rPr sz="2400" spc="25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(functionality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they</a:t>
            </a:r>
            <a:r>
              <a:rPr sz="2400" spc="2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want).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70" dirty="0">
                <a:latin typeface="Cambria"/>
                <a:cs typeface="Cambria"/>
              </a:rPr>
              <a:t>Use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case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names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start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verb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(e.g.,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"Check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Balance").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8281034" cy="344297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Guidelines</a:t>
            </a:r>
            <a:r>
              <a:rPr sz="2750" b="1" spc="114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for</a:t>
            </a:r>
            <a:r>
              <a:rPr sz="2750" b="1" spc="16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Drawing</a:t>
            </a:r>
            <a:r>
              <a:rPr sz="2750" b="1" spc="14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Use</a:t>
            </a:r>
            <a:r>
              <a:rPr sz="2750" b="1" spc="100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Case</a:t>
            </a:r>
            <a:r>
              <a:rPr sz="2750" b="1" spc="160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Diagrams:</a:t>
            </a:r>
            <a:endParaRPr sz="2750">
              <a:latin typeface="Palatino Linotype"/>
              <a:cs typeface="Palatino Linotype"/>
            </a:endParaRPr>
          </a:p>
          <a:p>
            <a:pPr marL="788670" lvl="1" indent="-31877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60" dirty="0">
                <a:latin typeface="Cambria"/>
                <a:cs typeface="Cambria"/>
              </a:rPr>
              <a:t>Define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boundary.</a:t>
            </a:r>
            <a:endParaRPr sz="240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50" dirty="0">
                <a:latin typeface="Cambria"/>
                <a:cs typeface="Cambria"/>
              </a:rPr>
              <a:t>Actors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should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have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well-</a:t>
            </a:r>
            <a:r>
              <a:rPr sz="2400" spc="50" dirty="0">
                <a:latin typeface="Cambria"/>
                <a:cs typeface="Cambria"/>
              </a:rPr>
              <a:t>defined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purposes.</a:t>
            </a:r>
            <a:endParaRPr sz="240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70" dirty="0">
                <a:latin typeface="Cambria"/>
                <a:cs typeface="Cambria"/>
              </a:rPr>
              <a:t>Use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cases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should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meaningful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work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actors.</a:t>
            </a:r>
            <a:endParaRPr sz="240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400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55" dirty="0">
                <a:latin typeface="Cambria"/>
                <a:cs typeface="Cambria"/>
              </a:rPr>
              <a:t>Connect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all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actors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use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cases.</a:t>
            </a:r>
            <a:endParaRPr sz="240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70" dirty="0">
                <a:latin typeface="Cambria"/>
                <a:cs typeface="Cambria"/>
              </a:rPr>
              <a:t>Use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"include"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relationships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shared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behavior.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168719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80" dirty="0">
                <a:latin typeface="Cambria"/>
                <a:cs typeface="Cambria"/>
              </a:rPr>
              <a:t>Example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962150"/>
            <a:ext cx="5705475" cy="3657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7475" y="1819275"/>
            <a:ext cx="5143500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Usecase</a:t>
            </a:r>
            <a:r>
              <a:rPr spc="24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168719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80" dirty="0">
                <a:latin typeface="Cambria"/>
                <a:cs typeface="Cambria"/>
              </a:rPr>
              <a:t>Example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6800" y="1047750"/>
            <a:ext cx="8318500" cy="54356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80" dirty="0"/>
              <a:t>Activity</a:t>
            </a:r>
            <a:r>
              <a:rPr spc="27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42675" cy="452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13335" indent="-229235">
              <a:lnSpc>
                <a:spcPct val="1548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  <a:tab pos="383540" algn="l"/>
                <a:tab pos="1813560" algn="l"/>
                <a:tab pos="3451225" algn="l"/>
                <a:tab pos="4095750" algn="l"/>
                <a:tab pos="5923915" algn="l"/>
                <a:tab pos="7560945" algn="l"/>
                <a:tab pos="8334375" algn="l"/>
                <a:tab pos="9744710" algn="l"/>
              </a:tabLst>
            </a:pPr>
            <a:r>
              <a:rPr sz="2750" spc="100" dirty="0">
                <a:latin typeface="Cambria"/>
                <a:cs typeface="Cambria"/>
              </a:rPr>
              <a:t>	Activity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diagrams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solidFill>
                  <a:srgbClr val="E64722"/>
                </a:solidFill>
                <a:latin typeface="Cambria"/>
                <a:cs typeface="Cambria"/>
              </a:rPr>
              <a:t>behavioral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70" dirty="0">
                <a:solidFill>
                  <a:srgbClr val="E64722"/>
                </a:solidFill>
                <a:latin typeface="Cambria"/>
                <a:cs typeface="Cambria"/>
              </a:rPr>
              <a:t>diagrams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20" dirty="0">
                <a:latin typeface="Cambria"/>
                <a:cs typeface="Cambria"/>
              </a:rPr>
              <a:t>that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5" dirty="0">
                <a:latin typeface="Cambria"/>
                <a:cs typeface="Cambria"/>
              </a:rPr>
              <a:t>visually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represent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100" dirty="0">
                <a:solidFill>
                  <a:srgbClr val="E64722"/>
                </a:solidFill>
                <a:latin typeface="Cambria"/>
                <a:cs typeface="Cambria"/>
              </a:rPr>
              <a:t>flow</a:t>
            </a:r>
            <a:r>
              <a:rPr sz="2750" spc="1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E64722"/>
                </a:solidFill>
                <a:latin typeface="Cambria"/>
                <a:cs typeface="Cambria"/>
              </a:rPr>
              <a:t>of</a:t>
            </a:r>
            <a:r>
              <a:rPr sz="2750" spc="19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control</a:t>
            </a:r>
            <a:r>
              <a:rPr sz="2750" spc="13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E64722"/>
                </a:solidFill>
                <a:latin typeface="Cambria"/>
                <a:cs typeface="Cambria"/>
              </a:rPr>
              <a:t>in</a:t>
            </a:r>
            <a:r>
              <a:rPr sz="2750" spc="1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a</a:t>
            </a:r>
            <a:r>
              <a:rPr sz="2750" spc="16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system</a:t>
            </a:r>
            <a:r>
              <a:rPr sz="2750" spc="5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94640" indent="-290195">
              <a:lnSpc>
                <a:spcPct val="100000"/>
              </a:lnSpc>
              <a:spcBef>
                <a:spcPts val="1735"/>
              </a:spcBef>
              <a:buFont typeface="Wingdings"/>
              <a:buChar char=""/>
              <a:tabLst>
                <a:tab pos="294640" algn="l"/>
              </a:tabLst>
            </a:pPr>
            <a:r>
              <a:rPr sz="2750" spc="70" dirty="0">
                <a:latin typeface="Cambria"/>
                <a:cs typeface="Cambria"/>
              </a:rPr>
              <a:t>They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like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flowcharts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but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represent</a:t>
            </a:r>
            <a:r>
              <a:rPr sz="2750" spc="1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concurrent</a:t>
            </a:r>
            <a:r>
              <a:rPr sz="2750" spc="19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activities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41300" marR="5080" indent="-237490">
              <a:lnSpc>
                <a:spcPct val="152500"/>
              </a:lnSpc>
              <a:buFont typeface="Wingdings"/>
              <a:buChar char=""/>
              <a:tabLst>
                <a:tab pos="241300" algn="l"/>
                <a:tab pos="294640" algn="l"/>
                <a:tab pos="1221740" algn="l"/>
                <a:tab pos="2087880" algn="l"/>
                <a:tab pos="3200400" algn="l"/>
                <a:tab pos="4667250" algn="l"/>
                <a:tab pos="6003925" algn="l"/>
                <a:tab pos="7229475" algn="l"/>
                <a:tab pos="8430895" algn="l"/>
                <a:tab pos="9166860" algn="l"/>
                <a:tab pos="9989185" algn="l"/>
                <a:tab pos="10855325" algn="l"/>
              </a:tabLst>
            </a:pPr>
            <a:r>
              <a:rPr sz="2750" spc="50" dirty="0">
                <a:latin typeface="Cambria"/>
                <a:cs typeface="Cambria"/>
              </a:rPr>
              <a:t>	They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0" dirty="0">
                <a:solidFill>
                  <a:srgbClr val="E64722"/>
                </a:solidFill>
                <a:latin typeface="Cambria"/>
                <a:cs typeface="Cambria"/>
              </a:rPr>
              <a:t>can't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55" dirty="0">
                <a:solidFill>
                  <a:srgbClr val="E64722"/>
                </a:solidFill>
                <a:latin typeface="Cambria"/>
                <a:cs typeface="Cambria"/>
              </a:rPr>
              <a:t>depict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45" dirty="0">
                <a:solidFill>
                  <a:srgbClr val="E64722"/>
                </a:solidFill>
                <a:latin typeface="Cambria"/>
                <a:cs typeface="Cambria"/>
              </a:rPr>
              <a:t>message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55" dirty="0">
                <a:solidFill>
                  <a:srgbClr val="E64722"/>
                </a:solidFill>
                <a:latin typeface="Cambria"/>
                <a:cs typeface="Cambria"/>
              </a:rPr>
              <a:t>passing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100" dirty="0">
                <a:latin typeface="Cambria"/>
                <a:cs typeface="Cambria"/>
              </a:rPr>
              <a:t>among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objects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and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thus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can't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be </a:t>
            </a:r>
            <a:r>
              <a:rPr sz="2750" spc="45" dirty="0">
                <a:latin typeface="Cambria"/>
                <a:cs typeface="Cambria"/>
              </a:rPr>
              <a:t>directly</a:t>
            </a:r>
            <a:r>
              <a:rPr sz="2750" spc="2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translated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into</a:t>
            </a:r>
            <a:r>
              <a:rPr sz="2750" spc="26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code.</a:t>
            </a:r>
            <a:endParaRPr sz="2750">
              <a:latin typeface="Cambria"/>
              <a:cs typeface="Cambria"/>
            </a:endParaRPr>
          </a:p>
          <a:p>
            <a:pPr marL="241300" marR="15240" indent="-237490">
              <a:lnSpc>
                <a:spcPts val="5110"/>
              </a:lnSpc>
              <a:spcBef>
                <a:spcPts val="190"/>
              </a:spcBef>
              <a:buFont typeface="Wingdings"/>
              <a:buChar char=""/>
              <a:tabLst>
                <a:tab pos="241300" algn="l"/>
                <a:tab pos="294005" algn="l"/>
                <a:tab pos="1746885" algn="l"/>
                <a:tab pos="3406775" algn="l"/>
                <a:tab pos="4074160" algn="l"/>
                <a:tab pos="5486400" algn="l"/>
                <a:tab pos="6118225" algn="l"/>
                <a:tab pos="8040370" algn="l"/>
                <a:tab pos="8976360" algn="l"/>
                <a:tab pos="9878060" algn="l"/>
              </a:tabLst>
            </a:pPr>
            <a:r>
              <a:rPr sz="2750" spc="100" dirty="0">
                <a:latin typeface="Cambria"/>
                <a:cs typeface="Cambria"/>
              </a:rPr>
              <a:t>	Activity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70" dirty="0">
                <a:latin typeface="Cambria"/>
                <a:cs typeface="Cambria"/>
              </a:rPr>
              <a:t>diagrams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are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solidFill>
                  <a:srgbClr val="E64722"/>
                </a:solidFill>
                <a:latin typeface="Cambria"/>
                <a:cs typeface="Cambria"/>
              </a:rPr>
              <a:t>suitable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25" dirty="0">
                <a:solidFill>
                  <a:srgbClr val="E64722"/>
                </a:solidFill>
                <a:latin typeface="Cambria"/>
                <a:cs typeface="Cambria"/>
              </a:rPr>
              <a:t>for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solidFill>
                  <a:srgbClr val="E64722"/>
                </a:solidFill>
                <a:latin typeface="Cambria"/>
                <a:cs typeface="Cambria"/>
              </a:rPr>
              <a:t>confirming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solidFill>
                  <a:srgbClr val="E64722"/>
                </a:solidFill>
                <a:latin typeface="Cambria"/>
                <a:cs typeface="Cambria"/>
              </a:rPr>
              <a:t>logic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solidFill>
                  <a:srgbClr val="E64722"/>
                </a:solidFill>
                <a:latin typeface="Cambria"/>
                <a:cs typeface="Cambria"/>
              </a:rPr>
              <a:t>with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business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users</a:t>
            </a:r>
            <a:r>
              <a:rPr sz="2750" dirty="0">
                <a:latin typeface="Cambria"/>
                <a:cs typeface="Cambria"/>
              </a:rPr>
              <a:t>,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especially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when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business</a:t>
            </a:r>
            <a:r>
              <a:rPr sz="2750" spc="229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logic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complex.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80" dirty="0"/>
              <a:t>Activity</a:t>
            </a:r>
            <a:r>
              <a:rPr spc="27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17823"/>
            <a:ext cx="11240135" cy="5024120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335"/>
              </a:spcBef>
              <a:buSzPct val="98076"/>
              <a:buFont typeface="Wingdings"/>
              <a:buChar char=""/>
              <a:tabLst>
                <a:tab pos="356870" algn="l"/>
              </a:tabLst>
            </a:pPr>
            <a:r>
              <a:rPr sz="2600" b="1" spc="-10" dirty="0">
                <a:solidFill>
                  <a:srgbClr val="E64722"/>
                </a:solidFill>
                <a:latin typeface="Palatino Linotype"/>
                <a:cs typeface="Palatino Linotype"/>
              </a:rPr>
              <a:t>Components:</a:t>
            </a:r>
            <a:endParaRPr sz="2600">
              <a:latin typeface="Palatino Linotype"/>
              <a:cs typeface="Palatino Linotype"/>
            </a:endParaRPr>
          </a:p>
          <a:p>
            <a:pPr marL="241300" marR="11430" indent="-237490">
              <a:lnSpc>
                <a:spcPct val="139600"/>
              </a:lnSpc>
              <a:buSzPct val="98076"/>
              <a:buFont typeface="Wingdings"/>
              <a:buChar char=""/>
              <a:tabLst>
                <a:tab pos="241300" algn="l"/>
                <a:tab pos="273685" algn="l"/>
                <a:tab pos="1687195" algn="l"/>
                <a:tab pos="3437890" algn="l"/>
                <a:tab pos="3940175" algn="l"/>
                <a:tab pos="4974590" algn="l"/>
                <a:tab pos="6493510" algn="l"/>
                <a:tab pos="8171815" algn="l"/>
                <a:tab pos="9352280" algn="l"/>
                <a:tab pos="10368915" algn="l"/>
              </a:tabLst>
            </a:pPr>
            <a:r>
              <a:rPr sz="2600" spc="55" dirty="0">
                <a:solidFill>
                  <a:srgbClr val="E64722"/>
                </a:solidFill>
                <a:latin typeface="Cambria"/>
                <a:cs typeface="Cambria"/>
              </a:rPr>
              <a:t>	Activity</a:t>
            </a:r>
            <a:r>
              <a:rPr sz="2600" spc="55" dirty="0">
                <a:latin typeface="Cambria"/>
                <a:cs typeface="Cambria"/>
              </a:rPr>
              <a:t>: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Represents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an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action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(rounded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rectangle).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Special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types: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initial </a:t>
            </a:r>
            <a:r>
              <a:rPr sz="2600" dirty="0">
                <a:latin typeface="Cambria"/>
                <a:cs typeface="Cambria"/>
              </a:rPr>
              <a:t>(filled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circle)</a:t>
            </a:r>
            <a:r>
              <a:rPr sz="2600" spc="16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final</a:t>
            </a:r>
            <a:r>
              <a:rPr sz="2600" spc="1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(filled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circle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with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border)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40" dirty="0">
                <a:latin typeface="Cambria"/>
                <a:cs typeface="Cambria"/>
              </a:rPr>
              <a:t>nodes.</a:t>
            </a:r>
            <a:endParaRPr sz="2600">
              <a:latin typeface="Cambria"/>
              <a:cs typeface="Cambria"/>
            </a:endParaRPr>
          </a:p>
          <a:p>
            <a:pPr marL="241300" marR="7620" indent="-237490">
              <a:lnSpc>
                <a:spcPts val="4430"/>
              </a:lnSpc>
              <a:spcBef>
                <a:spcPts val="295"/>
              </a:spcBef>
              <a:buSzPct val="98076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dirty="0">
                <a:solidFill>
                  <a:srgbClr val="E64722"/>
                </a:solidFill>
                <a:latin typeface="Cambria"/>
                <a:cs typeface="Cambria"/>
              </a:rPr>
              <a:t>	Flow:</a:t>
            </a:r>
            <a:r>
              <a:rPr sz="2600" spc="37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Directed</a:t>
            </a:r>
            <a:r>
              <a:rPr sz="2600" spc="3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arrow</a:t>
            </a:r>
            <a:r>
              <a:rPr sz="2600" spc="32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showing</a:t>
            </a:r>
            <a:r>
              <a:rPr sz="2600" spc="3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3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transfer</a:t>
            </a:r>
            <a:r>
              <a:rPr sz="2600" spc="41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of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control.</a:t>
            </a:r>
            <a:r>
              <a:rPr sz="2600" spc="375" dirty="0">
                <a:latin typeface="Cambria"/>
                <a:cs typeface="Cambria"/>
              </a:rPr>
              <a:t> </a:t>
            </a:r>
            <a:r>
              <a:rPr sz="2600" spc="160" dirty="0">
                <a:latin typeface="Cambria"/>
                <a:cs typeface="Cambria"/>
              </a:rPr>
              <a:t>May</a:t>
            </a:r>
            <a:r>
              <a:rPr sz="2600" spc="38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include</a:t>
            </a:r>
            <a:r>
              <a:rPr sz="2600" spc="37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guard </a:t>
            </a:r>
            <a:r>
              <a:rPr sz="2600" spc="-10" dirty="0">
                <a:latin typeface="Cambria"/>
                <a:cs typeface="Cambria"/>
              </a:rPr>
              <a:t>conditions.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869"/>
              </a:spcBef>
              <a:buSzPct val="98076"/>
              <a:buFont typeface="Wingdings"/>
              <a:buChar char=""/>
              <a:tabLst>
                <a:tab pos="274320" algn="l"/>
              </a:tabLst>
            </a:pPr>
            <a:r>
              <a:rPr sz="2600" dirty="0">
                <a:solidFill>
                  <a:srgbClr val="E64722"/>
                </a:solidFill>
                <a:latin typeface="Cambria"/>
                <a:cs typeface="Cambria"/>
              </a:rPr>
              <a:t>Decision:</a:t>
            </a:r>
            <a:r>
              <a:rPr sz="2600" spc="3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Diamond</a:t>
            </a:r>
            <a:r>
              <a:rPr sz="2600" spc="3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shape</a:t>
            </a:r>
            <a:r>
              <a:rPr sz="2600" spc="33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with</a:t>
            </a:r>
            <a:r>
              <a:rPr sz="2600" spc="36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one</a:t>
            </a:r>
            <a:r>
              <a:rPr sz="2600" spc="360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incoming</a:t>
            </a:r>
            <a:r>
              <a:rPr sz="2600" spc="32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flow</a:t>
            </a:r>
            <a:r>
              <a:rPr sz="2600" spc="30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30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multiple</a:t>
            </a:r>
            <a:r>
              <a:rPr sz="2600" spc="37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outgoing</a:t>
            </a:r>
            <a:endParaRPr sz="2600">
              <a:latin typeface="Cambria"/>
              <a:cs typeface="Cambria"/>
            </a:endParaRPr>
          </a:p>
          <a:p>
            <a:pPr marL="241300">
              <a:lnSpc>
                <a:spcPct val="100000"/>
              </a:lnSpc>
              <a:spcBef>
                <a:spcPts val="1235"/>
              </a:spcBef>
            </a:pPr>
            <a:r>
              <a:rPr sz="2600" spc="60" dirty="0">
                <a:latin typeface="Cambria"/>
                <a:cs typeface="Cambria"/>
              </a:rPr>
              <a:t>flows,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based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on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conditions.</a:t>
            </a:r>
            <a:endParaRPr sz="2600">
              <a:latin typeface="Cambria"/>
              <a:cs typeface="Cambria"/>
            </a:endParaRPr>
          </a:p>
          <a:p>
            <a:pPr marL="241300" marR="5080" indent="-237490">
              <a:lnSpc>
                <a:spcPts val="4430"/>
              </a:lnSpc>
              <a:spcBef>
                <a:spcPts val="95"/>
              </a:spcBef>
              <a:buSzPct val="98076"/>
              <a:buFont typeface="Wingdings"/>
              <a:buChar char=""/>
              <a:tabLst>
                <a:tab pos="241300" algn="l"/>
                <a:tab pos="273685" algn="l"/>
                <a:tab pos="1431290" algn="l"/>
                <a:tab pos="2945130" algn="l"/>
                <a:tab pos="3928745" algn="l"/>
                <a:tab pos="4729480" algn="l"/>
                <a:tab pos="6104890" algn="l"/>
                <a:tab pos="9895840" algn="l"/>
              </a:tabLst>
            </a:pPr>
            <a:r>
              <a:rPr sz="2600" spc="45" dirty="0">
                <a:solidFill>
                  <a:srgbClr val="E64722"/>
                </a:solidFill>
                <a:latin typeface="Cambria"/>
                <a:cs typeface="Cambria"/>
              </a:rPr>
              <a:t>	Merge:</a:t>
            </a:r>
            <a:r>
              <a:rPr sz="260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600" spc="80" dirty="0">
                <a:latin typeface="Cambria"/>
                <a:cs typeface="Cambria"/>
              </a:rPr>
              <a:t>Diamond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shape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with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5" dirty="0">
                <a:latin typeface="Cambria"/>
                <a:cs typeface="Cambria"/>
              </a:rPr>
              <a:t>multiple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5" dirty="0">
                <a:latin typeface="Cambria"/>
                <a:cs typeface="Cambria"/>
              </a:rPr>
              <a:t>incoming</a:t>
            </a:r>
            <a:r>
              <a:rPr sz="2600" spc="41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flows</a:t>
            </a:r>
            <a:r>
              <a:rPr sz="2600" spc="41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400" dirty="0">
                <a:latin typeface="Cambria"/>
                <a:cs typeface="Cambria"/>
              </a:rPr>
              <a:t> </a:t>
            </a:r>
            <a:r>
              <a:rPr sz="2600" spc="-25" dirty="0">
                <a:latin typeface="Cambria"/>
                <a:cs typeface="Cambria"/>
              </a:rPr>
              <a:t>one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outgoing </a:t>
            </a:r>
            <a:r>
              <a:rPr sz="2600" spc="50" dirty="0">
                <a:latin typeface="Cambria"/>
                <a:cs typeface="Cambria"/>
              </a:rPr>
              <a:t>flow;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processing</a:t>
            </a:r>
            <a:r>
              <a:rPr sz="2600" spc="1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continues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when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at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least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one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control</a:t>
            </a:r>
            <a:r>
              <a:rPr sz="2600" spc="12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reaches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10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node.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80" dirty="0"/>
              <a:t>Activity</a:t>
            </a:r>
            <a:r>
              <a:rPr spc="27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28554"/>
            <a:ext cx="11241405" cy="517588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25"/>
              </a:spcBef>
              <a:buSzPct val="98076"/>
              <a:buFont typeface="Wingdings"/>
              <a:buChar char=""/>
              <a:tabLst>
                <a:tab pos="356870" algn="l"/>
              </a:tabLst>
            </a:pPr>
            <a:r>
              <a:rPr sz="2600" spc="50" dirty="0">
                <a:solidFill>
                  <a:srgbClr val="E64722"/>
                </a:solidFill>
                <a:latin typeface="Cambria"/>
                <a:cs typeface="Cambria"/>
              </a:rPr>
              <a:t>Components:</a:t>
            </a:r>
            <a:endParaRPr sz="2600">
              <a:latin typeface="Cambria"/>
              <a:cs typeface="Cambria"/>
            </a:endParaRPr>
          </a:p>
          <a:p>
            <a:pPr marL="241300" marR="10795" indent="-237490">
              <a:lnSpc>
                <a:spcPts val="4060"/>
              </a:lnSpc>
              <a:spcBef>
                <a:spcPts val="285"/>
              </a:spcBef>
              <a:buSzPct val="98076"/>
              <a:buFont typeface="Wingdings"/>
              <a:buChar char=""/>
              <a:tabLst>
                <a:tab pos="241300" algn="l"/>
                <a:tab pos="273685" algn="l"/>
                <a:tab pos="1201420" algn="l"/>
                <a:tab pos="2160905" algn="l"/>
                <a:tab pos="2803525" algn="l"/>
                <a:tab pos="3639820" algn="l"/>
                <a:tab pos="4337050" algn="l"/>
                <a:tab pos="5883910" algn="l"/>
                <a:tab pos="6710680" algn="l"/>
                <a:tab pos="7434580" algn="l"/>
                <a:tab pos="8846185" algn="l"/>
                <a:tab pos="10337165" algn="l"/>
              </a:tabLst>
            </a:pPr>
            <a:r>
              <a:rPr sz="2600" spc="-10" dirty="0">
                <a:solidFill>
                  <a:srgbClr val="E64722"/>
                </a:solidFill>
                <a:latin typeface="Cambria"/>
                <a:cs typeface="Cambria"/>
              </a:rPr>
              <a:t>	Fork:</a:t>
            </a:r>
            <a:r>
              <a:rPr sz="260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Black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bar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with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one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0" dirty="0">
                <a:latin typeface="Cambria"/>
                <a:cs typeface="Cambria"/>
              </a:rPr>
              <a:t>incoming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5" dirty="0">
                <a:latin typeface="Cambria"/>
                <a:cs typeface="Cambria"/>
              </a:rPr>
              <a:t>flow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and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5" dirty="0">
                <a:latin typeface="Cambria"/>
                <a:cs typeface="Cambria"/>
              </a:rPr>
              <a:t>multiple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outgoing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flows, </a:t>
            </a:r>
            <a:r>
              <a:rPr sz="2600" spc="45" dirty="0">
                <a:latin typeface="Cambria"/>
                <a:cs typeface="Cambria"/>
              </a:rPr>
              <a:t>indicating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parallel</a:t>
            </a:r>
            <a:r>
              <a:rPr sz="2600" spc="229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activities.</a:t>
            </a:r>
            <a:endParaRPr sz="2600">
              <a:latin typeface="Cambria"/>
              <a:cs typeface="Cambria"/>
            </a:endParaRPr>
          </a:p>
          <a:p>
            <a:pPr marL="274320" indent="-269875">
              <a:lnSpc>
                <a:spcPct val="100000"/>
              </a:lnSpc>
              <a:spcBef>
                <a:spcPts val="640"/>
              </a:spcBef>
              <a:buSzPct val="98076"/>
              <a:buFont typeface="Wingdings"/>
              <a:buChar char=""/>
              <a:tabLst>
                <a:tab pos="274320" algn="l"/>
                <a:tab pos="1111885" algn="l"/>
                <a:tab pos="2080895" algn="l"/>
                <a:tab pos="2733675" algn="l"/>
                <a:tab pos="3580129" algn="l"/>
                <a:tab pos="5001895" algn="l"/>
                <a:tab pos="6558915" algn="l"/>
                <a:tab pos="7535545" algn="l"/>
                <a:tab pos="8269605" algn="l"/>
                <a:tab pos="8976360" algn="l"/>
                <a:tab pos="10477500" algn="l"/>
              </a:tabLst>
            </a:pPr>
            <a:r>
              <a:rPr sz="2600" spc="-10" dirty="0">
                <a:solidFill>
                  <a:srgbClr val="E64722"/>
                </a:solidFill>
                <a:latin typeface="Cambria"/>
                <a:cs typeface="Cambria"/>
              </a:rPr>
              <a:t>Join:</a:t>
            </a:r>
            <a:r>
              <a:rPr sz="260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Black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bar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with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45" dirty="0">
                <a:latin typeface="Cambria"/>
                <a:cs typeface="Cambria"/>
              </a:rPr>
              <a:t>multiple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incoming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flows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and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one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60" dirty="0">
                <a:latin typeface="Cambria"/>
                <a:cs typeface="Cambria"/>
              </a:rPr>
              <a:t>outgoing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75" dirty="0">
                <a:latin typeface="Cambria"/>
                <a:cs typeface="Cambria"/>
              </a:rPr>
              <a:t>flow,</a:t>
            </a:r>
            <a:endParaRPr sz="2600">
              <a:latin typeface="Cambria"/>
              <a:cs typeface="Cambria"/>
            </a:endParaRPr>
          </a:p>
          <a:p>
            <a:pPr marL="241300" marR="14604">
              <a:lnSpc>
                <a:spcPct val="130000"/>
              </a:lnSpc>
              <a:tabLst>
                <a:tab pos="2605405" algn="l"/>
                <a:tab pos="4459605" algn="l"/>
                <a:tab pos="6034405" algn="l"/>
                <a:tab pos="6773545" algn="l"/>
                <a:tab pos="8425815" algn="l"/>
                <a:tab pos="9871710" algn="l"/>
                <a:tab pos="10880725" algn="l"/>
              </a:tabLst>
            </a:pPr>
            <a:r>
              <a:rPr sz="2600" spc="35" dirty="0">
                <a:latin typeface="Cambria"/>
                <a:cs typeface="Cambria"/>
              </a:rPr>
              <a:t>synchronizing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concurrent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activities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(all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incoming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controls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must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40" dirty="0">
                <a:latin typeface="Cambria"/>
                <a:cs typeface="Cambria"/>
              </a:rPr>
              <a:t>be </a:t>
            </a:r>
            <a:r>
              <a:rPr sz="2600" spc="-10" dirty="0">
                <a:latin typeface="Cambria"/>
                <a:cs typeface="Cambria"/>
              </a:rPr>
              <a:t>completed).</a:t>
            </a:r>
            <a:endParaRPr sz="2600">
              <a:latin typeface="Cambria"/>
              <a:cs typeface="Cambria"/>
            </a:endParaRPr>
          </a:p>
          <a:p>
            <a:pPr marL="241300" marR="16510" indent="-237490">
              <a:lnSpc>
                <a:spcPct val="130000"/>
              </a:lnSpc>
              <a:buSzPct val="98076"/>
              <a:buFont typeface="Wingdings"/>
              <a:buChar char=""/>
              <a:tabLst>
                <a:tab pos="241300" algn="l"/>
                <a:tab pos="273685" algn="l"/>
                <a:tab pos="1299845" algn="l"/>
                <a:tab pos="2277110" algn="l"/>
                <a:tab pos="2785745" algn="l"/>
                <a:tab pos="3890645" algn="l"/>
                <a:tab pos="5115560" algn="l"/>
                <a:tab pos="7081520" algn="l"/>
                <a:tab pos="9004300" algn="l"/>
                <a:tab pos="10933430" algn="l"/>
              </a:tabLst>
            </a:pPr>
            <a:r>
              <a:rPr sz="2600" spc="55" dirty="0">
                <a:solidFill>
                  <a:srgbClr val="E64722"/>
                </a:solidFill>
                <a:latin typeface="Cambria"/>
                <a:cs typeface="Cambria"/>
              </a:rPr>
              <a:t>	Note:</a:t>
            </a:r>
            <a:r>
              <a:rPr sz="260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600" spc="85" dirty="0">
                <a:latin typeface="Cambria"/>
                <a:cs typeface="Cambria"/>
              </a:rPr>
              <a:t>Used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5" dirty="0">
                <a:latin typeface="Cambria"/>
                <a:cs typeface="Cambria"/>
              </a:rPr>
              <a:t>to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attach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textual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information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(comments,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constraints)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35" dirty="0">
                <a:latin typeface="Cambria"/>
                <a:cs typeface="Cambria"/>
              </a:rPr>
              <a:t>to </a:t>
            </a:r>
            <a:r>
              <a:rPr sz="2600" spc="-10" dirty="0">
                <a:latin typeface="Cambria"/>
                <a:cs typeface="Cambria"/>
              </a:rPr>
              <a:t>components.</a:t>
            </a:r>
            <a:endParaRPr sz="2600">
              <a:latin typeface="Cambria"/>
              <a:cs typeface="Cambria"/>
            </a:endParaRPr>
          </a:p>
          <a:p>
            <a:pPr marL="241300" marR="5080" indent="-237490">
              <a:lnSpc>
                <a:spcPct val="130000"/>
              </a:lnSpc>
              <a:buSzPct val="98076"/>
              <a:buFont typeface="Wingdings"/>
              <a:buChar char=""/>
              <a:tabLst>
                <a:tab pos="241300" algn="l"/>
                <a:tab pos="273685" algn="l"/>
                <a:tab pos="1777364" algn="l"/>
                <a:tab pos="3754120" algn="l"/>
                <a:tab pos="5332095" algn="l"/>
                <a:tab pos="6588759" algn="l"/>
                <a:tab pos="8603615" algn="l"/>
                <a:tab pos="9406255" algn="l"/>
                <a:tab pos="10472420" algn="l"/>
              </a:tabLst>
            </a:pPr>
            <a:r>
              <a:rPr sz="2600" spc="-10" dirty="0">
                <a:solidFill>
                  <a:srgbClr val="E64722"/>
                </a:solidFill>
                <a:latin typeface="Cambria"/>
                <a:cs typeface="Cambria"/>
              </a:rPr>
              <a:t>	Partition</a:t>
            </a:r>
            <a:r>
              <a:rPr sz="260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600" spc="-10" dirty="0">
                <a:solidFill>
                  <a:srgbClr val="E64722"/>
                </a:solidFill>
                <a:latin typeface="Cambria"/>
                <a:cs typeface="Cambria"/>
              </a:rPr>
              <a:t>(Swimlane):</a:t>
            </a:r>
            <a:r>
              <a:rPr sz="260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600" spc="65" dirty="0">
                <a:latin typeface="Cambria"/>
                <a:cs typeface="Cambria"/>
              </a:rPr>
              <a:t>Logically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55" dirty="0">
                <a:latin typeface="Cambria"/>
                <a:cs typeface="Cambria"/>
              </a:rPr>
              <a:t>groups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components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20" dirty="0">
                <a:latin typeface="Cambria"/>
                <a:cs typeface="Cambria"/>
              </a:rPr>
              <a:t>into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areas,</a:t>
            </a:r>
            <a:r>
              <a:rPr sz="2600" dirty="0">
                <a:latin typeface="Cambria"/>
                <a:cs typeface="Cambria"/>
              </a:rPr>
              <a:t>	</a:t>
            </a:r>
            <a:r>
              <a:rPr sz="2600" spc="-10" dirty="0">
                <a:latin typeface="Cambria"/>
                <a:cs typeface="Cambria"/>
              </a:rPr>
              <a:t>often </a:t>
            </a:r>
            <a:r>
              <a:rPr sz="2600" dirty="0">
                <a:latin typeface="Cambria"/>
                <a:cs typeface="Cambria"/>
              </a:rPr>
              <a:t>corresponding</a:t>
            </a:r>
            <a:r>
              <a:rPr sz="2600" spc="204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2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organizational</a:t>
            </a:r>
            <a:r>
              <a:rPr sz="2600" spc="27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units</a:t>
            </a:r>
            <a:r>
              <a:rPr sz="2600" spc="19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or</a:t>
            </a:r>
            <a:r>
              <a:rPr sz="2600" spc="22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actors</a:t>
            </a:r>
            <a:r>
              <a:rPr sz="2600" spc="1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(not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mandatory).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80" dirty="0"/>
              <a:t>Activity</a:t>
            </a:r>
            <a:r>
              <a:rPr spc="275" dirty="0"/>
              <a:t> </a:t>
            </a:r>
            <a:r>
              <a:rPr spc="6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2854" y="1047750"/>
            <a:ext cx="4541596" cy="53625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3006" y="1362075"/>
            <a:ext cx="5083120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80" dirty="0"/>
              <a:t>Activity</a:t>
            </a:r>
            <a:r>
              <a:rPr spc="27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33150" cy="344297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90" dirty="0">
                <a:latin typeface="Cambria"/>
                <a:cs typeface="Cambria"/>
              </a:rPr>
              <a:t>Guidelines</a:t>
            </a:r>
            <a:endParaRPr sz="275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45" dirty="0">
                <a:latin typeface="Cambria"/>
                <a:cs typeface="Cambria"/>
              </a:rPr>
              <a:t>Identify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tiny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pieces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work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being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performed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system</a:t>
            </a:r>
            <a:endParaRPr sz="240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45" dirty="0">
                <a:latin typeface="Cambria"/>
                <a:cs typeface="Cambria"/>
              </a:rPr>
              <a:t>Identify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next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logical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activity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should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performed</a:t>
            </a:r>
            <a:endParaRPr sz="2400">
              <a:latin typeface="Cambria"/>
              <a:cs typeface="Cambria"/>
            </a:endParaRPr>
          </a:p>
          <a:p>
            <a:pPr marL="699135" marR="5080" lvl="1" indent="-229235">
              <a:lnSpc>
                <a:spcPct val="148600"/>
              </a:lnSpc>
              <a:spcBef>
                <a:spcPts val="75"/>
              </a:spcBef>
              <a:buFont typeface="Wingdings"/>
              <a:buChar char=""/>
              <a:tabLst>
                <a:tab pos="699135" algn="l"/>
                <a:tab pos="788670" algn="l"/>
                <a:tab pos="1793239" algn="l"/>
                <a:tab pos="2766695" algn="l"/>
                <a:tab pos="3298825" algn="l"/>
                <a:tab pos="4219575" algn="l"/>
                <a:tab pos="5838190" algn="l"/>
                <a:tab pos="6570345" algn="l"/>
                <a:tab pos="7704455" algn="l"/>
                <a:tab pos="8220709" algn="l"/>
                <a:tab pos="9253220" algn="l"/>
                <a:tab pos="9970770" algn="l"/>
                <a:tab pos="10502900" algn="l"/>
              </a:tabLst>
            </a:pPr>
            <a:r>
              <a:rPr sz="2400" spc="-10" dirty="0">
                <a:latin typeface="Cambria"/>
                <a:cs typeface="Cambria"/>
              </a:rPr>
              <a:t>	Think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about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all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those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conditions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that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should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be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5" dirty="0">
                <a:latin typeface="Cambria"/>
                <a:cs typeface="Cambria"/>
              </a:rPr>
              <a:t>made,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and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all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those </a:t>
            </a:r>
            <a:r>
              <a:rPr sz="2400" dirty="0">
                <a:latin typeface="Cambria"/>
                <a:cs typeface="Cambria"/>
              </a:rPr>
              <a:t>constraints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should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satisfied,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before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move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next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activity</a:t>
            </a:r>
            <a:endParaRPr sz="240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60" dirty="0">
                <a:latin typeface="Cambria"/>
                <a:cs typeface="Cambria"/>
              </a:rPr>
              <a:t>Put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non-trivial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guard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conditions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edges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avoid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confusion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80" dirty="0"/>
              <a:t>Activity</a:t>
            </a:r>
            <a:r>
              <a:rPr spc="275" dirty="0"/>
              <a:t> </a:t>
            </a:r>
            <a:r>
              <a:rPr spc="70" dirty="0"/>
              <a:t>Model</a:t>
            </a:r>
            <a:r>
              <a:rPr spc="240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145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1059159"/>
            <a:ext cx="10949449" cy="535116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70" dirty="0"/>
              <a:t>State</a:t>
            </a:r>
            <a:r>
              <a:rPr spc="265" dirty="0"/>
              <a:t> </a:t>
            </a:r>
            <a:r>
              <a:rPr spc="204" dirty="0"/>
              <a:t>Chart</a:t>
            </a:r>
            <a:r>
              <a:rPr spc="20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6960" cy="26015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spc="445" dirty="0">
                <a:latin typeface="Cambria"/>
                <a:cs typeface="Cambria"/>
              </a:rPr>
              <a:t>	A</a:t>
            </a:r>
            <a:r>
              <a:rPr sz="2750" spc="2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statechart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diagram</a:t>
            </a:r>
            <a:r>
              <a:rPr sz="2750" spc="2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2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visual</a:t>
            </a:r>
            <a:r>
              <a:rPr sz="2750" spc="25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representation</a:t>
            </a:r>
            <a:r>
              <a:rPr sz="2750" spc="27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system,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E64722"/>
                </a:solidFill>
                <a:latin typeface="Cambria"/>
                <a:cs typeface="Cambria"/>
              </a:rPr>
              <a:t>showing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its</a:t>
            </a:r>
            <a:r>
              <a:rPr sz="2750" spc="2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states</a:t>
            </a:r>
            <a:r>
              <a:rPr sz="2750" spc="23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E64722"/>
                </a:solidFill>
                <a:latin typeface="Cambria"/>
                <a:cs typeface="Cambria"/>
              </a:rPr>
              <a:t>and</a:t>
            </a:r>
            <a:r>
              <a:rPr sz="2750" spc="28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the</a:t>
            </a:r>
            <a:r>
              <a:rPr sz="2750" spc="23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events</a:t>
            </a:r>
            <a:r>
              <a:rPr sz="2750" spc="2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that</a:t>
            </a:r>
            <a:r>
              <a:rPr sz="2750" spc="204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cause</a:t>
            </a:r>
            <a:r>
              <a:rPr sz="2750" spc="2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transitions</a:t>
            </a:r>
            <a:r>
              <a:rPr sz="2750" spc="24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between</a:t>
            </a:r>
            <a:r>
              <a:rPr sz="2750" spc="20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65" dirty="0">
                <a:solidFill>
                  <a:srgbClr val="E64722"/>
                </a:solidFill>
                <a:latin typeface="Cambria"/>
                <a:cs typeface="Cambria"/>
              </a:rPr>
              <a:t>them</a:t>
            </a:r>
            <a:r>
              <a:rPr sz="2750" spc="65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384175" indent="-371475">
              <a:lnSpc>
                <a:spcPct val="100000"/>
              </a:lnSpc>
              <a:spcBef>
                <a:spcPts val="1735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dirty="0">
                <a:latin typeface="Cambria"/>
                <a:cs typeface="Cambria"/>
              </a:rPr>
              <a:t>It</a:t>
            </a:r>
            <a:r>
              <a:rPr sz="2750" spc="9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models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45" dirty="0">
                <a:solidFill>
                  <a:srgbClr val="E64722"/>
                </a:solidFill>
                <a:latin typeface="Cambria"/>
                <a:cs typeface="Cambria"/>
              </a:rPr>
              <a:t>behavior</a:t>
            </a:r>
            <a:r>
              <a:rPr sz="2750" spc="15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E64722"/>
                </a:solidFill>
                <a:latin typeface="Cambria"/>
                <a:cs typeface="Cambria"/>
              </a:rPr>
              <a:t>of</a:t>
            </a:r>
            <a:r>
              <a:rPr sz="2750" spc="16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E64722"/>
                </a:solidFill>
                <a:latin typeface="Cambria"/>
                <a:cs typeface="Cambria"/>
              </a:rPr>
              <a:t>a</a:t>
            </a:r>
            <a:r>
              <a:rPr sz="2750" spc="13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E64722"/>
                </a:solidFill>
                <a:latin typeface="Cambria"/>
                <a:cs typeface="Cambria"/>
              </a:rPr>
              <a:t>system</a:t>
            </a:r>
            <a:r>
              <a:rPr sz="2750" spc="12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with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well-</a:t>
            </a:r>
            <a:r>
              <a:rPr sz="2750" spc="80" dirty="0">
                <a:latin typeface="Cambria"/>
                <a:cs typeface="Cambria"/>
              </a:rPr>
              <a:t>defined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E64722"/>
                </a:solidFill>
                <a:latin typeface="Cambria"/>
                <a:cs typeface="Cambria"/>
              </a:rPr>
              <a:t>states.</a:t>
            </a:r>
            <a:endParaRPr sz="2750">
              <a:latin typeface="Cambria"/>
              <a:cs typeface="Cambria"/>
            </a:endParaRPr>
          </a:p>
          <a:p>
            <a:pPr marL="383540" indent="-370840">
              <a:lnSpc>
                <a:spcPct val="100000"/>
              </a:lnSpc>
              <a:spcBef>
                <a:spcPts val="1730"/>
              </a:spcBef>
              <a:buFont typeface="Wingdings"/>
              <a:buChar char=""/>
              <a:tabLst>
                <a:tab pos="383540" algn="l"/>
              </a:tabLst>
            </a:pPr>
            <a:r>
              <a:rPr sz="2750" dirty="0">
                <a:latin typeface="Cambria"/>
                <a:cs typeface="Cambria"/>
              </a:rPr>
              <a:t>Statechart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diagrams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typically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used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E64722"/>
                </a:solidFill>
                <a:latin typeface="Cambria"/>
                <a:cs typeface="Cambria"/>
              </a:rPr>
              <a:t>model</a:t>
            </a:r>
            <a:r>
              <a:rPr sz="2750" spc="14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75" dirty="0">
                <a:solidFill>
                  <a:srgbClr val="E64722"/>
                </a:solidFill>
                <a:latin typeface="Cambria"/>
                <a:cs typeface="Cambria"/>
              </a:rPr>
              <a:t>complex</a:t>
            </a:r>
            <a:r>
              <a:rPr sz="2750" spc="16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750" spc="40" dirty="0">
                <a:solidFill>
                  <a:srgbClr val="E64722"/>
                </a:solidFill>
                <a:latin typeface="Cambria"/>
                <a:cs typeface="Cambria"/>
              </a:rPr>
              <a:t>systems</a:t>
            </a:r>
            <a:r>
              <a:rPr sz="2750" spc="4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70" dirty="0"/>
              <a:t>State</a:t>
            </a:r>
            <a:r>
              <a:rPr spc="265" dirty="0"/>
              <a:t> </a:t>
            </a:r>
            <a:r>
              <a:rPr spc="204" dirty="0"/>
              <a:t>Chart</a:t>
            </a:r>
            <a:r>
              <a:rPr spc="20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39500" cy="454025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20"/>
              </a:spcBef>
              <a:buClr>
                <a:srgbClr val="000000"/>
              </a:buClr>
              <a:buFont typeface="Wingdings"/>
              <a:buChar char=""/>
              <a:tabLst>
                <a:tab pos="384175" algn="l"/>
              </a:tabLst>
            </a:pPr>
            <a:r>
              <a:rPr sz="2750" b="1" spc="-10" dirty="0">
                <a:solidFill>
                  <a:srgbClr val="E64722"/>
                </a:solidFill>
                <a:latin typeface="Palatino Linotype"/>
                <a:cs typeface="Palatino Linotype"/>
              </a:rPr>
              <a:t>Components</a:t>
            </a:r>
            <a:endParaRPr sz="2750">
              <a:latin typeface="Palatino Linotype"/>
              <a:cs typeface="Palatino Linotype"/>
            </a:endParaRPr>
          </a:p>
          <a:p>
            <a:pPr marL="788670" lvl="1" indent="-318770">
              <a:lnSpc>
                <a:spcPct val="100000"/>
              </a:lnSpc>
              <a:spcBef>
                <a:spcPts val="1560"/>
              </a:spcBef>
              <a:buClr>
                <a:srgbClr val="000000"/>
              </a:buClr>
              <a:buFont typeface="Wingdings"/>
              <a:buChar char=""/>
              <a:tabLst>
                <a:tab pos="788670" algn="l"/>
              </a:tabLst>
            </a:pP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State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360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distinct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stage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object/system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passes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through.</a:t>
            </a:r>
            <a:endParaRPr sz="2400">
              <a:latin typeface="Cambria"/>
              <a:cs typeface="Cambria"/>
            </a:endParaRPr>
          </a:p>
          <a:p>
            <a:pPr marL="712470" lvl="1" indent="-255904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Initial:</a:t>
            </a:r>
            <a:r>
              <a:rPr sz="2400" spc="41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4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4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45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when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created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(represented</a:t>
            </a:r>
            <a:r>
              <a:rPr sz="2400" spc="4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by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filled</a:t>
            </a:r>
            <a:r>
              <a:rPr sz="2400" spc="409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black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-10" dirty="0">
                <a:latin typeface="Cambria"/>
                <a:cs typeface="Cambria"/>
              </a:rPr>
              <a:t>circle).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  <a:tab pos="1669414" algn="l"/>
                <a:tab pos="2107565" algn="l"/>
                <a:tab pos="2936875" algn="l"/>
                <a:tab pos="3798570" algn="l"/>
                <a:tab pos="4834255" algn="l"/>
                <a:tab pos="5460365" algn="l"/>
                <a:tab pos="6449695" algn="l"/>
                <a:tab pos="7279005" algn="l"/>
                <a:tab pos="7926070" algn="l"/>
                <a:tab pos="8882380" algn="l"/>
                <a:tab pos="9351010" algn="l"/>
                <a:tab pos="10594975" algn="l"/>
              </a:tabLst>
            </a:pPr>
            <a:r>
              <a:rPr sz="2400" spc="-10" dirty="0">
                <a:solidFill>
                  <a:srgbClr val="E64722"/>
                </a:solidFill>
                <a:latin typeface="Cambria"/>
                <a:cs typeface="Cambria"/>
              </a:rPr>
              <a:t>Final: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400" spc="310" dirty="0">
                <a:latin typeface="Cambria"/>
                <a:cs typeface="Cambria"/>
              </a:rPr>
              <a:t>A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state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from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which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the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object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does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not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move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another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state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mbria"/>
                <a:cs typeface="Cambria"/>
              </a:rPr>
              <a:t>(represented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by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unfilled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circle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inner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black-filled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circle);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0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Intermediate:</a:t>
            </a:r>
            <a:r>
              <a:rPr sz="2400" spc="28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190" dirty="0">
                <a:latin typeface="Cambria"/>
                <a:cs typeface="Cambria"/>
              </a:rPr>
              <a:t>Any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</a:t>
            </a:r>
            <a:r>
              <a:rPr sz="2400" spc="2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</a:t>
            </a:r>
            <a:r>
              <a:rPr sz="2400" spc="3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initial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26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final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(represented</a:t>
            </a:r>
            <a:r>
              <a:rPr sz="2400" spc="29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by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90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rounded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-10" dirty="0">
                <a:latin typeface="Cambria"/>
                <a:cs typeface="Cambria"/>
              </a:rPr>
              <a:t>rectangle).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70" dirty="0"/>
              <a:t>State</a:t>
            </a:r>
            <a:r>
              <a:rPr spc="265" dirty="0"/>
              <a:t> </a:t>
            </a:r>
            <a:r>
              <a:rPr spc="204" dirty="0"/>
              <a:t>Chart</a:t>
            </a:r>
            <a:r>
              <a:rPr spc="20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29340" cy="4740275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20"/>
              </a:spcBef>
              <a:buClr>
                <a:srgbClr val="000000"/>
              </a:buClr>
              <a:buFont typeface="Wingdings"/>
              <a:buChar char=""/>
              <a:tabLst>
                <a:tab pos="384175" algn="l"/>
              </a:tabLst>
            </a:pPr>
            <a:r>
              <a:rPr sz="2750" b="1" spc="-10" dirty="0">
                <a:solidFill>
                  <a:srgbClr val="E64722"/>
                </a:solidFill>
                <a:latin typeface="Palatino Linotype"/>
                <a:cs typeface="Palatino Linotype"/>
              </a:rPr>
              <a:t>Components</a:t>
            </a:r>
            <a:endParaRPr sz="2750">
              <a:latin typeface="Palatino Linotype"/>
              <a:cs typeface="Palatino Linotype"/>
            </a:endParaRPr>
          </a:p>
          <a:p>
            <a:pPr marL="712470" lvl="1" indent="-255270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  <a:tab pos="3663315" algn="l"/>
              </a:tabLst>
            </a:pPr>
            <a:r>
              <a:rPr sz="2400" spc="110" dirty="0">
                <a:solidFill>
                  <a:srgbClr val="E64722"/>
                </a:solidFill>
                <a:latin typeface="Cambria"/>
                <a:cs typeface="Cambria"/>
              </a:rPr>
              <a:t>Name</a:t>
            </a:r>
            <a:r>
              <a:rPr sz="2400" spc="7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E64722"/>
                </a:solidFill>
                <a:latin typeface="Cambria"/>
                <a:cs typeface="Cambria"/>
              </a:rPr>
              <a:t>compartment: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	</a:t>
            </a:r>
            <a:r>
              <a:rPr sz="2400" spc="55" dirty="0">
                <a:latin typeface="Cambria"/>
                <a:cs typeface="Cambria"/>
              </a:rPr>
              <a:t>Contains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name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state.</a:t>
            </a:r>
            <a:endParaRPr sz="2400">
              <a:latin typeface="Cambria"/>
              <a:cs typeface="Cambria"/>
            </a:endParaRPr>
          </a:p>
          <a:p>
            <a:pPr marL="712470" lvl="1" indent="-255904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Internal</a:t>
            </a:r>
            <a:r>
              <a:rPr sz="2400" spc="37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transitions</a:t>
            </a:r>
            <a:r>
              <a:rPr sz="2400" spc="37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compartment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Lists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internal</a:t>
            </a:r>
            <a:r>
              <a:rPr sz="2400" spc="4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activities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performed</a:t>
            </a:r>
            <a:r>
              <a:rPr sz="2400" spc="3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while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in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state,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using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syntax: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action-label</a:t>
            </a:r>
            <a:r>
              <a:rPr sz="2400" spc="15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270" dirty="0">
                <a:solidFill>
                  <a:srgbClr val="E64722"/>
                </a:solidFill>
                <a:latin typeface="Cambria"/>
                <a:cs typeface="Cambria"/>
              </a:rPr>
              <a:t>/</a:t>
            </a:r>
            <a:r>
              <a:rPr sz="2400" spc="12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action-</a:t>
            </a:r>
            <a:r>
              <a:rPr sz="2400" spc="-10" dirty="0">
                <a:solidFill>
                  <a:srgbClr val="E64722"/>
                </a:solidFill>
                <a:latin typeface="Cambria"/>
                <a:cs typeface="Cambria"/>
              </a:rPr>
              <a:t>expression</a:t>
            </a:r>
            <a:r>
              <a:rPr sz="2400" spc="-10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Special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action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labels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include:</a:t>
            </a:r>
            <a:endParaRPr sz="24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1350"/>
              </a:spcBef>
              <a:buFont typeface="Wingdings"/>
              <a:buChar char=""/>
              <a:tabLst>
                <a:tab pos="1155700" algn="l"/>
              </a:tabLst>
            </a:pPr>
            <a:r>
              <a:rPr sz="2000" dirty="0">
                <a:solidFill>
                  <a:srgbClr val="E64722"/>
                </a:solidFill>
                <a:latin typeface="Cambria"/>
                <a:cs typeface="Cambria"/>
              </a:rPr>
              <a:t>Entry</a:t>
            </a:r>
            <a:r>
              <a:rPr sz="2000" dirty="0">
                <a:latin typeface="Cambria"/>
                <a:cs typeface="Cambria"/>
              </a:rPr>
              <a:t>: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Activity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performed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upon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entering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state.</a:t>
            </a:r>
            <a:endParaRPr sz="20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1155700" algn="l"/>
              </a:tabLst>
            </a:pPr>
            <a:r>
              <a:rPr sz="2000" dirty="0">
                <a:solidFill>
                  <a:srgbClr val="E64722"/>
                </a:solidFill>
                <a:latin typeface="Cambria"/>
                <a:cs typeface="Cambria"/>
              </a:rPr>
              <a:t>Exit:</a:t>
            </a:r>
            <a:r>
              <a:rPr sz="2000" spc="17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Activity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performed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upon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exiting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state.</a:t>
            </a:r>
            <a:endParaRPr sz="20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1155700" algn="l"/>
              </a:tabLst>
            </a:pPr>
            <a:r>
              <a:rPr sz="2000" spc="70" dirty="0">
                <a:solidFill>
                  <a:srgbClr val="E64722"/>
                </a:solidFill>
                <a:latin typeface="Cambria"/>
                <a:cs typeface="Cambria"/>
              </a:rPr>
              <a:t>Do:</a:t>
            </a:r>
            <a:r>
              <a:rPr sz="2000" spc="13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Activity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performed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while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in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state.</a:t>
            </a:r>
            <a:endParaRPr sz="2000">
              <a:latin typeface="Cambria"/>
              <a:cs typeface="Cambria"/>
            </a:endParaRPr>
          </a:p>
          <a:p>
            <a:pPr marL="1155700" lvl="2" indent="-2279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1155700" algn="l"/>
              </a:tabLst>
            </a:pPr>
            <a:r>
              <a:rPr sz="2000" dirty="0">
                <a:solidFill>
                  <a:srgbClr val="E64722"/>
                </a:solidFill>
                <a:latin typeface="Cambria"/>
                <a:cs typeface="Cambria"/>
              </a:rPr>
              <a:t>Include:</a:t>
            </a:r>
            <a:r>
              <a:rPr sz="2000" spc="210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Invocation</a:t>
            </a:r>
            <a:r>
              <a:rPr sz="2000" spc="23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of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2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sub-</a:t>
            </a:r>
            <a:r>
              <a:rPr sz="2000" spc="-10" dirty="0">
                <a:latin typeface="Cambria"/>
                <a:cs typeface="Cambria"/>
              </a:rPr>
              <a:t>machine.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70" dirty="0"/>
              <a:t>State</a:t>
            </a:r>
            <a:r>
              <a:rPr spc="265" dirty="0"/>
              <a:t> </a:t>
            </a:r>
            <a:r>
              <a:rPr spc="204" dirty="0"/>
              <a:t>Chart</a:t>
            </a:r>
            <a:r>
              <a:rPr spc="20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45850" cy="454025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20"/>
              </a:spcBef>
              <a:buClr>
                <a:srgbClr val="000000"/>
              </a:buClr>
              <a:buFont typeface="Wingdings"/>
              <a:buChar char=""/>
              <a:tabLst>
                <a:tab pos="384175" algn="l"/>
              </a:tabLst>
            </a:pPr>
            <a:r>
              <a:rPr sz="2750" b="1" spc="-10" dirty="0">
                <a:solidFill>
                  <a:srgbClr val="E64722"/>
                </a:solidFill>
                <a:latin typeface="Palatino Linotype"/>
                <a:cs typeface="Palatino Linotype"/>
              </a:rPr>
              <a:t>Components</a:t>
            </a:r>
            <a:endParaRPr sz="2750">
              <a:latin typeface="Palatino Linotype"/>
              <a:cs typeface="Palatino Linotype"/>
            </a:endParaRPr>
          </a:p>
          <a:p>
            <a:pPr marL="699135" marR="16510" lvl="1" indent="-229235" algn="just">
              <a:lnSpc>
                <a:spcPct val="151300"/>
              </a:lnSpc>
              <a:spcBef>
                <a:spcPts val="80"/>
              </a:spcBef>
              <a:buClr>
                <a:srgbClr val="000000"/>
              </a:buClr>
              <a:buFont typeface="Wingdings"/>
              <a:buChar char=""/>
              <a:tabLst>
                <a:tab pos="699135" algn="l"/>
                <a:tab pos="788670" algn="l"/>
              </a:tabLst>
            </a:pP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Transition:</a:t>
            </a:r>
            <a:r>
              <a:rPr sz="2400" spc="409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Movement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40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another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4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response</a:t>
            </a:r>
            <a:r>
              <a:rPr sz="2400" spc="4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external </a:t>
            </a:r>
            <a:r>
              <a:rPr sz="2400" spc="45" dirty="0">
                <a:latin typeface="Cambria"/>
                <a:cs typeface="Cambria"/>
              </a:rPr>
              <a:t>stimulus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internal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event</a:t>
            </a:r>
            <a:r>
              <a:rPr sz="2400" spc="4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(represented</a:t>
            </a:r>
            <a:r>
              <a:rPr sz="2400" spc="4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by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solid</a:t>
            </a:r>
            <a:r>
              <a:rPr sz="2400" spc="3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arrow).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Labeled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as: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event </a:t>
            </a:r>
            <a:r>
              <a:rPr sz="2400" dirty="0">
                <a:latin typeface="Cambria"/>
                <a:cs typeface="Cambria"/>
              </a:rPr>
              <a:t>[guard-condition]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/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[action-</a:t>
            </a:r>
            <a:r>
              <a:rPr sz="2400" spc="-10" dirty="0">
                <a:latin typeface="Cambria"/>
                <a:cs typeface="Cambria"/>
              </a:rPr>
              <a:t>expression].</a:t>
            </a:r>
            <a:endParaRPr sz="2400">
              <a:latin typeface="Cambria"/>
              <a:cs typeface="Cambria"/>
            </a:endParaRPr>
          </a:p>
          <a:p>
            <a:pPr marL="712470" lvl="1" indent="-255270" algn="just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Event:</a:t>
            </a:r>
            <a:r>
              <a:rPr sz="2400" spc="16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What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causes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transition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(mandatory,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written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past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tense).</a:t>
            </a:r>
            <a:endParaRPr sz="2400">
              <a:latin typeface="Cambria"/>
              <a:cs typeface="Cambria"/>
            </a:endParaRPr>
          </a:p>
          <a:p>
            <a:pPr marL="712470" lvl="1" indent="-255904" algn="just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90" dirty="0">
                <a:solidFill>
                  <a:srgbClr val="E64722"/>
                </a:solidFill>
                <a:latin typeface="Cambria"/>
                <a:cs typeface="Cambria"/>
              </a:rPr>
              <a:t>Guard-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condition:</a:t>
            </a:r>
            <a:r>
              <a:rPr sz="2400" spc="215" dirty="0">
                <a:solidFill>
                  <a:srgbClr val="E64722"/>
                </a:solidFill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Precondition(s)</a:t>
            </a:r>
            <a:r>
              <a:rPr sz="2400" spc="21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22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must</a:t>
            </a:r>
            <a:r>
              <a:rPr sz="2400" spc="22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204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true</a:t>
            </a:r>
            <a:r>
              <a:rPr sz="2400" spc="19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22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2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transition</a:t>
            </a:r>
            <a:r>
              <a:rPr sz="2400" spc="22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to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05"/>
              </a:spcBef>
            </a:pPr>
            <a:r>
              <a:rPr sz="2400" dirty="0">
                <a:latin typeface="Cambria"/>
                <a:cs typeface="Cambria"/>
              </a:rPr>
              <a:t>happen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(optional).</a:t>
            </a:r>
            <a:endParaRPr sz="2400">
              <a:latin typeface="Cambria"/>
              <a:cs typeface="Cambria"/>
            </a:endParaRPr>
          </a:p>
          <a:p>
            <a:pPr marL="712470" lvl="1" indent="-255904" algn="just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60" dirty="0">
                <a:solidFill>
                  <a:srgbClr val="E64722"/>
                </a:solidFill>
                <a:latin typeface="Cambria"/>
                <a:cs typeface="Cambria"/>
              </a:rPr>
              <a:t>Action-</a:t>
            </a:r>
            <a:r>
              <a:rPr sz="2400" dirty="0">
                <a:solidFill>
                  <a:srgbClr val="E64722"/>
                </a:solidFill>
                <a:latin typeface="Cambria"/>
                <a:cs typeface="Cambria"/>
              </a:rPr>
              <a:t>expression:</a:t>
            </a:r>
            <a:r>
              <a:rPr sz="2400" spc="135" dirty="0">
                <a:solidFill>
                  <a:srgbClr val="E64722"/>
                </a:solidFill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Action(s)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result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transition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(optional).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70" dirty="0"/>
              <a:t>State</a:t>
            </a:r>
            <a:r>
              <a:rPr spc="265" dirty="0"/>
              <a:t> </a:t>
            </a:r>
            <a:r>
              <a:rPr spc="204" dirty="0"/>
              <a:t>Chart</a:t>
            </a:r>
            <a:r>
              <a:rPr spc="20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2478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Font typeface="Wingdings"/>
              <a:buChar char=""/>
              <a:tabLst>
                <a:tab pos="384175" algn="l"/>
              </a:tabLst>
            </a:pPr>
            <a:r>
              <a:rPr sz="2750" b="1" spc="-10" dirty="0">
                <a:solidFill>
                  <a:srgbClr val="E64722"/>
                </a:solidFill>
                <a:latin typeface="Palatino Linotype"/>
                <a:cs typeface="Palatino Linotype"/>
              </a:rPr>
              <a:t>Components</a:t>
            </a:r>
            <a:endParaRPr sz="2750">
              <a:latin typeface="Palatino Linotype"/>
              <a:cs typeface="Palatino Linotyp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494" y="1993900"/>
            <a:ext cx="3193783" cy="622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2400" y="1466850"/>
            <a:ext cx="2959100" cy="1524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1975" y="3803650"/>
            <a:ext cx="111379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40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70" dirty="0"/>
              <a:t>State</a:t>
            </a:r>
            <a:r>
              <a:rPr spc="265" dirty="0"/>
              <a:t> </a:t>
            </a:r>
            <a:r>
              <a:rPr spc="204" dirty="0"/>
              <a:t>Chart</a:t>
            </a:r>
            <a:r>
              <a:rPr spc="200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39500" cy="2889885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20"/>
              </a:spcBef>
              <a:buClr>
                <a:srgbClr val="000000"/>
              </a:buClr>
              <a:buFont typeface="Wingdings"/>
              <a:buChar char=""/>
              <a:tabLst>
                <a:tab pos="384175" algn="l"/>
              </a:tabLst>
            </a:pPr>
            <a:r>
              <a:rPr sz="2750" b="1" spc="-10" dirty="0">
                <a:solidFill>
                  <a:srgbClr val="E64722"/>
                </a:solidFill>
                <a:latin typeface="Palatino Linotype"/>
                <a:cs typeface="Palatino Linotype"/>
              </a:rPr>
              <a:t>Guidelines</a:t>
            </a:r>
            <a:endParaRPr sz="2750">
              <a:latin typeface="Palatino Linotype"/>
              <a:cs typeface="Palatino Linotype"/>
            </a:endParaRPr>
          </a:p>
          <a:p>
            <a:pPr marL="788670" lvl="1" indent="-31877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45" dirty="0">
                <a:latin typeface="Cambria"/>
                <a:cs typeface="Cambria"/>
              </a:rPr>
              <a:t>Identify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distinct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passes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through.</a:t>
            </a:r>
            <a:endParaRPr sz="240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45" dirty="0">
                <a:latin typeface="Cambria"/>
                <a:cs typeface="Cambria"/>
              </a:rPr>
              <a:t>Identify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events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(and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preconditions)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cause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state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transitions.</a:t>
            </a:r>
            <a:endParaRPr sz="2400">
              <a:latin typeface="Cambria"/>
              <a:cs typeface="Cambria"/>
            </a:endParaRPr>
          </a:p>
          <a:p>
            <a:pPr marL="699135" marR="5080" lvl="1" indent="-229235">
              <a:lnSpc>
                <a:spcPct val="148600"/>
              </a:lnSpc>
              <a:spcBef>
                <a:spcPts val="75"/>
              </a:spcBef>
              <a:buFont typeface="Wingdings"/>
              <a:buChar char=""/>
              <a:tabLst>
                <a:tab pos="699135" algn="l"/>
                <a:tab pos="788670" algn="l"/>
              </a:tabLst>
            </a:pPr>
            <a:r>
              <a:rPr sz="2400" spc="45" dirty="0">
                <a:latin typeface="Cambria"/>
                <a:cs typeface="Cambria"/>
              </a:rPr>
              <a:t>	Identify</a:t>
            </a:r>
            <a:r>
              <a:rPr sz="2400" spc="43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what</a:t>
            </a:r>
            <a:r>
              <a:rPr sz="2400" spc="4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activities</a:t>
            </a:r>
            <a:r>
              <a:rPr sz="2400" spc="4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are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performed</a:t>
            </a:r>
            <a:r>
              <a:rPr sz="2400" spc="4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while</a:t>
            </a:r>
            <a:r>
              <a:rPr sz="2400" spc="4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459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</a:t>
            </a:r>
            <a:r>
              <a:rPr sz="2400" spc="4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remains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</a:t>
            </a:r>
            <a:r>
              <a:rPr sz="2400" spc="4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44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given </a:t>
            </a:r>
            <a:r>
              <a:rPr sz="2400" spc="-10" dirty="0">
                <a:latin typeface="Cambria"/>
                <a:cs typeface="Cambria"/>
              </a:rPr>
              <a:t>state.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170" dirty="0"/>
              <a:t>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161732"/>
            <a:ext cx="11235690" cy="5008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470" indent="-31877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Wingdings"/>
              <a:buChar char=""/>
              <a:tabLst>
                <a:tab pos="331470" algn="l"/>
              </a:tabLst>
            </a:pPr>
            <a:r>
              <a:rPr sz="2400" b="1" dirty="0">
                <a:solidFill>
                  <a:srgbClr val="FF1C05"/>
                </a:solidFill>
                <a:latin typeface="Palatino Linotype"/>
                <a:cs typeface="Palatino Linotype"/>
              </a:rPr>
              <a:t>Sequence</a:t>
            </a:r>
            <a:r>
              <a:rPr sz="2400" b="1" spc="50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400" b="1" dirty="0">
                <a:solidFill>
                  <a:srgbClr val="FF1C05"/>
                </a:solidFill>
                <a:latin typeface="Palatino Linotype"/>
                <a:cs typeface="Palatino Linotype"/>
              </a:rPr>
              <a:t>Diagram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Shows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interactions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message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passing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over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time.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15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55270" indent="-249554">
              <a:lnSpc>
                <a:spcPct val="100000"/>
              </a:lnSpc>
              <a:buSzPct val="93750"/>
              <a:buFont typeface="Wingdings"/>
              <a:buChar char=""/>
              <a:tabLst>
                <a:tab pos="255270" algn="l"/>
              </a:tabLst>
            </a:pPr>
            <a:r>
              <a:rPr sz="2400" b="1" dirty="0">
                <a:solidFill>
                  <a:srgbClr val="FF1C05"/>
                </a:solidFill>
                <a:latin typeface="Palatino Linotype"/>
                <a:cs typeface="Palatino Linotype"/>
              </a:rPr>
              <a:t>Elements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Objects,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lifelines,</a:t>
            </a:r>
            <a:r>
              <a:rPr sz="2400" spc="20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messages.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41300" marR="5080" indent="-235585">
              <a:lnSpc>
                <a:spcPct val="140800"/>
              </a:lnSpc>
              <a:buSzPct val="93750"/>
              <a:buFont typeface="Wingdings"/>
              <a:buChar char=""/>
              <a:tabLst>
                <a:tab pos="241300" algn="l"/>
                <a:tab pos="254635" algn="l"/>
              </a:tabLst>
            </a:pPr>
            <a:r>
              <a:rPr sz="2400" b="1" dirty="0">
                <a:latin typeface="Palatino Linotype"/>
                <a:cs typeface="Palatino Linotype"/>
              </a:rPr>
              <a:t>Object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Instance</a:t>
            </a:r>
            <a:r>
              <a:rPr sz="2400" spc="4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class.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Represented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by</a:t>
            </a:r>
            <a:r>
              <a:rPr sz="2400" spc="3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box</a:t>
            </a:r>
            <a:r>
              <a:rPr sz="2400" spc="3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at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top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345" dirty="0">
                <a:latin typeface="Cambria"/>
                <a:cs typeface="Cambr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object</a:t>
            </a:r>
            <a:r>
              <a:rPr sz="2400" u="sng" spc="3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name</a:t>
            </a:r>
            <a:r>
              <a:rPr sz="2400" u="sng" spc="3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:</a:t>
            </a:r>
            <a:r>
              <a:rPr sz="2400" spc="-50" dirty="0">
                <a:latin typeface="Cambria"/>
                <a:cs typeface="Cambr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class</a:t>
            </a:r>
            <a:r>
              <a:rPr sz="2400" u="sng" spc="1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name</a:t>
            </a:r>
            <a:r>
              <a:rPr sz="2400" u="sng" spc="14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(underlined).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420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55270" indent="-255270">
              <a:lnSpc>
                <a:spcPct val="100000"/>
              </a:lnSpc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b="1" dirty="0">
                <a:solidFill>
                  <a:srgbClr val="FF1C05"/>
                </a:solidFill>
                <a:latin typeface="Palatino Linotype"/>
                <a:cs typeface="Palatino Linotype"/>
              </a:rPr>
              <a:t>Lifeline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Vertical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representing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object's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existence.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340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55270" indent="-255270">
              <a:lnSpc>
                <a:spcPct val="100000"/>
              </a:lnSpc>
              <a:buSzPct val="95833"/>
              <a:buFont typeface="Wingdings"/>
              <a:buChar char=""/>
              <a:tabLst>
                <a:tab pos="255270" algn="l"/>
              </a:tabLst>
            </a:pPr>
            <a:r>
              <a:rPr sz="2400" spc="50" dirty="0">
                <a:solidFill>
                  <a:srgbClr val="FF0000"/>
                </a:solidFill>
                <a:latin typeface="Cambria"/>
                <a:cs typeface="Cambria"/>
              </a:rPr>
              <a:t>Activation</a:t>
            </a:r>
            <a:r>
              <a:rPr sz="2400" spc="13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box</a:t>
            </a:r>
            <a:r>
              <a:rPr sz="240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lifeline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shows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when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active.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170" dirty="0"/>
              <a:t>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3150" cy="3526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2141220" algn="l"/>
                <a:tab pos="4892675" algn="l"/>
                <a:tab pos="6415405" algn="l"/>
                <a:tab pos="7769225" algn="l"/>
                <a:tab pos="9163685" algn="l"/>
                <a:tab pos="10499725" algn="l"/>
              </a:tabLst>
            </a:pP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	Messages</a:t>
            </a:r>
            <a:r>
              <a:rPr sz="2750" spc="-10" dirty="0">
                <a:latin typeface="Cambria"/>
                <a:cs typeface="Cambria"/>
              </a:rPr>
              <a:t>: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5" dirty="0">
                <a:latin typeface="Cambria"/>
                <a:cs typeface="Cambria"/>
              </a:rPr>
              <a:t>Communication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between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objects.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90" dirty="0">
                <a:latin typeface="Cambria"/>
                <a:cs typeface="Cambria"/>
              </a:rPr>
              <a:t>Arrows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labeled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5" dirty="0">
                <a:latin typeface="Cambria"/>
                <a:cs typeface="Cambria"/>
              </a:rPr>
              <a:t>with </a:t>
            </a:r>
            <a:r>
              <a:rPr sz="2750" spc="50" dirty="0">
                <a:latin typeface="Cambria"/>
                <a:cs typeface="Cambria"/>
              </a:rPr>
              <a:t>message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name.</a:t>
            </a:r>
            <a:endParaRPr sz="275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Synchronous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Sender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waits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for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receiver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finish.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Filled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arrowhead.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Asynchronous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Sender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doesn't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wait.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Open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arrowhead.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Return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Value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returned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message.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Dashed</a:t>
            </a:r>
            <a:r>
              <a:rPr sz="2400" spc="1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arrow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open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arrowhead.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spc="-10" dirty="0">
                <a:latin typeface="Palatino Linotype"/>
                <a:cs typeface="Palatino Linotype"/>
              </a:rPr>
              <a:t>Self-</a:t>
            </a:r>
            <a:r>
              <a:rPr sz="2400" b="1" dirty="0">
                <a:latin typeface="Palatino Linotype"/>
                <a:cs typeface="Palatino Linotype"/>
              </a:rPr>
              <a:t>Message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Object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sending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message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itself.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170" dirty="0"/>
              <a:t>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195707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Messages</a:t>
            </a:r>
            <a:r>
              <a:rPr sz="2750" spc="-10" dirty="0">
                <a:latin typeface="Cambria"/>
                <a:cs typeface="Cambria"/>
              </a:rPr>
              <a:t>: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6019" y="1815217"/>
            <a:ext cx="10998731" cy="2939786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170" dirty="0"/>
              <a:t>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367919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Example</a:t>
            </a:r>
            <a:r>
              <a:rPr sz="2750" b="1" spc="120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Issue</a:t>
            </a:r>
            <a:r>
              <a:rPr sz="2750" b="1" spc="170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Book</a:t>
            </a:r>
            <a:r>
              <a:rPr sz="2750" spc="-10" dirty="0">
                <a:latin typeface="Cambria"/>
                <a:cs typeface="Cambria"/>
              </a:rPr>
              <a:t>: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6621" y="1771650"/>
            <a:ext cx="7372446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170" dirty="0"/>
              <a:t>Sequence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42919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Example</a:t>
            </a:r>
            <a:r>
              <a:rPr sz="2750" b="1" spc="17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dirty="0">
                <a:solidFill>
                  <a:srgbClr val="FF1C05"/>
                </a:solidFill>
                <a:latin typeface="Palatino Linotype"/>
                <a:cs typeface="Palatino Linotype"/>
              </a:rPr>
              <a:t>Purchase</a:t>
            </a:r>
            <a:r>
              <a:rPr sz="2750" b="1" spc="195" dirty="0">
                <a:solidFill>
                  <a:srgbClr val="FF1C05"/>
                </a:solidFill>
                <a:latin typeface="Palatino Linotype"/>
                <a:cs typeface="Palatino Linotype"/>
              </a:rPr>
              <a:t> </a:t>
            </a:r>
            <a:r>
              <a:rPr sz="275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Book</a:t>
            </a:r>
            <a:r>
              <a:rPr sz="2750" spc="-10" dirty="0">
                <a:latin typeface="Cambria"/>
                <a:cs typeface="Cambria"/>
              </a:rPr>
              <a:t>: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2934" y="1047750"/>
            <a:ext cx="6646122" cy="542925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2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7550" y="1209039"/>
            <a:ext cx="849630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spc="-10" dirty="0">
                <a:latin typeface="Cambria"/>
                <a:cs typeface="Cambria"/>
              </a:rPr>
              <a:t>static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8950" y="983996"/>
            <a:ext cx="10102215" cy="1962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1437640" algn="l"/>
                <a:tab pos="3220720" algn="l"/>
                <a:tab pos="5080000" algn="l"/>
                <a:tab pos="7662545" algn="l"/>
                <a:tab pos="8282305" algn="l"/>
                <a:tab pos="8767445" algn="l"/>
              </a:tabLst>
            </a:pPr>
            <a:r>
              <a:rPr sz="2750" spc="90" dirty="0">
                <a:solidFill>
                  <a:srgbClr val="FF1C05"/>
                </a:solidFill>
                <a:latin typeface="Cambria"/>
                <a:cs typeface="Cambria"/>
              </a:rPr>
              <a:t>	Class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80" dirty="0">
                <a:solidFill>
                  <a:srgbClr val="FF1C05"/>
                </a:solidFill>
                <a:latin typeface="Cambria"/>
                <a:cs typeface="Cambria"/>
              </a:rPr>
              <a:t>Diagram</a:t>
            </a:r>
            <a:r>
              <a:rPr sz="2750" spc="80" dirty="0">
                <a:latin typeface="Cambria"/>
                <a:cs typeface="Cambria"/>
              </a:rPr>
              <a:t>: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80" dirty="0">
                <a:latin typeface="Cambria"/>
                <a:cs typeface="Cambria"/>
              </a:rPr>
              <a:t>Graphical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representation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0" dirty="0">
                <a:latin typeface="Cambria"/>
                <a:cs typeface="Cambria"/>
              </a:rPr>
              <a:t>of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system's structure.</a:t>
            </a:r>
            <a:endParaRPr sz="275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Elements</a:t>
            </a:r>
            <a:r>
              <a:rPr sz="2750" dirty="0">
                <a:latin typeface="Cambria"/>
                <a:cs typeface="Cambria"/>
              </a:rPr>
              <a:t>:</a:t>
            </a:r>
            <a:r>
              <a:rPr sz="2750" spc="35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Classes,</a:t>
            </a:r>
            <a:r>
              <a:rPr sz="2750" spc="409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attributes,</a:t>
            </a:r>
            <a:r>
              <a:rPr sz="2750" spc="3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operations,</a:t>
            </a:r>
            <a:r>
              <a:rPr sz="2750" spc="350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40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relationships.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20070" y="3136328"/>
            <a:ext cx="1503680" cy="448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spc="50" dirty="0">
                <a:latin typeface="Cambria"/>
                <a:cs typeface="Cambria"/>
              </a:rPr>
              <a:t>behavior.</a:t>
            </a:r>
            <a:endParaRPr sz="27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8950" y="2920555"/>
            <a:ext cx="9449435" cy="29635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25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640" algn="l"/>
                <a:tab pos="1520825" algn="l"/>
                <a:tab pos="3307715" algn="l"/>
                <a:tab pos="4062095" algn="l"/>
                <a:tab pos="5430520" algn="l"/>
                <a:tab pos="6454775" algn="l"/>
                <a:tab pos="7849234" algn="l"/>
                <a:tab pos="8839835" algn="l"/>
              </a:tabLst>
            </a:pPr>
            <a:r>
              <a:rPr sz="2750" spc="70" dirty="0">
                <a:solidFill>
                  <a:srgbClr val="FF1C05"/>
                </a:solidFill>
                <a:latin typeface="Cambria"/>
                <a:cs typeface="Cambria"/>
              </a:rPr>
              <a:t>	Class:</a:t>
            </a:r>
            <a:r>
              <a:rPr sz="275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Blueprint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for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objects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with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similar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50" dirty="0">
                <a:latin typeface="Cambria"/>
                <a:cs typeface="Cambria"/>
              </a:rPr>
              <a:t>data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latin typeface="Cambria"/>
                <a:cs typeface="Cambria"/>
              </a:rPr>
              <a:t>and </a:t>
            </a:r>
            <a:r>
              <a:rPr sz="2750" dirty="0">
                <a:latin typeface="Cambria"/>
                <a:cs typeface="Cambria"/>
              </a:rPr>
              <a:t>Represented</a:t>
            </a:r>
            <a:r>
              <a:rPr sz="2750" spc="275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by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29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rectangle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with</a:t>
            </a:r>
            <a:r>
              <a:rPr sz="2750" spc="2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three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compartments:</a:t>
            </a:r>
            <a:endParaRPr sz="275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Class</a:t>
            </a:r>
            <a:r>
              <a:rPr sz="2400" b="1" spc="-3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Name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Unique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identifier.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Attributes:</a:t>
            </a:r>
            <a:r>
              <a:rPr sz="2400" b="1" spc="-5" dirty="0">
                <a:latin typeface="Palatino Linotype"/>
                <a:cs typeface="Palatino Linotype"/>
              </a:rPr>
              <a:t> </a:t>
            </a:r>
            <a:r>
              <a:rPr sz="2400" dirty="0">
                <a:latin typeface="Cambria"/>
                <a:cs typeface="Cambria"/>
              </a:rPr>
              <a:t>Properties</a:t>
            </a:r>
            <a:r>
              <a:rPr sz="2400" spc="65" dirty="0">
                <a:latin typeface="Cambria"/>
                <a:cs typeface="Cambria"/>
              </a:rPr>
              <a:t> of</a:t>
            </a:r>
            <a:r>
              <a:rPr sz="2400" spc="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(data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members).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0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Operations:</a:t>
            </a:r>
            <a:r>
              <a:rPr sz="2400" b="1" spc="20" dirty="0">
                <a:latin typeface="Palatino Linotype"/>
                <a:cs typeface="Palatino Linotype"/>
              </a:rPr>
              <a:t> </a:t>
            </a:r>
            <a:r>
              <a:rPr sz="2400" spc="55" dirty="0">
                <a:latin typeface="Cambria"/>
                <a:cs typeface="Cambria"/>
              </a:rPr>
              <a:t>Actions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class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perform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(member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functions).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2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22413"/>
            <a:ext cx="11242675" cy="5118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8255" indent="-229235">
              <a:lnSpc>
                <a:spcPct val="130400"/>
              </a:lnSpc>
              <a:spcBef>
                <a:spcPts val="95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  <a:tab pos="330835" algn="l"/>
                <a:tab pos="4795520" algn="l"/>
                <a:tab pos="6325870" algn="l"/>
                <a:tab pos="6492875" algn="l"/>
                <a:tab pos="8069580" algn="l"/>
                <a:tab pos="10126345" algn="l"/>
              </a:tabLst>
            </a:pPr>
            <a:r>
              <a:rPr sz="2400" b="1" spc="-10" dirty="0">
                <a:solidFill>
                  <a:srgbClr val="FF1C05"/>
                </a:solidFill>
                <a:latin typeface="Palatino Linotype"/>
                <a:cs typeface="Palatino Linotype"/>
              </a:rPr>
              <a:t>	Generalization/Specialization</a:t>
            </a:r>
            <a:r>
              <a:rPr sz="2400" spc="-10" dirty="0">
                <a:solidFill>
                  <a:srgbClr val="FF1C05"/>
                </a:solidFill>
                <a:latin typeface="Cambria"/>
                <a:cs typeface="Cambria"/>
              </a:rPr>
              <a:t>:</a:t>
            </a:r>
            <a:r>
              <a:rPr sz="2400" dirty="0">
                <a:solidFill>
                  <a:srgbClr val="FF1C05"/>
                </a:solidFill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Describes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inheritance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relationships.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55" dirty="0">
                <a:latin typeface="Cambria"/>
                <a:cs typeface="Cambria"/>
              </a:rPr>
              <a:t>Derived </a:t>
            </a:r>
            <a:r>
              <a:rPr sz="2400" dirty="0">
                <a:latin typeface="Cambria"/>
                <a:cs typeface="Cambria"/>
              </a:rPr>
              <a:t>classes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inherit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properties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from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parent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classes.</a:t>
            </a:r>
            <a:r>
              <a:rPr sz="2400" dirty="0">
                <a:latin typeface="Cambria"/>
                <a:cs typeface="Cambria"/>
              </a:rPr>
              <a:t>		</a:t>
            </a:r>
            <a:r>
              <a:rPr sz="2400" spc="60" dirty="0">
                <a:latin typeface="Cambria"/>
                <a:cs typeface="Cambria"/>
              </a:rPr>
              <a:t>"ISA"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relationship.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820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55270" indent="-255270">
              <a:lnSpc>
                <a:spcPct val="100000"/>
              </a:lnSpc>
              <a:buFont typeface="Wingdings"/>
              <a:buChar char=""/>
              <a:tabLst>
                <a:tab pos="255270" algn="l"/>
              </a:tabLst>
            </a:pPr>
            <a:r>
              <a:rPr sz="2400" b="1" dirty="0">
                <a:latin typeface="Palatino Linotype"/>
                <a:cs typeface="Palatino Linotype"/>
              </a:rPr>
              <a:t>Relationships:</a:t>
            </a:r>
            <a:r>
              <a:rPr sz="2400" b="1" spc="-4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Connections</a:t>
            </a:r>
            <a:r>
              <a:rPr sz="2400" b="1" spc="-3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between</a:t>
            </a:r>
            <a:r>
              <a:rPr sz="2400" b="1" spc="-60" dirty="0">
                <a:latin typeface="Palatino Linotype"/>
                <a:cs typeface="Palatino Linotype"/>
              </a:rPr>
              <a:t> </a:t>
            </a:r>
            <a:r>
              <a:rPr sz="2400" b="1" spc="-10" dirty="0">
                <a:latin typeface="Palatino Linotype"/>
                <a:cs typeface="Palatino Linotype"/>
              </a:rPr>
              <a:t>classes.</a:t>
            </a:r>
            <a:endParaRPr sz="2400">
              <a:latin typeface="Palatino Linotype"/>
              <a:cs typeface="Palatino Linotype"/>
            </a:endParaRPr>
          </a:p>
          <a:p>
            <a:pPr marL="699135" marR="10795" lvl="1" indent="-229235">
              <a:lnSpc>
                <a:spcPct val="128299"/>
              </a:lnSpc>
              <a:spcBef>
                <a:spcPts val="145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b="1" dirty="0">
                <a:latin typeface="Palatino Linotype"/>
                <a:cs typeface="Palatino Linotype"/>
              </a:rPr>
              <a:t>Association:</a:t>
            </a:r>
            <a:r>
              <a:rPr sz="2000" b="1" spc="33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Instance-level</a:t>
            </a:r>
            <a:r>
              <a:rPr sz="2000" spc="3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connection</a:t>
            </a:r>
            <a:r>
              <a:rPr sz="2000" spc="39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allowing</a:t>
            </a:r>
            <a:r>
              <a:rPr sz="2000" spc="3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message</a:t>
            </a:r>
            <a:r>
              <a:rPr sz="2000" spc="4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exchange.</a:t>
            </a:r>
            <a:r>
              <a:rPr sz="2000" spc="3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Line</a:t>
            </a:r>
            <a:r>
              <a:rPr sz="2000" spc="35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connecting</a:t>
            </a:r>
            <a:r>
              <a:rPr sz="2000" spc="37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classes. </a:t>
            </a:r>
            <a:r>
              <a:rPr sz="2000" spc="110" dirty="0">
                <a:latin typeface="Cambria"/>
                <a:cs typeface="Cambria"/>
              </a:rPr>
              <a:t>Can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have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name,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role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names,</a:t>
            </a:r>
            <a:r>
              <a:rPr sz="2000" spc="12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and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multiplicity.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Can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be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unidirectional.</a:t>
            </a:r>
            <a:endParaRPr sz="2000">
              <a:latin typeface="Cambria"/>
              <a:cs typeface="Cambria"/>
            </a:endParaRPr>
          </a:p>
          <a:p>
            <a:pPr marL="699135" marR="5080" lvl="1" indent="-229235">
              <a:lnSpc>
                <a:spcPts val="3160"/>
              </a:lnSpc>
              <a:spcBef>
                <a:spcPts val="225"/>
              </a:spcBef>
              <a:buFont typeface="Wingdings"/>
              <a:buChar char=""/>
              <a:tabLst>
                <a:tab pos="699135" algn="l"/>
                <a:tab pos="2390140" algn="l"/>
                <a:tab pos="4008754" algn="l"/>
                <a:tab pos="5547360" algn="l"/>
                <a:tab pos="6440170" algn="l"/>
                <a:tab pos="6981190" algn="l"/>
                <a:tab pos="7863840" algn="l"/>
                <a:tab pos="8991600" algn="l"/>
                <a:tab pos="9532620" algn="l"/>
                <a:tab pos="10354945" algn="l"/>
              </a:tabLst>
            </a:pPr>
            <a:r>
              <a:rPr sz="2000" b="1" spc="-10" dirty="0">
                <a:latin typeface="Palatino Linotype"/>
                <a:cs typeface="Palatino Linotype"/>
              </a:rPr>
              <a:t>Aggregation:</a:t>
            </a:r>
            <a:r>
              <a:rPr sz="2000" b="1" dirty="0">
                <a:latin typeface="Palatino Linotype"/>
                <a:cs typeface="Palatino Linotype"/>
              </a:rPr>
              <a:t>	</a:t>
            </a:r>
            <a:r>
              <a:rPr sz="2000" spc="-20" dirty="0">
                <a:latin typeface="Cambria"/>
                <a:cs typeface="Cambria"/>
              </a:rPr>
              <a:t>"Part-</a:t>
            </a:r>
            <a:r>
              <a:rPr sz="2000" spc="-10" dirty="0">
                <a:latin typeface="Cambria"/>
                <a:cs typeface="Cambria"/>
              </a:rPr>
              <a:t>whole"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relationship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where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the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whole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contains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25" dirty="0">
                <a:latin typeface="Cambria"/>
                <a:cs typeface="Cambria"/>
              </a:rPr>
              <a:t>the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parts.</a:t>
            </a:r>
            <a:r>
              <a:rPr sz="2000" dirty="0">
                <a:latin typeface="Cambria"/>
                <a:cs typeface="Cambria"/>
              </a:rPr>
              <a:t>	</a:t>
            </a:r>
            <a:r>
              <a:rPr sz="2000" spc="-10" dirty="0">
                <a:latin typeface="Cambria"/>
                <a:cs typeface="Cambria"/>
              </a:rPr>
              <a:t>Weaker </a:t>
            </a:r>
            <a:r>
              <a:rPr sz="2000" dirty="0">
                <a:latin typeface="Cambria"/>
                <a:cs typeface="Cambria"/>
              </a:rPr>
              <a:t>ownership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than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composition.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Represented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by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hollow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diamond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on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8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whole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side.</a:t>
            </a:r>
            <a:endParaRPr sz="2000">
              <a:latin typeface="Cambria"/>
              <a:cs typeface="Cambria"/>
            </a:endParaRPr>
          </a:p>
          <a:p>
            <a:pPr marL="698500" lvl="1" indent="-228600">
              <a:lnSpc>
                <a:spcPct val="100000"/>
              </a:lnSpc>
              <a:spcBef>
                <a:spcPts val="440"/>
              </a:spcBef>
              <a:buFont typeface="Wingdings"/>
              <a:buChar char=""/>
              <a:tabLst>
                <a:tab pos="698500" algn="l"/>
              </a:tabLst>
            </a:pPr>
            <a:r>
              <a:rPr sz="2000" b="1" dirty="0">
                <a:latin typeface="Palatino Linotype"/>
                <a:cs typeface="Palatino Linotype"/>
              </a:rPr>
              <a:t>Composition:</a:t>
            </a:r>
            <a:r>
              <a:rPr sz="2000" b="1" spc="95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Strong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"part-</a:t>
            </a:r>
            <a:r>
              <a:rPr sz="2000" dirty="0">
                <a:latin typeface="Cambria"/>
                <a:cs typeface="Cambria"/>
              </a:rPr>
              <a:t>whole"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relationship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where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whole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owns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parts.</a:t>
            </a:r>
            <a:r>
              <a:rPr sz="2000" spc="1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Part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lifecycle</a:t>
            </a:r>
            <a:endParaRPr sz="20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latin typeface="Cambria"/>
                <a:cs typeface="Cambria"/>
              </a:rPr>
              <a:t>depends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on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5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whole.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Represented</a:t>
            </a:r>
            <a:r>
              <a:rPr sz="2000" spc="14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by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filled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diamond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on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15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whole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side.</a:t>
            </a:r>
            <a:endParaRPr sz="2000">
              <a:latin typeface="Cambria"/>
              <a:cs typeface="Cambria"/>
            </a:endParaRPr>
          </a:p>
          <a:p>
            <a:pPr marL="699135" marR="10795" lvl="1" indent="-229235">
              <a:lnSpc>
                <a:spcPts val="3160"/>
              </a:lnSpc>
              <a:spcBef>
                <a:spcPts val="20"/>
              </a:spcBef>
              <a:buFont typeface="Wingdings"/>
              <a:buChar char=""/>
              <a:tabLst>
                <a:tab pos="699135" algn="l"/>
              </a:tabLst>
            </a:pPr>
            <a:r>
              <a:rPr sz="2000" b="1" dirty="0">
                <a:latin typeface="Palatino Linotype"/>
                <a:cs typeface="Palatino Linotype"/>
              </a:rPr>
              <a:t>Multiplicity:</a:t>
            </a:r>
            <a:r>
              <a:rPr sz="2000" b="1" spc="200" dirty="0">
                <a:latin typeface="Palatino Linotype"/>
                <a:cs typeface="Palatino Linotype"/>
              </a:rPr>
              <a:t> </a:t>
            </a:r>
            <a:r>
              <a:rPr sz="2000" dirty="0">
                <a:latin typeface="Cambria"/>
                <a:cs typeface="Cambria"/>
              </a:rPr>
              <a:t>Specifies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the</a:t>
            </a:r>
            <a:r>
              <a:rPr sz="2000" spc="2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number</a:t>
            </a:r>
            <a:r>
              <a:rPr sz="2000" spc="229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of</a:t>
            </a:r>
            <a:r>
              <a:rPr sz="2000" spc="22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instances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of</a:t>
            </a:r>
            <a:r>
              <a:rPr sz="2000" spc="21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one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class</a:t>
            </a:r>
            <a:r>
              <a:rPr sz="2000" spc="28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related</a:t>
            </a:r>
            <a:r>
              <a:rPr sz="2000" spc="2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to</a:t>
            </a:r>
            <a:r>
              <a:rPr sz="2000" spc="22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another.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(e.g.,</a:t>
            </a:r>
            <a:r>
              <a:rPr sz="2000" spc="26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1,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0..1,</a:t>
            </a:r>
            <a:r>
              <a:rPr sz="2000" spc="265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, </a:t>
            </a:r>
            <a:r>
              <a:rPr sz="2000" dirty="0">
                <a:latin typeface="Cambria"/>
                <a:cs typeface="Cambria"/>
              </a:rPr>
              <a:t>1..,</a:t>
            </a:r>
            <a:r>
              <a:rPr sz="2000" spc="19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n).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210" dirty="0"/>
              <a:t>Class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5634" y="1369707"/>
            <a:ext cx="2382715" cy="16687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81375" y="2047875"/>
            <a:ext cx="8115300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2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369506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65" dirty="0">
                <a:latin typeface="Cambria"/>
                <a:cs typeface="Cambria"/>
              </a:rPr>
              <a:t>Association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Example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1209" y="1954262"/>
            <a:ext cx="9827083" cy="203671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2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38449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105" dirty="0">
                <a:latin typeface="Cambria"/>
                <a:cs typeface="Cambria"/>
              </a:rPr>
              <a:t>Aggregation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Example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781" y="1998418"/>
            <a:ext cx="10572142" cy="294175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2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390842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95" dirty="0">
                <a:latin typeface="Cambria"/>
                <a:cs typeface="Cambria"/>
              </a:rPr>
              <a:t>Composition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Example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847" y="2020558"/>
            <a:ext cx="10777303" cy="2264433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80" dirty="0"/>
              <a:t>Structural</a:t>
            </a:r>
            <a:r>
              <a:rPr spc="300" dirty="0"/>
              <a:t> </a:t>
            </a:r>
            <a:r>
              <a:rPr spc="145" dirty="0"/>
              <a:t>Aspect</a:t>
            </a:r>
            <a:r>
              <a:rPr spc="215" dirty="0"/>
              <a:t> </a:t>
            </a:r>
            <a:r>
              <a:rPr spc="80" dirty="0"/>
              <a:t>-</a:t>
            </a:r>
            <a:r>
              <a:rPr spc="250" dirty="0"/>
              <a:t> </a:t>
            </a:r>
            <a:r>
              <a:rPr spc="2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209039"/>
            <a:ext cx="168719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80" dirty="0">
                <a:latin typeface="Cambria"/>
                <a:cs typeface="Cambria"/>
              </a:rPr>
              <a:t>Example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8023" y="1129785"/>
            <a:ext cx="8743585" cy="523279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50" dirty="0"/>
              <a:t>Component</a:t>
            </a:r>
            <a:r>
              <a:rPr spc="270" dirty="0"/>
              <a:t> </a:t>
            </a:r>
            <a:r>
              <a:rPr spc="5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8865" cy="45275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8255" indent="-229235" algn="just">
              <a:lnSpc>
                <a:spcPct val="153600"/>
              </a:lnSpc>
              <a:spcBef>
                <a:spcPts val="130"/>
              </a:spcBef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spc="135" dirty="0">
                <a:latin typeface="Cambria"/>
                <a:cs typeface="Cambria"/>
              </a:rPr>
              <a:t>	Model</a:t>
            </a:r>
            <a:r>
              <a:rPr sz="2750" spc="440" dirty="0"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breaks</a:t>
            </a:r>
            <a:r>
              <a:rPr sz="2750" spc="43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120" dirty="0">
                <a:solidFill>
                  <a:srgbClr val="FF0000"/>
                </a:solidFill>
                <a:latin typeface="Cambria"/>
                <a:cs typeface="Cambria"/>
              </a:rPr>
              <a:t>down</a:t>
            </a:r>
            <a:r>
              <a:rPr sz="2750" spc="45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440" dirty="0"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large</a:t>
            </a:r>
            <a:r>
              <a:rPr sz="2750" spc="44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50" dirty="0">
                <a:solidFill>
                  <a:srgbClr val="FF0000"/>
                </a:solidFill>
                <a:latin typeface="Cambria"/>
                <a:cs typeface="Cambria"/>
              </a:rPr>
              <a:t>system</a:t>
            </a:r>
            <a:r>
              <a:rPr sz="2750" spc="43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into</a:t>
            </a:r>
            <a:r>
              <a:rPr sz="2750" spc="42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50" dirty="0">
                <a:solidFill>
                  <a:srgbClr val="FF0000"/>
                </a:solidFill>
                <a:latin typeface="Cambria"/>
                <a:cs typeface="Cambria"/>
              </a:rPr>
              <a:t>smaller,</a:t>
            </a:r>
            <a:r>
              <a:rPr sz="2750" spc="434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manageable </a:t>
            </a:r>
            <a:r>
              <a:rPr sz="2750" spc="60" dirty="0">
                <a:solidFill>
                  <a:srgbClr val="FF0000"/>
                </a:solidFill>
                <a:latin typeface="Cambria"/>
                <a:cs typeface="Cambria"/>
              </a:rPr>
              <a:t>components</a:t>
            </a:r>
            <a:r>
              <a:rPr sz="2750" spc="60" dirty="0">
                <a:latin typeface="Cambria"/>
                <a:cs typeface="Cambria"/>
              </a:rPr>
              <a:t>,</a:t>
            </a:r>
            <a:r>
              <a:rPr sz="2750" spc="125" dirty="0">
                <a:latin typeface="Cambria"/>
                <a:cs typeface="Cambria"/>
              </a:rPr>
              <a:t>  </a:t>
            </a:r>
            <a:r>
              <a:rPr sz="2750" spc="90" dirty="0">
                <a:latin typeface="Cambria"/>
                <a:cs typeface="Cambria"/>
              </a:rPr>
              <a:t>modeling</a:t>
            </a:r>
            <a:r>
              <a:rPr sz="2750" spc="16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30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physical</a:t>
            </a:r>
            <a:r>
              <a:rPr sz="2750" spc="13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parts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15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30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130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like</a:t>
            </a:r>
            <a:r>
              <a:rPr sz="2750" spc="120" dirty="0">
                <a:latin typeface="Cambria"/>
                <a:cs typeface="Cambria"/>
              </a:rPr>
              <a:t>  </a:t>
            </a:r>
            <a:r>
              <a:rPr sz="2750" spc="40" dirty="0">
                <a:solidFill>
                  <a:srgbClr val="FF0000"/>
                </a:solidFill>
                <a:latin typeface="Cambria"/>
                <a:cs typeface="Cambria"/>
              </a:rPr>
              <a:t>files,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executables,</a:t>
            </a:r>
            <a:r>
              <a:rPr sz="2750" spc="3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8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750" spc="3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libraries</a:t>
            </a:r>
            <a:r>
              <a:rPr sz="2750" spc="-10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41300" marR="5080" indent="-229235" algn="just">
              <a:lnSpc>
                <a:spcPct val="152500"/>
              </a:lnSpc>
              <a:buFont typeface="Wingdings"/>
              <a:buChar char=""/>
              <a:tabLst>
                <a:tab pos="241300" algn="l"/>
                <a:tab pos="382905" algn="l"/>
              </a:tabLst>
            </a:pPr>
            <a:r>
              <a:rPr sz="2750" dirty="0">
                <a:latin typeface="Cambria"/>
                <a:cs typeface="Cambria"/>
              </a:rPr>
              <a:t>	It</a:t>
            </a:r>
            <a:r>
              <a:rPr sz="2750" spc="170" dirty="0"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provides</a:t>
            </a:r>
            <a:r>
              <a:rPr sz="2750" spc="204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90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visual</a:t>
            </a:r>
            <a:r>
              <a:rPr sz="2750" spc="18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representation</a:t>
            </a:r>
            <a:r>
              <a:rPr sz="2750" spc="190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204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75" dirty="0">
                <a:latin typeface="Cambria"/>
                <a:cs typeface="Cambria"/>
              </a:rPr>
              <a:t> 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components</a:t>
            </a:r>
            <a:r>
              <a:rPr sz="2750" spc="19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8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750" spc="204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their 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relationships</a:t>
            </a:r>
            <a:r>
              <a:rPr sz="2750" spc="45" dirty="0">
                <a:latin typeface="Cambria"/>
                <a:cs typeface="Cambria"/>
              </a:rPr>
              <a:t>,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helping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form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an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executable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system.</a:t>
            </a:r>
            <a:endParaRPr sz="2750">
              <a:latin typeface="Cambria"/>
              <a:cs typeface="Cambria"/>
            </a:endParaRPr>
          </a:p>
          <a:p>
            <a:pPr marL="241300" marR="10160" indent="-229235" algn="just">
              <a:lnSpc>
                <a:spcPts val="5110"/>
              </a:lnSpc>
              <a:spcBef>
                <a:spcPts val="195"/>
              </a:spcBef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spc="60" dirty="0">
                <a:latin typeface="Cambria"/>
                <a:cs typeface="Cambria"/>
              </a:rPr>
              <a:t>	Each</a:t>
            </a:r>
            <a:r>
              <a:rPr sz="2750" spc="250" dirty="0">
                <a:latin typeface="Cambria"/>
                <a:cs typeface="Cambria"/>
              </a:rPr>
              <a:t>   </a:t>
            </a:r>
            <a:r>
              <a:rPr sz="2750" spc="65" dirty="0">
                <a:latin typeface="Cambria"/>
                <a:cs typeface="Cambria"/>
              </a:rPr>
              <a:t>component</a:t>
            </a:r>
            <a:r>
              <a:rPr sz="2750" spc="265" dirty="0">
                <a:latin typeface="Cambria"/>
                <a:cs typeface="Cambria"/>
              </a:rPr>
              <a:t>  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254" dirty="0">
                <a:latin typeface="Cambria"/>
                <a:cs typeface="Cambria"/>
              </a:rPr>
              <a:t>  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65" dirty="0">
                <a:latin typeface="Cambria"/>
                <a:cs typeface="Cambria"/>
              </a:rPr>
              <a:t>   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single,</a:t>
            </a:r>
            <a:r>
              <a:rPr sz="2750" spc="260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replaceable</a:t>
            </a:r>
            <a:r>
              <a:rPr sz="2750" spc="270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unit</a:t>
            </a:r>
            <a:r>
              <a:rPr sz="2750" spc="265" dirty="0">
                <a:solidFill>
                  <a:srgbClr val="FF0000"/>
                </a:solidFill>
                <a:latin typeface="Cambria"/>
                <a:cs typeface="Cambria"/>
              </a:rPr>
              <a:t>   </a:t>
            </a:r>
            <a:r>
              <a:rPr sz="2750" spc="80" dirty="0">
                <a:latin typeface="Cambria"/>
                <a:cs typeface="Cambria"/>
              </a:rPr>
              <a:t>with</a:t>
            </a:r>
            <a:r>
              <a:rPr sz="2750" spc="265" dirty="0">
                <a:latin typeface="Cambria"/>
                <a:cs typeface="Cambria"/>
              </a:rPr>
              <a:t>   </a:t>
            </a:r>
            <a:r>
              <a:rPr sz="2750" spc="80" dirty="0">
                <a:latin typeface="Cambria"/>
                <a:cs typeface="Cambria"/>
              </a:rPr>
              <a:t>hidden </a:t>
            </a:r>
            <a:r>
              <a:rPr sz="2750" spc="60" dirty="0">
                <a:latin typeface="Cambria"/>
                <a:cs typeface="Cambria"/>
              </a:rPr>
              <a:t>implementation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details,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communicating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through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interfaces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50" dirty="0"/>
              <a:t>Component</a:t>
            </a:r>
            <a:r>
              <a:rPr spc="270" dirty="0"/>
              <a:t> </a:t>
            </a:r>
            <a:r>
              <a:rPr spc="5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4420" cy="4527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 algn="just">
              <a:lnSpc>
                <a:spcPct val="1548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spc="70" dirty="0">
                <a:latin typeface="Cambria"/>
                <a:cs typeface="Cambria"/>
              </a:rPr>
              <a:t>To</a:t>
            </a:r>
            <a:r>
              <a:rPr sz="2750" spc="55" dirty="0"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depict</a:t>
            </a:r>
            <a:r>
              <a:rPr sz="2750" spc="5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60" dirty="0">
                <a:latin typeface="Cambria"/>
                <a:cs typeface="Cambria"/>
              </a:rPr>
              <a:t>  </a:t>
            </a:r>
            <a:r>
              <a:rPr sz="2750" spc="60" dirty="0">
                <a:solidFill>
                  <a:srgbClr val="FF0000"/>
                </a:solidFill>
                <a:latin typeface="Cambria"/>
                <a:cs typeface="Cambria"/>
              </a:rPr>
              <a:t>functionality  </a:t>
            </a:r>
            <a:r>
              <a:rPr sz="2750" spc="8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750" spc="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behavior</a:t>
            </a:r>
            <a:r>
              <a:rPr sz="2750" spc="7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2750" spc="8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components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75" dirty="0">
                <a:latin typeface="Cambria"/>
                <a:cs typeface="Cambria"/>
              </a:rPr>
              <a:t>within</a:t>
            </a:r>
            <a:r>
              <a:rPr sz="2750" spc="60" dirty="0">
                <a:latin typeface="Cambria"/>
                <a:cs typeface="Cambria"/>
              </a:rPr>
              <a:t>  </a:t>
            </a:r>
            <a:r>
              <a:rPr sz="2750" spc="-50" dirty="0">
                <a:latin typeface="Cambria"/>
                <a:cs typeface="Cambria"/>
              </a:rPr>
              <a:t>a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at</a:t>
            </a:r>
            <a:r>
              <a:rPr sz="2750" spc="1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2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specific</a:t>
            </a:r>
            <a:r>
              <a:rPr sz="2750" spc="110" dirty="0">
                <a:latin typeface="Cambria"/>
                <a:cs typeface="Cambria"/>
              </a:rPr>
              <a:t> </a:t>
            </a:r>
            <a:r>
              <a:rPr sz="2750" spc="-20" dirty="0">
                <a:latin typeface="Cambria"/>
                <a:cs typeface="Cambria"/>
              </a:rPr>
              <a:t>time</a:t>
            </a:r>
            <a:endParaRPr sz="2750">
              <a:latin typeface="Cambria"/>
              <a:cs typeface="Cambria"/>
            </a:endParaRPr>
          </a:p>
          <a:p>
            <a:pPr marL="241300" marR="7620" indent="-229235" algn="just">
              <a:lnSpc>
                <a:spcPct val="152500"/>
              </a:lnSpc>
              <a:buClr>
                <a:srgbClr val="000000"/>
              </a:buClr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spc="85" dirty="0">
                <a:solidFill>
                  <a:srgbClr val="FF0000"/>
                </a:solidFill>
                <a:latin typeface="Cambria"/>
                <a:cs typeface="Cambria"/>
              </a:rPr>
              <a:t>Components</a:t>
            </a:r>
            <a:r>
              <a:rPr sz="2750" spc="85" dirty="0">
                <a:latin typeface="Cambria"/>
                <a:cs typeface="Cambria"/>
              </a:rPr>
              <a:t>:</a:t>
            </a:r>
            <a:r>
              <a:rPr sz="2750" spc="12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Represented</a:t>
            </a:r>
            <a:r>
              <a:rPr sz="2750" spc="14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as</a:t>
            </a:r>
            <a:r>
              <a:rPr sz="2750" spc="11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rectangles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spc="75" dirty="0">
                <a:latin typeface="Cambria"/>
                <a:cs typeface="Cambria"/>
              </a:rPr>
              <a:t>with</a:t>
            </a:r>
            <a:r>
              <a:rPr sz="2750" spc="13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20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&lt;&lt;component&gt;&gt; </a:t>
            </a:r>
            <a:r>
              <a:rPr sz="2750" dirty="0">
                <a:latin typeface="Cambria"/>
                <a:cs typeface="Cambria"/>
              </a:rPr>
              <a:t>stereotype</a:t>
            </a:r>
            <a:r>
              <a:rPr sz="2750" spc="3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3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29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component</a:t>
            </a:r>
            <a:r>
              <a:rPr sz="2750" spc="31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icon.</a:t>
            </a:r>
            <a:r>
              <a:rPr sz="2750" spc="29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They</a:t>
            </a:r>
            <a:r>
              <a:rPr sz="2750" spc="3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can</a:t>
            </a:r>
            <a:r>
              <a:rPr sz="2750" spc="3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</a:t>
            </a:r>
            <a:r>
              <a:rPr sz="2750" spc="2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basic</a:t>
            </a:r>
            <a:r>
              <a:rPr sz="2750" spc="295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building</a:t>
            </a:r>
            <a:r>
              <a:rPr sz="2750" spc="3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blocks</a:t>
            </a:r>
            <a:r>
              <a:rPr sz="2750" spc="325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or </a:t>
            </a:r>
            <a:r>
              <a:rPr sz="2750" dirty="0">
                <a:latin typeface="Cambria"/>
                <a:cs typeface="Cambria"/>
              </a:rPr>
              <a:t>larger</a:t>
            </a:r>
            <a:r>
              <a:rPr sz="2750" spc="29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subsystems.</a:t>
            </a:r>
            <a:endParaRPr sz="2750">
              <a:latin typeface="Cambria"/>
              <a:cs typeface="Cambria"/>
            </a:endParaRPr>
          </a:p>
          <a:p>
            <a:pPr marL="241300" marR="5715" indent="-237490" algn="just">
              <a:lnSpc>
                <a:spcPts val="5110"/>
              </a:lnSpc>
              <a:spcBef>
                <a:spcPts val="195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Interfaces:</a:t>
            </a:r>
            <a:r>
              <a:rPr sz="2750" spc="10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90" dirty="0">
                <a:latin typeface="Cambria"/>
                <a:cs typeface="Cambria"/>
              </a:rPr>
              <a:t>Define</a:t>
            </a:r>
            <a:r>
              <a:rPr sz="2750" spc="110" dirty="0">
                <a:latin typeface="Cambria"/>
                <a:cs typeface="Cambria"/>
              </a:rPr>
              <a:t>  how</a:t>
            </a:r>
            <a:r>
              <a:rPr sz="2750" spc="130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components</a:t>
            </a:r>
            <a:r>
              <a:rPr sz="2750" spc="12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interact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spc="75" dirty="0">
                <a:latin typeface="Cambria"/>
                <a:cs typeface="Cambria"/>
              </a:rPr>
              <a:t>with</a:t>
            </a:r>
            <a:r>
              <a:rPr sz="2750" spc="12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each</a:t>
            </a:r>
            <a:r>
              <a:rPr sz="2750" spc="12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other,</a:t>
            </a:r>
            <a:r>
              <a:rPr sz="2750" spc="105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with components</a:t>
            </a:r>
            <a:r>
              <a:rPr sz="2750" spc="130" dirty="0">
                <a:latin typeface="Cambria"/>
                <a:cs typeface="Cambria"/>
              </a:rPr>
              <a:t> </a:t>
            </a:r>
            <a:r>
              <a:rPr sz="2750" spc="95" dirty="0">
                <a:latin typeface="Cambria"/>
                <a:cs typeface="Cambria"/>
              </a:rPr>
              <a:t>providing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requiring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interfaces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50" dirty="0"/>
              <a:t>Component</a:t>
            </a:r>
            <a:r>
              <a:rPr spc="270" dirty="0"/>
              <a:t> </a:t>
            </a:r>
            <a:r>
              <a:rPr spc="55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5055" cy="13233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Font typeface="Wingdings"/>
              <a:buChar char=""/>
              <a:tabLst>
                <a:tab pos="241300" algn="l"/>
                <a:tab pos="383540" algn="l"/>
                <a:tab pos="2561590" algn="l"/>
                <a:tab pos="4272915" algn="l"/>
                <a:tab pos="5066665" algn="l"/>
                <a:tab pos="7404100" algn="l"/>
                <a:tab pos="9031605" algn="l"/>
              </a:tabLst>
            </a:pPr>
            <a:r>
              <a:rPr sz="2750" spc="45" dirty="0">
                <a:latin typeface="Cambria"/>
                <a:cs typeface="Cambria"/>
              </a:rPr>
              <a:t>	Connectors: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Illustrate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relationships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latin typeface="Cambria"/>
                <a:cs typeface="Cambria"/>
              </a:rPr>
              <a:t>between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35" dirty="0">
                <a:latin typeface="Cambria"/>
                <a:cs typeface="Cambria"/>
              </a:rPr>
              <a:t>components4. </a:t>
            </a:r>
            <a:r>
              <a:rPr sz="2750" spc="105" dirty="0">
                <a:latin typeface="Cambria"/>
                <a:cs typeface="Cambria"/>
              </a:rPr>
              <a:t>Assembly</a:t>
            </a:r>
            <a:r>
              <a:rPr sz="2750" spc="2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connectors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link</a:t>
            </a:r>
            <a:r>
              <a:rPr sz="2750" spc="254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provided</a:t>
            </a:r>
            <a:r>
              <a:rPr sz="2750" spc="25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interfaces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2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required</a:t>
            </a:r>
            <a:r>
              <a:rPr sz="2750" spc="229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interfaces</a:t>
            </a:r>
            <a:endParaRPr sz="27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6450" y="2447925"/>
            <a:ext cx="803910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229" dirty="0"/>
              <a:t>System</a:t>
            </a:r>
            <a:r>
              <a:rPr sz="3650" spc="345" dirty="0"/>
              <a:t> </a:t>
            </a:r>
            <a:r>
              <a:rPr sz="3650" spc="105" dirty="0"/>
              <a:t>Modelling</a:t>
            </a:r>
            <a:r>
              <a:rPr sz="3650" spc="355" dirty="0"/>
              <a:t> </a:t>
            </a:r>
            <a:r>
              <a:rPr sz="3650" spc="-520" dirty="0"/>
              <a:t>–</a:t>
            </a:r>
            <a:r>
              <a:rPr sz="3650" spc="350" dirty="0"/>
              <a:t> </a:t>
            </a:r>
            <a:r>
              <a:rPr sz="3650" dirty="0"/>
              <a:t>UML</a:t>
            </a:r>
            <a:r>
              <a:rPr sz="3650" spc="340" dirty="0"/>
              <a:t> </a:t>
            </a:r>
            <a:r>
              <a:rPr sz="3650" spc="-520" dirty="0"/>
              <a:t>–</a:t>
            </a:r>
            <a:r>
              <a:rPr sz="3650" spc="350" dirty="0"/>
              <a:t> </a:t>
            </a:r>
            <a:r>
              <a:rPr sz="3650" spc="210" dirty="0"/>
              <a:t>Component</a:t>
            </a:r>
            <a:r>
              <a:rPr sz="3650" spc="305" dirty="0"/>
              <a:t> </a:t>
            </a:r>
            <a:r>
              <a:rPr sz="3650" spc="75" dirty="0"/>
              <a:t>Model</a:t>
            </a:r>
            <a:endParaRPr sz="36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423" y="1075203"/>
            <a:ext cx="10302762" cy="5271063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25" dirty="0"/>
              <a:t>Deployment</a:t>
            </a:r>
            <a:r>
              <a:rPr spc="26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4420" cy="3240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29235">
              <a:lnSpc>
                <a:spcPct val="154800"/>
              </a:lnSpc>
              <a:spcBef>
                <a:spcPts val="9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  <a:tab pos="2107565" algn="l"/>
                <a:tab pos="2803525" algn="l"/>
                <a:tab pos="4319270" algn="l"/>
                <a:tab pos="6049645" algn="l"/>
                <a:tab pos="6854825" algn="l"/>
                <a:tab pos="8423275" algn="l"/>
                <a:tab pos="10531475" algn="l"/>
                <a:tab pos="11044555" algn="l"/>
              </a:tabLst>
            </a:pPr>
            <a:r>
              <a:rPr sz="2750" spc="70" dirty="0">
                <a:latin typeface="Cambria"/>
                <a:cs typeface="Cambria"/>
              </a:rPr>
              <a:t>	Visualizes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60" dirty="0">
                <a:solidFill>
                  <a:srgbClr val="FF0000"/>
                </a:solidFill>
                <a:latin typeface="Cambria"/>
                <a:cs typeface="Cambria"/>
              </a:rPr>
              <a:t>physical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hardware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60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software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70" dirty="0">
                <a:solidFill>
                  <a:srgbClr val="FF0000"/>
                </a:solidFill>
                <a:latin typeface="Cambria"/>
                <a:cs typeface="Cambria"/>
              </a:rPr>
              <a:t>deployment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40" dirty="0">
                <a:latin typeface="Cambria"/>
                <a:cs typeface="Cambria"/>
              </a:rPr>
              <a:t>in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50" dirty="0">
                <a:latin typeface="Cambria"/>
                <a:cs typeface="Cambria"/>
              </a:rPr>
              <a:t>a </a:t>
            </a:r>
            <a:r>
              <a:rPr sz="2750" spc="50" dirty="0">
                <a:latin typeface="Cambria"/>
                <a:cs typeface="Cambria"/>
              </a:rPr>
              <a:t>system.</a:t>
            </a:r>
            <a:endParaRPr sz="275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spcBef>
                <a:spcPts val="1735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90" dirty="0">
                <a:latin typeface="Cambria"/>
                <a:cs typeface="Cambria"/>
              </a:rPr>
              <a:t>Shows</a:t>
            </a:r>
            <a:r>
              <a:rPr sz="2750" spc="135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how</a:t>
            </a:r>
            <a:r>
              <a:rPr sz="2750" spc="160" dirty="0"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software</a:t>
            </a:r>
            <a:r>
              <a:rPr sz="2750" spc="1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components</a:t>
            </a:r>
            <a:r>
              <a:rPr sz="275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are</a:t>
            </a:r>
            <a:r>
              <a:rPr sz="275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deployed</a:t>
            </a:r>
            <a:r>
              <a:rPr sz="275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0" dirty="0">
                <a:solidFill>
                  <a:srgbClr val="FF0000"/>
                </a:solidFill>
                <a:latin typeface="Cambria"/>
                <a:cs typeface="Cambria"/>
              </a:rPr>
              <a:t>on</a:t>
            </a:r>
            <a:r>
              <a:rPr sz="2750" spc="17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55" dirty="0">
                <a:solidFill>
                  <a:srgbClr val="FF0000"/>
                </a:solidFill>
                <a:latin typeface="Cambria"/>
                <a:cs typeface="Cambria"/>
              </a:rPr>
              <a:t>hardware</a:t>
            </a:r>
            <a:r>
              <a:rPr sz="2750" spc="55" dirty="0">
                <a:latin typeface="Cambria"/>
                <a:cs typeface="Cambria"/>
              </a:rPr>
              <a:t>.</a:t>
            </a:r>
            <a:endParaRPr sz="2750">
              <a:latin typeface="Cambria"/>
              <a:cs typeface="Cambria"/>
            </a:endParaRPr>
          </a:p>
          <a:p>
            <a:pPr marL="241300" marR="10160" indent="-229235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  <a:tab pos="1880235" algn="l"/>
                <a:tab pos="2771140" algn="l"/>
                <a:tab pos="5207000" algn="l"/>
                <a:tab pos="6931659" algn="l"/>
                <a:tab pos="8695055" algn="l"/>
                <a:tab pos="9695815" algn="l"/>
              </a:tabLst>
            </a:pPr>
            <a:r>
              <a:rPr sz="2750" spc="60" dirty="0">
                <a:latin typeface="Cambria"/>
                <a:cs typeface="Cambria"/>
              </a:rPr>
              <a:t>	Depicts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25" dirty="0">
                <a:latin typeface="Cambria"/>
                <a:cs typeface="Cambria"/>
              </a:rPr>
              <a:t>the</a:t>
            </a:r>
            <a:r>
              <a:rPr sz="2750" dirty="0"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relationships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between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software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65" dirty="0">
                <a:solidFill>
                  <a:srgbClr val="FF0000"/>
                </a:solidFill>
                <a:latin typeface="Cambria"/>
                <a:cs typeface="Cambria"/>
              </a:rPr>
              <a:t>and</a:t>
            </a: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	</a:t>
            </a: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hardware components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25" dirty="0"/>
              <a:t>Deployment</a:t>
            </a:r>
            <a:r>
              <a:rPr spc="26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45215" cy="5093335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 algn="just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150" dirty="0">
                <a:solidFill>
                  <a:srgbClr val="FF0000"/>
                </a:solidFill>
                <a:latin typeface="Cambria"/>
                <a:cs typeface="Cambria"/>
              </a:rPr>
              <a:t>Key</a:t>
            </a:r>
            <a:r>
              <a:rPr sz="2750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-10" dirty="0">
                <a:solidFill>
                  <a:srgbClr val="FF0000"/>
                </a:solidFill>
                <a:latin typeface="Cambria"/>
                <a:cs typeface="Cambria"/>
              </a:rPr>
              <a:t>Elements</a:t>
            </a:r>
            <a:endParaRPr sz="2750">
              <a:latin typeface="Cambria"/>
              <a:cs typeface="Cambria"/>
            </a:endParaRPr>
          </a:p>
          <a:p>
            <a:pPr marL="699135" marR="5080" lvl="1" indent="-231140" algn="just">
              <a:lnSpc>
                <a:spcPct val="151300"/>
              </a:lnSpc>
              <a:spcBef>
                <a:spcPts val="80"/>
              </a:spcBef>
              <a:buSzPct val="95833"/>
              <a:buFont typeface="Wingdings"/>
              <a:buChar char=""/>
              <a:tabLst>
                <a:tab pos="699135" algn="l"/>
                <a:tab pos="712470" algn="l"/>
              </a:tabLst>
            </a:pP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	Nodes:</a:t>
            </a:r>
            <a:r>
              <a:rPr sz="2400" b="1" spc="585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latin typeface="Cambria"/>
                <a:cs typeface="Cambria"/>
              </a:rPr>
              <a:t>Represent</a:t>
            </a:r>
            <a:r>
              <a:rPr sz="2400" spc="8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hardware</a:t>
            </a:r>
            <a:r>
              <a:rPr sz="2400" spc="8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devices</a:t>
            </a:r>
            <a:r>
              <a:rPr sz="2400" spc="60" dirty="0">
                <a:latin typeface="Cambria"/>
                <a:cs typeface="Cambria"/>
              </a:rPr>
              <a:t>  </a:t>
            </a:r>
            <a:r>
              <a:rPr sz="2400" spc="50" dirty="0">
                <a:latin typeface="Cambria"/>
                <a:cs typeface="Cambria"/>
              </a:rPr>
              <a:t>(e.g.,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servers,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spc="130" dirty="0">
                <a:latin typeface="Cambria"/>
                <a:cs typeface="Cambria"/>
              </a:rPr>
              <a:t>PCs,</a:t>
            </a:r>
            <a:r>
              <a:rPr sz="2400" spc="5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mobile</a:t>
            </a:r>
            <a:r>
              <a:rPr sz="2400" spc="8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phones)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spc="-25" dirty="0">
                <a:latin typeface="Cambria"/>
                <a:cs typeface="Cambria"/>
              </a:rPr>
              <a:t>or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4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execution</a:t>
            </a:r>
            <a:r>
              <a:rPr sz="2400" spc="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environments</a:t>
            </a:r>
            <a:r>
              <a:rPr sz="2400" spc="65" dirty="0">
                <a:latin typeface="Cambria"/>
                <a:cs typeface="Cambria"/>
              </a:rPr>
              <a:t>  </a:t>
            </a:r>
            <a:r>
              <a:rPr sz="2400" spc="50" dirty="0">
                <a:latin typeface="Cambria"/>
                <a:cs typeface="Cambria"/>
              </a:rPr>
              <a:t>(e.g.,</a:t>
            </a:r>
            <a:r>
              <a:rPr sz="2400" spc="6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operating</a:t>
            </a:r>
            <a:r>
              <a:rPr sz="2400" spc="7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systems,</a:t>
            </a:r>
            <a:r>
              <a:rPr sz="2400" spc="50" dirty="0">
                <a:latin typeface="Cambria"/>
                <a:cs typeface="Cambria"/>
              </a:rPr>
              <a:t>  </a:t>
            </a:r>
            <a:r>
              <a:rPr sz="2400" spc="95" dirty="0">
                <a:latin typeface="Cambria"/>
                <a:cs typeface="Cambria"/>
              </a:rPr>
              <a:t>JVMs).</a:t>
            </a:r>
            <a:r>
              <a:rPr sz="2400" spc="60" dirty="0">
                <a:latin typeface="Cambria"/>
                <a:cs typeface="Cambria"/>
              </a:rPr>
              <a:t>  </a:t>
            </a:r>
            <a:r>
              <a:rPr sz="2400" spc="50" dirty="0">
                <a:latin typeface="Cambria"/>
                <a:cs typeface="Cambria"/>
              </a:rPr>
              <a:t>They  </a:t>
            </a:r>
            <a:r>
              <a:rPr sz="2400" spc="-25" dirty="0">
                <a:latin typeface="Cambria"/>
                <a:cs typeface="Cambria"/>
              </a:rPr>
              <a:t>are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most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important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part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of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diagram.</a:t>
            </a:r>
            <a:endParaRPr sz="2400">
              <a:latin typeface="Cambria"/>
              <a:cs typeface="Cambria"/>
            </a:endParaRPr>
          </a:p>
          <a:p>
            <a:pPr marL="712470" lvl="1" indent="-244475" algn="just">
              <a:lnSpc>
                <a:spcPct val="100000"/>
              </a:lnSpc>
              <a:spcBef>
                <a:spcPts val="140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Artifacts:</a:t>
            </a:r>
            <a:r>
              <a:rPr sz="2400" b="1" spc="8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latin typeface="Cambria"/>
                <a:cs typeface="Cambria"/>
              </a:rPr>
              <a:t>Represent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concrete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elements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like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executable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files,</a:t>
            </a:r>
            <a:r>
              <a:rPr sz="2400" spc="1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libraries,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mbria"/>
                <a:cs typeface="Cambria"/>
              </a:rPr>
              <a:t>configuration</a:t>
            </a:r>
            <a:r>
              <a:rPr sz="2400" spc="3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files,</a:t>
            </a:r>
            <a:r>
              <a:rPr sz="2400" spc="42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etc.</a:t>
            </a:r>
            <a:endParaRPr sz="2400">
              <a:latin typeface="Cambria"/>
              <a:cs typeface="Cambria"/>
            </a:endParaRPr>
          </a:p>
          <a:p>
            <a:pPr marL="712470" lvl="1" indent="-244475" algn="just">
              <a:lnSpc>
                <a:spcPct val="100000"/>
              </a:lnSpc>
              <a:spcBef>
                <a:spcPts val="140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Communication</a:t>
            </a:r>
            <a:r>
              <a:rPr sz="2400" spc="35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400" dirty="0">
                <a:solidFill>
                  <a:srgbClr val="FF0000"/>
                </a:solidFill>
                <a:latin typeface="Cambria"/>
                <a:cs typeface="Cambria"/>
              </a:rPr>
              <a:t>Paths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360" dirty="0">
                <a:latin typeface="Cambria"/>
                <a:cs typeface="Cambria"/>
              </a:rPr>
              <a:t>  </a:t>
            </a:r>
            <a:r>
              <a:rPr sz="2400" spc="55" dirty="0">
                <a:latin typeface="Cambria"/>
                <a:cs typeface="Cambria"/>
              </a:rPr>
              <a:t>Solid</a:t>
            </a:r>
            <a:r>
              <a:rPr sz="2400" spc="355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lines</a:t>
            </a:r>
            <a:r>
              <a:rPr sz="2400" spc="35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370" dirty="0">
                <a:latin typeface="Cambria"/>
                <a:cs typeface="Cambria"/>
              </a:rPr>
              <a:t>  </a:t>
            </a:r>
            <a:r>
              <a:rPr sz="2400" spc="50" dirty="0">
                <a:latin typeface="Cambria"/>
                <a:cs typeface="Cambria"/>
              </a:rPr>
              <a:t>show</a:t>
            </a:r>
            <a:r>
              <a:rPr sz="2400" spc="35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370" dirty="0">
                <a:latin typeface="Cambria"/>
                <a:cs typeface="Cambria"/>
              </a:rPr>
              <a:t>  </a:t>
            </a:r>
            <a:r>
              <a:rPr sz="2400" dirty="0">
                <a:latin typeface="Cambria"/>
                <a:cs typeface="Cambria"/>
              </a:rPr>
              <a:t>communication</a:t>
            </a:r>
            <a:r>
              <a:rPr sz="2400" spc="365" dirty="0">
                <a:latin typeface="Cambria"/>
                <a:cs typeface="Cambria"/>
              </a:rPr>
              <a:t>  </a:t>
            </a:r>
            <a:r>
              <a:rPr sz="2400" spc="-10" dirty="0">
                <a:latin typeface="Cambria"/>
                <a:cs typeface="Cambria"/>
              </a:rPr>
              <a:t>links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  <a:tabLst>
                <a:tab pos="1984375" algn="l"/>
                <a:tab pos="3013075" algn="l"/>
                <a:tab pos="3945890" algn="l"/>
                <a:tab pos="4558030" algn="l"/>
                <a:tab pos="5019040" algn="l"/>
                <a:tab pos="6142990" algn="l"/>
                <a:tab pos="6910705" algn="l"/>
                <a:tab pos="9172575" algn="l"/>
                <a:tab pos="10575925" algn="l"/>
              </a:tabLst>
            </a:pPr>
            <a:r>
              <a:rPr sz="2400" spc="-10" dirty="0">
                <a:latin typeface="Cambria"/>
                <a:cs typeface="Cambria"/>
              </a:rPr>
              <a:t>between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nodes.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0" dirty="0">
                <a:latin typeface="Cambria"/>
                <a:cs typeface="Cambria"/>
              </a:rPr>
              <a:t>These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can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be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labeled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35" dirty="0">
                <a:latin typeface="Cambria"/>
                <a:cs typeface="Cambria"/>
              </a:rPr>
              <a:t>with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communication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protocols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(e.g.,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spc="114" dirty="0">
                <a:latin typeface="Cambria"/>
                <a:cs typeface="Cambria"/>
              </a:rPr>
              <a:t>HTTP, </a:t>
            </a:r>
            <a:r>
              <a:rPr sz="2400" spc="65" dirty="0">
                <a:latin typeface="Cambria"/>
                <a:cs typeface="Cambria"/>
              </a:rPr>
              <a:t>TCP/IP)7.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25" dirty="0"/>
              <a:t>Deployment</a:t>
            </a:r>
            <a:r>
              <a:rPr spc="26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35690" cy="344297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114" dirty="0">
                <a:latin typeface="Cambria"/>
                <a:cs typeface="Cambria"/>
              </a:rPr>
              <a:t>Nodes</a:t>
            </a:r>
            <a:endParaRPr sz="275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b="1" dirty="0">
                <a:latin typeface="Palatino Linotype"/>
                <a:cs typeface="Palatino Linotype"/>
              </a:rPr>
              <a:t>Device</a:t>
            </a:r>
            <a:r>
              <a:rPr sz="2400" b="1" spc="4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Nodes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Computing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resources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 </a:t>
            </a:r>
            <a:r>
              <a:rPr sz="2400" dirty="0">
                <a:latin typeface="Cambria"/>
                <a:cs typeface="Cambria"/>
              </a:rPr>
              <a:t>processing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capabilities4.</a:t>
            </a:r>
            <a:endParaRPr sz="2400">
              <a:latin typeface="Cambria"/>
              <a:cs typeface="Cambria"/>
            </a:endParaRPr>
          </a:p>
          <a:p>
            <a:pPr marL="712470" lvl="1" indent="-255904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b="1" dirty="0">
                <a:latin typeface="Palatino Linotype"/>
                <a:cs typeface="Palatino Linotype"/>
              </a:rPr>
              <a:t>Execution</a:t>
            </a:r>
            <a:r>
              <a:rPr sz="2400" b="1" spc="335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Environment</a:t>
            </a:r>
            <a:r>
              <a:rPr sz="2400" b="1" spc="35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Nodes</a:t>
            </a:r>
            <a:r>
              <a:rPr sz="2400" b="1" spc="300" dirty="0">
                <a:latin typeface="Palatino Linotype"/>
                <a:cs typeface="Palatino Linotype"/>
              </a:rPr>
              <a:t> </a:t>
            </a:r>
            <a:r>
              <a:rPr sz="2400" b="1" dirty="0">
                <a:latin typeface="Palatino Linotype"/>
                <a:cs typeface="Palatino Linotype"/>
              </a:rPr>
              <a:t>(EEN)</a:t>
            </a:r>
            <a:r>
              <a:rPr sz="2400" dirty="0">
                <a:latin typeface="Cambria"/>
                <a:cs typeface="Cambria"/>
              </a:rPr>
              <a:t>:</a:t>
            </a:r>
            <a:r>
              <a:rPr sz="2400" spc="37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Computer</a:t>
            </a:r>
            <a:r>
              <a:rPr sz="2400" spc="3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systems</a:t>
            </a:r>
            <a:r>
              <a:rPr sz="2400" spc="3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residing</a:t>
            </a:r>
            <a:r>
              <a:rPr sz="2400" spc="39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within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spc="-50" dirty="0">
                <a:latin typeface="Cambria"/>
                <a:cs typeface="Cambria"/>
              </a:rPr>
              <a:t>a</a:t>
            </a:r>
            <a:endParaRPr sz="2400">
              <a:latin typeface="Cambria"/>
              <a:cs typeface="Cambria"/>
            </a:endParaRPr>
          </a:p>
          <a:p>
            <a:pPr marL="699135">
              <a:lnSpc>
                <a:spcPct val="100000"/>
              </a:lnSpc>
              <a:spcBef>
                <a:spcPts val="1475"/>
              </a:spcBef>
            </a:pPr>
            <a:r>
              <a:rPr sz="2400" dirty="0">
                <a:latin typeface="Cambria"/>
                <a:cs typeface="Cambria"/>
              </a:rPr>
              <a:t>device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node,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like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operating</a:t>
            </a:r>
            <a:r>
              <a:rPr sz="2400" spc="20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systems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JVMs.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00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spc="80" dirty="0">
                <a:latin typeface="Cambria"/>
                <a:cs typeface="Cambria"/>
              </a:rPr>
              <a:t>Nodes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nested</a:t>
            </a:r>
            <a:r>
              <a:rPr sz="2400" spc="1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show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more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detail,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like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disk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inside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150" dirty="0">
                <a:latin typeface="Cambria"/>
                <a:cs typeface="Cambria"/>
              </a:rPr>
              <a:t>PC.</a:t>
            </a:r>
            <a:endParaRPr sz="2400">
              <a:latin typeface="Cambria"/>
              <a:cs typeface="Cambria"/>
            </a:endParaRPr>
          </a:p>
          <a:p>
            <a:pPr marL="712470" lvl="1" indent="-255904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spc="120" dirty="0">
                <a:latin typeface="Cambria"/>
                <a:cs typeface="Cambria"/>
              </a:rPr>
              <a:t>Node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instances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shown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specific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instances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25" dirty="0"/>
              <a:t>Deployment</a:t>
            </a:r>
            <a:r>
              <a:rPr spc="26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11241405" cy="5179060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294640" indent="-281940">
              <a:lnSpc>
                <a:spcPct val="100000"/>
              </a:lnSpc>
              <a:spcBef>
                <a:spcPts val="1920"/>
              </a:spcBef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65" dirty="0">
                <a:latin typeface="Cambria"/>
                <a:cs typeface="Cambria"/>
              </a:rPr>
              <a:t>Artifacts</a:t>
            </a:r>
            <a:r>
              <a:rPr sz="2750" spc="85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95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Detail:</a:t>
            </a:r>
            <a:endParaRPr sz="275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560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Represent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runs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hardware.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Examples:</a:t>
            </a:r>
            <a:r>
              <a:rPr sz="2400" spc="3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databases,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configuration</a:t>
            </a:r>
            <a:r>
              <a:rPr sz="2400" spc="28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files,</a:t>
            </a:r>
            <a:r>
              <a:rPr sz="2400" spc="3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executable</a:t>
            </a:r>
            <a:r>
              <a:rPr sz="2400" spc="3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files</a:t>
            </a: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305"/>
              </a:spcBef>
              <a:buFont typeface="Wingdings"/>
              <a:buChar char=""/>
            </a:pPr>
            <a:endParaRPr sz="2400">
              <a:latin typeface="Cambria"/>
              <a:cs typeface="Cambria"/>
            </a:endParaRPr>
          </a:p>
          <a:p>
            <a:pPr marL="294640" indent="-281940">
              <a:lnSpc>
                <a:spcPct val="100000"/>
              </a:lnSpc>
              <a:buSzPct val="96363"/>
              <a:buFont typeface="Wingdings"/>
              <a:buChar char=""/>
              <a:tabLst>
                <a:tab pos="294640" algn="l"/>
              </a:tabLst>
            </a:pPr>
            <a:r>
              <a:rPr sz="2750" spc="35" dirty="0">
                <a:latin typeface="Cambria"/>
                <a:cs typeface="Cambria"/>
              </a:rPr>
              <a:t>Relationships:</a:t>
            </a:r>
            <a:endParaRPr sz="275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55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Association:</a:t>
            </a:r>
            <a:r>
              <a:rPr sz="2400" spc="21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Represents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structural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connection.</a:t>
            </a:r>
            <a:endParaRPr sz="2400">
              <a:latin typeface="Cambria"/>
              <a:cs typeface="Cambria"/>
            </a:endParaRPr>
          </a:p>
          <a:p>
            <a:pPr marL="712470" lvl="1" indent="-244475">
              <a:lnSpc>
                <a:spcPct val="100000"/>
              </a:lnSpc>
              <a:spcBef>
                <a:spcPts val="1475"/>
              </a:spcBef>
              <a:buSzPct val="95833"/>
              <a:buFont typeface="Wingdings"/>
              <a:buChar char=""/>
              <a:tabLst>
                <a:tab pos="712470" algn="l"/>
              </a:tabLst>
            </a:pPr>
            <a:r>
              <a:rPr sz="2400" spc="50" dirty="0">
                <a:latin typeface="Cambria"/>
                <a:cs typeface="Cambria"/>
              </a:rPr>
              <a:t>Dependency: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Indicates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that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one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element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depends</a:t>
            </a:r>
            <a:r>
              <a:rPr sz="2400" spc="55" dirty="0">
                <a:latin typeface="Cambria"/>
                <a:cs typeface="Cambria"/>
              </a:rPr>
              <a:t> on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another.</a:t>
            </a:r>
            <a:endParaRPr sz="2400">
              <a:latin typeface="Cambria"/>
              <a:cs typeface="Cambria"/>
            </a:endParaRPr>
          </a:p>
          <a:p>
            <a:pPr marL="699135" marR="5080" lvl="1" indent="-231140">
              <a:lnSpc>
                <a:spcPct val="148600"/>
              </a:lnSpc>
              <a:spcBef>
                <a:spcPts val="80"/>
              </a:spcBef>
              <a:buSzPct val="95833"/>
              <a:buFont typeface="Wingdings"/>
              <a:buChar char=""/>
              <a:tabLst>
                <a:tab pos="699135" algn="l"/>
                <a:tab pos="712470" algn="l"/>
                <a:tab pos="2614295" algn="l"/>
                <a:tab pos="3641725" algn="l"/>
                <a:tab pos="4380230" algn="l"/>
                <a:tab pos="5600065" algn="l"/>
                <a:tab pos="6158865" algn="l"/>
                <a:tab pos="7571105" algn="l"/>
                <a:tab pos="7977505" algn="l"/>
                <a:tab pos="8998585" algn="l"/>
                <a:tab pos="10302875" algn="l"/>
                <a:tab pos="10908030" algn="l"/>
              </a:tabLst>
            </a:pPr>
            <a:r>
              <a:rPr sz="2400" spc="40" dirty="0">
                <a:latin typeface="Cambria"/>
                <a:cs typeface="Cambria"/>
              </a:rPr>
              <a:t>	Deployment: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Shows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5" dirty="0">
                <a:latin typeface="Cambria"/>
                <a:cs typeface="Cambria"/>
              </a:rPr>
              <a:t>how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artifacts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are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40" dirty="0">
                <a:latin typeface="Cambria"/>
                <a:cs typeface="Cambria"/>
              </a:rPr>
              <a:t>deployed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to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nodes.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10" dirty="0">
                <a:latin typeface="Cambria"/>
                <a:cs typeface="Cambria"/>
              </a:rPr>
              <a:t>Artifacts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can</a:t>
            </a:r>
            <a:r>
              <a:rPr sz="2400" dirty="0">
                <a:latin typeface="Cambria"/>
                <a:cs typeface="Cambria"/>
              </a:rPr>
              <a:t>	</a:t>
            </a:r>
            <a:r>
              <a:rPr sz="2400" spc="-25" dirty="0">
                <a:latin typeface="Cambria"/>
                <a:cs typeface="Cambria"/>
              </a:rPr>
              <a:t>be </a:t>
            </a:r>
            <a:r>
              <a:rPr sz="2400" spc="50" dirty="0">
                <a:latin typeface="Cambria"/>
                <a:cs typeface="Cambria"/>
              </a:rPr>
              <a:t>deployed</a:t>
            </a:r>
            <a:r>
              <a:rPr sz="2400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to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nodes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by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nesting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using</a:t>
            </a:r>
            <a:r>
              <a:rPr sz="2400" spc="1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</a:t>
            </a:r>
            <a:r>
              <a:rPr sz="2400" spc="1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dashed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line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arrow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labeled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"deploy"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25" dirty="0"/>
              <a:t>Deployment</a:t>
            </a:r>
            <a:r>
              <a:rPr spc="265" dirty="0"/>
              <a:t> </a:t>
            </a:r>
            <a:r>
              <a:rPr spc="60" dirty="0"/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1333"/>
            <a:ext cx="7418070" cy="3987165"/>
          </a:xfrm>
          <a:prstGeom prst="rect">
            <a:avLst/>
          </a:prstGeom>
        </p:spPr>
        <p:txBody>
          <a:bodyPr vert="horz" wrap="square" lIns="0" tIns="243840" rIns="0" bIns="0" rtlCol="0">
            <a:spAutoFit/>
          </a:bodyPr>
          <a:lstStyle/>
          <a:p>
            <a:pPr marL="384175" indent="-371475">
              <a:lnSpc>
                <a:spcPct val="100000"/>
              </a:lnSpc>
              <a:spcBef>
                <a:spcPts val="1920"/>
              </a:spcBef>
              <a:buFont typeface="Wingdings"/>
              <a:buChar char=""/>
              <a:tabLst>
                <a:tab pos="384175" algn="l"/>
              </a:tabLst>
            </a:pPr>
            <a:r>
              <a:rPr sz="2750" spc="90" dirty="0">
                <a:latin typeface="Cambria"/>
                <a:cs typeface="Cambria"/>
              </a:rPr>
              <a:t>Guidelines</a:t>
            </a:r>
            <a:endParaRPr sz="2750">
              <a:latin typeface="Cambria"/>
              <a:cs typeface="Cambria"/>
            </a:endParaRPr>
          </a:p>
          <a:p>
            <a:pPr marL="788670" lvl="1" indent="-31877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788670" algn="l"/>
              </a:tabLst>
            </a:pPr>
            <a:r>
              <a:rPr sz="2400" spc="45" dirty="0">
                <a:latin typeface="Cambria"/>
                <a:cs typeface="Cambria"/>
              </a:rPr>
              <a:t>Identify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nodes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(hardware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and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software)</a:t>
            </a:r>
            <a:endParaRPr sz="2400">
              <a:latin typeface="Cambria"/>
              <a:cs typeface="Cambria"/>
            </a:endParaRPr>
          </a:p>
          <a:p>
            <a:pPr marL="712470" lvl="1" indent="-255904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spc="70" dirty="0">
                <a:latin typeface="Cambria"/>
                <a:cs typeface="Cambria"/>
              </a:rPr>
              <a:t>Outline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software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artifacts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Establish</a:t>
            </a:r>
            <a:r>
              <a:rPr sz="2400" spc="2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relationships</a:t>
            </a:r>
            <a:r>
              <a:rPr sz="2400" spc="18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between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nodes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00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spc="80" dirty="0">
                <a:latin typeface="Cambria"/>
                <a:cs typeface="Cambria"/>
              </a:rPr>
              <a:t>Configure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artifacts</a:t>
            </a:r>
            <a:r>
              <a:rPr sz="2400" spc="7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nodes</a:t>
            </a:r>
            <a:endParaRPr sz="2400">
              <a:latin typeface="Cambria"/>
              <a:cs typeface="Cambria"/>
            </a:endParaRPr>
          </a:p>
          <a:p>
            <a:pPr marL="712470" lvl="1" indent="-255904">
              <a:lnSpc>
                <a:spcPct val="100000"/>
              </a:lnSpc>
              <a:spcBef>
                <a:spcPts val="1475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dirty="0">
                <a:latin typeface="Cambria"/>
                <a:cs typeface="Cambria"/>
              </a:rPr>
              <a:t>Detail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environment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(e.g.,</a:t>
            </a:r>
            <a:r>
              <a:rPr sz="2400" spc="190" dirty="0"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OS,</a:t>
            </a:r>
            <a:r>
              <a:rPr sz="2400" spc="19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cloud</a:t>
            </a:r>
            <a:r>
              <a:rPr sz="2400" spc="2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platform)</a:t>
            </a:r>
            <a:endParaRPr sz="2400">
              <a:latin typeface="Cambria"/>
              <a:cs typeface="Cambria"/>
            </a:endParaRPr>
          </a:p>
          <a:p>
            <a:pPr marL="712470" lvl="1" indent="-255270">
              <a:lnSpc>
                <a:spcPct val="100000"/>
              </a:lnSpc>
              <a:spcBef>
                <a:spcPts val="1405"/>
              </a:spcBef>
              <a:buFont typeface="Wingdings"/>
              <a:buChar char=""/>
              <a:tabLst>
                <a:tab pos="712470" algn="l"/>
              </a:tabLst>
            </a:pPr>
            <a:r>
              <a:rPr sz="2400" spc="50" dirty="0">
                <a:latin typeface="Cambria"/>
                <a:cs typeface="Cambria"/>
              </a:rPr>
              <a:t>Annotate </a:t>
            </a:r>
            <a:r>
              <a:rPr sz="2400" dirty="0">
                <a:latin typeface="Cambria"/>
                <a:cs typeface="Cambria"/>
              </a:rPr>
              <a:t>the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diagram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with</a:t>
            </a:r>
            <a:r>
              <a:rPr sz="2400" spc="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notes</a:t>
            </a:r>
            <a:r>
              <a:rPr sz="2400" spc="70" dirty="0">
                <a:latin typeface="Cambria"/>
                <a:cs typeface="Cambria"/>
              </a:rPr>
              <a:t> and</a:t>
            </a:r>
            <a:r>
              <a:rPr sz="2400" spc="4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constraints.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25" dirty="0"/>
              <a:t>Deployment</a:t>
            </a:r>
            <a:r>
              <a:rPr spc="265" dirty="0"/>
              <a:t> </a:t>
            </a:r>
            <a:r>
              <a:rPr spc="6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219" y="1175139"/>
            <a:ext cx="10027699" cy="515025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0" dirty="0"/>
              <a:t> </a:t>
            </a:r>
            <a:r>
              <a:rPr spc="125" dirty="0"/>
              <a:t>Deployment</a:t>
            </a:r>
            <a:r>
              <a:rPr spc="265" dirty="0"/>
              <a:t> </a:t>
            </a:r>
            <a:r>
              <a:rPr spc="6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77038" y="1432399"/>
            <a:ext cx="6329527" cy="4745957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9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8230" cy="5166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7620" indent="-229235" algn="just">
              <a:lnSpc>
                <a:spcPct val="1536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100" dirty="0">
                <a:solidFill>
                  <a:srgbClr val="FF0000"/>
                </a:solidFill>
                <a:latin typeface="Cambria"/>
                <a:cs typeface="Cambria"/>
              </a:rPr>
              <a:t>	Class</a:t>
            </a:r>
            <a:r>
              <a:rPr sz="2750" spc="4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750" spc="90" dirty="0">
                <a:latin typeface="Cambria"/>
                <a:cs typeface="Cambria"/>
              </a:rPr>
              <a:t>:</a:t>
            </a:r>
            <a:r>
              <a:rPr sz="2750" spc="4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45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visualizes</a:t>
            </a:r>
            <a:r>
              <a:rPr sz="2750" spc="5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5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system's</a:t>
            </a:r>
            <a:r>
              <a:rPr sz="2750" spc="5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classes,</a:t>
            </a:r>
            <a:r>
              <a:rPr sz="2750" spc="5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their</a:t>
            </a:r>
            <a:r>
              <a:rPr sz="2750" spc="4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properties,</a:t>
            </a:r>
            <a:r>
              <a:rPr sz="2750" spc="509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and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6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relationships</a:t>
            </a:r>
            <a:r>
              <a:rPr sz="2750" spc="6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between</a:t>
            </a:r>
            <a:r>
              <a:rPr sz="2750" spc="615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them.</a:t>
            </a:r>
            <a:r>
              <a:rPr sz="2750" spc="6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5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6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62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foundation</a:t>
            </a:r>
            <a:r>
              <a:rPr sz="2750" spc="64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620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component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deployment</a:t>
            </a:r>
            <a:r>
              <a:rPr sz="2750" spc="12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diagrams</a:t>
            </a:r>
            <a:endParaRPr sz="2750">
              <a:latin typeface="Cambria"/>
              <a:cs typeface="Cambria"/>
            </a:endParaRPr>
          </a:p>
          <a:p>
            <a:pPr marL="241300" marR="5080" indent="-229235" algn="just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spc="110" dirty="0">
                <a:solidFill>
                  <a:srgbClr val="FF0000"/>
                </a:solidFill>
                <a:latin typeface="Cambria"/>
                <a:cs typeface="Cambria"/>
              </a:rPr>
              <a:t>	Component</a:t>
            </a:r>
            <a:r>
              <a:rPr sz="2750" spc="5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95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750" spc="95" dirty="0">
                <a:latin typeface="Cambria"/>
                <a:cs typeface="Cambria"/>
              </a:rPr>
              <a:t>:</a:t>
            </a:r>
            <a:r>
              <a:rPr sz="2750" spc="5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5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verifies</a:t>
            </a:r>
            <a:r>
              <a:rPr sz="2750" spc="5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that</a:t>
            </a:r>
            <a:r>
              <a:rPr sz="2750" spc="5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5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required</a:t>
            </a:r>
            <a:r>
              <a:rPr sz="2750" spc="6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functionalities</a:t>
            </a:r>
            <a:r>
              <a:rPr sz="2750" spc="645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are </a:t>
            </a:r>
            <a:r>
              <a:rPr sz="2750" spc="75" dirty="0">
                <a:latin typeface="Cambria"/>
                <a:cs typeface="Cambria"/>
              </a:rPr>
              <a:t>implemented</a:t>
            </a:r>
            <a:r>
              <a:rPr sz="2750" spc="315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by</a:t>
            </a:r>
            <a:r>
              <a:rPr sz="2750" spc="29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components</a:t>
            </a:r>
            <a:r>
              <a:rPr sz="2750" spc="33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and</a:t>
            </a:r>
            <a:r>
              <a:rPr sz="2750" spc="3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is</a:t>
            </a:r>
            <a:r>
              <a:rPr sz="2750" spc="30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32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communication</a:t>
            </a:r>
            <a:r>
              <a:rPr sz="2750" spc="3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tool</a:t>
            </a:r>
            <a:r>
              <a:rPr sz="2750" spc="2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330" dirty="0">
                <a:latin typeface="Cambria"/>
                <a:cs typeface="Cambria"/>
              </a:rPr>
              <a:t> </a:t>
            </a:r>
            <a:r>
              <a:rPr sz="2750" spc="35" dirty="0">
                <a:latin typeface="Cambria"/>
                <a:cs typeface="Cambria"/>
              </a:rPr>
              <a:t>discuss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45" dirty="0">
                <a:latin typeface="Cambria"/>
                <a:cs typeface="Cambria"/>
              </a:rPr>
              <a:t>  </a:t>
            </a:r>
            <a:r>
              <a:rPr sz="2750" spc="85" dirty="0">
                <a:latin typeface="Cambria"/>
                <a:cs typeface="Cambria"/>
              </a:rPr>
              <a:t>improve</a:t>
            </a:r>
            <a:r>
              <a:rPr sz="2750" spc="64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65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design.</a:t>
            </a:r>
            <a:r>
              <a:rPr sz="2750" spc="6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6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breaks</a:t>
            </a:r>
            <a:r>
              <a:rPr sz="2750" spc="645" dirty="0">
                <a:latin typeface="Cambria"/>
                <a:cs typeface="Cambria"/>
              </a:rPr>
              <a:t> </a:t>
            </a:r>
            <a:r>
              <a:rPr sz="2750" spc="120" dirty="0">
                <a:latin typeface="Cambria"/>
                <a:cs typeface="Cambria"/>
              </a:rPr>
              <a:t>down</a:t>
            </a:r>
            <a:r>
              <a:rPr sz="2750" spc="45" dirty="0">
                <a:latin typeface="Cambria"/>
                <a:cs typeface="Cambria"/>
              </a:rPr>
              <a:t>  </a:t>
            </a:r>
            <a:r>
              <a:rPr sz="2750" spc="75" dirty="0">
                <a:latin typeface="Cambria"/>
                <a:cs typeface="Cambria"/>
              </a:rPr>
              <a:t>complex</a:t>
            </a:r>
            <a:r>
              <a:rPr sz="2750" spc="68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systems</a:t>
            </a:r>
            <a:r>
              <a:rPr sz="2750" spc="630" dirty="0">
                <a:latin typeface="Cambria"/>
                <a:cs typeface="Cambria"/>
              </a:rPr>
              <a:t> </a:t>
            </a:r>
            <a:r>
              <a:rPr sz="2750" spc="-20" dirty="0">
                <a:latin typeface="Cambria"/>
                <a:cs typeface="Cambria"/>
              </a:rPr>
              <a:t>into</a:t>
            </a:r>
            <a:endParaRPr sz="2750">
              <a:latin typeface="Cambria"/>
              <a:cs typeface="Cambria"/>
            </a:endParaRPr>
          </a:p>
          <a:p>
            <a:pPr marL="241300" marR="5080" algn="just">
              <a:lnSpc>
                <a:spcPct val="152500"/>
              </a:lnSpc>
              <a:spcBef>
                <a:spcPts val="75"/>
              </a:spcBef>
            </a:pPr>
            <a:r>
              <a:rPr sz="2750" dirty="0">
                <a:latin typeface="Cambria"/>
                <a:cs typeface="Cambria"/>
              </a:rPr>
              <a:t>smaller</a:t>
            </a:r>
            <a:r>
              <a:rPr sz="2750" spc="80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components</a:t>
            </a:r>
            <a:r>
              <a:rPr sz="2750" spc="85" dirty="0">
                <a:latin typeface="Cambria"/>
                <a:cs typeface="Cambria"/>
              </a:rPr>
              <a:t>  and</a:t>
            </a:r>
            <a:r>
              <a:rPr sz="2750" spc="105" dirty="0">
                <a:latin typeface="Cambria"/>
                <a:cs typeface="Cambria"/>
              </a:rPr>
              <a:t>  </a:t>
            </a:r>
            <a:r>
              <a:rPr sz="2750" spc="60" dirty="0">
                <a:latin typeface="Cambria"/>
                <a:cs typeface="Cambria"/>
              </a:rPr>
              <a:t>visualizes</a:t>
            </a:r>
            <a:r>
              <a:rPr sz="2750" spc="10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7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relationships</a:t>
            </a:r>
            <a:r>
              <a:rPr sz="2750" spc="9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between</a:t>
            </a:r>
            <a:r>
              <a:rPr sz="2750" spc="70" dirty="0">
                <a:latin typeface="Cambria"/>
                <a:cs typeface="Cambria"/>
              </a:rPr>
              <a:t>  </a:t>
            </a:r>
            <a:r>
              <a:rPr sz="2750" spc="-10" dirty="0">
                <a:latin typeface="Cambria"/>
                <a:cs typeface="Cambria"/>
              </a:rPr>
              <a:t>these </a:t>
            </a:r>
            <a:r>
              <a:rPr sz="2750" spc="50" dirty="0">
                <a:latin typeface="Cambria"/>
                <a:cs typeface="Cambria"/>
              </a:rPr>
              <a:t>components.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9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44580" cy="51669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241300" marR="10795" indent="-229235" algn="just">
              <a:lnSpc>
                <a:spcPct val="153100"/>
              </a:lnSpc>
              <a:spcBef>
                <a:spcPts val="150"/>
              </a:spcBef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spc="120" dirty="0">
                <a:solidFill>
                  <a:srgbClr val="FF0000"/>
                </a:solidFill>
                <a:latin typeface="Cambria"/>
                <a:cs typeface="Cambria"/>
              </a:rPr>
              <a:t>	Use</a:t>
            </a:r>
            <a:r>
              <a:rPr sz="2750" spc="5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110" dirty="0">
                <a:solidFill>
                  <a:srgbClr val="FF0000"/>
                </a:solidFill>
                <a:latin typeface="Cambria"/>
                <a:cs typeface="Cambria"/>
              </a:rPr>
              <a:t>Case</a:t>
            </a:r>
            <a:r>
              <a:rPr sz="2750" spc="5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750" spc="90" dirty="0">
                <a:latin typeface="Cambria"/>
                <a:cs typeface="Cambria"/>
              </a:rPr>
              <a:t>:</a:t>
            </a:r>
            <a:r>
              <a:rPr sz="2750" spc="540" dirty="0">
                <a:latin typeface="Cambria"/>
                <a:cs typeface="Cambria"/>
              </a:rPr>
              <a:t> </a:t>
            </a:r>
            <a:r>
              <a:rPr sz="2750" spc="130" dirty="0">
                <a:latin typeface="Cambria"/>
                <a:cs typeface="Cambria"/>
              </a:rPr>
              <a:t>Used</a:t>
            </a:r>
            <a:r>
              <a:rPr sz="2750" spc="535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during</a:t>
            </a:r>
            <a:r>
              <a:rPr sz="2750" spc="5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53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analysis</a:t>
            </a:r>
            <a:r>
              <a:rPr sz="2750" spc="58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phase</a:t>
            </a:r>
            <a:r>
              <a:rPr sz="2750" spc="52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5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5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project</a:t>
            </a:r>
            <a:r>
              <a:rPr sz="2750" spc="515" dirty="0">
                <a:latin typeface="Cambria"/>
                <a:cs typeface="Cambria"/>
              </a:rPr>
              <a:t> </a:t>
            </a:r>
            <a:r>
              <a:rPr sz="2750" spc="-25" dirty="0">
                <a:latin typeface="Cambria"/>
                <a:cs typeface="Cambria"/>
              </a:rPr>
              <a:t>to </a:t>
            </a:r>
            <a:r>
              <a:rPr sz="2750" spc="70" dirty="0">
                <a:latin typeface="Cambria"/>
                <a:cs typeface="Cambria"/>
              </a:rPr>
              <a:t>identify</a:t>
            </a:r>
            <a:r>
              <a:rPr sz="2750" spc="46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44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functionality</a:t>
            </a:r>
            <a:r>
              <a:rPr sz="2750" spc="459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by</a:t>
            </a:r>
            <a:r>
              <a:rPr sz="2750" spc="45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describing</a:t>
            </a:r>
            <a:r>
              <a:rPr sz="2750" spc="4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459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interaction</a:t>
            </a:r>
            <a:r>
              <a:rPr sz="2750" spc="46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49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people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204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external</a:t>
            </a:r>
            <a:r>
              <a:rPr sz="2750" spc="18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devices</a:t>
            </a:r>
            <a:r>
              <a:rPr sz="2750" spc="20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with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spc="60" dirty="0">
                <a:latin typeface="Cambria"/>
                <a:cs typeface="Cambria"/>
              </a:rPr>
              <a:t>system.</a:t>
            </a:r>
            <a:r>
              <a:rPr sz="2750" spc="17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14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provides</a:t>
            </a:r>
            <a:r>
              <a:rPr sz="2750" spc="21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8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high-</a:t>
            </a:r>
            <a:r>
              <a:rPr sz="2750" spc="60" dirty="0">
                <a:latin typeface="Cambria"/>
                <a:cs typeface="Cambria"/>
              </a:rPr>
              <a:t>level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overview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6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61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relationships</a:t>
            </a:r>
            <a:r>
              <a:rPr sz="2750" spc="6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between</a:t>
            </a:r>
            <a:r>
              <a:rPr sz="2750" spc="5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actors</a:t>
            </a:r>
            <a:r>
              <a:rPr sz="2750" spc="65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and</a:t>
            </a:r>
            <a:r>
              <a:rPr sz="2750" spc="660" dirty="0">
                <a:latin typeface="Cambria"/>
                <a:cs typeface="Cambria"/>
              </a:rPr>
              <a:t> </a:t>
            </a:r>
            <a:r>
              <a:rPr sz="2750" spc="45" dirty="0">
                <a:latin typeface="Cambria"/>
                <a:cs typeface="Cambria"/>
              </a:rPr>
              <a:t>systems,</a:t>
            </a:r>
            <a:r>
              <a:rPr sz="2750" spc="670" dirty="0">
                <a:latin typeface="Cambria"/>
                <a:cs typeface="Cambria"/>
              </a:rPr>
              <a:t> </a:t>
            </a:r>
            <a:r>
              <a:rPr sz="2750" spc="105" dirty="0">
                <a:latin typeface="Cambria"/>
                <a:cs typeface="Cambria"/>
              </a:rPr>
              <a:t>making</a:t>
            </a:r>
            <a:r>
              <a:rPr sz="2750" spc="65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it</a:t>
            </a:r>
            <a:r>
              <a:rPr sz="2750" spc="615" dirty="0">
                <a:latin typeface="Cambria"/>
                <a:cs typeface="Cambria"/>
              </a:rPr>
              <a:t> </a:t>
            </a:r>
            <a:r>
              <a:rPr sz="2750" spc="35" dirty="0">
                <a:latin typeface="Cambria"/>
                <a:cs typeface="Cambria"/>
              </a:rPr>
              <a:t>suitable </a:t>
            </a:r>
            <a:r>
              <a:rPr sz="2750" dirty="0">
                <a:latin typeface="Cambria"/>
                <a:cs typeface="Cambria"/>
              </a:rPr>
              <a:t>for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75" dirty="0">
                <a:latin typeface="Cambria"/>
                <a:cs typeface="Cambria"/>
              </a:rPr>
              <a:t>explaining</a:t>
            </a:r>
            <a:r>
              <a:rPr sz="2750" spc="2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9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20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non-</a:t>
            </a:r>
            <a:r>
              <a:rPr sz="2750" dirty="0">
                <a:latin typeface="Cambria"/>
                <a:cs typeface="Cambria"/>
              </a:rPr>
              <a:t>technical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audience</a:t>
            </a:r>
            <a:endParaRPr sz="2750">
              <a:latin typeface="Cambria"/>
              <a:cs typeface="Cambria"/>
            </a:endParaRPr>
          </a:p>
          <a:p>
            <a:pPr marL="294005" indent="-290195" algn="just">
              <a:lnSpc>
                <a:spcPct val="100000"/>
              </a:lnSpc>
              <a:spcBef>
                <a:spcPts val="1730"/>
              </a:spcBef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45" dirty="0">
                <a:solidFill>
                  <a:srgbClr val="FF0000"/>
                </a:solidFill>
                <a:latin typeface="Cambria"/>
                <a:cs typeface="Cambria"/>
              </a:rPr>
              <a:t>Sequence</a:t>
            </a:r>
            <a:r>
              <a:rPr sz="2750" spc="254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750" spc="90" dirty="0">
                <a:latin typeface="Cambria"/>
                <a:cs typeface="Cambria"/>
              </a:rPr>
              <a:t>:</a:t>
            </a:r>
            <a:r>
              <a:rPr sz="2750" spc="26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Describes</a:t>
            </a:r>
            <a:r>
              <a:rPr sz="2750" spc="265" dirty="0">
                <a:latin typeface="Cambria"/>
                <a:cs typeface="Cambria"/>
              </a:rPr>
              <a:t>  </a:t>
            </a:r>
            <a:r>
              <a:rPr sz="2750" spc="110" dirty="0">
                <a:latin typeface="Cambria"/>
                <a:cs typeface="Cambria"/>
              </a:rPr>
              <a:t>how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operations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are</a:t>
            </a:r>
            <a:r>
              <a:rPr sz="2750" spc="28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carried</a:t>
            </a:r>
            <a:r>
              <a:rPr sz="2750" spc="270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out.</a:t>
            </a:r>
            <a:r>
              <a:rPr sz="2750" spc="265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It</a:t>
            </a:r>
            <a:endParaRPr sz="2750">
              <a:latin typeface="Cambria"/>
              <a:cs typeface="Cambria"/>
            </a:endParaRPr>
          </a:p>
          <a:p>
            <a:pPr marL="241300" marR="14604" algn="just">
              <a:lnSpc>
                <a:spcPct val="152500"/>
              </a:lnSpc>
              <a:spcBef>
                <a:spcPts val="75"/>
              </a:spcBef>
            </a:pPr>
            <a:r>
              <a:rPr sz="2750" spc="50" dirty="0">
                <a:latin typeface="Cambria"/>
                <a:cs typeface="Cambria"/>
              </a:rPr>
              <a:t>depicts</a:t>
            </a:r>
            <a:r>
              <a:rPr sz="2750" spc="3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39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chronologically</a:t>
            </a:r>
            <a:r>
              <a:rPr sz="2750" spc="4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structured</a:t>
            </a:r>
            <a:r>
              <a:rPr sz="2750" spc="39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event</a:t>
            </a:r>
            <a:r>
              <a:rPr sz="2750" spc="370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flow</a:t>
            </a:r>
            <a:r>
              <a:rPr sz="2750" spc="395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through</a:t>
            </a:r>
            <a:r>
              <a:rPr sz="2750" spc="4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409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use</a:t>
            </a:r>
            <a:r>
              <a:rPr sz="2750" spc="434" dirty="0">
                <a:latin typeface="Cambria"/>
                <a:cs typeface="Cambria"/>
              </a:rPr>
              <a:t> </a:t>
            </a:r>
            <a:r>
              <a:rPr sz="2750" spc="-20" dirty="0">
                <a:latin typeface="Cambria"/>
                <a:cs typeface="Cambria"/>
              </a:rPr>
              <a:t>case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3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presents</a:t>
            </a:r>
            <a:r>
              <a:rPr sz="2750" spc="2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27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communication</a:t>
            </a:r>
            <a:r>
              <a:rPr sz="2750" spc="32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relationships</a:t>
            </a:r>
            <a:r>
              <a:rPr sz="2750" spc="2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between</a:t>
            </a:r>
            <a:r>
              <a:rPr sz="2750" spc="245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objects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9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1028554"/>
            <a:ext cx="11242040" cy="51758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1300" marR="5080" indent="-233045" algn="just">
              <a:lnSpc>
                <a:spcPct val="130000"/>
              </a:lnSpc>
              <a:spcBef>
                <a:spcPts val="90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spc="70" dirty="0">
                <a:solidFill>
                  <a:srgbClr val="FF0000"/>
                </a:solidFill>
                <a:latin typeface="Cambria"/>
                <a:cs typeface="Cambria"/>
              </a:rPr>
              <a:t>	Communication</a:t>
            </a:r>
            <a:r>
              <a:rPr sz="2600" spc="30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600" spc="70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600" spc="70" dirty="0">
                <a:latin typeface="Cambria"/>
                <a:cs typeface="Cambria"/>
              </a:rPr>
              <a:t>:</a:t>
            </a:r>
            <a:r>
              <a:rPr sz="2600" spc="290" dirty="0"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Visualizes</a:t>
            </a:r>
            <a:r>
              <a:rPr sz="2600" spc="30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27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relationship</a:t>
            </a:r>
            <a:r>
              <a:rPr sz="2600" spc="28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between</a:t>
            </a:r>
            <a:r>
              <a:rPr sz="2600" spc="310" dirty="0">
                <a:latin typeface="Cambria"/>
                <a:cs typeface="Cambria"/>
              </a:rPr>
              <a:t>  </a:t>
            </a:r>
            <a:r>
              <a:rPr sz="2600" spc="-10" dirty="0">
                <a:latin typeface="Cambria"/>
                <a:cs typeface="Cambria"/>
              </a:rPr>
              <a:t>objects </a:t>
            </a:r>
            <a:r>
              <a:rPr sz="2600" dirty="0">
                <a:latin typeface="Cambria"/>
                <a:cs typeface="Cambria"/>
              </a:rPr>
              <a:t>collaborating</a:t>
            </a:r>
            <a:r>
              <a:rPr sz="2600" spc="12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to</a:t>
            </a:r>
            <a:r>
              <a:rPr sz="2600" spc="13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perform</a:t>
            </a:r>
            <a:r>
              <a:rPr sz="2600" spc="13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114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particular</a:t>
            </a:r>
            <a:r>
              <a:rPr sz="2600" spc="114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task</a:t>
            </a:r>
            <a:r>
              <a:rPr sz="2600" spc="130" dirty="0">
                <a:latin typeface="Cambria"/>
                <a:cs typeface="Cambria"/>
              </a:rPr>
              <a:t> 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100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models</a:t>
            </a:r>
            <a:r>
              <a:rPr sz="2600" spc="10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95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logic</a:t>
            </a:r>
            <a:r>
              <a:rPr sz="2600" spc="105" dirty="0">
                <a:latin typeface="Cambria"/>
                <a:cs typeface="Cambria"/>
              </a:rPr>
              <a:t>  </a:t>
            </a:r>
            <a:r>
              <a:rPr sz="2600" spc="55" dirty="0">
                <a:latin typeface="Cambria"/>
                <a:cs typeface="Cambria"/>
              </a:rPr>
              <a:t>of</a:t>
            </a:r>
            <a:r>
              <a:rPr sz="2600" spc="114" dirty="0">
                <a:latin typeface="Cambria"/>
                <a:cs typeface="Cambria"/>
              </a:rPr>
              <a:t>  </a:t>
            </a:r>
            <a:r>
              <a:rPr sz="2600" spc="-25" dirty="0">
                <a:latin typeface="Cambria"/>
                <a:cs typeface="Cambria"/>
              </a:rPr>
              <a:t>the </a:t>
            </a:r>
            <a:r>
              <a:rPr sz="2600" dirty="0">
                <a:latin typeface="Cambria"/>
                <a:cs typeface="Cambria"/>
              </a:rPr>
              <a:t>implementation</a:t>
            </a:r>
            <a:r>
              <a:rPr sz="2600" spc="6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for</a:t>
            </a:r>
            <a:r>
              <a:rPr sz="2600" spc="6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50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complex</a:t>
            </a:r>
            <a:r>
              <a:rPr sz="2600" spc="4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operation.</a:t>
            </a:r>
            <a:r>
              <a:rPr sz="2600" spc="5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It</a:t>
            </a:r>
            <a:r>
              <a:rPr sz="2600" spc="4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focuses</a:t>
            </a:r>
            <a:r>
              <a:rPr sz="2600" spc="55" dirty="0">
                <a:latin typeface="Cambria"/>
                <a:cs typeface="Cambria"/>
              </a:rPr>
              <a:t>  </a:t>
            </a:r>
            <a:r>
              <a:rPr sz="2600" spc="50" dirty="0">
                <a:latin typeface="Cambria"/>
                <a:cs typeface="Cambria"/>
              </a:rPr>
              <a:t>on  </a:t>
            </a:r>
            <a:r>
              <a:rPr sz="2600" dirty="0">
                <a:latin typeface="Cambria"/>
                <a:cs typeface="Cambria"/>
              </a:rPr>
              <a:t>messages</a:t>
            </a:r>
            <a:r>
              <a:rPr sz="2600" spc="60" dirty="0">
                <a:latin typeface="Cambria"/>
                <a:cs typeface="Cambria"/>
              </a:rPr>
              <a:t>  </a:t>
            </a:r>
            <a:r>
              <a:rPr sz="2600" spc="-10" dirty="0">
                <a:latin typeface="Cambria"/>
                <a:cs typeface="Cambria"/>
              </a:rPr>
              <a:t>passed </a:t>
            </a:r>
            <a:r>
              <a:rPr sz="2600" dirty="0">
                <a:latin typeface="Cambria"/>
                <a:cs typeface="Cambria"/>
              </a:rPr>
              <a:t>between</a:t>
            </a:r>
            <a:r>
              <a:rPr sz="2600" spc="7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objects</a:t>
            </a:r>
            <a:r>
              <a:rPr sz="2600" spc="45" dirty="0">
                <a:latin typeface="Cambria"/>
                <a:cs typeface="Cambria"/>
              </a:rPr>
              <a:t> 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4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can</a:t>
            </a:r>
            <a:r>
              <a:rPr sz="2600" spc="5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represent</a:t>
            </a:r>
            <a:r>
              <a:rPr sz="2600" spc="6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4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same</a:t>
            </a:r>
            <a:r>
              <a:rPr sz="2600" spc="6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information</a:t>
            </a:r>
            <a:r>
              <a:rPr sz="2600" spc="7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as</a:t>
            </a:r>
            <a:r>
              <a:rPr sz="2600" spc="7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a</a:t>
            </a:r>
            <a:r>
              <a:rPr sz="2600" spc="60" dirty="0">
                <a:latin typeface="Cambria"/>
                <a:cs typeface="Cambria"/>
              </a:rPr>
              <a:t>  </a:t>
            </a:r>
            <a:r>
              <a:rPr sz="2600" spc="-10" dirty="0">
                <a:latin typeface="Cambria"/>
                <a:cs typeface="Cambria"/>
              </a:rPr>
              <a:t>sequence </a:t>
            </a:r>
            <a:r>
              <a:rPr sz="2600" spc="60" dirty="0">
                <a:latin typeface="Cambria"/>
                <a:cs typeface="Cambria"/>
              </a:rPr>
              <a:t>diagram</a:t>
            </a:r>
            <a:r>
              <a:rPr sz="2600" spc="175" dirty="0">
                <a:latin typeface="Cambria"/>
                <a:cs typeface="Cambria"/>
              </a:rPr>
              <a:t> </a:t>
            </a:r>
            <a:r>
              <a:rPr sz="2600" spc="70" dirty="0">
                <a:latin typeface="Cambria"/>
                <a:cs typeface="Cambria"/>
              </a:rPr>
              <a:t>using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different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objects</a:t>
            </a:r>
            <a:endParaRPr sz="2600">
              <a:latin typeface="Cambria"/>
              <a:cs typeface="Cambria"/>
            </a:endParaRPr>
          </a:p>
          <a:p>
            <a:pPr marL="241300" marR="5080" indent="-232410" algn="just">
              <a:lnSpc>
                <a:spcPts val="4060"/>
              </a:lnSpc>
              <a:spcBef>
                <a:spcPts val="285"/>
              </a:spcBef>
              <a:buSzPct val="96153"/>
              <a:buFont typeface="Wingdings"/>
              <a:buChar char=""/>
              <a:tabLst>
                <a:tab pos="241300" algn="l"/>
                <a:tab pos="273685" algn="l"/>
              </a:tabLst>
            </a:pPr>
            <a:r>
              <a:rPr sz="2600" spc="65" dirty="0">
                <a:solidFill>
                  <a:srgbClr val="FF0000"/>
                </a:solidFill>
                <a:latin typeface="Cambria"/>
                <a:cs typeface="Cambria"/>
              </a:rPr>
              <a:t>	Deployment</a:t>
            </a:r>
            <a:r>
              <a:rPr sz="2600" spc="450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600" spc="65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600" spc="65" dirty="0">
                <a:latin typeface="Cambria"/>
                <a:cs typeface="Cambria"/>
              </a:rPr>
              <a:t>:</a:t>
            </a:r>
            <a:r>
              <a:rPr sz="2600" spc="434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Describes</a:t>
            </a:r>
            <a:r>
              <a:rPr sz="2600" spc="44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409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hardware</a:t>
            </a:r>
            <a:r>
              <a:rPr sz="2600" spc="44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components</a:t>
            </a:r>
            <a:r>
              <a:rPr sz="2600" spc="440" dirty="0">
                <a:latin typeface="Cambria"/>
                <a:cs typeface="Cambria"/>
              </a:rPr>
              <a:t>  </a:t>
            </a:r>
            <a:r>
              <a:rPr sz="2600" spc="50" dirty="0">
                <a:latin typeface="Cambria"/>
                <a:cs typeface="Cambria"/>
              </a:rPr>
              <a:t>used</a:t>
            </a:r>
            <a:r>
              <a:rPr sz="2600" spc="434" dirty="0">
                <a:latin typeface="Cambria"/>
                <a:cs typeface="Cambria"/>
              </a:rPr>
              <a:t>  </a:t>
            </a:r>
            <a:r>
              <a:rPr sz="2600" spc="-25" dirty="0">
                <a:latin typeface="Cambria"/>
                <a:cs typeface="Cambria"/>
              </a:rPr>
              <a:t>in </a:t>
            </a:r>
            <a:r>
              <a:rPr sz="2600" dirty="0">
                <a:latin typeface="Cambria"/>
                <a:cs typeface="Cambria"/>
              </a:rPr>
              <a:t>system</a:t>
            </a:r>
            <a:r>
              <a:rPr sz="2600" spc="22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implementations,</a:t>
            </a:r>
            <a:r>
              <a:rPr sz="2600" spc="23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22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execution</a:t>
            </a:r>
            <a:r>
              <a:rPr sz="2600" spc="22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environments,</a:t>
            </a:r>
            <a:r>
              <a:rPr sz="2600" spc="254" dirty="0">
                <a:latin typeface="Cambria"/>
                <a:cs typeface="Cambria"/>
              </a:rPr>
              <a:t> 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21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220" dirty="0">
                <a:latin typeface="Cambria"/>
                <a:cs typeface="Cambria"/>
              </a:rPr>
              <a:t>  </a:t>
            </a:r>
            <a:r>
              <a:rPr sz="2600" spc="-10" dirty="0">
                <a:latin typeface="Cambria"/>
                <a:cs typeface="Cambria"/>
              </a:rPr>
              <a:t>artifacts </a:t>
            </a:r>
            <a:r>
              <a:rPr sz="2600" spc="70" dirty="0">
                <a:latin typeface="Cambria"/>
                <a:cs typeface="Cambria"/>
              </a:rPr>
              <a:t>deployed</a:t>
            </a:r>
            <a:r>
              <a:rPr sz="2600" spc="165" dirty="0">
                <a:latin typeface="Cambria"/>
                <a:cs typeface="Cambria"/>
              </a:rPr>
              <a:t>  </a:t>
            </a:r>
            <a:r>
              <a:rPr sz="2600" spc="50" dirty="0">
                <a:latin typeface="Cambria"/>
                <a:cs typeface="Cambria"/>
              </a:rPr>
              <a:t>on</a:t>
            </a:r>
            <a:r>
              <a:rPr sz="2600" spc="16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14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hardware1.</a:t>
            </a:r>
            <a:r>
              <a:rPr sz="2600" spc="17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It</a:t>
            </a:r>
            <a:r>
              <a:rPr sz="2600" spc="15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helps</a:t>
            </a:r>
            <a:r>
              <a:rPr sz="2600" spc="160" dirty="0">
                <a:latin typeface="Cambria"/>
                <a:cs typeface="Cambria"/>
              </a:rPr>
              <a:t>  </a:t>
            </a:r>
            <a:r>
              <a:rPr sz="2600" spc="50" dirty="0">
                <a:latin typeface="Cambria"/>
                <a:cs typeface="Cambria"/>
              </a:rPr>
              <a:t>visualize</a:t>
            </a:r>
            <a:r>
              <a:rPr sz="2600" spc="19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15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hardware</a:t>
            </a:r>
            <a:r>
              <a:rPr sz="2600" spc="180" dirty="0">
                <a:latin typeface="Cambria"/>
                <a:cs typeface="Cambria"/>
              </a:rPr>
              <a:t>  </a:t>
            </a:r>
            <a:r>
              <a:rPr sz="2600" spc="60" dirty="0">
                <a:latin typeface="Cambria"/>
                <a:cs typeface="Cambria"/>
              </a:rPr>
              <a:t>topology</a:t>
            </a:r>
            <a:endParaRPr sz="2600">
              <a:latin typeface="Cambria"/>
              <a:cs typeface="Cambria"/>
            </a:endParaRPr>
          </a:p>
          <a:p>
            <a:pPr marL="241300" algn="just">
              <a:lnSpc>
                <a:spcPct val="100000"/>
              </a:lnSpc>
              <a:spcBef>
                <a:spcPts val="635"/>
              </a:spcBef>
            </a:pPr>
            <a:r>
              <a:rPr sz="2600" dirty="0">
                <a:latin typeface="Cambria"/>
                <a:cs typeface="Cambria"/>
              </a:rPr>
              <a:t>system,</a:t>
            </a:r>
            <a:r>
              <a:rPr sz="2600" spc="405" dirty="0">
                <a:latin typeface="Cambria"/>
                <a:cs typeface="Cambria"/>
              </a:rPr>
              <a:t>  </a:t>
            </a:r>
            <a:r>
              <a:rPr sz="2600" spc="70" dirty="0">
                <a:latin typeface="Cambria"/>
                <a:cs typeface="Cambria"/>
              </a:rPr>
              <a:t>model</a:t>
            </a:r>
            <a:r>
              <a:rPr sz="2600" spc="375" dirty="0">
                <a:latin typeface="Cambria"/>
                <a:cs typeface="Cambria"/>
              </a:rPr>
              <a:t>  </a:t>
            </a:r>
            <a:r>
              <a:rPr sz="2600" spc="50" dirty="0">
                <a:latin typeface="Cambria"/>
                <a:cs typeface="Cambria"/>
              </a:rPr>
              <a:t>physical</a:t>
            </a:r>
            <a:r>
              <a:rPr sz="2600" spc="38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hardware</a:t>
            </a:r>
            <a:r>
              <a:rPr sz="2600" spc="390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elements,</a:t>
            </a:r>
            <a:r>
              <a:rPr sz="2600" spc="400" dirty="0">
                <a:latin typeface="Cambria"/>
                <a:cs typeface="Cambria"/>
              </a:rPr>
              <a:t>  </a:t>
            </a:r>
            <a:r>
              <a:rPr sz="2600" spc="85" dirty="0">
                <a:latin typeface="Cambria"/>
                <a:cs typeface="Cambria"/>
              </a:rPr>
              <a:t>and</a:t>
            </a:r>
            <a:r>
              <a:rPr sz="2600" spc="365" dirty="0">
                <a:latin typeface="Cambria"/>
                <a:cs typeface="Cambria"/>
              </a:rPr>
              <a:t> 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365" dirty="0">
                <a:latin typeface="Cambria"/>
                <a:cs typeface="Cambria"/>
              </a:rPr>
              <a:t>  </a:t>
            </a:r>
            <a:r>
              <a:rPr sz="2600" spc="35" dirty="0">
                <a:latin typeface="Cambria"/>
                <a:cs typeface="Cambria"/>
              </a:rPr>
              <a:t>communication</a:t>
            </a:r>
            <a:endParaRPr sz="2600">
              <a:latin typeface="Cambria"/>
              <a:cs typeface="Cambria"/>
            </a:endParaRPr>
          </a:p>
          <a:p>
            <a:pPr marL="241300" algn="just">
              <a:lnSpc>
                <a:spcPct val="100000"/>
              </a:lnSpc>
              <a:spcBef>
                <a:spcPts val="935"/>
              </a:spcBef>
            </a:pPr>
            <a:r>
              <a:rPr sz="2600" dirty="0">
                <a:latin typeface="Cambria"/>
                <a:cs typeface="Cambria"/>
              </a:rPr>
              <a:t>relationships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between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them,</a:t>
            </a:r>
            <a:r>
              <a:rPr sz="2600" spc="10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as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60" dirty="0">
                <a:latin typeface="Cambria"/>
                <a:cs typeface="Cambria"/>
              </a:rPr>
              <a:t>well</a:t>
            </a:r>
            <a:r>
              <a:rPr sz="2600" spc="9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as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plan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architecture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of</a:t>
            </a:r>
            <a:r>
              <a:rPr sz="2600" spc="10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the</a:t>
            </a:r>
            <a:r>
              <a:rPr sz="2600" spc="7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system.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9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7595" cy="38792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7620" indent="-229235" algn="just">
              <a:lnSpc>
                <a:spcPct val="153600"/>
              </a:lnSpc>
              <a:spcBef>
                <a:spcPts val="130"/>
              </a:spcBef>
              <a:buClr>
                <a:srgbClr val="000000"/>
              </a:buClr>
              <a:buFont typeface="Wingdings"/>
              <a:buChar char=""/>
              <a:tabLst>
                <a:tab pos="241300" algn="l"/>
                <a:tab pos="383540" algn="l"/>
              </a:tabLst>
            </a:pPr>
            <a:r>
              <a:rPr sz="2750" dirty="0">
                <a:solidFill>
                  <a:srgbClr val="FF0000"/>
                </a:solidFill>
                <a:latin typeface="Cambria"/>
                <a:cs typeface="Cambria"/>
              </a:rPr>
              <a:t>State</a:t>
            </a:r>
            <a:r>
              <a:rPr sz="2750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750" spc="90" dirty="0">
                <a:latin typeface="Cambria"/>
                <a:cs typeface="Cambria"/>
              </a:rPr>
              <a:t>: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Models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dynamic</a:t>
            </a:r>
            <a:r>
              <a:rPr sz="2750" spc="16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nature</a:t>
            </a:r>
            <a:r>
              <a:rPr sz="2750" spc="145" dirty="0">
                <a:latin typeface="Cambria"/>
                <a:cs typeface="Cambria"/>
              </a:rPr>
              <a:t>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19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170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150" dirty="0">
                <a:latin typeface="Cambria"/>
                <a:cs typeface="Cambria"/>
              </a:rPr>
              <a:t> </a:t>
            </a:r>
            <a:r>
              <a:rPr sz="2750" spc="100" dirty="0">
                <a:latin typeface="Cambria"/>
                <a:cs typeface="Cambria"/>
              </a:rPr>
              <a:t>by</a:t>
            </a:r>
            <a:r>
              <a:rPr sz="2750" spc="155" dirty="0">
                <a:latin typeface="Cambria"/>
                <a:cs typeface="Cambria"/>
              </a:rPr>
              <a:t> </a:t>
            </a:r>
            <a:r>
              <a:rPr sz="2750" spc="40" dirty="0">
                <a:latin typeface="Cambria"/>
                <a:cs typeface="Cambria"/>
              </a:rPr>
              <a:t>describing </a:t>
            </a:r>
            <a:r>
              <a:rPr sz="2750" spc="60" dirty="0">
                <a:latin typeface="Cambria"/>
                <a:cs typeface="Cambria"/>
              </a:rPr>
              <a:t>all</a:t>
            </a:r>
            <a:r>
              <a:rPr sz="2750" spc="18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possible</a:t>
            </a:r>
            <a:r>
              <a:rPr sz="2750" spc="21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states</a:t>
            </a:r>
            <a:r>
              <a:rPr sz="2750" spc="204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229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an</a:t>
            </a:r>
            <a:r>
              <a:rPr sz="2750" spc="20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object</a:t>
            </a:r>
            <a:r>
              <a:rPr sz="2750" spc="21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as</a:t>
            </a:r>
            <a:r>
              <a:rPr sz="2750" spc="20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events</a:t>
            </a:r>
            <a:r>
              <a:rPr sz="2750" spc="200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occur,</a:t>
            </a:r>
            <a:r>
              <a:rPr sz="2750" spc="195" dirty="0">
                <a:latin typeface="Cambria"/>
                <a:cs typeface="Cambria"/>
              </a:rPr>
              <a:t>  </a:t>
            </a:r>
            <a:r>
              <a:rPr sz="2750" spc="70" dirty="0">
                <a:latin typeface="Cambria"/>
                <a:cs typeface="Cambria"/>
              </a:rPr>
              <a:t>from</a:t>
            </a:r>
            <a:r>
              <a:rPr sz="2750" spc="20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creation</a:t>
            </a:r>
            <a:r>
              <a:rPr sz="2750" spc="220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to </a:t>
            </a:r>
            <a:r>
              <a:rPr sz="2750" spc="35" dirty="0">
                <a:latin typeface="Cambria"/>
                <a:cs typeface="Cambria"/>
              </a:rPr>
              <a:t>termination.</a:t>
            </a:r>
            <a:endParaRPr sz="2750">
              <a:latin typeface="Cambria"/>
              <a:cs typeface="Cambria"/>
            </a:endParaRPr>
          </a:p>
          <a:p>
            <a:pPr marL="241300" marR="5080" indent="-237490" algn="just">
              <a:lnSpc>
                <a:spcPct val="152500"/>
              </a:lnSpc>
              <a:buSzPct val="96363"/>
              <a:buFont typeface="Wingdings"/>
              <a:buChar char=""/>
              <a:tabLst>
                <a:tab pos="241300" algn="l"/>
                <a:tab pos="294640" algn="l"/>
              </a:tabLst>
            </a:pPr>
            <a:r>
              <a:rPr sz="2750" spc="105" dirty="0">
                <a:solidFill>
                  <a:srgbClr val="FF0000"/>
                </a:solidFill>
                <a:latin typeface="Cambria"/>
                <a:cs typeface="Cambria"/>
              </a:rPr>
              <a:t>Activity</a:t>
            </a:r>
            <a:r>
              <a:rPr sz="2750" spc="215" dirty="0">
                <a:solidFill>
                  <a:srgbClr val="FF0000"/>
                </a:solidFill>
                <a:latin typeface="Cambria"/>
                <a:cs typeface="Cambria"/>
              </a:rPr>
              <a:t>  </a:t>
            </a:r>
            <a:r>
              <a:rPr sz="2750" spc="95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750" spc="95" dirty="0">
                <a:latin typeface="Cambria"/>
                <a:cs typeface="Cambria"/>
              </a:rPr>
              <a:t>:</a:t>
            </a:r>
            <a:r>
              <a:rPr sz="2750" spc="229" dirty="0">
                <a:latin typeface="Cambria"/>
                <a:cs typeface="Cambria"/>
              </a:rPr>
              <a:t>  </a:t>
            </a:r>
            <a:r>
              <a:rPr sz="2750" spc="100" dirty="0">
                <a:latin typeface="Cambria"/>
                <a:cs typeface="Cambria"/>
              </a:rPr>
              <a:t>Graphically</a:t>
            </a:r>
            <a:r>
              <a:rPr sz="2750" spc="22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represents</a:t>
            </a:r>
            <a:r>
              <a:rPr sz="2750" spc="229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business</a:t>
            </a:r>
            <a:r>
              <a:rPr sz="2750" spc="24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240" dirty="0">
                <a:latin typeface="Cambria"/>
                <a:cs typeface="Cambria"/>
              </a:rPr>
              <a:t>  </a:t>
            </a:r>
            <a:r>
              <a:rPr sz="2750" spc="-10" dirty="0">
                <a:latin typeface="Cambria"/>
                <a:cs typeface="Cambria"/>
              </a:rPr>
              <a:t>operational </a:t>
            </a:r>
            <a:r>
              <a:rPr sz="2750" spc="80" dirty="0">
                <a:latin typeface="Cambria"/>
                <a:cs typeface="Cambria"/>
              </a:rPr>
              <a:t>workflows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to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spc="80" dirty="0">
                <a:latin typeface="Cambria"/>
                <a:cs typeface="Cambria"/>
              </a:rPr>
              <a:t>show</a:t>
            </a:r>
            <a:r>
              <a:rPr sz="2750" spc="13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125" dirty="0">
                <a:latin typeface="Cambria"/>
                <a:cs typeface="Cambria"/>
              </a:rPr>
              <a:t>  </a:t>
            </a:r>
            <a:r>
              <a:rPr sz="2750" spc="50" dirty="0">
                <a:latin typeface="Cambria"/>
                <a:cs typeface="Cambria"/>
              </a:rPr>
              <a:t>activity</a:t>
            </a:r>
            <a:r>
              <a:rPr sz="2750" spc="155" dirty="0">
                <a:latin typeface="Cambria"/>
                <a:cs typeface="Cambria"/>
              </a:rPr>
              <a:t>  </a:t>
            </a:r>
            <a:r>
              <a:rPr sz="2750" spc="55" dirty="0">
                <a:latin typeface="Cambria"/>
                <a:cs typeface="Cambria"/>
              </a:rPr>
              <a:t>of</a:t>
            </a:r>
            <a:r>
              <a:rPr sz="2750" spc="145" dirty="0">
                <a:latin typeface="Cambria"/>
                <a:cs typeface="Cambria"/>
              </a:rPr>
              <a:t>  </a:t>
            </a:r>
            <a:r>
              <a:rPr sz="2750" spc="85" dirty="0">
                <a:latin typeface="Cambria"/>
                <a:cs typeface="Cambria"/>
              </a:rPr>
              <a:t>any</a:t>
            </a:r>
            <a:r>
              <a:rPr sz="2750" spc="145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part</a:t>
            </a:r>
            <a:r>
              <a:rPr sz="2750" spc="130" dirty="0">
                <a:latin typeface="Cambria"/>
                <a:cs typeface="Cambria"/>
              </a:rPr>
              <a:t>  </a:t>
            </a:r>
            <a:r>
              <a:rPr sz="2750" dirty="0">
                <a:latin typeface="Cambria"/>
                <a:cs typeface="Cambria"/>
              </a:rPr>
              <a:t>or</a:t>
            </a:r>
            <a:r>
              <a:rPr sz="2750" spc="140" dirty="0"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component</a:t>
            </a:r>
            <a:r>
              <a:rPr sz="2750" spc="125" dirty="0">
                <a:latin typeface="Cambria"/>
                <a:cs typeface="Cambria"/>
              </a:rPr>
              <a:t>  </a:t>
            </a:r>
            <a:r>
              <a:rPr sz="2750" spc="65" dirty="0">
                <a:latin typeface="Cambria"/>
                <a:cs typeface="Cambria"/>
              </a:rPr>
              <a:t>in</a:t>
            </a:r>
            <a:r>
              <a:rPr sz="2750" spc="120" dirty="0">
                <a:latin typeface="Cambria"/>
                <a:cs typeface="Cambria"/>
              </a:rPr>
              <a:t>  </a:t>
            </a:r>
            <a:r>
              <a:rPr sz="2750" spc="-25" dirty="0">
                <a:latin typeface="Cambria"/>
                <a:cs typeface="Cambria"/>
              </a:rPr>
              <a:t>the </a:t>
            </a:r>
            <a:r>
              <a:rPr sz="2750" spc="50" dirty="0">
                <a:latin typeface="Cambria"/>
                <a:cs typeface="Cambria"/>
              </a:rPr>
              <a:t>system.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90" dirty="0"/>
              <a:t>System</a:t>
            </a:r>
            <a:r>
              <a:rPr spc="260" dirty="0"/>
              <a:t> </a:t>
            </a:r>
            <a:r>
              <a:rPr spc="75" dirty="0"/>
              <a:t>Modelling</a:t>
            </a:r>
            <a:r>
              <a:rPr spc="235" dirty="0"/>
              <a:t> </a:t>
            </a:r>
            <a:r>
              <a:rPr spc="-455" dirty="0"/>
              <a:t>–</a:t>
            </a:r>
            <a:r>
              <a:rPr spc="260" dirty="0"/>
              <a:t> </a:t>
            </a:r>
            <a:r>
              <a:rPr dirty="0"/>
              <a:t>UML</a:t>
            </a:r>
            <a:r>
              <a:rPr spc="229" dirty="0"/>
              <a:t> </a:t>
            </a:r>
            <a:r>
              <a:rPr spc="-455" dirty="0"/>
              <a:t>–</a:t>
            </a:r>
            <a:r>
              <a:rPr spc="254" dirty="0"/>
              <a:t> </a:t>
            </a:r>
            <a:r>
              <a:rPr spc="195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8950" y="983996"/>
            <a:ext cx="11237595" cy="19621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1300" marR="5080" indent="-229235" algn="just">
              <a:lnSpc>
                <a:spcPct val="153600"/>
              </a:lnSpc>
              <a:spcBef>
                <a:spcPts val="130"/>
              </a:spcBef>
              <a:buSzPct val="96363"/>
              <a:buFont typeface="Wingdings"/>
              <a:buChar char=""/>
              <a:tabLst>
                <a:tab pos="241300" algn="l"/>
                <a:tab pos="294005" algn="l"/>
              </a:tabLst>
            </a:pPr>
            <a:r>
              <a:rPr sz="2750" spc="50" dirty="0">
                <a:solidFill>
                  <a:srgbClr val="FF0000"/>
                </a:solidFill>
                <a:latin typeface="Cambria"/>
                <a:cs typeface="Cambria"/>
              </a:rPr>
              <a:t>	Object</a:t>
            </a:r>
            <a:r>
              <a:rPr sz="2750" spc="53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750" spc="90" dirty="0">
                <a:solidFill>
                  <a:srgbClr val="FF0000"/>
                </a:solidFill>
                <a:latin typeface="Cambria"/>
                <a:cs typeface="Cambria"/>
              </a:rPr>
              <a:t>Diagram</a:t>
            </a:r>
            <a:r>
              <a:rPr sz="2750" spc="90" dirty="0">
                <a:latin typeface="Cambria"/>
                <a:cs typeface="Cambria"/>
              </a:rPr>
              <a:t>:</a:t>
            </a:r>
            <a:r>
              <a:rPr sz="2750" spc="53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Shows</a:t>
            </a:r>
            <a:r>
              <a:rPr sz="2750" spc="53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the</a:t>
            </a:r>
            <a:r>
              <a:rPr sz="2750" spc="52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relationship</a:t>
            </a:r>
            <a:r>
              <a:rPr sz="2750" spc="5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between</a:t>
            </a:r>
            <a:r>
              <a:rPr sz="2750" spc="509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objects</a:t>
            </a:r>
            <a:r>
              <a:rPr sz="2750" spc="555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using</a:t>
            </a:r>
            <a:r>
              <a:rPr sz="2750" spc="550" dirty="0">
                <a:latin typeface="Cambria"/>
                <a:cs typeface="Cambria"/>
              </a:rPr>
              <a:t> </a:t>
            </a:r>
            <a:r>
              <a:rPr sz="2750" spc="-10" dirty="0">
                <a:latin typeface="Cambria"/>
                <a:cs typeface="Cambria"/>
              </a:rPr>
              <a:t>real- </a:t>
            </a:r>
            <a:r>
              <a:rPr sz="2750" spc="85" dirty="0">
                <a:latin typeface="Cambria"/>
                <a:cs typeface="Cambria"/>
              </a:rPr>
              <a:t>world</a:t>
            </a:r>
            <a:r>
              <a:rPr sz="2750" spc="420" dirty="0">
                <a:latin typeface="Cambria"/>
                <a:cs typeface="Cambria"/>
              </a:rPr>
              <a:t> </a:t>
            </a:r>
            <a:r>
              <a:rPr sz="2750" spc="65" dirty="0">
                <a:latin typeface="Cambria"/>
                <a:cs typeface="Cambria"/>
              </a:rPr>
              <a:t>examples</a:t>
            </a:r>
            <a:r>
              <a:rPr sz="2750" spc="409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and</a:t>
            </a:r>
            <a:r>
              <a:rPr sz="2750" spc="44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illustrates</a:t>
            </a:r>
            <a:r>
              <a:rPr sz="2750" spc="450" dirty="0">
                <a:latin typeface="Cambria"/>
                <a:cs typeface="Cambria"/>
              </a:rPr>
              <a:t> </a:t>
            </a:r>
            <a:r>
              <a:rPr sz="2750" spc="110" dirty="0">
                <a:latin typeface="Cambria"/>
                <a:cs typeface="Cambria"/>
              </a:rPr>
              <a:t>how</a:t>
            </a:r>
            <a:r>
              <a:rPr sz="2750" spc="430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</a:t>
            </a:r>
            <a:r>
              <a:rPr sz="2750" spc="405" dirty="0">
                <a:latin typeface="Cambria"/>
                <a:cs typeface="Cambria"/>
              </a:rPr>
              <a:t> </a:t>
            </a:r>
            <a:r>
              <a:rPr sz="2750" spc="50" dirty="0">
                <a:latin typeface="Cambria"/>
                <a:cs typeface="Cambria"/>
              </a:rPr>
              <a:t>system</a:t>
            </a:r>
            <a:r>
              <a:rPr sz="2750" spc="400" dirty="0">
                <a:latin typeface="Cambria"/>
                <a:cs typeface="Cambria"/>
              </a:rPr>
              <a:t> </a:t>
            </a:r>
            <a:r>
              <a:rPr sz="2750" spc="90" dirty="0">
                <a:latin typeface="Cambria"/>
                <a:cs typeface="Cambria"/>
              </a:rPr>
              <a:t>will</a:t>
            </a:r>
            <a:r>
              <a:rPr sz="2750" spc="400" dirty="0">
                <a:latin typeface="Cambria"/>
                <a:cs typeface="Cambria"/>
              </a:rPr>
              <a:t> </a:t>
            </a:r>
            <a:r>
              <a:rPr sz="2750" spc="70" dirty="0">
                <a:latin typeface="Cambria"/>
                <a:cs typeface="Cambria"/>
              </a:rPr>
              <a:t>look</a:t>
            </a:r>
            <a:r>
              <a:rPr sz="2750" spc="385" dirty="0">
                <a:latin typeface="Cambria"/>
                <a:cs typeface="Cambria"/>
              </a:rPr>
              <a:t> </a:t>
            </a:r>
            <a:r>
              <a:rPr sz="2750" dirty="0">
                <a:latin typeface="Cambria"/>
                <a:cs typeface="Cambria"/>
              </a:rPr>
              <a:t>at</a:t>
            </a:r>
            <a:r>
              <a:rPr sz="2750" spc="385" dirty="0">
                <a:latin typeface="Cambria"/>
                <a:cs typeface="Cambria"/>
              </a:rPr>
              <a:t> </a:t>
            </a:r>
            <a:r>
              <a:rPr sz="2750" spc="80" dirty="0">
                <a:latin typeface="Cambria"/>
                <a:cs typeface="Cambria"/>
              </a:rPr>
              <a:t>any</a:t>
            </a:r>
            <a:r>
              <a:rPr sz="2750" spc="445" dirty="0">
                <a:latin typeface="Cambria"/>
                <a:cs typeface="Cambria"/>
              </a:rPr>
              <a:t> </a:t>
            </a:r>
            <a:r>
              <a:rPr sz="2750" spc="85" dirty="0">
                <a:latin typeface="Cambria"/>
                <a:cs typeface="Cambria"/>
              </a:rPr>
              <a:t>given </a:t>
            </a:r>
            <a:r>
              <a:rPr sz="2750" spc="-20" dirty="0">
                <a:latin typeface="Cambria"/>
                <a:cs typeface="Cambria"/>
              </a:rPr>
              <a:t>time</a:t>
            </a:r>
            <a:endParaRPr sz="2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5345</Words>
  <Application>Microsoft Office PowerPoint</Application>
  <PresentationFormat>Widescreen</PresentationFormat>
  <Paragraphs>491</Paragraphs>
  <Slides>90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96" baseType="lpstr">
      <vt:lpstr>Cambria</vt:lpstr>
      <vt:lpstr>Georgia</vt:lpstr>
      <vt:lpstr>Palatino Linotype</vt:lpstr>
      <vt:lpstr>Trebuchet MS</vt:lpstr>
      <vt:lpstr>Wingdings</vt:lpstr>
      <vt:lpstr>Office Theme</vt:lpstr>
      <vt:lpstr>System Modelling</vt:lpstr>
      <vt:lpstr>System Modelling - Purpose</vt:lpstr>
      <vt:lpstr>System Modelling - Models</vt:lpstr>
      <vt:lpstr>System Modelling - Models</vt:lpstr>
      <vt:lpstr>System Modelling – Modelling Techniques</vt:lpstr>
      <vt:lpstr>System Modelling - Techniques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Data Flow Diagram Model</vt:lpstr>
      <vt:lpstr>System Modelling – Entity Relationship Model</vt:lpstr>
      <vt:lpstr>System Modelling – Entity Relationship Model</vt:lpstr>
      <vt:lpstr>System Modelling – Entity Relationship Model</vt:lpstr>
      <vt:lpstr>System Modelling – Entity Relationship Model</vt:lpstr>
      <vt:lpstr>System Modelling – Entity Relationship Model</vt:lpstr>
      <vt:lpstr>System Modelling – Entity Relationship Model</vt:lpstr>
      <vt:lpstr>System Modelling – Entity Relationship Notations</vt:lpstr>
      <vt:lpstr>System Modelling – Entity Relationship Importance</vt:lpstr>
      <vt:lpstr>System Modelling – Entity Relationship Importance</vt:lpstr>
      <vt:lpstr>System Modelling – Entity Relationship Example</vt:lpstr>
      <vt:lpstr>System Modelling – Entity Relationship Example</vt:lpstr>
      <vt:lpstr>System Modelling – Entity Relationship Example</vt:lpstr>
      <vt:lpstr>System Modelling – Entity Relationship Example</vt:lpstr>
      <vt:lpstr>System Modelling – Unified Modelling Language (UML)</vt:lpstr>
      <vt:lpstr>System Modelling – Unified Modelling Language (UML)</vt:lpstr>
      <vt:lpstr>System Modelling – Unified Modelling Language (UML)</vt:lpstr>
      <vt:lpstr>System Modelling – Unified Modelling Language (UML)</vt:lpstr>
      <vt:lpstr>System Modelling – UML - Perspectives</vt:lpstr>
      <vt:lpstr>System Modelling – UML - Perspectives</vt:lpstr>
      <vt:lpstr>System Modelling – UML – Usecase Model</vt:lpstr>
      <vt:lpstr>System Modelling – UML – Usecase Model</vt:lpstr>
      <vt:lpstr>System Modelling – UML – Usecase Model</vt:lpstr>
      <vt:lpstr>System Modelling – UML – Usecase Model</vt:lpstr>
      <vt:lpstr>System Modelling – UML – Usecase Model</vt:lpstr>
      <vt:lpstr>System Modelling – UML – Usecase Model</vt:lpstr>
      <vt:lpstr>System Modelling – UML – Usecase Model</vt:lpstr>
      <vt:lpstr>System Modelling – UML – Usecase Model</vt:lpstr>
      <vt:lpstr>System Modelling – UML – Usecase Model</vt:lpstr>
      <vt:lpstr>System Modelling – UML – Usecase Model</vt:lpstr>
      <vt:lpstr>System Modelling – UML – Activity Model</vt:lpstr>
      <vt:lpstr>System Modelling – UML – Activity Model</vt:lpstr>
      <vt:lpstr>System Modelling – UML – Activity Model</vt:lpstr>
      <vt:lpstr>System Modelling – UML – Activity Model</vt:lpstr>
      <vt:lpstr>System Modelling – UML – Activity Model</vt:lpstr>
      <vt:lpstr>System Modelling – UML – Activity Model - Example</vt:lpstr>
      <vt:lpstr>System Modelling – UML – State Chart Model</vt:lpstr>
      <vt:lpstr>System Modelling – UML – State Chart Model</vt:lpstr>
      <vt:lpstr>System Modelling – UML – State Chart Model</vt:lpstr>
      <vt:lpstr>System Modelling – UML – State Chart Model</vt:lpstr>
      <vt:lpstr>System Modelling – UML – State Chart Model</vt:lpstr>
      <vt:lpstr>System Modelling – UML – State Chart Model</vt:lpstr>
      <vt:lpstr>System Modelling – UML – Structural Aspect - Sequence</vt:lpstr>
      <vt:lpstr>System Modelling – UML – Structural Aspect - Sequence</vt:lpstr>
      <vt:lpstr>System Modelling – UML – Structural Aspect - Sequence</vt:lpstr>
      <vt:lpstr>System Modelling – UML – Structural Aspect - Sequence</vt:lpstr>
      <vt:lpstr>System Modelling – UML – Structural Aspect - Sequence</vt:lpstr>
      <vt:lpstr>System Modelling – UML – Structural Aspect - Class</vt:lpstr>
      <vt:lpstr>System Modelling – UML – Structural Aspect - Class</vt:lpstr>
      <vt:lpstr>System Modelling – UML – Structural Aspect - Class</vt:lpstr>
      <vt:lpstr>System Modelling – UML – Structural Aspect - Class</vt:lpstr>
      <vt:lpstr>System Modelling – UML – Structural Aspect - Class</vt:lpstr>
      <vt:lpstr>System Modelling – UML – Structural Aspect - Class</vt:lpstr>
      <vt:lpstr>System Modelling – UML – Structural Aspect - Class</vt:lpstr>
      <vt:lpstr>System Modelling – UML – Component Model</vt:lpstr>
      <vt:lpstr>System Modelling – UML – Component Model</vt:lpstr>
      <vt:lpstr>System Modelling – UML – Component Model</vt:lpstr>
      <vt:lpstr>System Modelling – UML – Component Model</vt:lpstr>
      <vt:lpstr>System Modelling – UML – Deployment Model</vt:lpstr>
      <vt:lpstr>System Modelling – UML – Deployment Model</vt:lpstr>
      <vt:lpstr>System Modelling – UML – Deployment Model</vt:lpstr>
      <vt:lpstr>System Modelling – UML – Deployment Model</vt:lpstr>
      <vt:lpstr>System Modelling – UML – Deployment Model</vt:lpstr>
      <vt:lpstr>System Modelling – UML – Deployment Model</vt:lpstr>
      <vt:lpstr>System Modelling – UML – Deployment Model</vt:lpstr>
      <vt:lpstr>System Modelling – UML – Summary</vt:lpstr>
      <vt:lpstr>System Modelling – UML – Summary</vt:lpstr>
      <vt:lpstr>System Modelling – UML – Summary</vt:lpstr>
      <vt:lpstr>System Modelling – UML – Summary</vt:lpstr>
      <vt:lpstr>System Modelling – UML –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Ranjithkumar S</cp:lastModifiedBy>
  <cp:revision>1</cp:revision>
  <dcterms:created xsi:type="dcterms:W3CDTF">2026-03-03T06:30:25Z</dcterms:created>
  <dcterms:modified xsi:type="dcterms:W3CDTF">2026-03-03T06:31:31Z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2025-02-15T00:00:00Z</vt:filetime>
  </property>
  <property fmtid="{D5CDD505-2E9C-101B-9397-08002B2CF9AE}" pid="3" name="LastSaved">
    <vt:filetime>2026-03-03T00:00:00Z</vt:filetime>
  </property>
</Properties>
</file>