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8"/>
    <p:restoredTop sz="93652"/>
  </p:normalViewPr>
  <p:slideViewPr>
    <p:cSldViewPr>
      <p:cViewPr varScale="1">
        <p:scale>
          <a:sx n="142" d="100"/>
          <a:sy n="142" d="100"/>
        </p:scale>
        <p:origin x="40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CE315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CE315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CE315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96900" y="1894522"/>
            <a:ext cx="3732529" cy="4271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094601" y="1875726"/>
            <a:ext cx="4147184" cy="3877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CE315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8125" y="6653212"/>
            <a:ext cx="11698605" cy="0"/>
          </a:xfrm>
          <a:custGeom>
            <a:avLst/>
            <a:gdLst/>
            <a:ahLst/>
            <a:cxnLst/>
            <a:rect l="l" t="t" r="r" b="b"/>
            <a:pathLst>
              <a:path w="11698605">
                <a:moveTo>
                  <a:pt x="0" y="0"/>
                </a:moveTo>
                <a:lnTo>
                  <a:pt x="11698097" y="0"/>
                </a:lnTo>
              </a:path>
            </a:pathLst>
          </a:custGeom>
          <a:ln w="47625">
            <a:solidFill>
              <a:srgbClr val="CE31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66700" y="257175"/>
            <a:ext cx="0" cy="6421120"/>
          </a:xfrm>
          <a:custGeom>
            <a:avLst/>
            <a:gdLst/>
            <a:ahLst/>
            <a:cxnLst/>
            <a:rect l="l" t="t" r="r" b="b"/>
            <a:pathLst>
              <a:path h="6421120">
                <a:moveTo>
                  <a:pt x="0" y="0"/>
                </a:moveTo>
                <a:lnTo>
                  <a:pt x="0" y="6420535"/>
                </a:lnTo>
              </a:path>
            </a:pathLst>
          </a:custGeom>
          <a:ln w="38099">
            <a:solidFill>
              <a:srgbClr val="CE31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47650" y="219075"/>
            <a:ext cx="11698605" cy="6421120"/>
          </a:xfrm>
          <a:custGeom>
            <a:avLst/>
            <a:gdLst/>
            <a:ahLst/>
            <a:cxnLst/>
            <a:rect l="l" t="t" r="r" b="b"/>
            <a:pathLst>
              <a:path w="11698605" h="6421120">
                <a:moveTo>
                  <a:pt x="0" y="38100"/>
                </a:moveTo>
                <a:lnTo>
                  <a:pt x="11698097" y="38100"/>
                </a:lnTo>
              </a:path>
              <a:path w="11698605" h="6421120">
                <a:moveTo>
                  <a:pt x="11668125" y="0"/>
                </a:moveTo>
                <a:lnTo>
                  <a:pt x="11668125" y="6420535"/>
                </a:lnTo>
              </a:path>
            </a:pathLst>
          </a:custGeom>
          <a:ln w="57150">
            <a:solidFill>
              <a:srgbClr val="CE31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1944350" y="0"/>
                </a:lnTo>
                <a:lnTo>
                  <a:pt x="11944350" y="228600"/>
                </a:lnTo>
                <a:lnTo>
                  <a:pt x="11944350" y="6677025"/>
                </a:lnTo>
                <a:lnTo>
                  <a:pt x="247650" y="6677025"/>
                </a:lnTo>
                <a:lnTo>
                  <a:pt x="247650" y="228600"/>
                </a:lnTo>
                <a:lnTo>
                  <a:pt x="11944350" y="228600"/>
                </a:lnTo>
                <a:lnTo>
                  <a:pt x="11944350" y="0"/>
                </a:lnTo>
                <a:lnTo>
                  <a:pt x="0" y="0"/>
                </a:lnTo>
                <a:lnTo>
                  <a:pt x="0" y="228600"/>
                </a:lnTo>
                <a:lnTo>
                  <a:pt x="0" y="6677025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677025"/>
                </a:lnTo>
                <a:lnTo>
                  <a:pt x="12192000" y="2286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EA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19050"/>
                </a:lnTo>
                <a:lnTo>
                  <a:pt x="0" y="38100"/>
                </a:lnTo>
                <a:lnTo>
                  <a:pt x="0" y="6858000"/>
                </a:lnTo>
                <a:lnTo>
                  <a:pt x="38100" y="6858000"/>
                </a:lnTo>
                <a:lnTo>
                  <a:pt x="38100" y="38100"/>
                </a:lnTo>
                <a:lnTo>
                  <a:pt x="12163425" y="38100"/>
                </a:lnTo>
                <a:lnTo>
                  <a:pt x="12163425" y="6858000"/>
                </a:lnTo>
                <a:lnTo>
                  <a:pt x="12192000" y="6858000"/>
                </a:lnTo>
                <a:lnTo>
                  <a:pt x="12192000" y="38100"/>
                </a:lnTo>
                <a:lnTo>
                  <a:pt x="12192000" y="95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1C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8950" y="300736"/>
            <a:ext cx="11214100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CE315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5125" y="1044575"/>
            <a:ext cx="11474450" cy="4726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3914" y="1204912"/>
            <a:ext cx="796861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spc="235" dirty="0"/>
              <a:t>Software</a:t>
            </a:r>
            <a:r>
              <a:rPr sz="6000" spc="459" dirty="0"/>
              <a:t> </a:t>
            </a:r>
            <a:r>
              <a:rPr sz="6000" spc="215" dirty="0"/>
              <a:t>Engineering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6146165" y="4846780"/>
            <a:ext cx="4436110" cy="1221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2520"/>
              </a:lnSpc>
            </a:pPr>
            <a:r>
              <a:rPr sz="2150" spc="105" dirty="0">
                <a:latin typeface="Cambria"/>
                <a:cs typeface="Cambria"/>
              </a:rPr>
              <a:t>Dr.</a:t>
            </a:r>
            <a:r>
              <a:rPr sz="2150" spc="125" dirty="0">
                <a:latin typeface="Cambria"/>
                <a:cs typeface="Cambria"/>
              </a:rPr>
              <a:t> </a:t>
            </a:r>
            <a:r>
              <a:rPr sz="2150" spc="80" dirty="0">
                <a:latin typeface="Cambria"/>
                <a:cs typeface="Cambria"/>
              </a:rPr>
              <a:t>Naveenkumar</a:t>
            </a:r>
            <a:r>
              <a:rPr sz="2150" spc="114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Jayakumar</a:t>
            </a:r>
            <a:endParaRPr sz="2150">
              <a:latin typeface="Cambria"/>
              <a:cs typeface="Cambria"/>
            </a:endParaRPr>
          </a:p>
          <a:p>
            <a:pPr algn="r">
              <a:lnSpc>
                <a:spcPct val="100000"/>
              </a:lnSpc>
              <a:spcBef>
                <a:spcPts val="875"/>
              </a:spcBef>
            </a:pPr>
            <a:r>
              <a:rPr sz="2150" spc="90" dirty="0">
                <a:latin typeface="Cambria"/>
                <a:cs typeface="Cambria"/>
              </a:rPr>
              <a:t>Dept.</a:t>
            </a:r>
            <a:r>
              <a:rPr sz="2150" spc="120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of</a:t>
            </a:r>
            <a:r>
              <a:rPr sz="2150" spc="90" dirty="0">
                <a:latin typeface="Cambria"/>
                <a:cs typeface="Cambria"/>
              </a:rPr>
              <a:t> </a:t>
            </a:r>
            <a:r>
              <a:rPr sz="2150" spc="75" dirty="0">
                <a:latin typeface="Cambria"/>
                <a:cs typeface="Cambria"/>
              </a:rPr>
              <a:t>Computational</a:t>
            </a:r>
            <a:r>
              <a:rPr sz="2150" spc="25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Intelligence</a:t>
            </a:r>
            <a:endParaRPr sz="2150">
              <a:latin typeface="Cambria"/>
              <a:cs typeface="Cambria"/>
            </a:endParaRPr>
          </a:p>
          <a:p>
            <a:pPr algn="r">
              <a:lnSpc>
                <a:spcPct val="100000"/>
              </a:lnSpc>
              <a:spcBef>
                <a:spcPts val="869"/>
              </a:spcBef>
            </a:pPr>
            <a:r>
              <a:rPr sz="2150" spc="80" dirty="0">
                <a:latin typeface="Cambria"/>
                <a:cs typeface="Cambria"/>
              </a:rPr>
              <a:t>PRP-</a:t>
            </a:r>
            <a:r>
              <a:rPr sz="2150" spc="-75" dirty="0">
                <a:latin typeface="Cambria"/>
                <a:cs typeface="Cambria"/>
              </a:rPr>
              <a:t>217-</a:t>
            </a:r>
            <a:r>
              <a:rPr sz="2150" spc="-50" dirty="0">
                <a:latin typeface="Cambria"/>
                <a:cs typeface="Cambria"/>
              </a:rPr>
              <a:t>4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8259" y="2521330"/>
            <a:ext cx="1943735" cy="12807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200" b="1" spc="-10" dirty="0">
                <a:latin typeface="Times New Roman"/>
                <a:cs typeface="Times New Roman"/>
              </a:rPr>
              <a:t>BCSE301L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710"/>
              </a:spcBef>
            </a:pPr>
            <a:r>
              <a:rPr sz="2750" spc="140" dirty="0">
                <a:latin typeface="Cambria"/>
                <a:cs typeface="Cambria"/>
              </a:rPr>
              <a:t>Module</a:t>
            </a:r>
            <a:r>
              <a:rPr sz="2750" spc="100" dirty="0">
                <a:latin typeface="Cambria"/>
                <a:cs typeface="Cambria"/>
              </a:rPr>
              <a:t> </a:t>
            </a:r>
            <a:r>
              <a:rPr sz="2750" spc="-50" dirty="0">
                <a:latin typeface="Cambria"/>
                <a:cs typeface="Cambria"/>
              </a:rPr>
              <a:t>4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62600" y="4320570"/>
            <a:ext cx="5380355" cy="2004060"/>
          </a:xfrm>
          <a:custGeom>
            <a:avLst/>
            <a:gdLst/>
            <a:ahLst/>
            <a:cxnLst/>
            <a:rect l="l" t="t" r="r" b="b"/>
            <a:pathLst>
              <a:path w="5380355" h="2004060">
                <a:moveTo>
                  <a:pt x="5380275" y="0"/>
                </a:moveTo>
                <a:lnTo>
                  <a:pt x="0" y="0"/>
                </a:lnTo>
                <a:lnTo>
                  <a:pt x="0" y="2004029"/>
                </a:lnTo>
                <a:lnTo>
                  <a:pt x="5380275" y="2004029"/>
                </a:lnTo>
                <a:lnTo>
                  <a:pt x="53802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5" dirty="0"/>
              <a:t>Design</a:t>
            </a:r>
            <a:r>
              <a:rPr spc="335" dirty="0"/>
              <a:t> </a:t>
            </a:r>
            <a:r>
              <a:rPr spc="229" dirty="0"/>
              <a:t>Concepts</a:t>
            </a:r>
          </a:p>
        </p:txBody>
      </p:sp>
      <p:sp>
        <p:nvSpPr>
          <p:cNvPr id="3" name="object 3"/>
          <p:cNvSpPr/>
          <p:nvPr/>
        </p:nvSpPr>
        <p:spPr>
          <a:xfrm>
            <a:off x="409575" y="1047750"/>
            <a:ext cx="11382375" cy="0"/>
          </a:xfrm>
          <a:custGeom>
            <a:avLst/>
            <a:gdLst/>
            <a:ahLst/>
            <a:cxnLst/>
            <a:rect l="l" t="t" r="r" b="b"/>
            <a:pathLst>
              <a:path w="11382375">
                <a:moveTo>
                  <a:pt x="0" y="0"/>
                </a:moveTo>
                <a:lnTo>
                  <a:pt x="11382375" y="0"/>
                </a:lnTo>
              </a:path>
            </a:pathLst>
          </a:custGeom>
          <a:ln w="19050">
            <a:solidFill>
              <a:srgbClr val="EB6F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6252" y="1081405"/>
            <a:ext cx="2112645" cy="120789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ct val="93900"/>
              </a:lnSpc>
              <a:spcBef>
                <a:spcPts val="320"/>
              </a:spcBef>
              <a:tabLst>
                <a:tab pos="1533525" algn="l"/>
              </a:tabLst>
            </a:pPr>
            <a:r>
              <a:rPr sz="2600" b="1" spc="-10" dirty="0">
                <a:solidFill>
                  <a:srgbClr val="7030A0"/>
                </a:solidFill>
                <a:latin typeface="Cambria"/>
                <a:cs typeface="Cambria"/>
              </a:rPr>
              <a:t>Software </a:t>
            </a:r>
            <a:r>
              <a:rPr sz="2600" b="1" spc="65" dirty="0">
                <a:solidFill>
                  <a:srgbClr val="7030A0"/>
                </a:solidFill>
                <a:latin typeface="Cambria"/>
                <a:cs typeface="Cambria"/>
              </a:rPr>
              <a:t>Design</a:t>
            </a:r>
            <a:r>
              <a:rPr lang="en-US" sz="2600" b="1" spc="65" dirty="0">
                <a:solidFill>
                  <a:srgbClr val="7030A0"/>
                </a:solidFill>
                <a:latin typeface="Cambria"/>
                <a:cs typeface="Cambria"/>
              </a:rPr>
              <a:t> </a:t>
            </a:r>
            <a:r>
              <a:rPr sz="2600" b="1" spc="60" dirty="0">
                <a:solidFill>
                  <a:srgbClr val="7030A0"/>
                </a:solidFill>
                <a:latin typeface="Cambria"/>
                <a:cs typeface="Cambria"/>
              </a:rPr>
              <a:t>and </a:t>
            </a:r>
            <a:endParaRPr lang="en-US" sz="2600" b="1" spc="60" dirty="0">
              <a:solidFill>
                <a:srgbClr val="7030A0"/>
              </a:solidFill>
              <a:latin typeface="Cambria"/>
              <a:cs typeface="Cambria"/>
            </a:endParaRPr>
          </a:p>
          <a:p>
            <a:pPr marL="12700" marR="5080">
              <a:lnSpc>
                <a:spcPct val="93900"/>
              </a:lnSpc>
              <a:spcBef>
                <a:spcPts val="320"/>
              </a:spcBef>
              <a:tabLst>
                <a:tab pos="1533525" algn="l"/>
              </a:tabLst>
            </a:pPr>
            <a:r>
              <a:rPr sz="2600" b="1" dirty="0">
                <a:solidFill>
                  <a:srgbClr val="7030A0"/>
                </a:solidFill>
                <a:latin typeface="Cambria"/>
                <a:cs typeface="Cambria"/>
              </a:rPr>
              <a:t>Its</a:t>
            </a:r>
            <a:r>
              <a:rPr sz="2600" b="1" spc="60" dirty="0">
                <a:solidFill>
                  <a:srgbClr val="7030A0"/>
                </a:solidFill>
                <a:latin typeface="Cambria"/>
                <a:cs typeface="Cambria"/>
              </a:rPr>
              <a:t> </a:t>
            </a:r>
            <a:r>
              <a:rPr sz="2600" b="1" spc="-20" dirty="0">
                <a:solidFill>
                  <a:srgbClr val="7030A0"/>
                </a:solidFill>
                <a:latin typeface="Cambria"/>
                <a:cs typeface="Cambria"/>
              </a:rPr>
              <a:t>Role</a:t>
            </a:r>
            <a:endParaRPr sz="2600" b="1" dirty="0">
              <a:solidFill>
                <a:srgbClr val="7030A0"/>
              </a:solidFill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6019" y="1144841"/>
            <a:ext cx="496633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75" dirty="0">
                <a:latin typeface="Cambria"/>
                <a:cs typeface="Cambria"/>
              </a:rPr>
              <a:t>Core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part</a:t>
            </a:r>
            <a:r>
              <a:rPr sz="2600" spc="105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of</a:t>
            </a:r>
            <a:r>
              <a:rPr sz="2600" spc="11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software</a:t>
            </a:r>
            <a:r>
              <a:rPr sz="2600" spc="15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engineering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86050" y="2371725"/>
            <a:ext cx="9105900" cy="0"/>
          </a:xfrm>
          <a:custGeom>
            <a:avLst/>
            <a:gdLst/>
            <a:ahLst/>
            <a:cxnLst/>
            <a:rect l="l" t="t" r="r" b="b"/>
            <a:pathLst>
              <a:path w="9105900">
                <a:moveTo>
                  <a:pt x="0" y="0"/>
                </a:moveTo>
                <a:lnTo>
                  <a:pt x="9105900" y="0"/>
                </a:lnTo>
              </a:path>
            </a:pathLst>
          </a:custGeom>
          <a:ln w="19050">
            <a:solidFill>
              <a:srgbClr val="F6C8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86050" y="3695700"/>
            <a:ext cx="9105900" cy="0"/>
          </a:xfrm>
          <a:custGeom>
            <a:avLst/>
            <a:gdLst/>
            <a:ahLst/>
            <a:cxnLst/>
            <a:rect l="l" t="t" r="r" b="b"/>
            <a:pathLst>
              <a:path w="9105900">
                <a:moveTo>
                  <a:pt x="0" y="0"/>
                </a:moveTo>
                <a:lnTo>
                  <a:pt x="9105900" y="0"/>
                </a:lnTo>
              </a:path>
            </a:pathLst>
          </a:custGeom>
          <a:ln w="19050">
            <a:solidFill>
              <a:srgbClr val="F6C8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86050" y="5019675"/>
            <a:ext cx="9105900" cy="0"/>
          </a:xfrm>
          <a:custGeom>
            <a:avLst/>
            <a:gdLst/>
            <a:ahLst/>
            <a:cxnLst/>
            <a:rect l="l" t="t" r="r" b="b"/>
            <a:pathLst>
              <a:path w="9105900">
                <a:moveTo>
                  <a:pt x="0" y="0"/>
                </a:moveTo>
                <a:lnTo>
                  <a:pt x="9105900" y="0"/>
                </a:lnTo>
              </a:path>
            </a:pathLst>
          </a:custGeom>
          <a:ln w="19050">
            <a:solidFill>
              <a:srgbClr val="F6C8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46019" y="2468880"/>
            <a:ext cx="8778240" cy="34474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spc="110" dirty="0">
                <a:latin typeface="Cambria"/>
                <a:cs typeface="Cambria"/>
              </a:rPr>
              <a:t>Applied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regardless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of</a:t>
            </a:r>
            <a:r>
              <a:rPr sz="2600" spc="10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1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software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process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model.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2600">
              <a:latin typeface="Cambria"/>
              <a:cs typeface="Cambria"/>
            </a:endParaRPr>
          </a:p>
          <a:p>
            <a:pPr marL="12700" marR="5080">
              <a:lnSpc>
                <a:spcPts val="2930"/>
              </a:lnSpc>
              <a:spcBef>
                <a:spcPts val="5"/>
              </a:spcBef>
              <a:tabLst>
                <a:tab pos="1246505" algn="l"/>
                <a:tab pos="2179955" algn="l"/>
                <a:tab pos="3709670" algn="l"/>
                <a:tab pos="5919470" algn="l"/>
                <a:tab pos="6634480" algn="l"/>
                <a:tab pos="8199120" algn="l"/>
              </a:tabLst>
            </a:pPr>
            <a:r>
              <a:rPr sz="2600" spc="-10" dirty="0">
                <a:latin typeface="Cambria"/>
                <a:cs typeface="Cambria"/>
              </a:rPr>
              <a:t>Begins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after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software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requirements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are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0" dirty="0">
                <a:latin typeface="Cambria"/>
                <a:cs typeface="Cambria"/>
              </a:rPr>
              <a:t>analysed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60" dirty="0">
                <a:latin typeface="Cambria"/>
                <a:cs typeface="Cambria"/>
              </a:rPr>
              <a:t>and </a:t>
            </a:r>
            <a:r>
              <a:rPr sz="2600" spc="55" dirty="0">
                <a:latin typeface="Cambria"/>
                <a:cs typeface="Cambria"/>
              </a:rPr>
              <a:t>modelled.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2600">
              <a:latin typeface="Cambria"/>
              <a:cs typeface="Cambria"/>
            </a:endParaRPr>
          </a:p>
          <a:p>
            <a:pPr marL="12700" marR="10160">
              <a:lnSpc>
                <a:spcPts val="2930"/>
              </a:lnSpc>
              <a:tabLst>
                <a:tab pos="808990" algn="l"/>
                <a:tab pos="1711325" algn="l"/>
                <a:tab pos="2559050" algn="l"/>
                <a:tab pos="3091180" algn="l"/>
                <a:tab pos="4734560" algn="l"/>
                <a:tab pos="5897880" algn="l"/>
                <a:tab pos="7961630" algn="l"/>
              </a:tabLst>
            </a:pPr>
            <a:r>
              <a:rPr sz="2600" spc="-25" dirty="0">
                <a:latin typeface="Cambria"/>
                <a:cs typeface="Cambria"/>
              </a:rPr>
              <a:t>The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final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step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in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60" dirty="0">
                <a:latin typeface="Cambria"/>
                <a:cs typeface="Cambria"/>
              </a:rPr>
              <a:t>modeling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before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construction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(code </a:t>
            </a:r>
            <a:r>
              <a:rPr sz="2600" dirty="0">
                <a:latin typeface="Cambria"/>
                <a:cs typeface="Cambria"/>
              </a:rPr>
              <a:t>generation</a:t>
            </a:r>
            <a:r>
              <a:rPr sz="2600" spc="170" dirty="0">
                <a:latin typeface="Cambria"/>
                <a:cs typeface="Cambria"/>
              </a:rPr>
              <a:t> </a:t>
            </a:r>
            <a:r>
              <a:rPr sz="2600" spc="250" dirty="0">
                <a:latin typeface="Cambria"/>
                <a:cs typeface="Cambria"/>
              </a:rPr>
              <a:t>&amp;</a:t>
            </a:r>
            <a:r>
              <a:rPr sz="2600" spc="16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testing).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86050" y="6343650"/>
            <a:ext cx="9105900" cy="0"/>
          </a:xfrm>
          <a:custGeom>
            <a:avLst/>
            <a:gdLst/>
            <a:ahLst/>
            <a:cxnLst/>
            <a:rect l="l" t="t" r="r" b="b"/>
            <a:pathLst>
              <a:path w="9105900">
                <a:moveTo>
                  <a:pt x="0" y="0"/>
                </a:moveTo>
                <a:lnTo>
                  <a:pt x="9105900" y="0"/>
                </a:lnTo>
              </a:path>
            </a:pathLst>
          </a:custGeom>
          <a:ln w="19050">
            <a:solidFill>
              <a:srgbClr val="F6C8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5" dirty="0"/>
              <a:t>Design</a:t>
            </a:r>
            <a:r>
              <a:rPr spc="335" dirty="0"/>
              <a:t> </a:t>
            </a:r>
            <a:r>
              <a:rPr spc="229" dirty="0"/>
              <a:t>Concepts</a:t>
            </a:r>
          </a:p>
        </p:txBody>
      </p:sp>
      <p:sp>
        <p:nvSpPr>
          <p:cNvPr id="3" name="object 3"/>
          <p:cNvSpPr/>
          <p:nvPr/>
        </p:nvSpPr>
        <p:spPr>
          <a:xfrm>
            <a:off x="409575" y="1057275"/>
            <a:ext cx="11382375" cy="0"/>
          </a:xfrm>
          <a:custGeom>
            <a:avLst/>
            <a:gdLst/>
            <a:ahLst/>
            <a:cxnLst/>
            <a:rect l="l" t="t" r="r" b="b"/>
            <a:pathLst>
              <a:path w="11382375">
                <a:moveTo>
                  <a:pt x="0" y="0"/>
                </a:moveTo>
                <a:lnTo>
                  <a:pt x="11382375" y="0"/>
                </a:lnTo>
              </a:path>
            </a:pathLst>
          </a:custGeom>
          <a:ln w="19050">
            <a:solidFill>
              <a:srgbClr val="EB6F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52282" y="1454403"/>
            <a:ext cx="509918" cy="409086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31750">
              <a:lnSpc>
                <a:spcPts val="2860"/>
              </a:lnSpc>
              <a:spcBef>
                <a:spcPts val="290"/>
              </a:spcBef>
            </a:pPr>
            <a:endParaRPr sz="245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570" y="1307850"/>
            <a:ext cx="1963630" cy="1505156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ct val="95400"/>
              </a:lnSpc>
              <a:spcBef>
                <a:spcPts val="265"/>
              </a:spcBef>
            </a:pPr>
            <a:r>
              <a:rPr sz="2450" b="1" spc="80" dirty="0">
                <a:solidFill>
                  <a:srgbClr val="7030A0"/>
                </a:solidFill>
                <a:latin typeface="Cambria"/>
                <a:cs typeface="Cambria"/>
              </a:rPr>
              <a:t>Design </a:t>
            </a:r>
            <a:r>
              <a:rPr sz="2450" b="1" spc="95" dirty="0">
                <a:solidFill>
                  <a:srgbClr val="7030A0"/>
                </a:solidFill>
                <a:latin typeface="Cambria"/>
                <a:cs typeface="Cambria"/>
              </a:rPr>
              <a:t>Models </a:t>
            </a:r>
            <a:r>
              <a:rPr lang="en-US" sz="2450" b="1" spc="185" dirty="0">
                <a:solidFill>
                  <a:srgbClr val="7030A0"/>
                </a:solidFill>
                <a:latin typeface="Cambria"/>
                <a:cs typeface="Cambria"/>
              </a:rPr>
              <a:t>&amp; </a:t>
            </a:r>
            <a:r>
              <a:rPr sz="2450" b="1" spc="50" dirty="0">
                <a:solidFill>
                  <a:srgbClr val="7030A0"/>
                </a:solidFill>
                <a:latin typeface="Cambria"/>
                <a:cs typeface="Cambria"/>
              </a:rPr>
              <a:t>Flow</a:t>
            </a:r>
            <a:r>
              <a:rPr lang="en-US" sz="2450" b="1" spc="50" dirty="0">
                <a:solidFill>
                  <a:srgbClr val="7030A0"/>
                </a:solidFill>
                <a:latin typeface="Cambria"/>
                <a:cs typeface="Cambria"/>
              </a:rPr>
              <a:t> </a:t>
            </a:r>
            <a:r>
              <a:rPr lang="en-US" sz="2450" b="1" spc="30" dirty="0">
                <a:solidFill>
                  <a:srgbClr val="7030A0"/>
                </a:solidFill>
                <a:latin typeface="Cambria"/>
                <a:cs typeface="Cambria"/>
              </a:rPr>
              <a:t>of</a:t>
            </a:r>
            <a:endParaRPr lang="en-US" sz="2450" b="1" dirty="0">
              <a:solidFill>
                <a:srgbClr val="7030A0"/>
              </a:solidFill>
              <a:latin typeface="Cambria"/>
              <a:cs typeface="Cambria"/>
            </a:endParaRPr>
          </a:p>
          <a:p>
            <a:pPr marL="12700" marR="5080">
              <a:lnSpc>
                <a:spcPct val="95400"/>
              </a:lnSpc>
              <a:spcBef>
                <a:spcPts val="265"/>
              </a:spcBef>
            </a:pPr>
            <a:r>
              <a:rPr sz="2450" b="1" spc="45" dirty="0">
                <a:solidFill>
                  <a:srgbClr val="7030A0"/>
                </a:solidFill>
                <a:latin typeface="Cambria"/>
                <a:cs typeface="Cambria"/>
              </a:rPr>
              <a:t>Information</a:t>
            </a:r>
            <a:endParaRPr sz="2450" b="1" dirty="0">
              <a:solidFill>
                <a:srgbClr val="7030A0"/>
              </a:solidFill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42335" y="1131824"/>
            <a:ext cx="8782685" cy="756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860"/>
              </a:lnSpc>
              <a:spcBef>
                <a:spcPts val="130"/>
              </a:spcBef>
            </a:pPr>
            <a:r>
              <a:rPr sz="2450" spc="80" dirty="0">
                <a:latin typeface="Cambria"/>
                <a:cs typeface="Cambria"/>
              </a:rPr>
              <a:t>Uses</a:t>
            </a:r>
            <a:r>
              <a:rPr sz="2450" spc="450" dirty="0">
                <a:latin typeface="Cambria"/>
                <a:cs typeface="Cambria"/>
              </a:rPr>
              <a:t> </a:t>
            </a:r>
            <a:r>
              <a:rPr sz="2450" dirty="0">
                <a:latin typeface="Cambria"/>
                <a:cs typeface="Cambria"/>
              </a:rPr>
              <a:t>elements</a:t>
            </a:r>
            <a:r>
              <a:rPr sz="2450" spc="495" dirty="0">
                <a:latin typeface="Cambria"/>
                <a:cs typeface="Cambria"/>
              </a:rPr>
              <a:t> </a:t>
            </a:r>
            <a:r>
              <a:rPr sz="2450" spc="55" dirty="0">
                <a:latin typeface="Cambria"/>
                <a:cs typeface="Cambria"/>
              </a:rPr>
              <a:t>from</a:t>
            </a:r>
            <a:r>
              <a:rPr sz="2450" spc="505" dirty="0">
                <a:latin typeface="Cambria"/>
                <a:cs typeface="Cambria"/>
              </a:rPr>
              <a:t> </a:t>
            </a:r>
            <a:r>
              <a:rPr sz="2450" dirty="0">
                <a:latin typeface="Cambria"/>
                <a:cs typeface="Cambria"/>
              </a:rPr>
              <a:t>the</a:t>
            </a:r>
            <a:r>
              <a:rPr sz="2450" spc="480" dirty="0">
                <a:latin typeface="Cambria"/>
                <a:cs typeface="Cambria"/>
              </a:rPr>
              <a:t> </a:t>
            </a:r>
            <a:r>
              <a:rPr sz="2450" dirty="0">
                <a:latin typeface="Cambria"/>
                <a:cs typeface="Cambria"/>
              </a:rPr>
              <a:t>requirements</a:t>
            </a:r>
            <a:r>
              <a:rPr sz="2450" spc="509" dirty="0">
                <a:latin typeface="Cambria"/>
                <a:cs typeface="Cambria"/>
              </a:rPr>
              <a:t> </a:t>
            </a:r>
            <a:r>
              <a:rPr sz="2450" spc="80" dirty="0">
                <a:latin typeface="Cambria"/>
                <a:cs typeface="Cambria"/>
              </a:rPr>
              <a:t>model</a:t>
            </a:r>
            <a:r>
              <a:rPr sz="2450" spc="459" dirty="0">
                <a:latin typeface="Cambria"/>
                <a:cs typeface="Cambria"/>
              </a:rPr>
              <a:t> </a:t>
            </a:r>
            <a:r>
              <a:rPr sz="2450" dirty="0">
                <a:latin typeface="Cambria"/>
                <a:cs typeface="Cambria"/>
              </a:rPr>
              <a:t>(scenario-</a:t>
            </a:r>
            <a:r>
              <a:rPr sz="2450" spc="50" dirty="0">
                <a:latin typeface="Cambria"/>
                <a:cs typeface="Cambria"/>
              </a:rPr>
              <a:t>based,</a:t>
            </a:r>
            <a:endParaRPr sz="2450">
              <a:latin typeface="Cambria"/>
              <a:cs typeface="Cambria"/>
            </a:endParaRPr>
          </a:p>
          <a:p>
            <a:pPr marL="12700">
              <a:lnSpc>
                <a:spcPts val="2860"/>
              </a:lnSpc>
            </a:pPr>
            <a:r>
              <a:rPr sz="2450" dirty="0">
                <a:latin typeface="Cambria"/>
                <a:cs typeface="Cambria"/>
              </a:rPr>
              <a:t>class-</a:t>
            </a:r>
            <a:r>
              <a:rPr sz="2450" spc="65" dirty="0">
                <a:latin typeface="Cambria"/>
                <a:cs typeface="Cambria"/>
              </a:rPr>
              <a:t>based,</a:t>
            </a:r>
            <a:r>
              <a:rPr sz="2450" spc="105" dirty="0">
                <a:latin typeface="Cambria"/>
                <a:cs typeface="Cambria"/>
              </a:rPr>
              <a:t> </a:t>
            </a:r>
            <a:r>
              <a:rPr sz="2450" spc="75" dirty="0">
                <a:latin typeface="Cambria"/>
                <a:cs typeface="Cambria"/>
              </a:rPr>
              <a:t>flow-</a:t>
            </a:r>
            <a:r>
              <a:rPr sz="2450" spc="45" dirty="0">
                <a:latin typeface="Cambria"/>
                <a:cs typeface="Cambria"/>
              </a:rPr>
              <a:t>oriented,</a:t>
            </a:r>
            <a:r>
              <a:rPr sz="2450" spc="140" dirty="0">
                <a:latin typeface="Cambria"/>
                <a:cs typeface="Cambria"/>
              </a:rPr>
              <a:t> </a:t>
            </a:r>
            <a:r>
              <a:rPr sz="2450" spc="85" dirty="0">
                <a:latin typeface="Cambria"/>
                <a:cs typeface="Cambria"/>
              </a:rPr>
              <a:t>and</a:t>
            </a:r>
            <a:r>
              <a:rPr sz="2450" spc="170" dirty="0">
                <a:latin typeface="Cambria"/>
                <a:cs typeface="Cambria"/>
              </a:rPr>
              <a:t> </a:t>
            </a:r>
            <a:r>
              <a:rPr sz="2450" spc="40" dirty="0">
                <a:latin typeface="Cambria"/>
                <a:cs typeface="Cambria"/>
              </a:rPr>
              <a:t>behavioural).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86050" y="1943100"/>
            <a:ext cx="9105900" cy="0"/>
          </a:xfrm>
          <a:custGeom>
            <a:avLst/>
            <a:gdLst/>
            <a:ahLst/>
            <a:cxnLst/>
            <a:rect l="l" t="t" r="r" b="b"/>
            <a:pathLst>
              <a:path w="9105900">
                <a:moveTo>
                  <a:pt x="0" y="0"/>
                </a:moveTo>
                <a:lnTo>
                  <a:pt x="9105900" y="0"/>
                </a:lnTo>
              </a:path>
            </a:pathLst>
          </a:custGeom>
          <a:ln w="19050">
            <a:solidFill>
              <a:srgbClr val="F6C8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42335" y="2018601"/>
            <a:ext cx="541401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55" dirty="0">
                <a:latin typeface="Cambria"/>
                <a:cs typeface="Cambria"/>
              </a:rPr>
              <a:t>Produces</a:t>
            </a:r>
            <a:r>
              <a:rPr sz="2450" spc="125" dirty="0">
                <a:latin typeface="Cambria"/>
                <a:cs typeface="Cambria"/>
              </a:rPr>
              <a:t> </a:t>
            </a:r>
            <a:r>
              <a:rPr sz="2450" spc="55" dirty="0">
                <a:latin typeface="Cambria"/>
                <a:cs typeface="Cambria"/>
              </a:rPr>
              <a:t>four</a:t>
            </a:r>
            <a:r>
              <a:rPr sz="2450" spc="185" dirty="0">
                <a:latin typeface="Cambria"/>
                <a:cs typeface="Cambria"/>
              </a:rPr>
              <a:t> </a:t>
            </a:r>
            <a:r>
              <a:rPr sz="2450" dirty="0">
                <a:latin typeface="Cambria"/>
                <a:cs typeface="Cambria"/>
              </a:rPr>
              <a:t>essential</a:t>
            </a:r>
            <a:r>
              <a:rPr sz="2450" spc="160" dirty="0">
                <a:latin typeface="Cambria"/>
                <a:cs typeface="Cambria"/>
              </a:rPr>
              <a:t> </a:t>
            </a:r>
            <a:r>
              <a:rPr sz="2450" spc="70" dirty="0">
                <a:latin typeface="Cambria"/>
                <a:cs typeface="Cambria"/>
              </a:rPr>
              <a:t>design</a:t>
            </a:r>
            <a:r>
              <a:rPr sz="2450" spc="140" dirty="0">
                <a:latin typeface="Cambria"/>
                <a:cs typeface="Cambria"/>
              </a:rPr>
              <a:t> </a:t>
            </a:r>
            <a:r>
              <a:rPr sz="2450" spc="65" dirty="0">
                <a:latin typeface="Cambria"/>
                <a:cs typeface="Cambria"/>
              </a:rPr>
              <a:t>models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86050" y="2819400"/>
            <a:ext cx="9105900" cy="0"/>
          </a:xfrm>
          <a:custGeom>
            <a:avLst/>
            <a:gdLst/>
            <a:ahLst/>
            <a:cxnLst/>
            <a:rect l="l" t="t" r="r" b="b"/>
            <a:pathLst>
              <a:path w="9105900">
                <a:moveTo>
                  <a:pt x="0" y="0"/>
                </a:moveTo>
                <a:lnTo>
                  <a:pt x="9105900" y="0"/>
                </a:lnTo>
              </a:path>
            </a:pathLst>
          </a:custGeom>
          <a:ln w="19050">
            <a:solidFill>
              <a:srgbClr val="F6C8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86050" y="3705225"/>
            <a:ext cx="9105900" cy="0"/>
          </a:xfrm>
          <a:custGeom>
            <a:avLst/>
            <a:gdLst/>
            <a:ahLst/>
            <a:cxnLst/>
            <a:rect l="l" t="t" r="r" b="b"/>
            <a:pathLst>
              <a:path w="9105900">
                <a:moveTo>
                  <a:pt x="0" y="0"/>
                </a:moveTo>
                <a:lnTo>
                  <a:pt x="9105900" y="0"/>
                </a:lnTo>
              </a:path>
            </a:pathLst>
          </a:custGeom>
          <a:ln w="19050">
            <a:solidFill>
              <a:srgbClr val="F6C8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86050" y="4591050"/>
            <a:ext cx="9105900" cy="0"/>
          </a:xfrm>
          <a:custGeom>
            <a:avLst/>
            <a:gdLst/>
            <a:ahLst/>
            <a:cxnLst/>
            <a:rect l="l" t="t" r="r" b="b"/>
            <a:pathLst>
              <a:path w="9105900">
                <a:moveTo>
                  <a:pt x="0" y="0"/>
                </a:moveTo>
                <a:lnTo>
                  <a:pt x="9105900" y="0"/>
                </a:lnTo>
              </a:path>
            </a:pathLst>
          </a:custGeom>
          <a:ln w="19050">
            <a:solidFill>
              <a:srgbClr val="F6C8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86050" y="5476875"/>
            <a:ext cx="9105900" cy="0"/>
          </a:xfrm>
          <a:custGeom>
            <a:avLst/>
            <a:gdLst/>
            <a:ahLst/>
            <a:cxnLst/>
            <a:rect l="l" t="t" r="r" b="b"/>
            <a:pathLst>
              <a:path w="9105900">
                <a:moveTo>
                  <a:pt x="0" y="0"/>
                </a:moveTo>
                <a:lnTo>
                  <a:pt x="9105900" y="0"/>
                </a:lnTo>
              </a:path>
            </a:pathLst>
          </a:custGeom>
          <a:ln w="19050">
            <a:solidFill>
              <a:srgbClr val="F6C8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42335" y="2904807"/>
            <a:ext cx="3606800" cy="30619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110" dirty="0">
                <a:latin typeface="Cambria"/>
                <a:cs typeface="Cambria"/>
              </a:rPr>
              <a:t>Data/Class</a:t>
            </a:r>
            <a:r>
              <a:rPr sz="2450" spc="170" dirty="0">
                <a:latin typeface="Cambria"/>
                <a:cs typeface="Cambria"/>
              </a:rPr>
              <a:t> </a:t>
            </a:r>
            <a:r>
              <a:rPr sz="2450" spc="80" dirty="0">
                <a:latin typeface="Cambria"/>
                <a:cs typeface="Cambria"/>
              </a:rPr>
              <a:t>Design</a:t>
            </a:r>
            <a:endParaRPr sz="24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50" spc="50" dirty="0">
                <a:latin typeface="Cambria"/>
                <a:cs typeface="Cambria"/>
              </a:rPr>
              <a:t>Architectural</a:t>
            </a:r>
            <a:r>
              <a:rPr sz="2450" spc="175" dirty="0">
                <a:latin typeface="Cambria"/>
                <a:cs typeface="Cambria"/>
              </a:rPr>
              <a:t> </a:t>
            </a:r>
            <a:r>
              <a:rPr sz="2450" spc="80" dirty="0">
                <a:latin typeface="Cambria"/>
                <a:cs typeface="Cambria"/>
              </a:rPr>
              <a:t>Design</a:t>
            </a:r>
            <a:endParaRPr sz="2450">
              <a:latin typeface="Cambria"/>
              <a:cs typeface="Cambria"/>
            </a:endParaRPr>
          </a:p>
          <a:p>
            <a:pPr marL="12700" marR="5080">
              <a:lnSpc>
                <a:spcPct val="237300"/>
              </a:lnSpc>
              <a:spcBef>
                <a:spcPts val="5"/>
              </a:spcBef>
            </a:pPr>
            <a:r>
              <a:rPr sz="2450" dirty="0">
                <a:latin typeface="Cambria"/>
                <a:cs typeface="Cambria"/>
              </a:rPr>
              <a:t>Interface</a:t>
            </a:r>
            <a:r>
              <a:rPr sz="2450" spc="275" dirty="0">
                <a:latin typeface="Cambria"/>
                <a:cs typeface="Cambria"/>
              </a:rPr>
              <a:t> </a:t>
            </a:r>
            <a:r>
              <a:rPr sz="2450" spc="80" dirty="0">
                <a:latin typeface="Cambria"/>
                <a:cs typeface="Cambria"/>
              </a:rPr>
              <a:t>Design </a:t>
            </a:r>
            <a:r>
              <a:rPr sz="2450" spc="95" dirty="0">
                <a:latin typeface="Cambria"/>
                <a:cs typeface="Cambria"/>
              </a:rPr>
              <a:t>Component</a:t>
            </a:r>
            <a:r>
              <a:rPr sz="2450" spc="125" dirty="0">
                <a:latin typeface="Cambria"/>
                <a:cs typeface="Cambria"/>
              </a:rPr>
              <a:t> </a:t>
            </a:r>
            <a:r>
              <a:rPr sz="2450" spc="75" dirty="0">
                <a:latin typeface="Cambria"/>
                <a:cs typeface="Cambria"/>
              </a:rPr>
              <a:t>Level</a:t>
            </a:r>
            <a:r>
              <a:rPr sz="2450" spc="140" dirty="0">
                <a:latin typeface="Cambria"/>
                <a:cs typeface="Cambria"/>
              </a:rPr>
              <a:t> </a:t>
            </a:r>
            <a:r>
              <a:rPr sz="2450" spc="75" dirty="0">
                <a:latin typeface="Cambria"/>
                <a:cs typeface="Cambria"/>
              </a:rPr>
              <a:t>Design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86050" y="6362700"/>
            <a:ext cx="9105900" cy="0"/>
          </a:xfrm>
          <a:custGeom>
            <a:avLst/>
            <a:gdLst/>
            <a:ahLst/>
            <a:cxnLst/>
            <a:rect l="l" t="t" r="r" b="b"/>
            <a:pathLst>
              <a:path w="9105900">
                <a:moveTo>
                  <a:pt x="0" y="0"/>
                </a:moveTo>
                <a:lnTo>
                  <a:pt x="9105900" y="0"/>
                </a:lnTo>
              </a:path>
            </a:pathLst>
          </a:custGeom>
          <a:ln w="19050">
            <a:solidFill>
              <a:srgbClr val="F6C8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Translating</a:t>
            </a:r>
            <a:r>
              <a:rPr sz="3200" spc="270" dirty="0"/>
              <a:t> </a:t>
            </a:r>
            <a:r>
              <a:rPr sz="3200" spc="125" dirty="0"/>
              <a:t>Requirement</a:t>
            </a:r>
            <a:r>
              <a:rPr sz="3200" spc="265" dirty="0"/>
              <a:t> </a:t>
            </a:r>
            <a:r>
              <a:rPr sz="3200" spc="110" dirty="0"/>
              <a:t>model</a:t>
            </a:r>
            <a:r>
              <a:rPr sz="3200" spc="225" dirty="0"/>
              <a:t> </a:t>
            </a:r>
            <a:r>
              <a:rPr sz="3200" spc="95" dirty="0"/>
              <a:t>into</a:t>
            </a:r>
            <a:r>
              <a:rPr sz="3200" spc="285" dirty="0"/>
              <a:t> </a:t>
            </a:r>
            <a:r>
              <a:rPr sz="3200" spc="135" dirty="0"/>
              <a:t>Design</a:t>
            </a:r>
            <a:r>
              <a:rPr sz="3200" spc="250" dirty="0"/>
              <a:t> </a:t>
            </a:r>
            <a:r>
              <a:rPr sz="3200" spc="60" dirty="0"/>
              <a:t>Model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283" y="1005551"/>
            <a:ext cx="10962163" cy="55306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Translating</a:t>
            </a:r>
            <a:r>
              <a:rPr sz="3200" spc="270" dirty="0"/>
              <a:t> </a:t>
            </a:r>
            <a:r>
              <a:rPr sz="3200" spc="125" dirty="0"/>
              <a:t>Requirement</a:t>
            </a:r>
            <a:r>
              <a:rPr sz="3200" spc="265" dirty="0"/>
              <a:t> </a:t>
            </a:r>
            <a:r>
              <a:rPr sz="3200" spc="110" dirty="0"/>
              <a:t>model</a:t>
            </a:r>
            <a:r>
              <a:rPr sz="3200" spc="225" dirty="0"/>
              <a:t> </a:t>
            </a:r>
            <a:r>
              <a:rPr sz="3200" spc="95" dirty="0"/>
              <a:t>into</a:t>
            </a:r>
            <a:r>
              <a:rPr sz="3200" spc="285" dirty="0"/>
              <a:t> </a:t>
            </a:r>
            <a:r>
              <a:rPr sz="3200" spc="135" dirty="0"/>
              <a:t>Design</a:t>
            </a:r>
            <a:r>
              <a:rPr sz="3200" spc="250" dirty="0"/>
              <a:t> </a:t>
            </a:r>
            <a:r>
              <a:rPr sz="3200" spc="60" dirty="0"/>
              <a:t>Model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3225" y="1044575"/>
          <a:ext cx="11385550" cy="52463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9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1185"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50" b="1" spc="10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Requirement</a:t>
                      </a:r>
                      <a:r>
                        <a:rPr sz="245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50" b="1" spc="1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sz="2450" b="1" spc="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50" b="1" spc="1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Components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64722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50" b="1" spc="1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2450" b="1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50" b="1" spc="1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Models</a:t>
                      </a:r>
                      <a:endParaRPr sz="24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64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  <a:tabLst>
                          <a:tab pos="2228215" algn="l"/>
                          <a:tab pos="3640454" algn="l"/>
                          <a:tab pos="5071745" algn="l"/>
                        </a:tabLst>
                      </a:pPr>
                      <a:r>
                        <a:rPr sz="2150" b="1" spc="70" dirty="0">
                          <a:latin typeface="Times New Roman"/>
                          <a:cs typeface="Times New Roman"/>
                        </a:rPr>
                        <a:t>Scenario-</a:t>
                      </a:r>
                      <a:r>
                        <a:rPr sz="2150" b="1" spc="8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215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150" b="1" spc="95" dirty="0">
                          <a:latin typeface="Times New Roman"/>
                          <a:cs typeface="Times New Roman"/>
                        </a:rPr>
                        <a:t>elements</a:t>
                      </a:r>
                      <a:r>
                        <a:rPr sz="2150" spc="95" dirty="0">
                          <a:latin typeface="Cambria"/>
                          <a:cs typeface="Cambria"/>
                        </a:rPr>
                        <a:t>: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150" spc="-10" dirty="0">
                          <a:latin typeface="Cambria"/>
                          <a:cs typeface="Cambria"/>
                        </a:rPr>
                        <a:t>Represent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150" spc="-20" dirty="0">
                          <a:latin typeface="Cambria"/>
                          <a:cs typeface="Cambria"/>
                        </a:rPr>
                        <a:t>user</a:t>
                      </a:r>
                      <a:endParaRPr sz="215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150" dirty="0">
                          <a:latin typeface="Cambria"/>
                          <a:cs typeface="Cambria"/>
                        </a:rPr>
                        <a:t>interactions</a:t>
                      </a:r>
                      <a:r>
                        <a:rPr sz="2150" spc="2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8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150" spc="2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system</a:t>
                      </a:r>
                      <a:r>
                        <a:rPr sz="2150" spc="229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35" dirty="0">
                          <a:latin typeface="Cambria"/>
                          <a:cs typeface="Cambria"/>
                        </a:rPr>
                        <a:t>behavior</a:t>
                      </a:r>
                      <a:endParaRPr sz="2150">
                        <a:latin typeface="Cambria"/>
                        <a:cs typeface="Cambri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4"/>
                        </a:spcBef>
                        <a:tabLst>
                          <a:tab pos="1790064" algn="l"/>
                          <a:tab pos="3099435" algn="l"/>
                          <a:tab pos="4359275" algn="l"/>
                          <a:tab pos="5066665" algn="l"/>
                        </a:tabLst>
                      </a:pPr>
                      <a:r>
                        <a:rPr sz="2150" b="1" spc="70" dirty="0">
                          <a:latin typeface="Times New Roman"/>
                          <a:cs typeface="Times New Roman"/>
                        </a:rPr>
                        <a:t>Data/Class</a:t>
                      </a:r>
                      <a:r>
                        <a:rPr sz="215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150" b="1" spc="125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2150" spc="125" dirty="0">
                          <a:latin typeface="Cambria"/>
                          <a:cs typeface="Cambria"/>
                        </a:rPr>
                        <a:t>: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150" spc="45" dirty="0">
                          <a:latin typeface="Cambria"/>
                          <a:cs typeface="Cambria"/>
                        </a:rPr>
                        <a:t>Defines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150" spc="-2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150" spc="-20" dirty="0">
                          <a:latin typeface="Cambria"/>
                          <a:cs typeface="Cambria"/>
                        </a:rPr>
                        <a:t>data</a:t>
                      </a:r>
                      <a:endParaRPr sz="2150">
                        <a:latin typeface="Cambria"/>
                        <a:cs typeface="Cambria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150" dirty="0">
                          <a:latin typeface="Cambria"/>
                          <a:cs typeface="Cambria"/>
                        </a:rPr>
                        <a:t>structures</a:t>
                      </a:r>
                      <a:r>
                        <a:rPr sz="2150" spc="2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85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15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class</a:t>
                      </a:r>
                      <a:r>
                        <a:rPr sz="215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-10" dirty="0">
                          <a:latin typeface="Cambria"/>
                          <a:cs typeface="Cambria"/>
                        </a:rPr>
                        <a:t>relationships</a:t>
                      </a:r>
                      <a:endParaRPr sz="2150">
                        <a:latin typeface="Cambria"/>
                        <a:cs typeface="Cambri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35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150" b="1" spc="95" dirty="0">
                          <a:latin typeface="Times New Roman"/>
                          <a:cs typeface="Times New Roman"/>
                        </a:rPr>
                        <a:t>Flow-</a:t>
                      </a:r>
                      <a:r>
                        <a:rPr sz="2150" b="1" spc="90" dirty="0">
                          <a:latin typeface="Times New Roman"/>
                          <a:cs typeface="Times New Roman"/>
                        </a:rPr>
                        <a:t>oriented</a:t>
                      </a:r>
                      <a:r>
                        <a:rPr sz="215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50" b="1" spc="105" dirty="0">
                          <a:latin typeface="Times New Roman"/>
                          <a:cs typeface="Times New Roman"/>
                        </a:rPr>
                        <a:t>elements</a:t>
                      </a:r>
                      <a:r>
                        <a:rPr sz="2150" spc="105" dirty="0">
                          <a:latin typeface="Cambria"/>
                          <a:cs typeface="Cambria"/>
                        </a:rPr>
                        <a:t>:</a:t>
                      </a:r>
                      <a:r>
                        <a:rPr sz="2150" spc="4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Describe</a:t>
                      </a:r>
                      <a:r>
                        <a:rPr sz="2150" spc="3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150" spc="5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55" dirty="0">
                          <a:latin typeface="Cambria"/>
                          <a:cs typeface="Cambria"/>
                        </a:rPr>
                        <a:t>flow</a:t>
                      </a:r>
                      <a:endParaRPr sz="215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150" spc="65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215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215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9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15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control</a:t>
                      </a:r>
                      <a:r>
                        <a:rPr sz="215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65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215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15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-10" dirty="0">
                          <a:latin typeface="Cambria"/>
                          <a:cs typeface="Cambria"/>
                        </a:rPr>
                        <a:t>system</a:t>
                      </a:r>
                      <a:endParaRPr sz="215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72390" algn="just">
                        <a:lnSpc>
                          <a:spcPct val="103400"/>
                        </a:lnSpc>
                        <a:spcBef>
                          <a:spcPts val="175"/>
                        </a:spcBef>
                      </a:pPr>
                      <a:r>
                        <a:rPr sz="2150" b="1" spc="45" dirty="0">
                          <a:latin typeface="Times New Roman"/>
                          <a:cs typeface="Times New Roman"/>
                        </a:rPr>
                        <a:t>Architectural</a:t>
                      </a:r>
                      <a:r>
                        <a:rPr sz="2150" b="1" spc="46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150" b="1" spc="130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2150" spc="130" dirty="0">
                          <a:latin typeface="Cambria"/>
                          <a:cs typeface="Cambria"/>
                        </a:rPr>
                        <a:t>:</a:t>
                      </a:r>
                      <a:r>
                        <a:rPr sz="2150" spc="52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Establishes</a:t>
                      </a:r>
                      <a:r>
                        <a:rPr sz="2150" spc="53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150" spc="-2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overall</a:t>
                      </a:r>
                      <a:r>
                        <a:rPr sz="2150" spc="24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system</a:t>
                      </a:r>
                      <a:r>
                        <a:rPr sz="2150" spc="22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structure,</a:t>
                      </a:r>
                      <a:r>
                        <a:rPr sz="2150" spc="24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150" spc="70" dirty="0">
                          <a:latin typeface="Cambria"/>
                          <a:cs typeface="Cambria"/>
                        </a:rPr>
                        <a:t>including</a:t>
                      </a:r>
                      <a:r>
                        <a:rPr sz="2150" spc="24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150" spc="35" dirty="0">
                          <a:latin typeface="Cambria"/>
                          <a:cs typeface="Cambria"/>
                        </a:rPr>
                        <a:t>layers, </a:t>
                      </a:r>
                      <a:r>
                        <a:rPr sz="2150" spc="80" dirty="0">
                          <a:latin typeface="Cambria"/>
                          <a:cs typeface="Cambria"/>
                        </a:rPr>
                        <a:t>modules,</a:t>
                      </a:r>
                      <a:r>
                        <a:rPr sz="215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8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15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40" dirty="0">
                          <a:latin typeface="Cambria"/>
                          <a:cs typeface="Cambria"/>
                        </a:rPr>
                        <a:t>components.</a:t>
                      </a:r>
                      <a:endParaRPr sz="2150">
                        <a:latin typeface="Cambria"/>
                        <a:cs typeface="Cambria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  <a:tabLst>
                          <a:tab pos="1740535" algn="l"/>
                        </a:tabLst>
                      </a:pPr>
                      <a:r>
                        <a:rPr sz="2150" b="1" spc="75" dirty="0">
                          <a:latin typeface="Times New Roman"/>
                          <a:cs typeface="Times New Roman"/>
                        </a:rPr>
                        <a:t>Class-</a:t>
                      </a:r>
                      <a:r>
                        <a:rPr sz="2150" b="1" spc="8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215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150" b="1" spc="105" dirty="0">
                          <a:latin typeface="Times New Roman"/>
                          <a:cs typeface="Times New Roman"/>
                        </a:rPr>
                        <a:t>elements</a:t>
                      </a:r>
                      <a:r>
                        <a:rPr sz="2150" spc="105" dirty="0">
                          <a:latin typeface="Cambria"/>
                          <a:cs typeface="Cambria"/>
                        </a:rPr>
                        <a:t>:</a:t>
                      </a:r>
                      <a:r>
                        <a:rPr sz="2150" spc="4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150" spc="70" dirty="0">
                          <a:latin typeface="Cambria"/>
                          <a:cs typeface="Cambria"/>
                        </a:rPr>
                        <a:t>Define</a:t>
                      </a:r>
                      <a:r>
                        <a:rPr sz="2150" spc="4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150" spc="5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-10" dirty="0">
                          <a:latin typeface="Cambria"/>
                          <a:cs typeface="Cambria"/>
                        </a:rPr>
                        <a:t>system’s</a:t>
                      </a:r>
                      <a:endParaRPr sz="215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150" spc="-10" dirty="0">
                          <a:latin typeface="Cambria"/>
                          <a:cs typeface="Cambria"/>
                        </a:rPr>
                        <a:t>structure</a:t>
                      </a:r>
                      <a:endParaRPr sz="2150">
                        <a:latin typeface="Cambria"/>
                        <a:cs typeface="Cambria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150" b="1" spc="50" dirty="0">
                          <a:latin typeface="Times New Roman"/>
                          <a:cs typeface="Times New Roman"/>
                        </a:rPr>
                        <a:t>Interface</a:t>
                      </a:r>
                      <a:r>
                        <a:rPr sz="2150" b="1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50" b="1" spc="130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2150" spc="130" dirty="0">
                          <a:latin typeface="Cambria"/>
                          <a:cs typeface="Cambria"/>
                        </a:rPr>
                        <a:t>:</a:t>
                      </a:r>
                      <a:r>
                        <a:rPr sz="2150" spc="2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Focuses</a:t>
                      </a:r>
                      <a:r>
                        <a:rPr sz="2150" spc="20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6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2150" spc="2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user</a:t>
                      </a:r>
                      <a:r>
                        <a:rPr sz="2150" spc="2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-10" dirty="0">
                          <a:latin typeface="Cambria"/>
                          <a:cs typeface="Cambria"/>
                        </a:rPr>
                        <a:t>interfaces</a:t>
                      </a:r>
                      <a:endParaRPr sz="2150">
                        <a:latin typeface="Cambria"/>
                        <a:cs typeface="Cambria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150" dirty="0">
                          <a:latin typeface="Cambria"/>
                          <a:cs typeface="Cambria"/>
                        </a:rPr>
                        <a:t>(UI),</a:t>
                      </a:r>
                      <a:r>
                        <a:rPr sz="2150" spc="25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120" dirty="0">
                          <a:latin typeface="Cambria"/>
                          <a:cs typeface="Cambria"/>
                        </a:rPr>
                        <a:t>APIs,</a:t>
                      </a:r>
                      <a:r>
                        <a:rPr sz="2150" spc="20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9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150" spc="1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external</a:t>
                      </a:r>
                      <a:r>
                        <a:rPr sz="2150" spc="2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system</a:t>
                      </a:r>
                      <a:r>
                        <a:rPr sz="2150" spc="2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-10" dirty="0">
                          <a:latin typeface="Cambria"/>
                          <a:cs typeface="Cambria"/>
                        </a:rPr>
                        <a:t>interactions.</a:t>
                      </a:r>
                      <a:endParaRPr sz="2150">
                        <a:latin typeface="Cambria"/>
                        <a:cs typeface="Cambria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41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1817370" algn="l"/>
                          <a:tab pos="3379470" algn="l"/>
                          <a:tab pos="4523740" algn="l"/>
                        </a:tabLst>
                      </a:pPr>
                      <a:r>
                        <a:rPr sz="2150" b="1" spc="60" dirty="0">
                          <a:latin typeface="Times New Roman"/>
                          <a:cs typeface="Times New Roman"/>
                        </a:rPr>
                        <a:t>Behavioral</a:t>
                      </a:r>
                      <a:r>
                        <a:rPr sz="215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150" b="1" spc="95" dirty="0">
                          <a:latin typeface="Times New Roman"/>
                          <a:cs typeface="Times New Roman"/>
                        </a:rPr>
                        <a:t>elements</a:t>
                      </a:r>
                      <a:r>
                        <a:rPr sz="2150" spc="95" dirty="0">
                          <a:latin typeface="Cambria"/>
                          <a:cs typeface="Cambria"/>
                        </a:rPr>
                        <a:t>: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150" spc="100" dirty="0">
                          <a:latin typeface="Cambria"/>
                          <a:cs typeface="Cambria"/>
                        </a:rPr>
                        <a:t>Model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150" spc="65" dirty="0">
                          <a:latin typeface="Cambria"/>
                          <a:cs typeface="Cambria"/>
                        </a:rPr>
                        <a:t>dynamic</a:t>
                      </a:r>
                      <a:endParaRPr sz="215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150" spc="35" dirty="0">
                          <a:latin typeface="Cambria"/>
                          <a:cs typeface="Cambria"/>
                        </a:rPr>
                        <a:t>behavior</a:t>
                      </a:r>
                      <a:endParaRPr sz="215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71755" algn="just">
                        <a:lnSpc>
                          <a:spcPct val="103400"/>
                        </a:lnSpc>
                        <a:spcBef>
                          <a:spcPts val="204"/>
                        </a:spcBef>
                      </a:pPr>
                      <a:r>
                        <a:rPr sz="2150" b="1" spc="105" dirty="0">
                          <a:latin typeface="Times New Roman"/>
                          <a:cs typeface="Times New Roman"/>
                        </a:rPr>
                        <a:t>Component-</a:t>
                      </a:r>
                      <a:r>
                        <a:rPr sz="2150" b="1" spc="90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2150" b="1" spc="25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150" b="1" spc="135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2150" spc="135" dirty="0">
                          <a:latin typeface="Cambria"/>
                          <a:cs typeface="Cambria"/>
                        </a:rPr>
                        <a:t>:</a:t>
                      </a:r>
                      <a:r>
                        <a:rPr sz="2150" spc="31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150" spc="60" dirty="0">
                          <a:latin typeface="Cambria"/>
                          <a:cs typeface="Cambria"/>
                        </a:rPr>
                        <a:t>Defines</a:t>
                      </a:r>
                      <a:r>
                        <a:rPr sz="2150" spc="32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150" spc="-2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internal</a:t>
                      </a:r>
                      <a:r>
                        <a:rPr sz="2150" spc="350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2150" spc="45" dirty="0">
                          <a:latin typeface="Cambria"/>
                          <a:cs typeface="Cambria"/>
                        </a:rPr>
                        <a:t>implementation</a:t>
                      </a:r>
                      <a:r>
                        <a:rPr sz="2150" spc="355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2150" dirty="0">
                          <a:latin typeface="Cambria"/>
                          <a:cs typeface="Cambria"/>
                        </a:rPr>
                        <a:t>details</a:t>
                      </a:r>
                      <a:r>
                        <a:rPr sz="2150" spc="360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2150" spc="40" dirty="0">
                          <a:latin typeface="Cambria"/>
                          <a:cs typeface="Cambria"/>
                        </a:rPr>
                        <a:t>of </a:t>
                      </a:r>
                      <a:r>
                        <a:rPr sz="2150" spc="75" dirty="0">
                          <a:latin typeface="Cambria"/>
                          <a:cs typeface="Cambria"/>
                        </a:rPr>
                        <a:t>individual</a:t>
                      </a:r>
                      <a:r>
                        <a:rPr sz="215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150" spc="60" dirty="0">
                          <a:latin typeface="Cambria"/>
                          <a:cs typeface="Cambria"/>
                        </a:rPr>
                        <a:t>components/modules.</a:t>
                      </a:r>
                      <a:endParaRPr sz="2150">
                        <a:latin typeface="Cambria"/>
                        <a:cs typeface="Cambr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Translating</a:t>
            </a:r>
            <a:r>
              <a:rPr sz="3200" spc="270" dirty="0"/>
              <a:t> </a:t>
            </a:r>
            <a:r>
              <a:rPr sz="3200" spc="125" dirty="0"/>
              <a:t>Requirement</a:t>
            </a:r>
            <a:r>
              <a:rPr sz="3200" spc="265" dirty="0"/>
              <a:t> </a:t>
            </a:r>
            <a:r>
              <a:rPr sz="3200" spc="110" dirty="0"/>
              <a:t>model</a:t>
            </a:r>
            <a:r>
              <a:rPr sz="3200" spc="225" dirty="0"/>
              <a:t> </a:t>
            </a:r>
            <a:r>
              <a:rPr sz="3200" spc="95" dirty="0"/>
              <a:t>into</a:t>
            </a:r>
            <a:r>
              <a:rPr sz="3200" spc="285" dirty="0"/>
              <a:t> </a:t>
            </a:r>
            <a:r>
              <a:rPr sz="3200" spc="135" dirty="0"/>
              <a:t>Design</a:t>
            </a:r>
            <a:r>
              <a:rPr sz="3200" spc="250" dirty="0"/>
              <a:t> </a:t>
            </a:r>
            <a:r>
              <a:rPr sz="3200" spc="60" dirty="0"/>
              <a:t>Model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400050" y="1057275"/>
            <a:ext cx="5343525" cy="5343525"/>
            <a:chOff x="400050" y="1057275"/>
            <a:chExt cx="5343525" cy="5343525"/>
          </a:xfrm>
        </p:grpSpPr>
        <p:sp>
          <p:nvSpPr>
            <p:cNvPr id="4" name="object 4"/>
            <p:cNvSpPr/>
            <p:nvPr/>
          </p:nvSpPr>
          <p:spPr>
            <a:xfrm>
              <a:off x="409575" y="1066800"/>
              <a:ext cx="5324475" cy="1066800"/>
            </a:xfrm>
            <a:custGeom>
              <a:avLst/>
              <a:gdLst/>
              <a:ahLst/>
              <a:cxnLst/>
              <a:rect l="l" t="t" r="r" b="b"/>
              <a:pathLst>
                <a:path w="5324475" h="1066800">
                  <a:moveTo>
                    <a:pt x="5324475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5324475" y="1066800"/>
                  </a:lnTo>
                  <a:lnTo>
                    <a:pt x="5324475" y="0"/>
                  </a:lnTo>
                  <a:close/>
                </a:path>
              </a:pathLst>
            </a:custGeom>
            <a:solidFill>
              <a:srgbClr val="CE8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9575" y="1066800"/>
              <a:ext cx="5324475" cy="1066800"/>
            </a:xfrm>
            <a:custGeom>
              <a:avLst/>
              <a:gdLst/>
              <a:ahLst/>
              <a:cxnLst/>
              <a:rect l="l" t="t" r="r" b="b"/>
              <a:pathLst>
                <a:path w="5324475" h="1066800">
                  <a:moveTo>
                    <a:pt x="0" y="1066800"/>
                  </a:moveTo>
                  <a:lnTo>
                    <a:pt x="5324475" y="1066800"/>
                  </a:lnTo>
                  <a:lnTo>
                    <a:pt x="5324475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ln w="19050">
              <a:solidFill>
                <a:srgbClr val="CE8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9575" y="2133600"/>
              <a:ext cx="5324475" cy="4257675"/>
            </a:xfrm>
            <a:custGeom>
              <a:avLst/>
              <a:gdLst/>
              <a:ahLst/>
              <a:cxnLst/>
              <a:rect l="l" t="t" r="r" b="b"/>
              <a:pathLst>
                <a:path w="5324475" h="4257675">
                  <a:moveTo>
                    <a:pt x="5324475" y="0"/>
                  </a:moveTo>
                  <a:lnTo>
                    <a:pt x="0" y="0"/>
                  </a:lnTo>
                  <a:lnTo>
                    <a:pt x="0" y="4257675"/>
                  </a:lnTo>
                  <a:lnTo>
                    <a:pt x="5324475" y="4257675"/>
                  </a:lnTo>
                  <a:lnTo>
                    <a:pt x="5324475" y="0"/>
                  </a:lnTo>
                  <a:close/>
                </a:path>
              </a:pathLst>
            </a:custGeom>
            <a:solidFill>
              <a:srgbClr val="ECDBC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9575" y="2133600"/>
              <a:ext cx="5324475" cy="4257675"/>
            </a:xfrm>
            <a:custGeom>
              <a:avLst/>
              <a:gdLst/>
              <a:ahLst/>
              <a:cxnLst/>
              <a:rect l="l" t="t" r="r" b="b"/>
              <a:pathLst>
                <a:path w="5324475" h="4257675">
                  <a:moveTo>
                    <a:pt x="0" y="4257675"/>
                  </a:moveTo>
                  <a:lnTo>
                    <a:pt x="5324475" y="4257675"/>
                  </a:lnTo>
                  <a:lnTo>
                    <a:pt x="5324475" y="0"/>
                  </a:lnTo>
                  <a:lnTo>
                    <a:pt x="0" y="0"/>
                  </a:lnTo>
                  <a:lnTo>
                    <a:pt x="0" y="4257675"/>
                  </a:lnTo>
                  <a:close/>
                </a:path>
              </a:pathLst>
            </a:custGeom>
            <a:ln w="19050">
              <a:solidFill>
                <a:srgbClr val="ECDB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5940" y="2239962"/>
            <a:ext cx="5031740" cy="261048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41300" marR="5080" indent="-229235">
              <a:lnSpc>
                <a:spcPct val="103499"/>
              </a:lnSpc>
              <a:spcBef>
                <a:spcPts val="15"/>
              </a:spcBef>
              <a:buChar char="•"/>
              <a:tabLst>
                <a:tab pos="241300" algn="l"/>
                <a:tab pos="1941195" algn="l"/>
                <a:tab pos="2998470" algn="l"/>
                <a:tab pos="4436110" algn="l"/>
              </a:tabLst>
            </a:pPr>
            <a:r>
              <a:rPr sz="2600" spc="50" dirty="0">
                <a:latin typeface="Cambria"/>
                <a:cs typeface="Cambria"/>
              </a:rPr>
              <a:t>Converts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class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models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into </a:t>
            </a:r>
            <a:r>
              <a:rPr sz="2600" spc="55" dirty="0">
                <a:latin typeface="Cambria"/>
                <a:cs typeface="Cambria"/>
              </a:rPr>
              <a:t>design</a:t>
            </a:r>
            <a:r>
              <a:rPr sz="2600" spc="11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class</a:t>
            </a:r>
            <a:r>
              <a:rPr sz="2600" spc="8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realizations.</a:t>
            </a:r>
            <a:endParaRPr sz="2600" dirty="0">
              <a:latin typeface="Cambria"/>
              <a:cs typeface="Cambria"/>
            </a:endParaRPr>
          </a:p>
          <a:p>
            <a:pPr marL="241300" marR="10795" indent="-229235">
              <a:lnSpc>
                <a:spcPct val="103499"/>
              </a:lnSpc>
              <a:spcBef>
                <a:spcPts val="530"/>
              </a:spcBef>
              <a:buChar char="•"/>
              <a:tabLst>
                <a:tab pos="241300" algn="l"/>
                <a:tab pos="1515110" algn="l"/>
                <a:tab pos="2318385" algn="l"/>
                <a:tab pos="3942079" algn="l"/>
              </a:tabLst>
            </a:pPr>
            <a:r>
              <a:rPr sz="2600" spc="45" dirty="0">
                <a:latin typeface="Cambria"/>
                <a:cs typeface="Cambria"/>
              </a:rPr>
              <a:t>Defines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data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structures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needed </a:t>
            </a:r>
            <a:r>
              <a:rPr sz="2600" dirty="0">
                <a:latin typeface="Cambria"/>
                <a:cs typeface="Cambria"/>
              </a:rPr>
              <a:t>for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implementation.</a:t>
            </a:r>
            <a:endParaRPr sz="2600" dirty="0">
              <a:latin typeface="Cambria"/>
              <a:cs typeface="Cambria"/>
            </a:endParaRPr>
          </a:p>
          <a:p>
            <a:pPr marL="241300" marR="5080" indent="-229235">
              <a:lnSpc>
                <a:spcPct val="103400"/>
              </a:lnSpc>
              <a:spcBef>
                <a:spcPts val="525"/>
              </a:spcBef>
              <a:buChar char="•"/>
              <a:tabLst>
                <a:tab pos="241300" algn="l"/>
                <a:tab pos="1127760" algn="l"/>
                <a:tab pos="2008505" algn="l"/>
                <a:tab pos="3574415" algn="l"/>
                <a:tab pos="4324985" algn="l"/>
              </a:tabLst>
            </a:pPr>
            <a:r>
              <a:rPr sz="2600" spc="45" dirty="0">
                <a:latin typeface="Cambria"/>
                <a:cs typeface="Cambria"/>
              </a:rPr>
              <a:t>Uses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270" dirty="0">
                <a:latin typeface="Cambria"/>
                <a:cs typeface="Cambria"/>
              </a:rPr>
              <a:t>CRC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0" dirty="0">
                <a:latin typeface="Cambria"/>
                <a:cs typeface="Cambria"/>
              </a:rPr>
              <a:t>diagrams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60" dirty="0">
                <a:latin typeface="Cambria"/>
                <a:cs typeface="Cambria"/>
              </a:rPr>
              <a:t>and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class </a:t>
            </a:r>
            <a:r>
              <a:rPr sz="2600" dirty="0">
                <a:latin typeface="Cambria"/>
                <a:cs typeface="Cambria"/>
              </a:rPr>
              <a:t>attributes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for</a:t>
            </a:r>
            <a:r>
              <a:rPr sz="2600" spc="19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data</a:t>
            </a:r>
            <a:r>
              <a:rPr sz="2600" spc="114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design.</a:t>
            </a:r>
            <a:endParaRPr sz="26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57755" y="4891722"/>
            <a:ext cx="3705860" cy="836294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37160" marR="5080" indent="-125095">
              <a:lnSpc>
                <a:spcPct val="103400"/>
              </a:lnSpc>
              <a:spcBef>
                <a:spcPts val="20"/>
              </a:spcBef>
              <a:tabLst>
                <a:tab pos="989330" algn="l"/>
                <a:tab pos="1951355" algn="l"/>
                <a:tab pos="2251075" algn="l"/>
              </a:tabLst>
            </a:pPr>
            <a:r>
              <a:rPr sz="2600" spc="-10" dirty="0">
                <a:latin typeface="Cambria"/>
                <a:cs typeface="Cambria"/>
              </a:rPr>
              <a:t>class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5" dirty="0">
                <a:latin typeface="Cambria"/>
                <a:cs typeface="Cambria"/>
              </a:rPr>
              <a:t>design</a:t>
            </a:r>
            <a:r>
              <a:rPr sz="2600" dirty="0">
                <a:latin typeface="Cambria"/>
                <a:cs typeface="Cambria"/>
              </a:rPr>
              <a:t>		</a:t>
            </a:r>
            <a:r>
              <a:rPr sz="2600" spc="-10" dirty="0">
                <a:latin typeface="Cambria"/>
                <a:cs typeface="Cambria"/>
              </a:rPr>
              <a:t>integrates software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architecture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4891722"/>
            <a:ext cx="1310640" cy="124650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41300" marR="5080" indent="-229235">
              <a:lnSpc>
                <a:spcPct val="103499"/>
              </a:lnSpc>
              <a:spcBef>
                <a:spcPts val="15"/>
              </a:spcBef>
              <a:buChar char="•"/>
              <a:tabLst>
                <a:tab pos="241300" algn="l"/>
              </a:tabLst>
            </a:pPr>
            <a:r>
              <a:rPr sz="2600" spc="35" dirty="0">
                <a:latin typeface="Cambria"/>
                <a:cs typeface="Cambria"/>
              </a:rPr>
              <a:t>Some </a:t>
            </a:r>
            <a:r>
              <a:rPr sz="2600" spc="-20" dirty="0">
                <a:latin typeface="Cambria"/>
                <a:cs typeface="Cambria"/>
              </a:rPr>
              <a:t>with </a:t>
            </a:r>
            <a:r>
              <a:rPr sz="2600" spc="50" dirty="0">
                <a:latin typeface="Cambria"/>
                <a:cs typeface="Cambria"/>
              </a:rPr>
              <a:t>design.</a:t>
            </a:r>
            <a:endParaRPr sz="26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67475" y="1057275"/>
            <a:ext cx="5334000" cy="1085850"/>
            <a:chOff x="6467475" y="1057275"/>
            <a:chExt cx="5334000" cy="1085850"/>
          </a:xfrm>
        </p:grpSpPr>
        <p:sp>
          <p:nvSpPr>
            <p:cNvPr id="12" name="object 12"/>
            <p:cNvSpPr/>
            <p:nvPr/>
          </p:nvSpPr>
          <p:spPr>
            <a:xfrm>
              <a:off x="6477000" y="1066800"/>
              <a:ext cx="5314950" cy="1066800"/>
            </a:xfrm>
            <a:custGeom>
              <a:avLst/>
              <a:gdLst/>
              <a:ahLst/>
              <a:cxnLst/>
              <a:rect l="l" t="t" r="r" b="b"/>
              <a:pathLst>
                <a:path w="5314950" h="1066800">
                  <a:moveTo>
                    <a:pt x="531495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5314950" y="1066800"/>
                  </a:lnTo>
                  <a:lnTo>
                    <a:pt x="5314950" y="0"/>
                  </a:lnTo>
                  <a:close/>
                </a:path>
              </a:pathLst>
            </a:custGeom>
            <a:solidFill>
              <a:srgbClr val="EB6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77000" y="1066800"/>
              <a:ext cx="5314950" cy="1066800"/>
            </a:xfrm>
            <a:custGeom>
              <a:avLst/>
              <a:gdLst/>
              <a:ahLst/>
              <a:cxnLst/>
              <a:rect l="l" t="t" r="r" b="b"/>
              <a:pathLst>
                <a:path w="5314950" h="1066800">
                  <a:moveTo>
                    <a:pt x="0" y="1066800"/>
                  </a:moveTo>
                  <a:lnTo>
                    <a:pt x="5314950" y="1066800"/>
                  </a:lnTo>
                  <a:lnTo>
                    <a:pt x="5314950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ln w="19050">
              <a:solidFill>
                <a:srgbClr val="EB6F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82294" y="1343660"/>
            <a:ext cx="913574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082030" algn="l"/>
              </a:tabLst>
            </a:pPr>
            <a:r>
              <a:rPr sz="2600" spc="100" dirty="0">
                <a:solidFill>
                  <a:srgbClr val="FFFFFF"/>
                </a:solidFill>
                <a:latin typeface="Cambria"/>
                <a:cs typeface="Cambria"/>
              </a:rPr>
              <a:t>Data/Class</a:t>
            </a:r>
            <a:r>
              <a:rPr sz="2600" spc="60" dirty="0">
                <a:solidFill>
                  <a:srgbClr val="FFFFFF"/>
                </a:solidFill>
                <a:latin typeface="Cambria"/>
                <a:cs typeface="Cambria"/>
              </a:rPr>
              <a:t> Design</a:t>
            </a:r>
            <a:r>
              <a:rPr sz="2600" dirty="0">
                <a:solidFill>
                  <a:srgbClr val="FFFFFF"/>
                </a:solidFill>
                <a:latin typeface="Cambria"/>
                <a:cs typeface="Cambria"/>
              </a:rPr>
              <a:t>	Architectural</a:t>
            </a:r>
            <a:r>
              <a:rPr sz="2600" spc="5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600" spc="60" dirty="0">
                <a:solidFill>
                  <a:srgbClr val="FFFFFF"/>
                </a:solidFill>
                <a:latin typeface="Cambria"/>
                <a:cs typeface="Cambria"/>
              </a:rPr>
              <a:t>Design</a:t>
            </a:r>
            <a:endParaRPr sz="26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67475" y="2124075"/>
            <a:ext cx="5334000" cy="4276725"/>
            <a:chOff x="6467475" y="2124075"/>
            <a:chExt cx="5334000" cy="4276725"/>
          </a:xfrm>
        </p:grpSpPr>
        <p:sp>
          <p:nvSpPr>
            <p:cNvPr id="16" name="object 16"/>
            <p:cNvSpPr/>
            <p:nvPr/>
          </p:nvSpPr>
          <p:spPr>
            <a:xfrm>
              <a:off x="6477000" y="2133600"/>
              <a:ext cx="5314950" cy="4257675"/>
            </a:xfrm>
            <a:custGeom>
              <a:avLst/>
              <a:gdLst/>
              <a:ahLst/>
              <a:cxnLst/>
              <a:rect l="l" t="t" r="r" b="b"/>
              <a:pathLst>
                <a:path w="5314950" h="4257675">
                  <a:moveTo>
                    <a:pt x="5314950" y="0"/>
                  </a:moveTo>
                  <a:lnTo>
                    <a:pt x="0" y="0"/>
                  </a:lnTo>
                  <a:lnTo>
                    <a:pt x="0" y="4257675"/>
                  </a:lnTo>
                  <a:lnTo>
                    <a:pt x="5314950" y="4257675"/>
                  </a:lnTo>
                  <a:lnTo>
                    <a:pt x="5314950" y="0"/>
                  </a:lnTo>
                  <a:close/>
                </a:path>
              </a:pathLst>
            </a:custGeom>
            <a:solidFill>
              <a:srgbClr val="F8D4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77000" y="2133600"/>
              <a:ext cx="5314950" cy="4257675"/>
            </a:xfrm>
            <a:custGeom>
              <a:avLst/>
              <a:gdLst/>
              <a:ahLst/>
              <a:cxnLst/>
              <a:rect l="l" t="t" r="r" b="b"/>
              <a:pathLst>
                <a:path w="5314950" h="4257675">
                  <a:moveTo>
                    <a:pt x="0" y="4257675"/>
                  </a:moveTo>
                  <a:lnTo>
                    <a:pt x="5314950" y="4257675"/>
                  </a:lnTo>
                  <a:lnTo>
                    <a:pt x="5314950" y="0"/>
                  </a:lnTo>
                  <a:lnTo>
                    <a:pt x="0" y="0"/>
                  </a:lnTo>
                  <a:lnTo>
                    <a:pt x="0" y="4257675"/>
                  </a:lnTo>
                  <a:close/>
                </a:path>
              </a:pathLst>
            </a:custGeom>
            <a:ln w="19050">
              <a:solidFill>
                <a:srgbClr val="F8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605905" y="2239962"/>
            <a:ext cx="502475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5"/>
              </a:spcBef>
              <a:buChar char="•"/>
              <a:tabLst>
                <a:tab pos="240665" algn="l"/>
                <a:tab pos="1618615" algn="l"/>
                <a:tab pos="3779520" algn="l"/>
              </a:tabLst>
            </a:pPr>
            <a:r>
              <a:rPr sz="2600" spc="45" dirty="0">
                <a:latin typeface="Cambria"/>
                <a:cs typeface="Cambria"/>
              </a:rPr>
              <a:t>Defines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relationships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between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5905" y="2573718"/>
            <a:ext cx="5032375" cy="138938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730"/>
              </a:spcBef>
            </a:pPr>
            <a:r>
              <a:rPr sz="2600" dirty="0">
                <a:latin typeface="Cambria"/>
                <a:cs typeface="Cambria"/>
              </a:rPr>
              <a:t>major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structural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elements.</a:t>
            </a:r>
            <a:endParaRPr sz="2600">
              <a:latin typeface="Cambria"/>
              <a:cs typeface="Cambria"/>
            </a:endParaRPr>
          </a:p>
          <a:p>
            <a:pPr marL="241300" marR="5080" indent="-228600">
              <a:lnSpc>
                <a:spcPct val="103499"/>
              </a:lnSpc>
              <a:spcBef>
                <a:spcPts val="525"/>
              </a:spcBef>
              <a:buChar char="•"/>
              <a:tabLst>
                <a:tab pos="241300" algn="l"/>
                <a:tab pos="1219200" algn="l"/>
                <a:tab pos="3344545" algn="l"/>
                <a:tab pos="4453255" algn="l"/>
              </a:tabLst>
            </a:pPr>
            <a:r>
              <a:rPr sz="2600" spc="45" dirty="0">
                <a:latin typeface="Cambria"/>
                <a:cs typeface="Cambria"/>
              </a:rPr>
              <a:t>Uses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architectural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styles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60" dirty="0">
                <a:latin typeface="Cambria"/>
                <a:cs typeface="Cambria"/>
              </a:rPr>
              <a:t>and design </a:t>
            </a:r>
            <a:r>
              <a:rPr sz="2600" spc="-10" dirty="0">
                <a:latin typeface="Cambria"/>
                <a:cs typeface="Cambria"/>
              </a:rPr>
              <a:t>patterns.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05905" y="4014152"/>
            <a:ext cx="5027930" cy="1713864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241300" marR="5080" indent="-228600">
              <a:lnSpc>
                <a:spcPct val="103400"/>
              </a:lnSpc>
              <a:spcBef>
                <a:spcPts val="20"/>
              </a:spcBef>
              <a:buChar char="•"/>
              <a:tabLst>
                <a:tab pos="241300" algn="l"/>
                <a:tab pos="2378075" algn="l"/>
                <a:tab pos="4639945" algn="l"/>
              </a:tabLst>
            </a:pPr>
            <a:r>
              <a:rPr sz="2600" spc="45" dirty="0">
                <a:latin typeface="Cambria"/>
                <a:cs typeface="Cambria"/>
              </a:rPr>
              <a:t>Considers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constraints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on </a:t>
            </a:r>
            <a:r>
              <a:rPr sz="2600" dirty="0">
                <a:latin typeface="Cambria"/>
                <a:cs typeface="Cambria"/>
              </a:rPr>
              <a:t>architecture</a:t>
            </a:r>
            <a:r>
              <a:rPr sz="2600" spc="9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implementation.</a:t>
            </a:r>
            <a:endParaRPr sz="2600">
              <a:latin typeface="Cambria"/>
              <a:cs typeface="Cambria"/>
            </a:endParaRPr>
          </a:p>
          <a:p>
            <a:pPr marL="241300" marR="5080" indent="-228600">
              <a:lnSpc>
                <a:spcPct val="103400"/>
              </a:lnSpc>
              <a:spcBef>
                <a:spcPts val="455"/>
              </a:spcBef>
              <a:buChar char="•"/>
              <a:tabLst>
                <a:tab pos="241300" algn="l"/>
                <a:tab pos="1583055" algn="l"/>
                <a:tab pos="2451100" algn="l"/>
                <a:tab pos="3064510" algn="l"/>
              </a:tabLst>
            </a:pPr>
            <a:r>
              <a:rPr sz="2600" spc="60" dirty="0">
                <a:latin typeface="Cambria"/>
                <a:cs typeface="Cambria"/>
              </a:rPr>
              <a:t>Derived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30" dirty="0">
                <a:latin typeface="Cambria"/>
                <a:cs typeface="Cambria"/>
              </a:rPr>
              <a:t>from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the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requirements </a:t>
            </a:r>
            <a:r>
              <a:rPr sz="2600" spc="60" dirty="0">
                <a:latin typeface="Cambria"/>
                <a:cs typeface="Cambria"/>
              </a:rPr>
              <a:t>model.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Translating</a:t>
            </a:r>
            <a:r>
              <a:rPr sz="3200" spc="270" dirty="0"/>
              <a:t> </a:t>
            </a:r>
            <a:r>
              <a:rPr sz="3200" spc="125" dirty="0"/>
              <a:t>Requirement</a:t>
            </a:r>
            <a:r>
              <a:rPr sz="3200" spc="265" dirty="0"/>
              <a:t> </a:t>
            </a:r>
            <a:r>
              <a:rPr sz="3200" spc="110" dirty="0"/>
              <a:t>model</a:t>
            </a:r>
            <a:r>
              <a:rPr sz="3200" spc="225" dirty="0"/>
              <a:t> </a:t>
            </a:r>
            <a:r>
              <a:rPr sz="3200" spc="95" dirty="0"/>
              <a:t>into</a:t>
            </a:r>
            <a:r>
              <a:rPr sz="3200" spc="285" dirty="0"/>
              <a:t> </a:t>
            </a:r>
            <a:r>
              <a:rPr sz="3200" spc="135" dirty="0"/>
              <a:t>Design</a:t>
            </a:r>
            <a:r>
              <a:rPr sz="3200" spc="250" dirty="0"/>
              <a:t> </a:t>
            </a:r>
            <a:r>
              <a:rPr sz="3200" spc="60" dirty="0"/>
              <a:t>Model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400050" y="1181100"/>
            <a:ext cx="5343525" cy="1885950"/>
            <a:chOff x="400050" y="1181100"/>
            <a:chExt cx="5343525" cy="1885950"/>
          </a:xfrm>
        </p:grpSpPr>
        <p:sp>
          <p:nvSpPr>
            <p:cNvPr id="4" name="object 4"/>
            <p:cNvSpPr/>
            <p:nvPr/>
          </p:nvSpPr>
          <p:spPr>
            <a:xfrm>
              <a:off x="409575" y="1190625"/>
              <a:ext cx="5324475" cy="1866900"/>
            </a:xfrm>
            <a:custGeom>
              <a:avLst/>
              <a:gdLst/>
              <a:ahLst/>
              <a:cxnLst/>
              <a:rect l="l" t="t" r="r" b="b"/>
              <a:pathLst>
                <a:path w="5324475" h="1866900">
                  <a:moveTo>
                    <a:pt x="5324475" y="0"/>
                  </a:moveTo>
                  <a:lnTo>
                    <a:pt x="0" y="0"/>
                  </a:lnTo>
                  <a:lnTo>
                    <a:pt x="0" y="1866900"/>
                  </a:lnTo>
                  <a:lnTo>
                    <a:pt x="5324475" y="1866900"/>
                  </a:lnTo>
                  <a:lnTo>
                    <a:pt x="5324475" y="0"/>
                  </a:lnTo>
                  <a:close/>
                </a:path>
              </a:pathLst>
            </a:custGeom>
            <a:solidFill>
              <a:srgbClr val="CE8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9575" y="1190625"/>
              <a:ext cx="5324475" cy="1866900"/>
            </a:xfrm>
            <a:custGeom>
              <a:avLst/>
              <a:gdLst/>
              <a:ahLst/>
              <a:cxnLst/>
              <a:rect l="l" t="t" r="r" b="b"/>
              <a:pathLst>
                <a:path w="5324475" h="1866900">
                  <a:moveTo>
                    <a:pt x="0" y="1866900"/>
                  </a:moveTo>
                  <a:lnTo>
                    <a:pt x="5324475" y="1866900"/>
                  </a:lnTo>
                  <a:lnTo>
                    <a:pt x="5324475" y="0"/>
                  </a:lnTo>
                  <a:lnTo>
                    <a:pt x="0" y="0"/>
                  </a:lnTo>
                  <a:lnTo>
                    <a:pt x="0" y="1866900"/>
                  </a:lnTo>
                  <a:close/>
                </a:path>
              </a:pathLst>
            </a:custGeom>
            <a:ln w="19050">
              <a:solidFill>
                <a:srgbClr val="CE8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89280" y="1864360"/>
            <a:ext cx="250825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solidFill>
                  <a:srgbClr val="FFFFFF"/>
                </a:solidFill>
                <a:latin typeface="Cambria"/>
                <a:cs typeface="Cambria"/>
              </a:rPr>
              <a:t>Interface</a:t>
            </a:r>
            <a:r>
              <a:rPr sz="27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700" spc="70" dirty="0">
                <a:solidFill>
                  <a:srgbClr val="FFFFFF"/>
                </a:solidFill>
                <a:latin typeface="Cambria"/>
                <a:cs typeface="Cambria"/>
              </a:rPr>
              <a:t>Design</a:t>
            </a:r>
            <a:endParaRPr sz="27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0050" y="3048000"/>
            <a:ext cx="5343525" cy="3228975"/>
            <a:chOff x="400050" y="3048000"/>
            <a:chExt cx="5343525" cy="3228975"/>
          </a:xfrm>
        </p:grpSpPr>
        <p:sp>
          <p:nvSpPr>
            <p:cNvPr id="8" name="object 8"/>
            <p:cNvSpPr/>
            <p:nvPr/>
          </p:nvSpPr>
          <p:spPr>
            <a:xfrm>
              <a:off x="409575" y="3057525"/>
              <a:ext cx="5324475" cy="3209925"/>
            </a:xfrm>
            <a:custGeom>
              <a:avLst/>
              <a:gdLst/>
              <a:ahLst/>
              <a:cxnLst/>
              <a:rect l="l" t="t" r="r" b="b"/>
              <a:pathLst>
                <a:path w="5324475" h="3209925">
                  <a:moveTo>
                    <a:pt x="5324475" y="0"/>
                  </a:moveTo>
                  <a:lnTo>
                    <a:pt x="0" y="0"/>
                  </a:lnTo>
                  <a:lnTo>
                    <a:pt x="0" y="3209925"/>
                  </a:lnTo>
                  <a:lnTo>
                    <a:pt x="5324475" y="3209925"/>
                  </a:lnTo>
                  <a:lnTo>
                    <a:pt x="5324475" y="0"/>
                  </a:lnTo>
                  <a:close/>
                </a:path>
              </a:pathLst>
            </a:custGeom>
            <a:solidFill>
              <a:srgbClr val="ECDBC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9575" y="3057525"/>
              <a:ext cx="5324475" cy="3209925"/>
            </a:xfrm>
            <a:custGeom>
              <a:avLst/>
              <a:gdLst/>
              <a:ahLst/>
              <a:cxnLst/>
              <a:rect l="l" t="t" r="r" b="b"/>
              <a:pathLst>
                <a:path w="5324475" h="3209925">
                  <a:moveTo>
                    <a:pt x="0" y="3209925"/>
                  </a:moveTo>
                  <a:lnTo>
                    <a:pt x="5324475" y="3209925"/>
                  </a:lnTo>
                  <a:lnTo>
                    <a:pt x="5324475" y="0"/>
                  </a:lnTo>
                  <a:lnTo>
                    <a:pt x="0" y="0"/>
                  </a:lnTo>
                  <a:lnTo>
                    <a:pt x="0" y="3209925"/>
                  </a:lnTo>
                  <a:close/>
                </a:path>
              </a:pathLst>
            </a:custGeom>
            <a:ln w="19050">
              <a:solidFill>
                <a:srgbClr val="ECDB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41337" y="3138868"/>
            <a:ext cx="5015230" cy="286956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0029" marR="5080" indent="-227965" algn="just">
              <a:lnSpc>
                <a:spcPct val="93900"/>
              </a:lnSpc>
              <a:spcBef>
                <a:spcPts val="300"/>
              </a:spcBef>
              <a:buChar char="•"/>
              <a:tabLst>
                <a:tab pos="241300" algn="l"/>
              </a:tabLst>
            </a:pPr>
            <a:r>
              <a:rPr sz="2700" dirty="0">
                <a:latin typeface="Cambria"/>
                <a:cs typeface="Cambria"/>
              </a:rPr>
              <a:t>Specifies</a:t>
            </a:r>
            <a:r>
              <a:rPr sz="2700" spc="570" dirty="0">
                <a:latin typeface="Cambria"/>
                <a:cs typeface="Cambria"/>
              </a:rPr>
              <a:t>     </a:t>
            </a:r>
            <a:r>
              <a:rPr sz="2700" spc="95" dirty="0">
                <a:latin typeface="Cambria"/>
                <a:cs typeface="Cambria"/>
              </a:rPr>
              <a:t>how</a:t>
            </a:r>
            <a:r>
              <a:rPr sz="2700" spc="565" dirty="0">
                <a:latin typeface="Cambria"/>
                <a:cs typeface="Cambria"/>
              </a:rPr>
              <a:t>     </a:t>
            </a:r>
            <a:r>
              <a:rPr sz="2700" spc="-10" dirty="0">
                <a:latin typeface="Cambria"/>
                <a:cs typeface="Cambria"/>
              </a:rPr>
              <a:t>software 	</a:t>
            </a:r>
            <a:r>
              <a:rPr sz="2700" dirty="0">
                <a:latin typeface="Cambria"/>
                <a:cs typeface="Cambria"/>
              </a:rPr>
              <a:t>interacts</a:t>
            </a:r>
            <a:r>
              <a:rPr sz="2700" spc="409" dirty="0">
                <a:latin typeface="Cambria"/>
                <a:cs typeface="Cambria"/>
              </a:rPr>
              <a:t>  </a:t>
            </a:r>
            <a:r>
              <a:rPr sz="2700" spc="50" dirty="0">
                <a:latin typeface="Cambria"/>
                <a:cs typeface="Cambria"/>
              </a:rPr>
              <a:t>with</a:t>
            </a:r>
            <a:r>
              <a:rPr sz="2700" spc="400" dirty="0">
                <a:latin typeface="Cambria"/>
                <a:cs typeface="Cambria"/>
              </a:rPr>
              <a:t>  </a:t>
            </a:r>
            <a:r>
              <a:rPr sz="2700" dirty="0">
                <a:latin typeface="Cambria"/>
                <a:cs typeface="Cambria"/>
              </a:rPr>
              <a:t>other</a:t>
            </a:r>
            <a:r>
              <a:rPr sz="2700" spc="385" dirty="0">
                <a:latin typeface="Cambria"/>
                <a:cs typeface="Cambria"/>
              </a:rPr>
              <a:t>  </a:t>
            </a:r>
            <a:r>
              <a:rPr sz="2700" spc="-10" dirty="0">
                <a:latin typeface="Cambria"/>
                <a:cs typeface="Cambria"/>
              </a:rPr>
              <a:t>systems 	</a:t>
            </a:r>
            <a:r>
              <a:rPr sz="2700" spc="70" dirty="0">
                <a:latin typeface="Cambria"/>
                <a:cs typeface="Cambria"/>
              </a:rPr>
              <a:t>and</a:t>
            </a:r>
            <a:r>
              <a:rPr sz="2700" spc="8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users.</a:t>
            </a:r>
            <a:endParaRPr sz="2700">
              <a:latin typeface="Cambria"/>
              <a:cs typeface="Cambria"/>
            </a:endParaRPr>
          </a:p>
          <a:p>
            <a:pPr marL="240029" marR="7620" indent="-227965" algn="just">
              <a:lnSpc>
                <a:spcPts val="3010"/>
              </a:lnSpc>
              <a:spcBef>
                <a:spcPts val="580"/>
              </a:spcBef>
              <a:buChar char="•"/>
              <a:tabLst>
                <a:tab pos="241300" algn="l"/>
              </a:tabLst>
            </a:pPr>
            <a:r>
              <a:rPr sz="2700" spc="55" dirty="0">
                <a:latin typeface="Cambria"/>
                <a:cs typeface="Cambria"/>
              </a:rPr>
              <a:t>Defines</a:t>
            </a:r>
            <a:r>
              <a:rPr sz="2700" spc="535" dirty="0">
                <a:latin typeface="Cambria"/>
                <a:cs typeface="Cambria"/>
              </a:rPr>
              <a:t>    </a:t>
            </a:r>
            <a:r>
              <a:rPr sz="2700" dirty="0">
                <a:latin typeface="Cambria"/>
                <a:cs typeface="Cambria"/>
              </a:rPr>
              <a:t>information</a:t>
            </a:r>
            <a:r>
              <a:rPr sz="2700" spc="545" dirty="0">
                <a:latin typeface="Cambria"/>
                <a:cs typeface="Cambria"/>
              </a:rPr>
              <a:t>    </a:t>
            </a:r>
            <a:r>
              <a:rPr sz="2700" spc="-20" dirty="0">
                <a:latin typeface="Cambria"/>
                <a:cs typeface="Cambria"/>
              </a:rPr>
              <a:t>flow 	</a:t>
            </a:r>
            <a:r>
              <a:rPr sz="2700" dirty="0">
                <a:latin typeface="Cambria"/>
                <a:cs typeface="Cambria"/>
              </a:rPr>
              <a:t>(data/control)</a:t>
            </a:r>
            <a:r>
              <a:rPr sz="2700" spc="220" dirty="0">
                <a:latin typeface="Cambria"/>
                <a:cs typeface="Cambria"/>
              </a:rPr>
              <a:t> </a:t>
            </a:r>
            <a:r>
              <a:rPr sz="2700" spc="70" dirty="0">
                <a:latin typeface="Cambria"/>
                <a:cs typeface="Cambria"/>
              </a:rPr>
              <a:t>and</a:t>
            </a:r>
            <a:r>
              <a:rPr sz="2700" spc="170" dirty="0">
                <a:latin typeface="Cambria"/>
                <a:cs typeface="Cambria"/>
              </a:rPr>
              <a:t> </a:t>
            </a:r>
            <a:r>
              <a:rPr sz="2700" spc="35" dirty="0">
                <a:latin typeface="Cambria"/>
                <a:cs typeface="Cambria"/>
              </a:rPr>
              <a:t>behaviour.</a:t>
            </a:r>
            <a:endParaRPr sz="2700">
              <a:latin typeface="Cambria"/>
              <a:cs typeface="Cambria"/>
            </a:endParaRPr>
          </a:p>
          <a:p>
            <a:pPr marL="240029" marR="5715" indent="-227965" algn="just">
              <a:lnSpc>
                <a:spcPts val="3000"/>
              </a:lnSpc>
              <a:spcBef>
                <a:spcPts val="525"/>
              </a:spcBef>
              <a:buChar char="•"/>
              <a:tabLst>
                <a:tab pos="241300" algn="l"/>
              </a:tabLst>
            </a:pPr>
            <a:r>
              <a:rPr sz="2700" dirty="0">
                <a:latin typeface="Cambria"/>
                <a:cs typeface="Cambria"/>
              </a:rPr>
              <a:t>Based</a:t>
            </a:r>
            <a:r>
              <a:rPr sz="2700" spc="620" dirty="0">
                <a:latin typeface="Cambria"/>
                <a:cs typeface="Cambria"/>
              </a:rPr>
              <a:t> </a:t>
            </a:r>
            <a:r>
              <a:rPr sz="2700" spc="50" dirty="0">
                <a:latin typeface="Cambria"/>
                <a:cs typeface="Cambria"/>
              </a:rPr>
              <a:t>on</a:t>
            </a:r>
            <a:r>
              <a:rPr sz="2700" spc="630" dirty="0">
                <a:latin typeface="Cambria"/>
                <a:cs typeface="Cambria"/>
              </a:rPr>
              <a:t> </a:t>
            </a:r>
            <a:r>
              <a:rPr sz="2700" spc="50" dirty="0">
                <a:latin typeface="Cambria"/>
                <a:cs typeface="Cambria"/>
              </a:rPr>
              <a:t>usage</a:t>
            </a:r>
            <a:r>
              <a:rPr sz="2700" spc="6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scenarios</a:t>
            </a:r>
            <a:r>
              <a:rPr sz="2700" spc="650" dirty="0">
                <a:latin typeface="Cambria"/>
                <a:cs typeface="Cambria"/>
              </a:rPr>
              <a:t> </a:t>
            </a:r>
            <a:r>
              <a:rPr sz="2700" spc="45" dirty="0">
                <a:latin typeface="Cambria"/>
                <a:cs typeface="Cambria"/>
              </a:rPr>
              <a:t>and 	behavioural</a:t>
            </a:r>
            <a:r>
              <a:rPr sz="2700" spc="75" dirty="0">
                <a:latin typeface="Cambria"/>
                <a:cs typeface="Cambria"/>
              </a:rPr>
              <a:t> </a:t>
            </a:r>
            <a:r>
              <a:rPr sz="2700" spc="45" dirty="0">
                <a:latin typeface="Cambria"/>
                <a:cs typeface="Cambria"/>
              </a:rPr>
              <a:t>models.</a:t>
            </a:r>
            <a:endParaRPr sz="27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67475" y="1181100"/>
            <a:ext cx="5334000" cy="1885950"/>
            <a:chOff x="6467475" y="1181100"/>
            <a:chExt cx="5334000" cy="1885950"/>
          </a:xfrm>
        </p:grpSpPr>
        <p:sp>
          <p:nvSpPr>
            <p:cNvPr id="12" name="object 12"/>
            <p:cNvSpPr/>
            <p:nvPr/>
          </p:nvSpPr>
          <p:spPr>
            <a:xfrm>
              <a:off x="6477000" y="1190625"/>
              <a:ext cx="5314950" cy="1866900"/>
            </a:xfrm>
            <a:custGeom>
              <a:avLst/>
              <a:gdLst/>
              <a:ahLst/>
              <a:cxnLst/>
              <a:rect l="l" t="t" r="r" b="b"/>
              <a:pathLst>
                <a:path w="5314950" h="1866900">
                  <a:moveTo>
                    <a:pt x="5314950" y="0"/>
                  </a:moveTo>
                  <a:lnTo>
                    <a:pt x="0" y="0"/>
                  </a:lnTo>
                  <a:lnTo>
                    <a:pt x="0" y="1866900"/>
                  </a:lnTo>
                  <a:lnTo>
                    <a:pt x="5314950" y="1866900"/>
                  </a:lnTo>
                  <a:lnTo>
                    <a:pt x="5314950" y="0"/>
                  </a:lnTo>
                  <a:close/>
                </a:path>
              </a:pathLst>
            </a:custGeom>
            <a:solidFill>
              <a:srgbClr val="EB6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77000" y="1190625"/>
              <a:ext cx="5314950" cy="1866900"/>
            </a:xfrm>
            <a:custGeom>
              <a:avLst/>
              <a:gdLst/>
              <a:ahLst/>
              <a:cxnLst/>
              <a:rect l="l" t="t" r="r" b="b"/>
              <a:pathLst>
                <a:path w="5314950" h="1866900">
                  <a:moveTo>
                    <a:pt x="0" y="1866900"/>
                  </a:moveTo>
                  <a:lnTo>
                    <a:pt x="5314950" y="1866900"/>
                  </a:lnTo>
                  <a:lnTo>
                    <a:pt x="5314950" y="0"/>
                  </a:lnTo>
                  <a:lnTo>
                    <a:pt x="0" y="0"/>
                  </a:lnTo>
                  <a:lnTo>
                    <a:pt x="0" y="1866900"/>
                  </a:lnTo>
                  <a:close/>
                </a:path>
              </a:pathLst>
            </a:custGeom>
            <a:ln w="19050">
              <a:solidFill>
                <a:srgbClr val="EB6F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659244" y="1864360"/>
            <a:ext cx="389890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70" dirty="0">
                <a:solidFill>
                  <a:srgbClr val="FFFFFF"/>
                </a:solidFill>
                <a:latin typeface="Cambria"/>
                <a:cs typeface="Cambria"/>
              </a:rPr>
              <a:t>Component</a:t>
            </a:r>
            <a:r>
              <a:rPr sz="27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700" spc="65" dirty="0">
                <a:solidFill>
                  <a:srgbClr val="FFFFFF"/>
                </a:solidFill>
                <a:latin typeface="Cambria"/>
                <a:cs typeface="Cambria"/>
              </a:rPr>
              <a:t>Level</a:t>
            </a:r>
            <a:r>
              <a:rPr sz="2700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700" spc="70" dirty="0">
                <a:solidFill>
                  <a:srgbClr val="FFFFFF"/>
                </a:solidFill>
                <a:latin typeface="Cambria"/>
                <a:cs typeface="Cambria"/>
              </a:rPr>
              <a:t>Design</a:t>
            </a:r>
            <a:endParaRPr sz="27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67475" y="3048000"/>
            <a:ext cx="5334000" cy="3228975"/>
            <a:chOff x="6467475" y="3048000"/>
            <a:chExt cx="5334000" cy="3228975"/>
          </a:xfrm>
        </p:grpSpPr>
        <p:sp>
          <p:nvSpPr>
            <p:cNvPr id="16" name="object 16"/>
            <p:cNvSpPr/>
            <p:nvPr/>
          </p:nvSpPr>
          <p:spPr>
            <a:xfrm>
              <a:off x="6477000" y="3057525"/>
              <a:ext cx="5314950" cy="3209925"/>
            </a:xfrm>
            <a:custGeom>
              <a:avLst/>
              <a:gdLst/>
              <a:ahLst/>
              <a:cxnLst/>
              <a:rect l="l" t="t" r="r" b="b"/>
              <a:pathLst>
                <a:path w="5314950" h="3209925">
                  <a:moveTo>
                    <a:pt x="5314950" y="0"/>
                  </a:moveTo>
                  <a:lnTo>
                    <a:pt x="0" y="0"/>
                  </a:lnTo>
                  <a:lnTo>
                    <a:pt x="0" y="3209925"/>
                  </a:lnTo>
                  <a:lnTo>
                    <a:pt x="5314950" y="3209925"/>
                  </a:lnTo>
                  <a:lnTo>
                    <a:pt x="5314950" y="0"/>
                  </a:lnTo>
                  <a:close/>
                </a:path>
              </a:pathLst>
            </a:custGeom>
            <a:solidFill>
              <a:srgbClr val="F8D4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77000" y="3057525"/>
              <a:ext cx="5314950" cy="3209925"/>
            </a:xfrm>
            <a:custGeom>
              <a:avLst/>
              <a:gdLst/>
              <a:ahLst/>
              <a:cxnLst/>
              <a:rect l="l" t="t" r="r" b="b"/>
              <a:pathLst>
                <a:path w="5314950" h="3209925">
                  <a:moveTo>
                    <a:pt x="0" y="3209925"/>
                  </a:moveTo>
                  <a:lnTo>
                    <a:pt x="5314950" y="3209925"/>
                  </a:lnTo>
                  <a:lnTo>
                    <a:pt x="5314950" y="0"/>
                  </a:lnTo>
                  <a:lnTo>
                    <a:pt x="0" y="0"/>
                  </a:lnTo>
                  <a:lnTo>
                    <a:pt x="0" y="3209925"/>
                  </a:lnTo>
                  <a:close/>
                </a:path>
              </a:pathLst>
            </a:custGeom>
            <a:ln w="19050">
              <a:solidFill>
                <a:srgbClr val="F8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611366" y="3138868"/>
            <a:ext cx="5015865" cy="120967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1300" marR="5080" indent="-228600" algn="just">
              <a:lnSpc>
                <a:spcPct val="93900"/>
              </a:lnSpc>
              <a:spcBef>
                <a:spcPts val="300"/>
              </a:spcBef>
              <a:buChar char="•"/>
              <a:tabLst>
                <a:tab pos="241300" algn="l"/>
              </a:tabLst>
            </a:pPr>
            <a:r>
              <a:rPr sz="2700" spc="55" dirty="0">
                <a:latin typeface="Cambria"/>
                <a:cs typeface="Cambria"/>
              </a:rPr>
              <a:t>Converts</a:t>
            </a:r>
            <a:r>
              <a:rPr sz="2700" spc="48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software</a:t>
            </a:r>
            <a:r>
              <a:rPr sz="2700" spc="49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architecture </a:t>
            </a:r>
            <a:r>
              <a:rPr sz="2700" dirty="0">
                <a:latin typeface="Cambria"/>
                <a:cs typeface="Cambria"/>
              </a:rPr>
              <a:t>elements</a:t>
            </a:r>
            <a:r>
              <a:rPr sz="2700" spc="540" dirty="0">
                <a:latin typeface="Cambria"/>
                <a:cs typeface="Cambria"/>
              </a:rPr>
              <a:t>    </a:t>
            </a:r>
            <a:r>
              <a:rPr sz="2700" dirty="0">
                <a:latin typeface="Cambria"/>
                <a:cs typeface="Cambria"/>
              </a:rPr>
              <a:t>into</a:t>
            </a:r>
            <a:r>
              <a:rPr sz="2700" spc="555" dirty="0">
                <a:latin typeface="Cambria"/>
                <a:cs typeface="Cambria"/>
              </a:rPr>
              <a:t>    </a:t>
            </a:r>
            <a:r>
              <a:rPr sz="2700" spc="-10" dirty="0">
                <a:latin typeface="Cambria"/>
                <a:cs typeface="Cambria"/>
              </a:rPr>
              <a:t>procedural descriptions.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11366" y="4359592"/>
            <a:ext cx="98107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</a:tabLst>
            </a:pPr>
            <a:r>
              <a:rPr sz="2700" spc="55" dirty="0">
                <a:latin typeface="Cambria"/>
                <a:cs typeface="Cambria"/>
              </a:rPr>
              <a:t>Uses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39966" y="4741227"/>
            <a:ext cx="3649979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28570" algn="l"/>
              </a:tabLst>
            </a:pPr>
            <a:r>
              <a:rPr sz="2700" spc="-10" dirty="0">
                <a:latin typeface="Cambria"/>
                <a:cs typeface="Cambria"/>
              </a:rPr>
              <a:t>behavioural</a:t>
            </a:r>
            <a:r>
              <a:rPr sz="2700" dirty="0">
                <a:latin typeface="Cambria"/>
                <a:cs typeface="Cambria"/>
              </a:rPr>
              <a:t>	</a:t>
            </a:r>
            <a:r>
              <a:rPr sz="2700" spc="-10" dirty="0">
                <a:latin typeface="Cambria"/>
                <a:cs typeface="Cambria"/>
              </a:rPr>
              <a:t>models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57743" y="4359592"/>
            <a:ext cx="3770629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r">
              <a:lnSpc>
                <a:spcPts val="3125"/>
              </a:lnSpc>
              <a:spcBef>
                <a:spcPts val="100"/>
              </a:spcBef>
              <a:tabLst>
                <a:tab pos="2091055" algn="l"/>
                <a:tab pos="3159760" algn="l"/>
              </a:tabLst>
            </a:pPr>
            <a:r>
              <a:rPr sz="2700" dirty="0">
                <a:latin typeface="Cambria"/>
                <a:cs typeface="Cambria"/>
              </a:rPr>
              <a:t>class-</a:t>
            </a:r>
            <a:r>
              <a:rPr sz="2700" spc="-10" dirty="0">
                <a:latin typeface="Cambria"/>
                <a:cs typeface="Cambria"/>
              </a:rPr>
              <a:t>based,</a:t>
            </a:r>
            <a:r>
              <a:rPr sz="2700" dirty="0">
                <a:latin typeface="Cambria"/>
                <a:cs typeface="Cambria"/>
              </a:rPr>
              <a:t>	</a:t>
            </a:r>
            <a:r>
              <a:rPr sz="2700" spc="70" dirty="0">
                <a:latin typeface="Cambria"/>
                <a:cs typeface="Cambria"/>
              </a:rPr>
              <a:t>flow,</a:t>
            </a:r>
            <a:r>
              <a:rPr sz="2700" dirty="0">
                <a:latin typeface="Cambria"/>
                <a:cs typeface="Cambria"/>
              </a:rPr>
              <a:t>	</a:t>
            </a:r>
            <a:r>
              <a:rPr sz="2700" spc="45" dirty="0">
                <a:latin typeface="Cambria"/>
                <a:cs typeface="Cambria"/>
              </a:rPr>
              <a:t>and</a:t>
            </a:r>
            <a:endParaRPr sz="2700">
              <a:latin typeface="Cambria"/>
              <a:cs typeface="Cambria"/>
            </a:endParaRPr>
          </a:p>
          <a:p>
            <a:pPr marR="5080" algn="r">
              <a:lnSpc>
                <a:spcPts val="3125"/>
              </a:lnSpc>
            </a:pPr>
            <a:r>
              <a:rPr sz="2700" spc="-25" dirty="0">
                <a:latin typeface="Cambria"/>
                <a:cs typeface="Cambria"/>
              </a:rPr>
              <a:t>for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39966" y="5122290"/>
            <a:ext cx="3395979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latin typeface="Cambria"/>
                <a:cs typeface="Cambria"/>
              </a:rPr>
              <a:t>component</a:t>
            </a:r>
            <a:r>
              <a:rPr sz="2700" spc="405" dirty="0">
                <a:latin typeface="Cambria"/>
                <a:cs typeface="Cambria"/>
              </a:rPr>
              <a:t> </a:t>
            </a:r>
            <a:r>
              <a:rPr sz="2700" spc="35" dirty="0">
                <a:latin typeface="Cambria"/>
                <a:cs typeface="Cambria"/>
              </a:rPr>
              <a:t>definition.</a:t>
            </a:r>
            <a:endParaRPr sz="2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125" dirty="0"/>
              <a:t>Importance</a:t>
            </a:r>
            <a:r>
              <a:rPr sz="3600" spc="290" dirty="0"/>
              <a:t> </a:t>
            </a:r>
            <a:r>
              <a:rPr sz="3600" dirty="0"/>
              <a:t>of</a:t>
            </a:r>
            <a:r>
              <a:rPr sz="3600" spc="345" dirty="0"/>
              <a:t> </a:t>
            </a:r>
            <a:r>
              <a:rPr sz="3600" spc="135" dirty="0"/>
              <a:t>Software</a:t>
            </a:r>
            <a:r>
              <a:rPr sz="3600" spc="355" dirty="0"/>
              <a:t> </a:t>
            </a:r>
            <a:r>
              <a:rPr sz="3600" spc="140" dirty="0"/>
              <a:t>Design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409575" y="1057275"/>
            <a:ext cx="11382375" cy="0"/>
          </a:xfrm>
          <a:custGeom>
            <a:avLst/>
            <a:gdLst/>
            <a:ahLst/>
            <a:cxnLst/>
            <a:rect l="l" t="t" r="r" b="b"/>
            <a:pathLst>
              <a:path w="11382375">
                <a:moveTo>
                  <a:pt x="0" y="0"/>
                </a:moveTo>
                <a:lnTo>
                  <a:pt x="11382375" y="0"/>
                </a:lnTo>
              </a:path>
            </a:pathLst>
          </a:custGeom>
          <a:ln w="19050">
            <a:solidFill>
              <a:srgbClr val="CE8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8632" y="1085849"/>
            <a:ext cx="1919605" cy="106934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ct val="92600"/>
              </a:lnSpc>
              <a:spcBef>
                <a:spcPts val="315"/>
              </a:spcBef>
            </a:pPr>
            <a:r>
              <a:rPr sz="2400" b="1" dirty="0">
                <a:solidFill>
                  <a:srgbClr val="7030A0"/>
                </a:solidFill>
                <a:latin typeface="Cambria"/>
                <a:cs typeface="Cambria"/>
              </a:rPr>
              <a:t>Importance</a:t>
            </a:r>
            <a:r>
              <a:rPr sz="2400" b="1" spc="285" dirty="0">
                <a:solidFill>
                  <a:srgbClr val="7030A0"/>
                </a:solidFill>
                <a:latin typeface="Cambria"/>
                <a:cs typeface="Cambria"/>
              </a:rPr>
              <a:t> </a:t>
            </a:r>
            <a:r>
              <a:rPr sz="2400" b="1" spc="-25" dirty="0">
                <a:solidFill>
                  <a:srgbClr val="7030A0"/>
                </a:solidFill>
                <a:latin typeface="Cambria"/>
                <a:cs typeface="Cambria"/>
              </a:rPr>
              <a:t>of </a:t>
            </a:r>
            <a:r>
              <a:rPr sz="2400" b="1" spc="-10" dirty="0">
                <a:solidFill>
                  <a:srgbClr val="7030A0"/>
                </a:solidFill>
                <a:latin typeface="Cambria"/>
                <a:cs typeface="Cambria"/>
              </a:rPr>
              <a:t>Software </a:t>
            </a:r>
            <a:r>
              <a:rPr sz="2400" b="1" spc="65" dirty="0">
                <a:solidFill>
                  <a:srgbClr val="7030A0"/>
                </a:solidFill>
                <a:latin typeface="Cambria"/>
                <a:cs typeface="Cambria"/>
              </a:rPr>
              <a:t>Design</a:t>
            </a:r>
            <a:endParaRPr sz="2400" b="1" dirty="0">
              <a:solidFill>
                <a:srgbClr val="7030A0"/>
              </a:solidFill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38526" y="1128013"/>
            <a:ext cx="80454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Cambria"/>
                <a:cs typeface="Cambria"/>
              </a:rPr>
              <a:t>Directly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impacts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software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construction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maintainability.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86050" y="1943100"/>
            <a:ext cx="9105900" cy="0"/>
          </a:xfrm>
          <a:custGeom>
            <a:avLst/>
            <a:gdLst/>
            <a:ahLst/>
            <a:cxnLst/>
            <a:rect l="l" t="t" r="r" b="b"/>
            <a:pathLst>
              <a:path w="9105900">
                <a:moveTo>
                  <a:pt x="0" y="0"/>
                </a:moveTo>
                <a:lnTo>
                  <a:pt x="9105900" y="0"/>
                </a:lnTo>
              </a:path>
            </a:pathLst>
          </a:custGeom>
          <a:ln w="19050">
            <a:solidFill>
              <a:srgbClr val="E8D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38526" y="2014791"/>
            <a:ext cx="54717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Ensures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quality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software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engineering.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86050" y="2819400"/>
            <a:ext cx="9105900" cy="0"/>
          </a:xfrm>
          <a:custGeom>
            <a:avLst/>
            <a:gdLst/>
            <a:ahLst/>
            <a:cxnLst/>
            <a:rect l="l" t="t" r="r" b="b"/>
            <a:pathLst>
              <a:path w="9105900">
                <a:moveTo>
                  <a:pt x="0" y="0"/>
                </a:moveTo>
                <a:lnTo>
                  <a:pt x="9105900" y="0"/>
                </a:lnTo>
              </a:path>
            </a:pathLst>
          </a:custGeom>
          <a:ln w="19050">
            <a:solidFill>
              <a:srgbClr val="E8D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86050" y="3705225"/>
            <a:ext cx="9105900" cy="0"/>
          </a:xfrm>
          <a:custGeom>
            <a:avLst/>
            <a:gdLst/>
            <a:ahLst/>
            <a:cxnLst/>
            <a:rect l="l" t="t" r="r" b="b"/>
            <a:pathLst>
              <a:path w="9105900">
                <a:moveTo>
                  <a:pt x="0" y="0"/>
                </a:moveTo>
                <a:lnTo>
                  <a:pt x="9105900" y="0"/>
                </a:lnTo>
              </a:path>
            </a:pathLst>
          </a:custGeom>
          <a:ln w="19050">
            <a:solidFill>
              <a:srgbClr val="E8D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86050" y="4591050"/>
            <a:ext cx="9105900" cy="0"/>
          </a:xfrm>
          <a:custGeom>
            <a:avLst/>
            <a:gdLst/>
            <a:ahLst/>
            <a:cxnLst/>
            <a:rect l="l" t="t" r="r" b="b"/>
            <a:pathLst>
              <a:path w="9105900">
                <a:moveTo>
                  <a:pt x="0" y="0"/>
                </a:moveTo>
                <a:lnTo>
                  <a:pt x="9105900" y="0"/>
                </a:lnTo>
              </a:path>
            </a:pathLst>
          </a:custGeom>
          <a:ln w="19050">
            <a:solidFill>
              <a:srgbClr val="E8D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86050" y="5476875"/>
            <a:ext cx="9105900" cy="0"/>
          </a:xfrm>
          <a:custGeom>
            <a:avLst/>
            <a:gdLst/>
            <a:ahLst/>
            <a:cxnLst/>
            <a:rect l="l" t="t" r="r" b="b"/>
            <a:pathLst>
              <a:path w="9105900">
                <a:moveTo>
                  <a:pt x="0" y="0"/>
                </a:moveTo>
                <a:lnTo>
                  <a:pt x="9105900" y="0"/>
                </a:lnTo>
              </a:path>
            </a:pathLst>
          </a:custGeom>
          <a:ln w="19050">
            <a:solidFill>
              <a:srgbClr val="E8D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38526" y="2900997"/>
            <a:ext cx="8738235" cy="339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Provides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representations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assessed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quality.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2400">
              <a:latin typeface="Cambria"/>
              <a:cs typeface="Cambria"/>
            </a:endParaRPr>
          </a:p>
          <a:p>
            <a:pPr marL="12700">
              <a:lnSpc>
                <a:spcPts val="2795"/>
              </a:lnSpc>
            </a:pPr>
            <a:r>
              <a:rPr sz="2400" dirty="0">
                <a:latin typeface="Cambria"/>
                <a:cs typeface="Cambria"/>
              </a:rPr>
              <a:t>Serves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foundation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all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subsequent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software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engineering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ts val="2795"/>
              </a:lnSpc>
            </a:pPr>
            <a:r>
              <a:rPr sz="2400" spc="-10" dirty="0">
                <a:latin typeface="Cambria"/>
                <a:cs typeface="Cambria"/>
              </a:rPr>
              <a:t>activities.</a:t>
            </a:r>
            <a:endParaRPr sz="2400">
              <a:latin typeface="Cambria"/>
              <a:cs typeface="Cambria"/>
            </a:endParaRPr>
          </a:p>
          <a:p>
            <a:pPr marL="12700" marR="67945">
              <a:lnSpc>
                <a:spcPts val="2700"/>
              </a:lnSpc>
              <a:spcBef>
                <a:spcPts val="1635"/>
              </a:spcBef>
            </a:pPr>
            <a:r>
              <a:rPr sz="2400" spc="45" dirty="0">
                <a:latin typeface="Cambria"/>
                <a:cs typeface="Cambria"/>
              </a:rPr>
              <a:t>Accurately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translates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stakeholder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requirements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functional system.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ts val="2790"/>
              </a:lnSpc>
              <a:spcBef>
                <a:spcPts val="1335"/>
              </a:spcBef>
            </a:pPr>
            <a:r>
              <a:rPr sz="2400" dirty="0">
                <a:latin typeface="Cambria"/>
                <a:cs typeface="Cambria"/>
              </a:rPr>
              <a:t>Prevents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risk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of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unstable,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hard-</a:t>
            </a:r>
            <a:r>
              <a:rPr sz="2400" spc="-10" dirty="0">
                <a:latin typeface="Cambria"/>
                <a:cs typeface="Cambria"/>
              </a:rPr>
              <a:t>to-</a:t>
            </a:r>
            <a:r>
              <a:rPr sz="2400" dirty="0">
                <a:latin typeface="Cambria"/>
                <a:cs typeface="Cambria"/>
              </a:rPr>
              <a:t>test,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unassessable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ts val="2790"/>
              </a:lnSpc>
            </a:pPr>
            <a:r>
              <a:rPr sz="2400" spc="-10" dirty="0">
                <a:latin typeface="Cambria"/>
                <a:cs typeface="Cambria"/>
              </a:rPr>
              <a:t>system.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686050" y="6362700"/>
            <a:ext cx="9105900" cy="0"/>
          </a:xfrm>
          <a:custGeom>
            <a:avLst/>
            <a:gdLst/>
            <a:ahLst/>
            <a:cxnLst/>
            <a:rect l="l" t="t" r="r" b="b"/>
            <a:pathLst>
              <a:path w="9105900">
                <a:moveTo>
                  <a:pt x="0" y="0"/>
                </a:moveTo>
                <a:lnTo>
                  <a:pt x="9105900" y="0"/>
                </a:lnTo>
              </a:path>
            </a:pathLst>
          </a:custGeom>
          <a:ln w="19050">
            <a:solidFill>
              <a:srgbClr val="E8D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25" dirty="0"/>
              <a:t>Software</a:t>
            </a:r>
            <a:r>
              <a:rPr sz="3200" spc="275" dirty="0"/>
              <a:t> </a:t>
            </a:r>
            <a:r>
              <a:rPr sz="3200" spc="135" dirty="0"/>
              <a:t>Design</a:t>
            </a:r>
            <a:r>
              <a:rPr sz="3200" spc="260" dirty="0"/>
              <a:t> </a:t>
            </a:r>
            <a:r>
              <a:rPr sz="3200" spc="75" dirty="0"/>
              <a:t>Overview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6325" cy="51669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48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  <a:tab pos="1839595" algn="l"/>
                <a:tab pos="3029585" algn="l"/>
                <a:tab pos="3427095" algn="l"/>
                <a:tab pos="3954779" algn="l"/>
                <a:tab pos="5395595" algn="l"/>
                <a:tab pos="6716395" algn="l"/>
                <a:tab pos="7475855" algn="l"/>
                <a:tab pos="9128125" algn="l"/>
              </a:tabLst>
            </a:pPr>
            <a:r>
              <a:rPr sz="2750" spc="40" dirty="0">
                <a:latin typeface="Cambria"/>
                <a:cs typeface="Cambria"/>
              </a:rPr>
              <a:t>	Software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5" dirty="0">
                <a:latin typeface="Cambria"/>
                <a:cs typeface="Cambria"/>
              </a:rPr>
              <a:t>design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is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0" dirty="0">
                <a:latin typeface="Cambria"/>
                <a:cs typeface="Cambria"/>
              </a:rPr>
              <a:t>an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iterative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process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-20" dirty="0">
                <a:latin typeface="Cambria"/>
                <a:cs typeface="Cambria"/>
              </a:rPr>
              <a:t>that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translates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requirements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into</a:t>
            </a:r>
            <a:r>
              <a:rPr sz="2750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75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blueprint</a:t>
            </a:r>
            <a:r>
              <a:rPr sz="2750" spc="1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for</a:t>
            </a:r>
            <a:r>
              <a:rPr sz="2750" spc="21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software</a:t>
            </a:r>
            <a:r>
              <a:rPr sz="2750" spc="254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development.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10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41300" marR="6985" indent="-229235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640" algn="l"/>
                <a:tab pos="704850" algn="l"/>
                <a:tab pos="1731645" algn="l"/>
                <a:tab pos="2629535" algn="l"/>
                <a:tab pos="2982595" algn="l"/>
                <a:tab pos="4739640" algn="l"/>
                <a:tab pos="6391910" algn="l"/>
                <a:tab pos="7169150" algn="l"/>
                <a:tab pos="8875395" algn="l"/>
                <a:tab pos="10404475" algn="l"/>
              </a:tabLst>
            </a:pPr>
            <a:r>
              <a:rPr sz="2750" spc="-25" dirty="0">
                <a:latin typeface="Cambria"/>
                <a:cs typeface="Cambria"/>
              </a:rPr>
              <a:t>	It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starts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with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90" dirty="0">
                <a:solidFill>
                  <a:srgbClr val="FF0000"/>
                </a:solidFill>
                <a:latin typeface="Cambria"/>
                <a:cs typeface="Cambria"/>
              </a:rPr>
              <a:t>high-</a:t>
            </a:r>
            <a:r>
              <a:rPr sz="2750" spc="50" dirty="0">
                <a:solidFill>
                  <a:srgbClr val="FF0000"/>
                </a:solidFill>
                <a:latin typeface="Cambria"/>
                <a:cs typeface="Cambria"/>
              </a:rPr>
              <a:t>level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65" dirty="0">
                <a:solidFill>
                  <a:srgbClr val="FF0000"/>
                </a:solidFill>
                <a:latin typeface="Cambria"/>
                <a:cs typeface="Cambria"/>
              </a:rPr>
              <a:t>overview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and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85" dirty="0">
                <a:solidFill>
                  <a:srgbClr val="FF0000"/>
                </a:solidFill>
                <a:latin typeface="Cambria"/>
                <a:cs typeface="Cambria"/>
              </a:rPr>
              <a:t>gradually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becomes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0" dirty="0">
                <a:latin typeface="Cambria"/>
                <a:cs typeface="Cambria"/>
              </a:rPr>
              <a:t>more </a:t>
            </a: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detailed.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80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41300" marR="5080" indent="-229235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005" algn="l"/>
                <a:tab pos="1262380" algn="l"/>
                <a:tab pos="3186430" algn="l"/>
                <a:tab pos="4596765" algn="l"/>
                <a:tab pos="5297170" algn="l"/>
                <a:tab pos="6551930" algn="l"/>
                <a:tab pos="7672070" algn="l"/>
                <a:tab pos="8610600" algn="l"/>
                <a:tab pos="9128125" algn="l"/>
              </a:tabLst>
            </a:pPr>
            <a:r>
              <a:rPr sz="2750" spc="40" dirty="0">
                <a:latin typeface="Cambria"/>
                <a:cs typeface="Cambria"/>
              </a:rPr>
              <a:t>	Each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refinement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ensures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the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5" dirty="0">
                <a:solidFill>
                  <a:srgbClr val="FF0000"/>
                </a:solidFill>
                <a:latin typeface="Cambria"/>
                <a:cs typeface="Cambria"/>
              </a:rPr>
              <a:t>design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traces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30" dirty="0">
                <a:solidFill>
                  <a:srgbClr val="FF0000"/>
                </a:solidFill>
                <a:latin typeface="Cambria"/>
                <a:cs typeface="Cambria"/>
              </a:rPr>
              <a:t>back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-25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requirements </a:t>
            </a:r>
            <a:r>
              <a:rPr sz="2750" spc="80" dirty="0">
                <a:latin typeface="Cambria"/>
                <a:cs typeface="Cambria"/>
              </a:rPr>
              <a:t>while</a:t>
            </a:r>
            <a:r>
              <a:rPr sz="2750" spc="95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increasing</a:t>
            </a:r>
            <a:r>
              <a:rPr sz="2750" spc="95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specificity.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25" dirty="0"/>
              <a:t>Software</a:t>
            </a:r>
            <a:r>
              <a:rPr sz="3200" spc="270" dirty="0"/>
              <a:t> </a:t>
            </a:r>
            <a:r>
              <a:rPr sz="3200" spc="150" dirty="0"/>
              <a:t>Quality</a:t>
            </a:r>
            <a:r>
              <a:rPr sz="3200" spc="210" dirty="0"/>
              <a:t> </a:t>
            </a:r>
            <a:r>
              <a:rPr sz="3200" spc="150" dirty="0"/>
              <a:t>Guidelines</a:t>
            </a:r>
            <a:r>
              <a:rPr sz="3200" spc="270" dirty="0"/>
              <a:t> </a:t>
            </a:r>
            <a:r>
              <a:rPr sz="3200" spc="295" dirty="0"/>
              <a:t>&amp;</a:t>
            </a:r>
            <a:r>
              <a:rPr sz="3200" spc="265" dirty="0"/>
              <a:t> </a:t>
            </a:r>
            <a:r>
              <a:rPr sz="3200" spc="120" dirty="0"/>
              <a:t>Attributes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11235055" cy="5046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384175" algn="l"/>
              </a:tabLst>
            </a:pPr>
            <a:r>
              <a:rPr sz="2750" spc="60" dirty="0">
                <a:latin typeface="Cambria"/>
                <a:cs typeface="Cambria"/>
              </a:rPr>
              <a:t>The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75" dirty="0">
                <a:solidFill>
                  <a:srgbClr val="FF0000"/>
                </a:solidFill>
                <a:latin typeface="Cambria"/>
                <a:cs typeface="Cambria"/>
              </a:rPr>
              <a:t>design</a:t>
            </a:r>
            <a:r>
              <a:rPr sz="275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2750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60" dirty="0">
                <a:solidFill>
                  <a:srgbClr val="FF0000"/>
                </a:solidFill>
                <a:latin typeface="Cambria"/>
                <a:cs typeface="Cambria"/>
              </a:rPr>
              <a:t>reviewed</a:t>
            </a:r>
            <a:r>
              <a:rPr sz="2750" spc="2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through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technical</a:t>
            </a:r>
            <a:r>
              <a:rPr sz="275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reviews</a:t>
            </a:r>
            <a:r>
              <a:rPr sz="2750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1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ensure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quality.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94640" indent="-290195">
              <a:lnSpc>
                <a:spcPct val="100000"/>
              </a:lnSpc>
              <a:buFont typeface="Wingdings"/>
              <a:buChar char=""/>
              <a:tabLst>
                <a:tab pos="294640" algn="l"/>
              </a:tabLst>
            </a:pPr>
            <a:r>
              <a:rPr sz="2750" dirty="0">
                <a:latin typeface="Cambria"/>
                <a:cs typeface="Cambria"/>
              </a:rPr>
              <a:t>Three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key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characteristics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spc="120" dirty="0">
                <a:latin typeface="Cambria"/>
                <a:cs typeface="Cambria"/>
              </a:rPr>
              <a:t>good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design:</a:t>
            </a:r>
            <a:endParaRPr sz="275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56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It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should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implement</a:t>
            </a:r>
            <a:r>
              <a:rPr sz="240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all</a:t>
            </a:r>
            <a:r>
              <a:rPr sz="2400" spc="2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explicit</a:t>
            </a:r>
            <a:r>
              <a:rPr sz="2400" spc="2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400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implicit</a:t>
            </a:r>
            <a:r>
              <a:rPr sz="2400" spc="2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requirements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25"/>
              </a:spcBef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It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should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readable</a:t>
            </a:r>
            <a:r>
              <a:rPr sz="24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400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understandable</a:t>
            </a:r>
            <a:r>
              <a:rPr sz="24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sz="2400" spc="1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developers</a:t>
            </a:r>
            <a:r>
              <a:rPr sz="2400" spc="1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testers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30"/>
              </a:spcBef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buSzPct val="95833"/>
              <a:buFont typeface="Wingdings"/>
              <a:buChar char=""/>
              <a:tabLst>
                <a:tab pos="712470" algn="l"/>
                <a:tab pos="1192530" algn="l"/>
                <a:tab pos="2400935" algn="l"/>
                <a:tab pos="3739515" algn="l"/>
                <a:tab pos="4168140" algn="l"/>
                <a:tab pos="5680075" algn="l"/>
                <a:tab pos="6913880" algn="l"/>
                <a:tab pos="7458075" algn="l"/>
                <a:tab pos="8981440" algn="l"/>
                <a:tab pos="10554970" algn="l"/>
              </a:tabLst>
            </a:pPr>
            <a:r>
              <a:rPr sz="2400" spc="-25" dirty="0">
                <a:latin typeface="Cambria"/>
                <a:cs typeface="Cambria"/>
              </a:rPr>
              <a:t>It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0" dirty="0">
                <a:latin typeface="Cambria"/>
                <a:cs typeface="Cambria"/>
              </a:rPr>
              <a:t>should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provide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complete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picture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4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software</a:t>
            </a:r>
            <a:r>
              <a:rPr sz="2400" spc="-10" dirty="0">
                <a:latin typeface="Cambria"/>
                <a:cs typeface="Cambria"/>
              </a:rPr>
              <a:t>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50" dirty="0">
                <a:latin typeface="Cambria"/>
                <a:cs typeface="Cambria"/>
              </a:rPr>
              <a:t>including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data,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spc="10" dirty="0">
                <a:latin typeface="Cambria"/>
                <a:cs typeface="Cambria"/>
              </a:rPr>
              <a:t>functionality,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and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behavior.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8950" y="337438"/>
            <a:ext cx="347154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45" dirty="0"/>
              <a:t> </a:t>
            </a:r>
            <a:r>
              <a:rPr sz="3200" spc="105" dirty="0"/>
              <a:t>Principles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409575" y="1057275"/>
            <a:ext cx="11382375" cy="952500"/>
          </a:xfrm>
          <a:custGeom>
            <a:avLst/>
            <a:gdLst/>
            <a:ahLst/>
            <a:cxnLst/>
            <a:rect l="l" t="t" r="r" b="b"/>
            <a:pathLst>
              <a:path w="11382375" h="952500">
                <a:moveTo>
                  <a:pt x="11223625" y="0"/>
                </a:moveTo>
                <a:lnTo>
                  <a:pt x="158750" y="0"/>
                </a:lnTo>
                <a:lnTo>
                  <a:pt x="108570" y="8097"/>
                </a:lnTo>
                <a:lnTo>
                  <a:pt x="64991" y="30642"/>
                </a:lnTo>
                <a:lnTo>
                  <a:pt x="30627" y="65013"/>
                </a:lnTo>
                <a:lnTo>
                  <a:pt x="8092" y="108590"/>
                </a:lnTo>
                <a:lnTo>
                  <a:pt x="0" y="158750"/>
                </a:lnTo>
                <a:lnTo>
                  <a:pt x="0" y="793750"/>
                </a:lnTo>
                <a:lnTo>
                  <a:pt x="8092" y="843909"/>
                </a:lnTo>
                <a:lnTo>
                  <a:pt x="30627" y="887486"/>
                </a:lnTo>
                <a:lnTo>
                  <a:pt x="64991" y="921857"/>
                </a:lnTo>
                <a:lnTo>
                  <a:pt x="108570" y="944402"/>
                </a:lnTo>
                <a:lnTo>
                  <a:pt x="158750" y="952500"/>
                </a:lnTo>
                <a:lnTo>
                  <a:pt x="11223625" y="952500"/>
                </a:lnTo>
                <a:lnTo>
                  <a:pt x="11273784" y="944402"/>
                </a:lnTo>
                <a:lnTo>
                  <a:pt x="11317361" y="921857"/>
                </a:lnTo>
                <a:lnTo>
                  <a:pt x="11351732" y="887486"/>
                </a:lnTo>
                <a:lnTo>
                  <a:pt x="11374277" y="843909"/>
                </a:lnTo>
                <a:lnTo>
                  <a:pt x="11382375" y="793750"/>
                </a:lnTo>
                <a:lnTo>
                  <a:pt x="11382375" y="158750"/>
                </a:lnTo>
                <a:lnTo>
                  <a:pt x="11374277" y="108590"/>
                </a:lnTo>
                <a:lnTo>
                  <a:pt x="11351732" y="65013"/>
                </a:lnTo>
                <a:lnTo>
                  <a:pt x="11317361" y="30642"/>
                </a:lnTo>
                <a:lnTo>
                  <a:pt x="11273784" y="8097"/>
                </a:lnTo>
                <a:lnTo>
                  <a:pt x="11223625" y="0"/>
                </a:lnTo>
                <a:close/>
              </a:path>
            </a:pathLst>
          </a:custGeom>
          <a:solidFill>
            <a:srgbClr val="F892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9575" y="3505200"/>
            <a:ext cx="11382375" cy="962025"/>
          </a:xfrm>
          <a:custGeom>
            <a:avLst/>
            <a:gdLst/>
            <a:ahLst/>
            <a:cxnLst/>
            <a:rect l="l" t="t" r="r" b="b"/>
            <a:pathLst>
              <a:path w="11382375" h="962025">
                <a:moveTo>
                  <a:pt x="11221974" y="0"/>
                </a:moveTo>
                <a:lnTo>
                  <a:pt x="160337" y="0"/>
                </a:lnTo>
                <a:lnTo>
                  <a:pt x="109661" y="8171"/>
                </a:lnTo>
                <a:lnTo>
                  <a:pt x="65647" y="30931"/>
                </a:lnTo>
                <a:lnTo>
                  <a:pt x="30938" y="65644"/>
                </a:lnTo>
                <a:lnTo>
                  <a:pt x="8174" y="109679"/>
                </a:lnTo>
                <a:lnTo>
                  <a:pt x="0" y="160400"/>
                </a:lnTo>
                <a:lnTo>
                  <a:pt x="0" y="801624"/>
                </a:lnTo>
                <a:lnTo>
                  <a:pt x="8174" y="852345"/>
                </a:lnTo>
                <a:lnTo>
                  <a:pt x="30938" y="896380"/>
                </a:lnTo>
                <a:lnTo>
                  <a:pt x="65647" y="931093"/>
                </a:lnTo>
                <a:lnTo>
                  <a:pt x="109661" y="953853"/>
                </a:lnTo>
                <a:lnTo>
                  <a:pt x="160337" y="962025"/>
                </a:lnTo>
                <a:lnTo>
                  <a:pt x="11221974" y="962025"/>
                </a:lnTo>
                <a:lnTo>
                  <a:pt x="11272695" y="953853"/>
                </a:lnTo>
                <a:lnTo>
                  <a:pt x="11316730" y="931093"/>
                </a:lnTo>
                <a:lnTo>
                  <a:pt x="11351443" y="896380"/>
                </a:lnTo>
                <a:lnTo>
                  <a:pt x="11374203" y="852345"/>
                </a:lnTo>
                <a:lnTo>
                  <a:pt x="11382375" y="801624"/>
                </a:lnTo>
                <a:lnTo>
                  <a:pt x="11382375" y="160400"/>
                </a:lnTo>
                <a:lnTo>
                  <a:pt x="11374203" y="109679"/>
                </a:lnTo>
                <a:lnTo>
                  <a:pt x="11351443" y="65644"/>
                </a:lnTo>
                <a:lnTo>
                  <a:pt x="11316730" y="30931"/>
                </a:lnTo>
                <a:lnTo>
                  <a:pt x="11272695" y="8171"/>
                </a:lnTo>
                <a:lnTo>
                  <a:pt x="11221974" y="0"/>
                </a:lnTo>
                <a:close/>
              </a:path>
            </a:pathLst>
          </a:custGeom>
          <a:solidFill>
            <a:srgbClr val="CE8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2772" y="868945"/>
            <a:ext cx="10948035" cy="5440045"/>
          </a:xfrm>
          <a:prstGeom prst="rect">
            <a:avLst/>
          </a:prstGeom>
        </p:spPr>
        <p:txBody>
          <a:bodyPr vert="horz" wrap="square" lIns="0" tIns="314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75"/>
              </a:spcBef>
            </a:pPr>
            <a:r>
              <a:rPr sz="3900" spc="220" dirty="0">
                <a:solidFill>
                  <a:srgbClr val="FFFFFF"/>
                </a:solidFill>
                <a:latin typeface="Cambria"/>
                <a:cs typeface="Cambria"/>
              </a:rPr>
              <a:t>Avoid</a:t>
            </a:r>
            <a:r>
              <a:rPr sz="39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spc="90" dirty="0">
                <a:solidFill>
                  <a:srgbClr val="FFFFFF"/>
                </a:solidFill>
                <a:latin typeface="Cambria"/>
                <a:cs typeface="Cambria"/>
              </a:rPr>
              <a:t>‘Tunnel</a:t>
            </a:r>
            <a:r>
              <a:rPr sz="39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spc="114" dirty="0">
                <a:solidFill>
                  <a:srgbClr val="FFFFFF"/>
                </a:solidFill>
                <a:latin typeface="Cambria"/>
                <a:cs typeface="Cambria"/>
              </a:rPr>
              <a:t>Vision’</a:t>
            </a:r>
            <a:endParaRPr sz="3900">
              <a:latin typeface="Cambria"/>
              <a:cs typeface="Cambria"/>
            </a:endParaRPr>
          </a:p>
          <a:p>
            <a:pPr marL="464820" marR="5080" indent="-286385">
              <a:lnSpc>
                <a:spcPts val="3300"/>
              </a:lnSpc>
              <a:spcBef>
                <a:spcPts val="2190"/>
              </a:spcBef>
              <a:buChar char="•"/>
              <a:tabLst>
                <a:tab pos="464820" algn="l"/>
                <a:tab pos="1602740" algn="l"/>
                <a:tab pos="2682240" algn="l"/>
                <a:tab pos="3405504" algn="l"/>
                <a:tab pos="4545965" algn="l"/>
                <a:tab pos="5159375" algn="l"/>
                <a:tab pos="5955030" algn="l"/>
                <a:tab pos="7195820" algn="l"/>
                <a:tab pos="7713980" algn="l"/>
                <a:tab pos="9018905" algn="l"/>
                <a:tab pos="9847580" algn="l"/>
              </a:tabLst>
            </a:pPr>
            <a:r>
              <a:rPr sz="3000" spc="95" dirty="0">
                <a:latin typeface="Cambria"/>
                <a:cs typeface="Cambria"/>
              </a:rPr>
              <a:t>Don’t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20" dirty="0">
                <a:latin typeface="Cambria"/>
                <a:cs typeface="Cambria"/>
              </a:rPr>
              <a:t>focus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25" dirty="0">
                <a:latin typeface="Cambria"/>
                <a:cs typeface="Cambria"/>
              </a:rPr>
              <a:t>too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65" dirty="0">
                <a:latin typeface="Cambria"/>
                <a:cs typeface="Cambria"/>
              </a:rPr>
              <a:t>much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25" dirty="0">
                <a:latin typeface="Cambria"/>
                <a:cs typeface="Cambria"/>
              </a:rPr>
              <a:t>on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25" dirty="0">
                <a:latin typeface="Cambria"/>
                <a:cs typeface="Cambria"/>
              </a:rPr>
              <a:t>one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10" dirty="0">
                <a:latin typeface="Cambria"/>
                <a:cs typeface="Cambria"/>
              </a:rPr>
              <a:t>aspect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40" dirty="0">
                <a:latin typeface="Cambria"/>
                <a:cs typeface="Cambria"/>
              </a:rPr>
              <a:t>of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45" dirty="0">
                <a:latin typeface="Cambria"/>
                <a:cs typeface="Cambria"/>
              </a:rPr>
              <a:t>design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50" dirty="0">
                <a:latin typeface="Cambria"/>
                <a:cs typeface="Cambria"/>
              </a:rPr>
              <a:t>and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10" dirty="0">
                <a:latin typeface="Cambria"/>
                <a:cs typeface="Cambria"/>
              </a:rPr>
              <a:t>ignore others.</a:t>
            </a:r>
            <a:endParaRPr sz="3000">
              <a:latin typeface="Cambria"/>
              <a:cs typeface="Cambria"/>
            </a:endParaRPr>
          </a:p>
          <a:p>
            <a:pPr marL="464184" indent="-285750">
              <a:lnSpc>
                <a:spcPct val="100000"/>
              </a:lnSpc>
              <a:spcBef>
                <a:spcPts val="475"/>
              </a:spcBef>
              <a:buChar char="•"/>
              <a:tabLst>
                <a:tab pos="464184" algn="l"/>
              </a:tabLst>
            </a:pPr>
            <a:r>
              <a:rPr sz="3000" spc="85" dirty="0">
                <a:latin typeface="Cambria"/>
                <a:cs typeface="Cambria"/>
              </a:rPr>
              <a:t>Keep</a:t>
            </a:r>
            <a:r>
              <a:rPr sz="3000" spc="20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a</a:t>
            </a:r>
            <a:r>
              <a:rPr sz="3000" spc="17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broad</a:t>
            </a:r>
            <a:r>
              <a:rPr sz="3000" spc="15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perspective</a:t>
            </a:r>
            <a:r>
              <a:rPr sz="3000" spc="210" dirty="0">
                <a:latin typeface="Cambria"/>
                <a:cs typeface="Cambria"/>
              </a:rPr>
              <a:t> </a:t>
            </a:r>
            <a:r>
              <a:rPr sz="3000" spc="75" dirty="0">
                <a:latin typeface="Cambria"/>
                <a:cs typeface="Cambria"/>
              </a:rPr>
              <a:t>and</a:t>
            </a:r>
            <a:r>
              <a:rPr sz="3000" spc="19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consider</a:t>
            </a:r>
            <a:r>
              <a:rPr sz="3000" spc="185" dirty="0">
                <a:latin typeface="Cambria"/>
                <a:cs typeface="Cambria"/>
              </a:rPr>
              <a:t> </a:t>
            </a:r>
            <a:r>
              <a:rPr sz="3000" spc="55" dirty="0">
                <a:latin typeface="Cambria"/>
                <a:cs typeface="Cambria"/>
              </a:rPr>
              <a:t>all</a:t>
            </a:r>
            <a:r>
              <a:rPr sz="3000" spc="14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requirements.</a:t>
            </a: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90"/>
              </a:spcBef>
            </a:pPr>
            <a:r>
              <a:rPr sz="3900" dirty="0">
                <a:solidFill>
                  <a:srgbClr val="FFFFFF"/>
                </a:solidFill>
                <a:latin typeface="Cambria"/>
                <a:cs typeface="Cambria"/>
              </a:rPr>
              <a:t>Traceable</a:t>
            </a:r>
            <a:r>
              <a:rPr sz="390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39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39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spc="114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900" spc="140" dirty="0">
                <a:solidFill>
                  <a:srgbClr val="FFFFFF"/>
                </a:solidFill>
                <a:latin typeface="Cambria"/>
                <a:cs typeface="Cambria"/>
              </a:rPr>
              <a:t> Model</a:t>
            </a:r>
            <a:endParaRPr sz="3900">
              <a:latin typeface="Cambria"/>
              <a:cs typeface="Cambria"/>
            </a:endParaRPr>
          </a:p>
          <a:p>
            <a:pPr marL="464820" marR="8255" indent="-286385">
              <a:lnSpc>
                <a:spcPts val="3310"/>
              </a:lnSpc>
              <a:spcBef>
                <a:spcPts val="2175"/>
              </a:spcBef>
              <a:buChar char="•"/>
              <a:tabLst>
                <a:tab pos="464820" algn="l"/>
                <a:tab pos="1252220" algn="l"/>
                <a:tab pos="2524125" algn="l"/>
                <a:tab pos="3839210" algn="l"/>
                <a:tab pos="5282565" algn="l"/>
                <a:tab pos="6729730" algn="l"/>
                <a:tab pos="7211695" algn="l"/>
                <a:tab pos="7889875" algn="l"/>
                <a:tab pos="10287635" algn="l"/>
              </a:tabLst>
            </a:pPr>
            <a:r>
              <a:rPr sz="3000" spc="-25" dirty="0">
                <a:latin typeface="Cambria"/>
                <a:cs typeface="Cambria"/>
              </a:rPr>
              <a:t>The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45" dirty="0">
                <a:latin typeface="Cambria"/>
                <a:cs typeface="Cambria"/>
              </a:rPr>
              <a:t>design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60" dirty="0">
                <a:latin typeface="Cambria"/>
                <a:cs typeface="Cambria"/>
              </a:rPr>
              <a:t>should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10" dirty="0">
                <a:latin typeface="Cambria"/>
                <a:cs typeface="Cambria"/>
              </a:rPr>
              <a:t>directly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10" dirty="0">
                <a:latin typeface="Cambria"/>
                <a:cs typeface="Cambria"/>
              </a:rPr>
              <a:t>connect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25" dirty="0">
                <a:latin typeface="Cambria"/>
                <a:cs typeface="Cambria"/>
              </a:rPr>
              <a:t>to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25" dirty="0">
                <a:latin typeface="Cambria"/>
                <a:cs typeface="Cambria"/>
              </a:rPr>
              <a:t>the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10" dirty="0">
                <a:latin typeface="Cambria"/>
                <a:cs typeface="Cambria"/>
              </a:rPr>
              <a:t>requirements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50" dirty="0">
                <a:latin typeface="Cambria"/>
                <a:cs typeface="Cambria"/>
              </a:rPr>
              <a:t>and </a:t>
            </a:r>
            <a:r>
              <a:rPr sz="3000" dirty="0">
                <a:latin typeface="Cambria"/>
                <a:cs typeface="Cambria"/>
              </a:rPr>
              <a:t>analysis</a:t>
            </a:r>
            <a:r>
              <a:rPr sz="3000" spc="390" dirty="0">
                <a:latin typeface="Cambria"/>
                <a:cs typeface="Cambria"/>
              </a:rPr>
              <a:t> </a:t>
            </a:r>
            <a:r>
              <a:rPr sz="3000" spc="55" dirty="0">
                <a:latin typeface="Cambria"/>
                <a:cs typeface="Cambria"/>
              </a:rPr>
              <a:t>models.</a:t>
            </a:r>
            <a:endParaRPr sz="3000">
              <a:latin typeface="Cambria"/>
              <a:cs typeface="Cambria"/>
            </a:endParaRPr>
          </a:p>
          <a:p>
            <a:pPr marL="464820" marR="8255" indent="-286385">
              <a:lnSpc>
                <a:spcPts val="3379"/>
              </a:lnSpc>
              <a:spcBef>
                <a:spcPts val="760"/>
              </a:spcBef>
              <a:buChar char="•"/>
              <a:tabLst>
                <a:tab pos="464820" algn="l"/>
                <a:tab pos="2893695" algn="l"/>
                <a:tab pos="5248910" algn="l"/>
              </a:tabLst>
            </a:pPr>
            <a:r>
              <a:rPr sz="3000" spc="65" dirty="0">
                <a:latin typeface="Cambria"/>
                <a:cs typeface="Cambria"/>
              </a:rPr>
              <a:t>Every</a:t>
            </a:r>
            <a:r>
              <a:rPr sz="3000" spc="32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feature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60" dirty="0">
                <a:latin typeface="Cambria"/>
                <a:cs typeface="Cambria"/>
              </a:rPr>
              <a:t>in</a:t>
            </a:r>
            <a:r>
              <a:rPr sz="3000" spc="28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the</a:t>
            </a:r>
            <a:r>
              <a:rPr sz="3000" spc="330" dirty="0">
                <a:latin typeface="Cambria"/>
                <a:cs typeface="Cambria"/>
              </a:rPr>
              <a:t> </a:t>
            </a:r>
            <a:r>
              <a:rPr sz="3000" spc="50" dirty="0">
                <a:latin typeface="Cambria"/>
                <a:cs typeface="Cambria"/>
              </a:rPr>
              <a:t>design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70" dirty="0">
                <a:latin typeface="Cambria"/>
                <a:cs typeface="Cambria"/>
              </a:rPr>
              <a:t>should</a:t>
            </a:r>
            <a:r>
              <a:rPr sz="3000" spc="325" dirty="0">
                <a:latin typeface="Cambria"/>
                <a:cs typeface="Cambria"/>
              </a:rPr>
              <a:t> </a:t>
            </a:r>
            <a:r>
              <a:rPr sz="3000" spc="65" dirty="0">
                <a:latin typeface="Cambria"/>
                <a:cs typeface="Cambria"/>
              </a:rPr>
              <a:t>have</a:t>
            </a:r>
            <a:r>
              <a:rPr sz="3000" spc="32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a</a:t>
            </a:r>
            <a:r>
              <a:rPr sz="3000" spc="33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clear</a:t>
            </a:r>
            <a:r>
              <a:rPr sz="3000" spc="30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reason</a:t>
            </a:r>
            <a:r>
              <a:rPr sz="3000" spc="32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based </a:t>
            </a:r>
            <a:r>
              <a:rPr sz="3000" spc="50" dirty="0">
                <a:latin typeface="Cambria"/>
                <a:cs typeface="Cambria"/>
              </a:rPr>
              <a:t>on</a:t>
            </a:r>
            <a:r>
              <a:rPr sz="3000" spc="2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earlier</a:t>
            </a:r>
            <a:r>
              <a:rPr sz="3000" spc="70" dirty="0">
                <a:latin typeface="Cambria"/>
                <a:cs typeface="Cambria"/>
              </a:rPr>
              <a:t> </a:t>
            </a:r>
            <a:r>
              <a:rPr sz="3000" spc="35" dirty="0">
                <a:latin typeface="Cambria"/>
                <a:cs typeface="Cambria"/>
              </a:rPr>
              <a:t>analysis.</a:t>
            </a:r>
            <a:endParaRPr sz="3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8950" y="337438"/>
            <a:ext cx="347154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45" dirty="0"/>
              <a:t> </a:t>
            </a:r>
            <a:r>
              <a:rPr sz="3200" spc="105" dirty="0"/>
              <a:t>Principles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409575" y="1057275"/>
            <a:ext cx="11382375" cy="952500"/>
          </a:xfrm>
          <a:custGeom>
            <a:avLst/>
            <a:gdLst/>
            <a:ahLst/>
            <a:cxnLst/>
            <a:rect l="l" t="t" r="r" b="b"/>
            <a:pathLst>
              <a:path w="11382375" h="952500">
                <a:moveTo>
                  <a:pt x="11223625" y="0"/>
                </a:moveTo>
                <a:lnTo>
                  <a:pt x="158750" y="0"/>
                </a:lnTo>
                <a:lnTo>
                  <a:pt x="108570" y="8097"/>
                </a:lnTo>
                <a:lnTo>
                  <a:pt x="64991" y="30642"/>
                </a:lnTo>
                <a:lnTo>
                  <a:pt x="30627" y="65013"/>
                </a:lnTo>
                <a:lnTo>
                  <a:pt x="8092" y="108590"/>
                </a:lnTo>
                <a:lnTo>
                  <a:pt x="0" y="158750"/>
                </a:lnTo>
                <a:lnTo>
                  <a:pt x="0" y="793750"/>
                </a:lnTo>
                <a:lnTo>
                  <a:pt x="8092" y="843909"/>
                </a:lnTo>
                <a:lnTo>
                  <a:pt x="30627" y="887486"/>
                </a:lnTo>
                <a:lnTo>
                  <a:pt x="64991" y="921857"/>
                </a:lnTo>
                <a:lnTo>
                  <a:pt x="108570" y="944402"/>
                </a:lnTo>
                <a:lnTo>
                  <a:pt x="158750" y="952500"/>
                </a:lnTo>
                <a:lnTo>
                  <a:pt x="11223625" y="952500"/>
                </a:lnTo>
                <a:lnTo>
                  <a:pt x="11273784" y="944402"/>
                </a:lnTo>
                <a:lnTo>
                  <a:pt x="11317361" y="921857"/>
                </a:lnTo>
                <a:lnTo>
                  <a:pt x="11351732" y="887486"/>
                </a:lnTo>
                <a:lnTo>
                  <a:pt x="11374277" y="843909"/>
                </a:lnTo>
                <a:lnTo>
                  <a:pt x="11382375" y="793750"/>
                </a:lnTo>
                <a:lnTo>
                  <a:pt x="11382375" y="158750"/>
                </a:lnTo>
                <a:lnTo>
                  <a:pt x="11374277" y="108590"/>
                </a:lnTo>
                <a:lnTo>
                  <a:pt x="11351732" y="65013"/>
                </a:lnTo>
                <a:lnTo>
                  <a:pt x="11317361" y="30642"/>
                </a:lnTo>
                <a:lnTo>
                  <a:pt x="11273784" y="8097"/>
                </a:lnTo>
                <a:lnTo>
                  <a:pt x="11223625" y="0"/>
                </a:lnTo>
                <a:close/>
              </a:path>
            </a:pathLst>
          </a:custGeom>
          <a:solidFill>
            <a:srgbClr val="F892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9575" y="3505200"/>
            <a:ext cx="11382375" cy="962025"/>
          </a:xfrm>
          <a:custGeom>
            <a:avLst/>
            <a:gdLst/>
            <a:ahLst/>
            <a:cxnLst/>
            <a:rect l="l" t="t" r="r" b="b"/>
            <a:pathLst>
              <a:path w="11382375" h="962025">
                <a:moveTo>
                  <a:pt x="11221974" y="0"/>
                </a:moveTo>
                <a:lnTo>
                  <a:pt x="160337" y="0"/>
                </a:lnTo>
                <a:lnTo>
                  <a:pt x="109661" y="8171"/>
                </a:lnTo>
                <a:lnTo>
                  <a:pt x="65647" y="30931"/>
                </a:lnTo>
                <a:lnTo>
                  <a:pt x="30938" y="65644"/>
                </a:lnTo>
                <a:lnTo>
                  <a:pt x="8174" y="109679"/>
                </a:lnTo>
                <a:lnTo>
                  <a:pt x="0" y="160400"/>
                </a:lnTo>
                <a:lnTo>
                  <a:pt x="0" y="801624"/>
                </a:lnTo>
                <a:lnTo>
                  <a:pt x="8174" y="852345"/>
                </a:lnTo>
                <a:lnTo>
                  <a:pt x="30938" y="896380"/>
                </a:lnTo>
                <a:lnTo>
                  <a:pt x="65647" y="931093"/>
                </a:lnTo>
                <a:lnTo>
                  <a:pt x="109661" y="953853"/>
                </a:lnTo>
                <a:lnTo>
                  <a:pt x="160337" y="962025"/>
                </a:lnTo>
                <a:lnTo>
                  <a:pt x="11221974" y="962025"/>
                </a:lnTo>
                <a:lnTo>
                  <a:pt x="11272695" y="953853"/>
                </a:lnTo>
                <a:lnTo>
                  <a:pt x="11316730" y="931093"/>
                </a:lnTo>
                <a:lnTo>
                  <a:pt x="11351443" y="896380"/>
                </a:lnTo>
                <a:lnTo>
                  <a:pt x="11374203" y="852345"/>
                </a:lnTo>
                <a:lnTo>
                  <a:pt x="11382375" y="801624"/>
                </a:lnTo>
                <a:lnTo>
                  <a:pt x="11382375" y="160400"/>
                </a:lnTo>
                <a:lnTo>
                  <a:pt x="11374203" y="109679"/>
                </a:lnTo>
                <a:lnTo>
                  <a:pt x="11351443" y="65644"/>
                </a:lnTo>
                <a:lnTo>
                  <a:pt x="11316730" y="30931"/>
                </a:lnTo>
                <a:lnTo>
                  <a:pt x="11272695" y="8171"/>
                </a:lnTo>
                <a:lnTo>
                  <a:pt x="11221974" y="0"/>
                </a:lnTo>
                <a:close/>
              </a:path>
            </a:pathLst>
          </a:custGeom>
          <a:solidFill>
            <a:srgbClr val="CE8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2772" y="868945"/>
            <a:ext cx="10945495" cy="5440045"/>
          </a:xfrm>
          <a:prstGeom prst="rect">
            <a:avLst/>
          </a:prstGeom>
        </p:spPr>
        <p:txBody>
          <a:bodyPr vert="horz" wrap="square" lIns="0" tIns="314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75"/>
              </a:spcBef>
            </a:pPr>
            <a:r>
              <a:rPr sz="3900" spc="135" dirty="0">
                <a:solidFill>
                  <a:srgbClr val="FFFFFF"/>
                </a:solidFill>
                <a:latin typeface="Cambria"/>
                <a:cs typeface="Cambria"/>
              </a:rPr>
              <a:t>Don’t</a:t>
            </a:r>
            <a:r>
              <a:rPr sz="39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spc="60" dirty="0">
                <a:solidFill>
                  <a:srgbClr val="FFFFFF"/>
                </a:solidFill>
                <a:latin typeface="Cambria"/>
                <a:cs typeface="Cambria"/>
              </a:rPr>
              <a:t>Reinvent</a:t>
            </a:r>
            <a:r>
              <a:rPr sz="3900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39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spc="50" dirty="0">
                <a:solidFill>
                  <a:srgbClr val="FFFFFF"/>
                </a:solidFill>
                <a:latin typeface="Cambria"/>
                <a:cs typeface="Cambria"/>
              </a:rPr>
              <a:t>Wheel</a:t>
            </a:r>
            <a:endParaRPr sz="3900">
              <a:latin typeface="Cambria"/>
              <a:cs typeface="Cambria"/>
            </a:endParaRPr>
          </a:p>
          <a:p>
            <a:pPr marL="464820" marR="5080" indent="-286385">
              <a:lnSpc>
                <a:spcPts val="3300"/>
              </a:lnSpc>
              <a:spcBef>
                <a:spcPts val="2190"/>
              </a:spcBef>
              <a:buChar char="•"/>
              <a:tabLst>
                <a:tab pos="464820" algn="l"/>
                <a:tab pos="1250950" algn="l"/>
                <a:tab pos="2718435" algn="l"/>
                <a:tab pos="4497070" algn="l"/>
                <a:tab pos="6118225" algn="l"/>
                <a:tab pos="6909434" algn="l"/>
                <a:tab pos="8176895" algn="l"/>
                <a:tab pos="9708515" algn="l"/>
              </a:tabLst>
            </a:pPr>
            <a:r>
              <a:rPr sz="3000" spc="80" dirty="0">
                <a:latin typeface="Cambria"/>
                <a:cs typeface="Cambria"/>
              </a:rPr>
              <a:t>Use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10" dirty="0">
                <a:latin typeface="Cambria"/>
                <a:cs typeface="Cambria"/>
              </a:rPr>
              <a:t>existing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10" dirty="0">
                <a:latin typeface="Cambria"/>
                <a:cs typeface="Cambria"/>
              </a:rPr>
              <a:t>solutions,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10" dirty="0">
                <a:latin typeface="Cambria"/>
                <a:cs typeface="Cambria"/>
              </a:rPr>
              <a:t>libraries,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50" dirty="0">
                <a:latin typeface="Cambria"/>
                <a:cs typeface="Cambria"/>
              </a:rPr>
              <a:t>and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45" dirty="0">
                <a:latin typeface="Cambria"/>
                <a:cs typeface="Cambria"/>
              </a:rPr>
              <a:t>design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10" dirty="0">
                <a:latin typeface="Cambria"/>
                <a:cs typeface="Cambria"/>
              </a:rPr>
              <a:t>patterns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10" dirty="0">
                <a:latin typeface="Cambria"/>
                <a:cs typeface="Cambria"/>
              </a:rPr>
              <a:t>instead </a:t>
            </a:r>
            <a:r>
              <a:rPr sz="3000" spc="65" dirty="0">
                <a:latin typeface="Cambria"/>
                <a:cs typeface="Cambria"/>
              </a:rPr>
              <a:t>of</a:t>
            </a:r>
            <a:r>
              <a:rPr sz="3000" spc="12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creating</a:t>
            </a:r>
            <a:r>
              <a:rPr sz="3000" spc="135" dirty="0">
                <a:latin typeface="Cambria"/>
                <a:cs typeface="Cambria"/>
              </a:rPr>
              <a:t> </a:t>
            </a:r>
            <a:r>
              <a:rPr sz="3000" spc="45" dirty="0">
                <a:latin typeface="Cambria"/>
                <a:cs typeface="Cambria"/>
              </a:rPr>
              <a:t>everything</a:t>
            </a:r>
            <a:r>
              <a:rPr sz="3000" spc="175" dirty="0">
                <a:latin typeface="Cambria"/>
                <a:cs typeface="Cambria"/>
              </a:rPr>
              <a:t> </a:t>
            </a:r>
            <a:r>
              <a:rPr sz="3000" spc="50" dirty="0">
                <a:latin typeface="Cambria"/>
                <a:cs typeface="Cambria"/>
              </a:rPr>
              <a:t>from</a:t>
            </a:r>
            <a:r>
              <a:rPr sz="3000" spc="15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scratch.</a:t>
            </a:r>
            <a:endParaRPr sz="3000">
              <a:latin typeface="Cambria"/>
              <a:cs typeface="Cambria"/>
            </a:endParaRPr>
          </a:p>
          <a:p>
            <a:pPr marL="464184" indent="-285750">
              <a:lnSpc>
                <a:spcPct val="100000"/>
              </a:lnSpc>
              <a:spcBef>
                <a:spcPts val="475"/>
              </a:spcBef>
              <a:buChar char="•"/>
              <a:tabLst>
                <a:tab pos="464184" algn="l"/>
              </a:tabLst>
            </a:pPr>
            <a:r>
              <a:rPr sz="3000" spc="50" dirty="0">
                <a:latin typeface="Cambria"/>
                <a:cs typeface="Cambria"/>
              </a:rPr>
              <a:t>Saves</a:t>
            </a:r>
            <a:r>
              <a:rPr sz="3000" spc="11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time</a:t>
            </a:r>
            <a:r>
              <a:rPr sz="3000" spc="140" dirty="0">
                <a:latin typeface="Cambria"/>
                <a:cs typeface="Cambria"/>
              </a:rPr>
              <a:t> </a:t>
            </a:r>
            <a:r>
              <a:rPr sz="3000" spc="75" dirty="0">
                <a:latin typeface="Cambria"/>
                <a:cs typeface="Cambria"/>
              </a:rPr>
              <a:t>and</a:t>
            </a:r>
            <a:r>
              <a:rPr sz="3000" spc="16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ensures</a:t>
            </a:r>
            <a:r>
              <a:rPr sz="3000" spc="190" dirty="0">
                <a:latin typeface="Cambria"/>
                <a:cs typeface="Cambria"/>
              </a:rPr>
              <a:t> </a:t>
            </a:r>
            <a:r>
              <a:rPr sz="3000" spc="65" dirty="0">
                <a:latin typeface="Cambria"/>
                <a:cs typeface="Cambria"/>
              </a:rPr>
              <a:t>proven,</a:t>
            </a:r>
            <a:r>
              <a:rPr sz="3000" spc="114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reliable</a:t>
            </a:r>
            <a:r>
              <a:rPr sz="3000" spc="15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implementations.</a:t>
            </a: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90"/>
              </a:spcBef>
            </a:pPr>
            <a:r>
              <a:rPr sz="3900" spc="130" dirty="0">
                <a:solidFill>
                  <a:srgbClr val="FFFFFF"/>
                </a:solidFill>
                <a:latin typeface="Cambria"/>
                <a:cs typeface="Cambria"/>
              </a:rPr>
              <a:t>Minimize</a:t>
            </a:r>
            <a:r>
              <a:rPr sz="3900" spc="2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dirty="0">
                <a:solidFill>
                  <a:srgbClr val="FFFFFF"/>
                </a:solidFill>
                <a:latin typeface="Cambria"/>
                <a:cs typeface="Cambria"/>
              </a:rPr>
              <a:t>Intellectual</a:t>
            </a:r>
            <a:r>
              <a:rPr sz="3900" spc="2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spc="50" dirty="0">
                <a:solidFill>
                  <a:srgbClr val="FFFFFF"/>
                </a:solidFill>
                <a:latin typeface="Cambria"/>
                <a:cs typeface="Cambria"/>
              </a:rPr>
              <a:t>Distance</a:t>
            </a:r>
            <a:endParaRPr sz="3900">
              <a:latin typeface="Cambria"/>
              <a:cs typeface="Cambria"/>
            </a:endParaRPr>
          </a:p>
          <a:p>
            <a:pPr marL="464820" marR="6350" indent="-286385">
              <a:lnSpc>
                <a:spcPts val="3310"/>
              </a:lnSpc>
              <a:spcBef>
                <a:spcPts val="2175"/>
              </a:spcBef>
              <a:buChar char="•"/>
              <a:tabLst>
                <a:tab pos="464820" algn="l"/>
              </a:tabLst>
            </a:pPr>
            <a:r>
              <a:rPr sz="3000" dirty="0">
                <a:latin typeface="Cambria"/>
                <a:cs typeface="Cambria"/>
              </a:rPr>
              <a:t>The</a:t>
            </a:r>
            <a:r>
              <a:rPr sz="3000" spc="19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software</a:t>
            </a:r>
            <a:r>
              <a:rPr sz="3000" spc="254" dirty="0">
                <a:latin typeface="Cambria"/>
                <a:cs typeface="Cambria"/>
              </a:rPr>
              <a:t> </a:t>
            </a:r>
            <a:r>
              <a:rPr sz="3000" spc="55" dirty="0">
                <a:latin typeface="Cambria"/>
                <a:cs typeface="Cambria"/>
              </a:rPr>
              <a:t>design</a:t>
            </a:r>
            <a:r>
              <a:rPr sz="3000" spc="254" dirty="0">
                <a:latin typeface="Cambria"/>
                <a:cs typeface="Cambria"/>
              </a:rPr>
              <a:t> </a:t>
            </a:r>
            <a:r>
              <a:rPr sz="3000" spc="70" dirty="0">
                <a:latin typeface="Cambria"/>
                <a:cs typeface="Cambria"/>
              </a:rPr>
              <a:t>should</a:t>
            </a:r>
            <a:r>
              <a:rPr sz="3000" spc="21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be</a:t>
            </a:r>
            <a:r>
              <a:rPr sz="3000" spc="22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as</a:t>
            </a:r>
            <a:r>
              <a:rPr sz="3000" spc="21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close</a:t>
            </a:r>
            <a:r>
              <a:rPr sz="3000" spc="24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as</a:t>
            </a:r>
            <a:r>
              <a:rPr sz="3000" spc="21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possible</a:t>
            </a:r>
            <a:r>
              <a:rPr sz="3000" spc="229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to</a:t>
            </a:r>
            <a:r>
              <a:rPr sz="3000" spc="215" dirty="0">
                <a:latin typeface="Cambria"/>
                <a:cs typeface="Cambria"/>
              </a:rPr>
              <a:t> </a:t>
            </a:r>
            <a:r>
              <a:rPr sz="3000" spc="95" dirty="0">
                <a:latin typeface="Cambria"/>
                <a:cs typeface="Cambria"/>
              </a:rPr>
              <a:t>how</a:t>
            </a:r>
            <a:r>
              <a:rPr sz="3000" spc="225" dirty="0">
                <a:latin typeface="Cambria"/>
                <a:cs typeface="Cambria"/>
              </a:rPr>
              <a:t> </a:t>
            </a:r>
            <a:r>
              <a:rPr sz="3000" spc="-25" dirty="0">
                <a:latin typeface="Cambria"/>
                <a:cs typeface="Cambria"/>
              </a:rPr>
              <a:t>the </a:t>
            </a:r>
            <a:r>
              <a:rPr sz="3000" spc="45" dirty="0">
                <a:latin typeface="Cambria"/>
                <a:cs typeface="Cambria"/>
              </a:rPr>
              <a:t>problem</a:t>
            </a:r>
            <a:r>
              <a:rPr sz="3000" spc="5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exists</a:t>
            </a:r>
            <a:r>
              <a:rPr sz="3000" spc="120" dirty="0">
                <a:latin typeface="Cambria"/>
                <a:cs typeface="Cambria"/>
              </a:rPr>
              <a:t> </a:t>
            </a:r>
            <a:r>
              <a:rPr sz="3000" spc="60" dirty="0">
                <a:latin typeface="Cambria"/>
                <a:cs typeface="Cambria"/>
              </a:rPr>
              <a:t>in</a:t>
            </a:r>
            <a:r>
              <a:rPr sz="3000" spc="5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the</a:t>
            </a:r>
            <a:r>
              <a:rPr sz="3000" spc="11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real</a:t>
            </a:r>
            <a:r>
              <a:rPr sz="3000" spc="80" dirty="0">
                <a:latin typeface="Cambria"/>
                <a:cs typeface="Cambria"/>
              </a:rPr>
              <a:t> </a:t>
            </a:r>
            <a:r>
              <a:rPr sz="3000" spc="70" dirty="0">
                <a:latin typeface="Cambria"/>
                <a:cs typeface="Cambria"/>
              </a:rPr>
              <a:t>world.</a:t>
            </a:r>
            <a:endParaRPr sz="3000">
              <a:latin typeface="Cambria"/>
              <a:cs typeface="Cambria"/>
            </a:endParaRPr>
          </a:p>
          <a:p>
            <a:pPr marL="464820" marR="5715" indent="-286385">
              <a:lnSpc>
                <a:spcPts val="3379"/>
              </a:lnSpc>
              <a:spcBef>
                <a:spcPts val="760"/>
              </a:spcBef>
              <a:buChar char="•"/>
              <a:tabLst>
                <a:tab pos="464820" algn="l"/>
                <a:tab pos="1905000" algn="l"/>
                <a:tab pos="2766060" algn="l"/>
                <a:tab pos="4277995" algn="l"/>
                <a:tab pos="5589905" algn="l"/>
                <a:tab pos="6254750" algn="l"/>
                <a:tab pos="8632190" algn="l"/>
                <a:tab pos="10287635" algn="l"/>
              </a:tabLst>
            </a:pPr>
            <a:r>
              <a:rPr sz="3000" spc="65" dirty="0">
                <a:latin typeface="Cambria"/>
                <a:cs typeface="Cambria"/>
              </a:rPr>
              <a:t>Makes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25" dirty="0">
                <a:latin typeface="Cambria"/>
                <a:cs typeface="Cambria"/>
              </a:rPr>
              <a:t>the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10" dirty="0">
                <a:latin typeface="Cambria"/>
                <a:cs typeface="Cambria"/>
              </a:rPr>
              <a:t>system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10" dirty="0">
                <a:latin typeface="Cambria"/>
                <a:cs typeface="Cambria"/>
              </a:rPr>
              <a:t>easier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-25" dirty="0">
                <a:latin typeface="Cambria"/>
                <a:cs typeface="Cambria"/>
              </a:rPr>
              <a:t>to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45" dirty="0">
                <a:latin typeface="Cambria"/>
                <a:cs typeface="Cambria"/>
              </a:rPr>
              <a:t>understand,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95" dirty="0">
                <a:latin typeface="Cambria"/>
                <a:cs typeface="Cambria"/>
              </a:rPr>
              <a:t>modify,</a:t>
            </a:r>
            <a:r>
              <a:rPr sz="3000" dirty="0">
                <a:latin typeface="Cambria"/>
                <a:cs typeface="Cambria"/>
              </a:rPr>
              <a:t>	</a:t>
            </a:r>
            <a:r>
              <a:rPr sz="3000" spc="50" dirty="0">
                <a:latin typeface="Cambria"/>
                <a:cs typeface="Cambria"/>
              </a:rPr>
              <a:t>and </a:t>
            </a:r>
            <a:r>
              <a:rPr sz="3000" spc="45" dirty="0">
                <a:latin typeface="Cambria"/>
                <a:cs typeface="Cambria"/>
              </a:rPr>
              <a:t>maintain.</a:t>
            </a:r>
            <a:endParaRPr sz="3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8950" y="337438"/>
            <a:ext cx="347154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>
                <a:solidFill>
                  <a:srgbClr val="CE3151"/>
                </a:solidFill>
                <a:latin typeface="Georgia"/>
                <a:cs typeface="Georgia"/>
              </a:rPr>
              <a:t>Design</a:t>
            </a:r>
            <a:r>
              <a:rPr sz="3200" spc="245" dirty="0">
                <a:solidFill>
                  <a:srgbClr val="CE3151"/>
                </a:solidFill>
                <a:latin typeface="Georgia"/>
                <a:cs typeface="Georgia"/>
              </a:rPr>
              <a:t> </a:t>
            </a:r>
            <a:r>
              <a:rPr sz="3200" spc="105" dirty="0">
                <a:solidFill>
                  <a:srgbClr val="CE3151"/>
                </a:solidFill>
                <a:latin typeface="Georgia"/>
                <a:cs typeface="Georgia"/>
              </a:rPr>
              <a:t>Principles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9575" y="1152525"/>
            <a:ext cx="11382375" cy="1009650"/>
          </a:xfrm>
          <a:custGeom>
            <a:avLst/>
            <a:gdLst/>
            <a:ahLst/>
            <a:cxnLst/>
            <a:rect l="l" t="t" r="r" b="b"/>
            <a:pathLst>
              <a:path w="11382375" h="1009650">
                <a:moveTo>
                  <a:pt x="11214100" y="0"/>
                </a:moveTo>
                <a:lnTo>
                  <a:pt x="168275" y="0"/>
                </a:lnTo>
                <a:lnTo>
                  <a:pt x="123539" y="6008"/>
                </a:lnTo>
                <a:lnTo>
                  <a:pt x="83342" y="22968"/>
                </a:lnTo>
                <a:lnTo>
                  <a:pt x="49285" y="49275"/>
                </a:lnTo>
                <a:lnTo>
                  <a:pt x="22973" y="83330"/>
                </a:lnTo>
                <a:lnTo>
                  <a:pt x="6010" y="123531"/>
                </a:lnTo>
                <a:lnTo>
                  <a:pt x="0" y="168275"/>
                </a:lnTo>
                <a:lnTo>
                  <a:pt x="0" y="841375"/>
                </a:lnTo>
                <a:lnTo>
                  <a:pt x="6010" y="886118"/>
                </a:lnTo>
                <a:lnTo>
                  <a:pt x="22973" y="926319"/>
                </a:lnTo>
                <a:lnTo>
                  <a:pt x="49285" y="960374"/>
                </a:lnTo>
                <a:lnTo>
                  <a:pt x="83342" y="986681"/>
                </a:lnTo>
                <a:lnTo>
                  <a:pt x="123539" y="1003641"/>
                </a:lnTo>
                <a:lnTo>
                  <a:pt x="168275" y="1009650"/>
                </a:lnTo>
                <a:lnTo>
                  <a:pt x="11214100" y="1009650"/>
                </a:lnTo>
                <a:lnTo>
                  <a:pt x="11258843" y="1003641"/>
                </a:lnTo>
                <a:lnTo>
                  <a:pt x="11299044" y="986681"/>
                </a:lnTo>
                <a:lnTo>
                  <a:pt x="11333099" y="960374"/>
                </a:lnTo>
                <a:lnTo>
                  <a:pt x="11359406" y="926319"/>
                </a:lnTo>
                <a:lnTo>
                  <a:pt x="11376366" y="886118"/>
                </a:lnTo>
                <a:lnTo>
                  <a:pt x="11382375" y="841375"/>
                </a:lnTo>
                <a:lnTo>
                  <a:pt x="11382375" y="168275"/>
                </a:lnTo>
                <a:lnTo>
                  <a:pt x="11376366" y="123531"/>
                </a:lnTo>
                <a:lnTo>
                  <a:pt x="11359406" y="83330"/>
                </a:lnTo>
                <a:lnTo>
                  <a:pt x="11333099" y="49275"/>
                </a:lnTo>
                <a:lnTo>
                  <a:pt x="11299044" y="22968"/>
                </a:lnTo>
                <a:lnTo>
                  <a:pt x="11258843" y="6008"/>
                </a:lnTo>
                <a:lnTo>
                  <a:pt x="11214100" y="0"/>
                </a:lnTo>
                <a:close/>
              </a:path>
            </a:pathLst>
          </a:custGeom>
          <a:solidFill>
            <a:srgbClr val="F892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02615" y="1267142"/>
            <a:ext cx="5852160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100" spc="110" dirty="0">
                <a:solidFill>
                  <a:srgbClr val="FFFFFF"/>
                </a:solidFill>
                <a:latin typeface="Cambria"/>
                <a:cs typeface="Cambria"/>
              </a:rPr>
              <a:t>Uniformity</a:t>
            </a:r>
            <a:r>
              <a:rPr sz="41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100" spc="365" dirty="0">
                <a:solidFill>
                  <a:srgbClr val="FFFFFF"/>
                </a:solidFill>
                <a:latin typeface="Cambria"/>
                <a:cs typeface="Cambria"/>
              </a:rPr>
              <a:t>&amp;</a:t>
            </a:r>
            <a:r>
              <a:rPr sz="4100" spc="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100" spc="-10" dirty="0">
                <a:solidFill>
                  <a:srgbClr val="FFFFFF"/>
                </a:solidFill>
                <a:latin typeface="Cambria"/>
                <a:cs typeface="Cambria"/>
              </a:rPr>
              <a:t>Integration</a:t>
            </a:r>
            <a:endParaRPr sz="41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9575" y="3733800"/>
            <a:ext cx="11382375" cy="1000125"/>
          </a:xfrm>
          <a:custGeom>
            <a:avLst/>
            <a:gdLst/>
            <a:ahLst/>
            <a:cxnLst/>
            <a:rect l="l" t="t" r="r" b="b"/>
            <a:pathLst>
              <a:path w="11382375" h="1000125">
                <a:moveTo>
                  <a:pt x="11215624" y="0"/>
                </a:moveTo>
                <a:lnTo>
                  <a:pt x="166687" y="0"/>
                </a:lnTo>
                <a:lnTo>
                  <a:pt x="122374" y="5957"/>
                </a:lnTo>
                <a:lnTo>
                  <a:pt x="82555" y="22770"/>
                </a:lnTo>
                <a:lnTo>
                  <a:pt x="48820" y="48847"/>
                </a:lnTo>
                <a:lnTo>
                  <a:pt x="22756" y="82597"/>
                </a:lnTo>
                <a:lnTo>
                  <a:pt x="5954" y="122428"/>
                </a:lnTo>
                <a:lnTo>
                  <a:pt x="0" y="166750"/>
                </a:lnTo>
                <a:lnTo>
                  <a:pt x="0" y="833374"/>
                </a:lnTo>
                <a:lnTo>
                  <a:pt x="5954" y="877696"/>
                </a:lnTo>
                <a:lnTo>
                  <a:pt x="22756" y="917527"/>
                </a:lnTo>
                <a:lnTo>
                  <a:pt x="48820" y="951277"/>
                </a:lnTo>
                <a:lnTo>
                  <a:pt x="82555" y="977354"/>
                </a:lnTo>
                <a:lnTo>
                  <a:pt x="122374" y="994167"/>
                </a:lnTo>
                <a:lnTo>
                  <a:pt x="166687" y="1000125"/>
                </a:lnTo>
                <a:lnTo>
                  <a:pt x="11215624" y="1000125"/>
                </a:lnTo>
                <a:lnTo>
                  <a:pt x="11259946" y="994167"/>
                </a:lnTo>
                <a:lnTo>
                  <a:pt x="11299777" y="977354"/>
                </a:lnTo>
                <a:lnTo>
                  <a:pt x="11333527" y="951277"/>
                </a:lnTo>
                <a:lnTo>
                  <a:pt x="11359604" y="917527"/>
                </a:lnTo>
                <a:lnTo>
                  <a:pt x="11376417" y="877696"/>
                </a:lnTo>
                <a:lnTo>
                  <a:pt x="11382375" y="833374"/>
                </a:lnTo>
                <a:lnTo>
                  <a:pt x="11382375" y="166750"/>
                </a:lnTo>
                <a:lnTo>
                  <a:pt x="11376417" y="122428"/>
                </a:lnTo>
                <a:lnTo>
                  <a:pt x="11359604" y="82597"/>
                </a:lnTo>
                <a:lnTo>
                  <a:pt x="11333527" y="48847"/>
                </a:lnTo>
                <a:lnTo>
                  <a:pt x="11299777" y="22770"/>
                </a:lnTo>
                <a:lnTo>
                  <a:pt x="11259946" y="5957"/>
                </a:lnTo>
                <a:lnTo>
                  <a:pt x="11215624" y="0"/>
                </a:lnTo>
                <a:close/>
              </a:path>
            </a:pathLst>
          </a:custGeom>
          <a:solidFill>
            <a:srgbClr val="CE8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2615" y="2135124"/>
            <a:ext cx="10923905" cy="4110354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454659" marR="5080" indent="-286385">
              <a:lnSpc>
                <a:spcPts val="3600"/>
              </a:lnSpc>
              <a:spcBef>
                <a:spcPts val="450"/>
              </a:spcBef>
              <a:buChar char="•"/>
              <a:tabLst>
                <a:tab pos="454659" algn="l"/>
                <a:tab pos="1273175" algn="l"/>
                <a:tab pos="2608580" algn="l"/>
                <a:tab pos="3989704" algn="l"/>
                <a:tab pos="4992370" algn="l"/>
                <a:tab pos="5334000" algn="l"/>
                <a:tab pos="7271384" algn="l"/>
                <a:tab pos="9136380" algn="l"/>
              </a:tabLst>
            </a:pPr>
            <a:r>
              <a:rPr sz="3200" spc="-25" dirty="0">
                <a:latin typeface="Cambria"/>
                <a:cs typeface="Cambria"/>
              </a:rPr>
              <a:t>The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55" dirty="0">
                <a:latin typeface="Cambria"/>
                <a:cs typeface="Cambria"/>
              </a:rPr>
              <a:t>design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70" dirty="0">
                <a:latin typeface="Cambria"/>
                <a:cs typeface="Cambria"/>
              </a:rPr>
              <a:t>should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50" dirty="0">
                <a:latin typeface="Cambria"/>
                <a:cs typeface="Cambria"/>
              </a:rPr>
              <a:t>have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-50" dirty="0">
                <a:latin typeface="Cambria"/>
                <a:cs typeface="Cambria"/>
              </a:rPr>
              <a:t>a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-10" dirty="0">
                <a:latin typeface="Cambria"/>
                <a:cs typeface="Cambria"/>
              </a:rPr>
              <a:t>consistent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-10" dirty="0">
                <a:latin typeface="Cambria"/>
                <a:cs typeface="Cambria"/>
              </a:rPr>
              <a:t>structure,</a:t>
            </a:r>
            <a:r>
              <a:rPr sz="3200" dirty="0">
                <a:latin typeface="Cambria"/>
                <a:cs typeface="Cambria"/>
              </a:rPr>
              <a:t>	style,</a:t>
            </a:r>
            <a:r>
              <a:rPr sz="3200" spc="625" dirty="0">
                <a:latin typeface="Cambria"/>
                <a:cs typeface="Cambria"/>
              </a:rPr>
              <a:t> </a:t>
            </a:r>
            <a:r>
              <a:rPr sz="3200" spc="70" dirty="0">
                <a:latin typeface="Cambria"/>
                <a:cs typeface="Cambria"/>
              </a:rPr>
              <a:t>and </a:t>
            </a:r>
            <a:r>
              <a:rPr sz="3200" spc="65" dirty="0">
                <a:latin typeface="Cambria"/>
                <a:cs typeface="Cambria"/>
              </a:rPr>
              <a:t>logic</a:t>
            </a:r>
            <a:r>
              <a:rPr sz="3200" spc="7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across</a:t>
            </a:r>
            <a:r>
              <a:rPr sz="3200" spc="50" dirty="0">
                <a:latin typeface="Cambria"/>
                <a:cs typeface="Cambria"/>
              </a:rPr>
              <a:t> all</a:t>
            </a:r>
            <a:r>
              <a:rPr sz="3200" spc="75" dirty="0">
                <a:latin typeface="Cambria"/>
                <a:cs typeface="Cambria"/>
              </a:rPr>
              <a:t> </a:t>
            </a:r>
            <a:r>
              <a:rPr sz="3200" spc="35" dirty="0">
                <a:latin typeface="Cambria"/>
                <a:cs typeface="Cambria"/>
              </a:rPr>
              <a:t>components.</a:t>
            </a:r>
            <a:endParaRPr sz="3200">
              <a:latin typeface="Cambria"/>
              <a:cs typeface="Cambria"/>
            </a:endParaRPr>
          </a:p>
          <a:p>
            <a:pPr marL="454025" indent="-285750">
              <a:lnSpc>
                <a:spcPct val="100000"/>
              </a:lnSpc>
              <a:spcBef>
                <a:spcPts val="440"/>
              </a:spcBef>
              <a:buChar char="•"/>
              <a:tabLst>
                <a:tab pos="454025" algn="l"/>
              </a:tabLst>
            </a:pPr>
            <a:r>
              <a:rPr sz="3200" spc="185" dirty="0">
                <a:latin typeface="Cambria"/>
                <a:cs typeface="Cambria"/>
              </a:rPr>
              <a:t>Avoid</a:t>
            </a:r>
            <a:r>
              <a:rPr sz="3200" spc="204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different</a:t>
            </a:r>
            <a:r>
              <a:rPr sz="3200" spc="254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teams</a:t>
            </a:r>
            <a:r>
              <a:rPr sz="3200" spc="260" dirty="0">
                <a:latin typeface="Cambria"/>
                <a:cs typeface="Cambria"/>
              </a:rPr>
              <a:t> </a:t>
            </a:r>
            <a:r>
              <a:rPr sz="3200" spc="75" dirty="0">
                <a:latin typeface="Cambria"/>
                <a:cs typeface="Cambria"/>
              </a:rPr>
              <a:t>working</a:t>
            </a:r>
            <a:r>
              <a:rPr sz="3200" spc="19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in</a:t>
            </a:r>
            <a:r>
              <a:rPr sz="3200" spc="24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disconnected</a:t>
            </a:r>
            <a:r>
              <a:rPr sz="3200" spc="245" dirty="0">
                <a:latin typeface="Cambria"/>
                <a:cs typeface="Cambria"/>
              </a:rPr>
              <a:t> </a:t>
            </a:r>
            <a:r>
              <a:rPr sz="3200" spc="80" dirty="0">
                <a:latin typeface="Cambria"/>
                <a:cs typeface="Cambria"/>
              </a:rPr>
              <a:t>ways.</a:t>
            </a:r>
            <a:endParaRPr sz="3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4100" spc="114" dirty="0">
                <a:solidFill>
                  <a:srgbClr val="FFFFFF"/>
                </a:solidFill>
                <a:latin typeface="Cambria"/>
                <a:cs typeface="Cambria"/>
              </a:rPr>
              <a:t>Accommodate</a:t>
            </a:r>
            <a:r>
              <a:rPr sz="410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100" spc="160" dirty="0">
                <a:solidFill>
                  <a:srgbClr val="FFFFFF"/>
                </a:solidFill>
                <a:latin typeface="Cambria"/>
                <a:cs typeface="Cambria"/>
              </a:rPr>
              <a:t>Change</a:t>
            </a:r>
            <a:endParaRPr sz="4100">
              <a:latin typeface="Cambria"/>
              <a:cs typeface="Cambria"/>
            </a:endParaRPr>
          </a:p>
          <a:p>
            <a:pPr marL="454659" marR="5715" indent="-286385">
              <a:lnSpc>
                <a:spcPts val="3600"/>
              </a:lnSpc>
              <a:spcBef>
                <a:spcPts val="2235"/>
              </a:spcBef>
              <a:buChar char="•"/>
              <a:tabLst>
                <a:tab pos="454659" algn="l"/>
                <a:tab pos="2306955" algn="l"/>
                <a:tab pos="3800475" algn="l"/>
                <a:tab pos="4471035" algn="l"/>
                <a:tab pos="6361430" algn="l"/>
                <a:tab pos="6966584" algn="l"/>
                <a:tab pos="8250555" algn="l"/>
                <a:tab pos="9533255" algn="l"/>
                <a:tab pos="10138410" algn="l"/>
              </a:tabLst>
            </a:pPr>
            <a:r>
              <a:rPr sz="3200" spc="-10" dirty="0">
                <a:latin typeface="Cambria"/>
                <a:cs typeface="Cambria"/>
              </a:rPr>
              <a:t>Software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70" dirty="0">
                <a:latin typeface="Cambria"/>
                <a:cs typeface="Cambria"/>
              </a:rPr>
              <a:t>should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-25" dirty="0">
                <a:latin typeface="Cambria"/>
                <a:cs typeface="Cambria"/>
              </a:rPr>
              <a:t>be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55" dirty="0">
                <a:latin typeface="Cambria"/>
                <a:cs typeface="Cambria"/>
              </a:rPr>
              <a:t>designed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-25" dirty="0">
                <a:latin typeface="Cambria"/>
                <a:cs typeface="Cambria"/>
              </a:rPr>
              <a:t>to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-10" dirty="0">
                <a:latin typeface="Cambria"/>
                <a:cs typeface="Cambria"/>
              </a:rPr>
              <a:t>easily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50" dirty="0">
                <a:latin typeface="Cambria"/>
                <a:cs typeface="Cambria"/>
              </a:rPr>
              <a:t>adapt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-25" dirty="0">
                <a:latin typeface="Cambria"/>
                <a:cs typeface="Cambria"/>
              </a:rPr>
              <a:t>to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45" dirty="0">
                <a:latin typeface="Cambria"/>
                <a:cs typeface="Cambria"/>
              </a:rPr>
              <a:t>new </a:t>
            </a:r>
            <a:r>
              <a:rPr sz="3200" dirty="0">
                <a:latin typeface="Cambria"/>
                <a:cs typeface="Cambria"/>
              </a:rPr>
              <a:t>features</a:t>
            </a:r>
            <a:r>
              <a:rPr sz="3200" spc="8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or</a:t>
            </a:r>
            <a:r>
              <a:rPr sz="3200" spc="114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requirements.</a:t>
            </a:r>
            <a:endParaRPr sz="3200">
              <a:latin typeface="Cambria"/>
              <a:cs typeface="Cambria"/>
            </a:endParaRPr>
          </a:p>
          <a:p>
            <a:pPr marL="454025" indent="-285750">
              <a:lnSpc>
                <a:spcPct val="100000"/>
              </a:lnSpc>
              <a:spcBef>
                <a:spcPts val="440"/>
              </a:spcBef>
              <a:buChar char="•"/>
              <a:tabLst>
                <a:tab pos="454025" algn="l"/>
              </a:tabLst>
            </a:pPr>
            <a:r>
              <a:rPr sz="3200" spc="114" dirty="0">
                <a:latin typeface="Cambria"/>
                <a:cs typeface="Cambria"/>
              </a:rPr>
              <a:t>Use</a:t>
            </a:r>
            <a:r>
              <a:rPr sz="3200" spc="165" dirty="0">
                <a:latin typeface="Cambria"/>
                <a:cs typeface="Cambria"/>
              </a:rPr>
              <a:t> </a:t>
            </a:r>
            <a:r>
              <a:rPr sz="3200" spc="80" dirty="0">
                <a:latin typeface="Cambria"/>
                <a:cs typeface="Cambria"/>
              </a:rPr>
              <a:t>modular</a:t>
            </a:r>
            <a:r>
              <a:rPr sz="3200" spc="110" dirty="0">
                <a:latin typeface="Cambria"/>
                <a:cs typeface="Cambria"/>
              </a:rPr>
              <a:t> </a:t>
            </a:r>
            <a:r>
              <a:rPr sz="3200" spc="95" dirty="0">
                <a:latin typeface="Cambria"/>
                <a:cs typeface="Cambria"/>
              </a:rPr>
              <a:t>and</a:t>
            </a:r>
            <a:r>
              <a:rPr sz="3200" spc="15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scalable</a:t>
            </a:r>
            <a:r>
              <a:rPr sz="3200" spc="17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approaches</a:t>
            </a:r>
            <a:r>
              <a:rPr sz="3200" spc="19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to</a:t>
            </a:r>
            <a:r>
              <a:rPr sz="3200" spc="140" dirty="0">
                <a:latin typeface="Cambria"/>
                <a:cs typeface="Cambria"/>
              </a:rPr>
              <a:t> </a:t>
            </a:r>
            <a:r>
              <a:rPr sz="3200" spc="65" dirty="0">
                <a:latin typeface="Cambria"/>
                <a:cs typeface="Cambria"/>
              </a:rPr>
              <a:t>allow</a:t>
            </a:r>
            <a:r>
              <a:rPr sz="3200" spc="180" dirty="0">
                <a:latin typeface="Cambria"/>
                <a:cs typeface="Cambria"/>
              </a:rPr>
              <a:t> </a:t>
            </a:r>
            <a:r>
              <a:rPr sz="3200" spc="40" dirty="0">
                <a:latin typeface="Cambria"/>
                <a:cs typeface="Cambria"/>
              </a:rPr>
              <a:t>flexibility.</a:t>
            </a:r>
            <a:endParaRPr sz="3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8950" y="337438"/>
            <a:ext cx="347154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>
                <a:solidFill>
                  <a:srgbClr val="CE3151"/>
                </a:solidFill>
                <a:latin typeface="Georgia"/>
                <a:cs typeface="Georgia"/>
              </a:rPr>
              <a:t>Design</a:t>
            </a:r>
            <a:r>
              <a:rPr sz="3200" spc="245" dirty="0">
                <a:solidFill>
                  <a:srgbClr val="CE3151"/>
                </a:solidFill>
                <a:latin typeface="Georgia"/>
                <a:cs typeface="Georgia"/>
              </a:rPr>
              <a:t> </a:t>
            </a:r>
            <a:r>
              <a:rPr sz="3200" spc="105" dirty="0">
                <a:solidFill>
                  <a:srgbClr val="CE3151"/>
                </a:solidFill>
                <a:latin typeface="Georgia"/>
                <a:cs typeface="Georgia"/>
              </a:rPr>
              <a:t>Principles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9575" y="1276350"/>
            <a:ext cx="11382375" cy="962025"/>
          </a:xfrm>
          <a:custGeom>
            <a:avLst/>
            <a:gdLst/>
            <a:ahLst/>
            <a:cxnLst/>
            <a:rect l="l" t="t" r="r" b="b"/>
            <a:pathLst>
              <a:path w="11382375" h="962025">
                <a:moveTo>
                  <a:pt x="11221974" y="0"/>
                </a:moveTo>
                <a:lnTo>
                  <a:pt x="160337" y="0"/>
                </a:lnTo>
                <a:lnTo>
                  <a:pt x="109661" y="8171"/>
                </a:lnTo>
                <a:lnTo>
                  <a:pt x="65647" y="30931"/>
                </a:lnTo>
                <a:lnTo>
                  <a:pt x="30938" y="65644"/>
                </a:lnTo>
                <a:lnTo>
                  <a:pt x="8174" y="109679"/>
                </a:lnTo>
                <a:lnTo>
                  <a:pt x="0" y="160400"/>
                </a:lnTo>
                <a:lnTo>
                  <a:pt x="0" y="801624"/>
                </a:lnTo>
                <a:lnTo>
                  <a:pt x="8174" y="852345"/>
                </a:lnTo>
                <a:lnTo>
                  <a:pt x="30938" y="896380"/>
                </a:lnTo>
                <a:lnTo>
                  <a:pt x="65647" y="931093"/>
                </a:lnTo>
                <a:lnTo>
                  <a:pt x="109661" y="953853"/>
                </a:lnTo>
                <a:lnTo>
                  <a:pt x="160337" y="962025"/>
                </a:lnTo>
                <a:lnTo>
                  <a:pt x="11221974" y="962025"/>
                </a:lnTo>
                <a:lnTo>
                  <a:pt x="11272695" y="953853"/>
                </a:lnTo>
                <a:lnTo>
                  <a:pt x="11316730" y="931093"/>
                </a:lnTo>
                <a:lnTo>
                  <a:pt x="11351443" y="896380"/>
                </a:lnTo>
                <a:lnTo>
                  <a:pt x="11374203" y="852345"/>
                </a:lnTo>
                <a:lnTo>
                  <a:pt x="11382375" y="801624"/>
                </a:lnTo>
                <a:lnTo>
                  <a:pt x="11382375" y="160400"/>
                </a:lnTo>
                <a:lnTo>
                  <a:pt x="11374203" y="109679"/>
                </a:lnTo>
                <a:lnTo>
                  <a:pt x="11351443" y="65644"/>
                </a:lnTo>
                <a:lnTo>
                  <a:pt x="11316730" y="30931"/>
                </a:lnTo>
                <a:lnTo>
                  <a:pt x="11272695" y="8171"/>
                </a:lnTo>
                <a:lnTo>
                  <a:pt x="11221974" y="0"/>
                </a:lnTo>
                <a:close/>
              </a:path>
            </a:pathLst>
          </a:custGeom>
          <a:solidFill>
            <a:srgbClr val="F892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92772" y="1392237"/>
            <a:ext cx="4791075" cy="621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00" spc="105" dirty="0">
                <a:solidFill>
                  <a:srgbClr val="FFFFFF"/>
                </a:solidFill>
                <a:latin typeface="Cambria"/>
                <a:cs typeface="Cambria"/>
              </a:rPr>
              <a:t>Graceful</a:t>
            </a:r>
            <a:r>
              <a:rPr sz="39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spc="70" dirty="0">
                <a:solidFill>
                  <a:srgbClr val="FFFFFF"/>
                </a:solidFill>
                <a:latin typeface="Cambria"/>
                <a:cs typeface="Cambria"/>
              </a:rPr>
              <a:t>Degradation</a:t>
            </a:r>
            <a:endParaRPr sz="39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9575" y="3733800"/>
            <a:ext cx="11382375" cy="952500"/>
          </a:xfrm>
          <a:custGeom>
            <a:avLst/>
            <a:gdLst/>
            <a:ahLst/>
            <a:cxnLst/>
            <a:rect l="l" t="t" r="r" b="b"/>
            <a:pathLst>
              <a:path w="11382375" h="952500">
                <a:moveTo>
                  <a:pt x="11223625" y="0"/>
                </a:moveTo>
                <a:lnTo>
                  <a:pt x="158750" y="0"/>
                </a:lnTo>
                <a:lnTo>
                  <a:pt x="108570" y="8097"/>
                </a:lnTo>
                <a:lnTo>
                  <a:pt x="64991" y="30642"/>
                </a:lnTo>
                <a:lnTo>
                  <a:pt x="30627" y="65013"/>
                </a:lnTo>
                <a:lnTo>
                  <a:pt x="8092" y="108590"/>
                </a:lnTo>
                <a:lnTo>
                  <a:pt x="0" y="158750"/>
                </a:lnTo>
                <a:lnTo>
                  <a:pt x="0" y="793750"/>
                </a:lnTo>
                <a:lnTo>
                  <a:pt x="8092" y="843909"/>
                </a:lnTo>
                <a:lnTo>
                  <a:pt x="30627" y="887486"/>
                </a:lnTo>
                <a:lnTo>
                  <a:pt x="64991" y="921857"/>
                </a:lnTo>
                <a:lnTo>
                  <a:pt x="108570" y="944402"/>
                </a:lnTo>
                <a:lnTo>
                  <a:pt x="158750" y="952500"/>
                </a:lnTo>
                <a:lnTo>
                  <a:pt x="11223625" y="952500"/>
                </a:lnTo>
                <a:lnTo>
                  <a:pt x="11273784" y="944402"/>
                </a:lnTo>
                <a:lnTo>
                  <a:pt x="11317361" y="921857"/>
                </a:lnTo>
                <a:lnTo>
                  <a:pt x="11351732" y="887486"/>
                </a:lnTo>
                <a:lnTo>
                  <a:pt x="11374277" y="843909"/>
                </a:lnTo>
                <a:lnTo>
                  <a:pt x="11382375" y="793750"/>
                </a:lnTo>
                <a:lnTo>
                  <a:pt x="11382375" y="158750"/>
                </a:lnTo>
                <a:lnTo>
                  <a:pt x="11374277" y="108590"/>
                </a:lnTo>
                <a:lnTo>
                  <a:pt x="11351732" y="65013"/>
                </a:lnTo>
                <a:lnTo>
                  <a:pt x="11317361" y="30642"/>
                </a:lnTo>
                <a:lnTo>
                  <a:pt x="11273784" y="8097"/>
                </a:lnTo>
                <a:lnTo>
                  <a:pt x="11223625" y="0"/>
                </a:lnTo>
                <a:close/>
              </a:path>
            </a:pathLst>
          </a:custGeom>
          <a:solidFill>
            <a:srgbClr val="CE8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2772" y="2219070"/>
            <a:ext cx="10876280" cy="388302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464820" marR="247015" indent="-286385">
              <a:lnSpc>
                <a:spcPts val="3300"/>
              </a:lnSpc>
              <a:spcBef>
                <a:spcPts val="465"/>
              </a:spcBef>
              <a:buChar char="•"/>
              <a:tabLst>
                <a:tab pos="464820" algn="l"/>
              </a:tabLst>
            </a:pPr>
            <a:r>
              <a:rPr sz="3000" spc="70" dirty="0">
                <a:latin typeface="Cambria"/>
                <a:cs typeface="Cambria"/>
              </a:rPr>
              <a:t>Even</a:t>
            </a:r>
            <a:r>
              <a:rPr sz="3000" spc="85" dirty="0">
                <a:latin typeface="Cambria"/>
                <a:cs typeface="Cambria"/>
              </a:rPr>
              <a:t> </a:t>
            </a:r>
            <a:r>
              <a:rPr sz="3000" spc="65" dirty="0">
                <a:latin typeface="Cambria"/>
                <a:cs typeface="Cambria"/>
              </a:rPr>
              <a:t>if</a:t>
            </a:r>
            <a:r>
              <a:rPr sz="3000" spc="85" dirty="0">
                <a:latin typeface="Cambria"/>
                <a:cs typeface="Cambria"/>
              </a:rPr>
              <a:t> </a:t>
            </a:r>
            <a:r>
              <a:rPr sz="3000" spc="50" dirty="0">
                <a:latin typeface="Cambria"/>
                <a:cs typeface="Cambria"/>
              </a:rPr>
              <a:t>something</a:t>
            </a:r>
            <a:r>
              <a:rPr sz="3000" spc="9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goes</a:t>
            </a:r>
            <a:r>
              <a:rPr sz="3000" spc="114" dirty="0">
                <a:latin typeface="Cambria"/>
                <a:cs typeface="Cambria"/>
              </a:rPr>
              <a:t> </a:t>
            </a:r>
            <a:r>
              <a:rPr sz="3000" spc="85" dirty="0">
                <a:latin typeface="Cambria"/>
                <a:cs typeface="Cambria"/>
              </a:rPr>
              <a:t>wrong</a:t>
            </a:r>
            <a:r>
              <a:rPr sz="3000" spc="9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(bad</a:t>
            </a:r>
            <a:r>
              <a:rPr sz="3000" spc="155" dirty="0">
                <a:latin typeface="Cambria"/>
                <a:cs typeface="Cambria"/>
              </a:rPr>
              <a:t> </a:t>
            </a:r>
            <a:r>
              <a:rPr sz="3000" spc="60" dirty="0">
                <a:latin typeface="Cambria"/>
                <a:cs typeface="Cambria"/>
              </a:rPr>
              <a:t>data,</a:t>
            </a:r>
            <a:r>
              <a:rPr sz="3000" spc="114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errors,</a:t>
            </a:r>
            <a:r>
              <a:rPr sz="3000" spc="11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unexpected </a:t>
            </a:r>
            <a:r>
              <a:rPr sz="3000" dirty="0">
                <a:latin typeface="Cambria"/>
                <a:cs typeface="Cambria"/>
              </a:rPr>
              <a:t>conditions),</a:t>
            </a:r>
            <a:r>
              <a:rPr sz="3000" spc="19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the</a:t>
            </a:r>
            <a:r>
              <a:rPr sz="3000" spc="26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system</a:t>
            </a:r>
            <a:r>
              <a:rPr sz="3000" spc="165" dirty="0">
                <a:latin typeface="Cambria"/>
                <a:cs typeface="Cambria"/>
              </a:rPr>
              <a:t> </a:t>
            </a:r>
            <a:r>
              <a:rPr sz="3000" spc="75" dirty="0">
                <a:latin typeface="Cambria"/>
                <a:cs typeface="Cambria"/>
              </a:rPr>
              <a:t>should</a:t>
            </a:r>
            <a:r>
              <a:rPr sz="3000" spc="15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not</a:t>
            </a:r>
            <a:r>
              <a:rPr sz="3000" spc="19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crash</a:t>
            </a:r>
            <a:r>
              <a:rPr sz="3000" spc="170" dirty="0">
                <a:latin typeface="Cambria"/>
                <a:cs typeface="Cambria"/>
              </a:rPr>
              <a:t> </a:t>
            </a:r>
            <a:r>
              <a:rPr sz="3000" spc="45" dirty="0">
                <a:latin typeface="Cambria"/>
                <a:cs typeface="Cambria"/>
              </a:rPr>
              <a:t>completely.</a:t>
            </a:r>
            <a:endParaRPr sz="3000">
              <a:latin typeface="Cambria"/>
              <a:cs typeface="Cambria"/>
            </a:endParaRPr>
          </a:p>
          <a:p>
            <a:pPr marL="464184" indent="-285750">
              <a:lnSpc>
                <a:spcPct val="100000"/>
              </a:lnSpc>
              <a:spcBef>
                <a:spcPts val="470"/>
              </a:spcBef>
              <a:buChar char="•"/>
              <a:tabLst>
                <a:tab pos="464184" algn="l"/>
              </a:tabLst>
            </a:pPr>
            <a:r>
              <a:rPr sz="3000" spc="45" dirty="0">
                <a:latin typeface="Cambria"/>
                <a:cs typeface="Cambria"/>
              </a:rPr>
              <a:t>Implement</a:t>
            </a:r>
            <a:r>
              <a:rPr sz="3000" spc="7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error</a:t>
            </a:r>
            <a:r>
              <a:rPr sz="3000" spc="85" dirty="0">
                <a:latin typeface="Cambria"/>
                <a:cs typeface="Cambria"/>
              </a:rPr>
              <a:t> </a:t>
            </a:r>
            <a:r>
              <a:rPr sz="3000" spc="75" dirty="0">
                <a:latin typeface="Cambria"/>
                <a:cs typeface="Cambria"/>
              </a:rPr>
              <a:t>handling</a:t>
            </a:r>
            <a:r>
              <a:rPr sz="3000" spc="120" dirty="0">
                <a:latin typeface="Cambria"/>
                <a:cs typeface="Cambria"/>
              </a:rPr>
              <a:t> </a:t>
            </a:r>
            <a:r>
              <a:rPr sz="3000" spc="75" dirty="0">
                <a:latin typeface="Cambria"/>
                <a:cs typeface="Cambria"/>
              </a:rPr>
              <a:t>and</a:t>
            </a:r>
            <a:r>
              <a:rPr sz="3000" spc="40" dirty="0">
                <a:latin typeface="Cambria"/>
                <a:cs typeface="Cambria"/>
              </a:rPr>
              <a:t> </a:t>
            </a:r>
            <a:r>
              <a:rPr sz="3000" spc="45" dirty="0">
                <a:latin typeface="Cambria"/>
                <a:cs typeface="Cambria"/>
              </a:rPr>
              <a:t>fallback</a:t>
            </a:r>
            <a:r>
              <a:rPr sz="3000" spc="55" dirty="0">
                <a:latin typeface="Cambria"/>
                <a:cs typeface="Cambria"/>
              </a:rPr>
              <a:t> </a:t>
            </a:r>
            <a:r>
              <a:rPr sz="3000" spc="40" dirty="0">
                <a:latin typeface="Cambria"/>
                <a:cs typeface="Cambria"/>
              </a:rPr>
              <a:t>mechanisms.</a:t>
            </a: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3900" spc="110" dirty="0">
                <a:solidFill>
                  <a:srgbClr val="FFFFFF"/>
                </a:solidFill>
                <a:latin typeface="Cambria"/>
                <a:cs typeface="Cambria"/>
              </a:rPr>
              <a:t>Design</a:t>
            </a:r>
            <a:r>
              <a:rPr sz="3900" spc="1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39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spc="380" dirty="0">
                <a:solidFill>
                  <a:srgbClr val="FFFFFF"/>
                </a:solidFill>
                <a:latin typeface="Cambria"/>
                <a:cs typeface="Cambria"/>
              </a:rPr>
              <a:t>NOT</a:t>
            </a:r>
            <a:r>
              <a:rPr sz="39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spc="150" dirty="0">
                <a:solidFill>
                  <a:srgbClr val="FFFFFF"/>
                </a:solidFill>
                <a:latin typeface="Cambria"/>
                <a:cs typeface="Cambria"/>
              </a:rPr>
              <a:t>Coding;</a:t>
            </a:r>
            <a:r>
              <a:rPr sz="390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spc="180" dirty="0">
                <a:solidFill>
                  <a:srgbClr val="FFFFFF"/>
                </a:solidFill>
                <a:latin typeface="Cambria"/>
                <a:cs typeface="Cambria"/>
              </a:rPr>
              <a:t>Coding</a:t>
            </a:r>
            <a:r>
              <a:rPr sz="39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3900" spc="1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spc="380" dirty="0">
                <a:solidFill>
                  <a:srgbClr val="FFFFFF"/>
                </a:solidFill>
                <a:latin typeface="Cambria"/>
                <a:cs typeface="Cambria"/>
              </a:rPr>
              <a:t>NOT</a:t>
            </a:r>
            <a:r>
              <a:rPr sz="39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900" spc="110" dirty="0">
                <a:solidFill>
                  <a:srgbClr val="FFFFFF"/>
                </a:solidFill>
                <a:latin typeface="Cambria"/>
                <a:cs typeface="Cambria"/>
              </a:rPr>
              <a:t>Design</a:t>
            </a:r>
            <a:endParaRPr sz="3900">
              <a:latin typeface="Cambria"/>
              <a:cs typeface="Cambria"/>
            </a:endParaRPr>
          </a:p>
          <a:p>
            <a:pPr marL="464820" marR="5080" indent="-286385">
              <a:lnSpc>
                <a:spcPts val="3300"/>
              </a:lnSpc>
              <a:spcBef>
                <a:spcPts val="2185"/>
              </a:spcBef>
              <a:buChar char="•"/>
              <a:tabLst>
                <a:tab pos="464820" algn="l"/>
              </a:tabLst>
            </a:pPr>
            <a:r>
              <a:rPr sz="3000" spc="85" dirty="0">
                <a:latin typeface="Cambria"/>
                <a:cs typeface="Cambria"/>
              </a:rPr>
              <a:t>Design</a:t>
            </a:r>
            <a:r>
              <a:rPr sz="3000" spc="9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focuses</a:t>
            </a:r>
            <a:r>
              <a:rPr sz="3000" spc="125" dirty="0">
                <a:latin typeface="Cambria"/>
                <a:cs typeface="Cambria"/>
              </a:rPr>
              <a:t> </a:t>
            </a:r>
            <a:r>
              <a:rPr sz="3000" spc="60" dirty="0">
                <a:latin typeface="Cambria"/>
                <a:cs typeface="Cambria"/>
              </a:rPr>
              <a:t>on</a:t>
            </a:r>
            <a:r>
              <a:rPr sz="3000" spc="100" dirty="0">
                <a:latin typeface="Cambria"/>
                <a:cs typeface="Cambria"/>
              </a:rPr>
              <a:t> </a:t>
            </a:r>
            <a:r>
              <a:rPr sz="3000" spc="85" dirty="0">
                <a:latin typeface="Cambria"/>
                <a:cs typeface="Cambria"/>
              </a:rPr>
              <a:t>planning</a:t>
            </a:r>
            <a:r>
              <a:rPr sz="3000" spc="105" dirty="0">
                <a:latin typeface="Cambria"/>
                <a:cs typeface="Cambria"/>
              </a:rPr>
              <a:t> </a:t>
            </a:r>
            <a:r>
              <a:rPr sz="3000" spc="75" dirty="0">
                <a:latin typeface="Cambria"/>
                <a:cs typeface="Cambria"/>
              </a:rPr>
              <a:t>and</a:t>
            </a:r>
            <a:r>
              <a:rPr sz="3000" spc="16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structure,</a:t>
            </a:r>
            <a:r>
              <a:rPr sz="3000" spc="125" dirty="0">
                <a:latin typeface="Cambria"/>
                <a:cs typeface="Cambria"/>
              </a:rPr>
              <a:t> </a:t>
            </a:r>
            <a:r>
              <a:rPr sz="3000" spc="55" dirty="0">
                <a:latin typeface="Cambria"/>
                <a:cs typeface="Cambria"/>
              </a:rPr>
              <a:t>while</a:t>
            </a:r>
            <a:r>
              <a:rPr sz="3000" spc="110" dirty="0">
                <a:latin typeface="Cambria"/>
                <a:cs typeface="Cambria"/>
              </a:rPr>
              <a:t> </a:t>
            </a:r>
            <a:r>
              <a:rPr sz="3000" spc="75" dirty="0">
                <a:latin typeface="Cambria"/>
                <a:cs typeface="Cambria"/>
              </a:rPr>
              <a:t>coding</a:t>
            </a:r>
            <a:r>
              <a:rPr sz="3000" spc="18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is</a:t>
            </a:r>
            <a:r>
              <a:rPr sz="3000" spc="125" dirty="0">
                <a:latin typeface="Cambria"/>
                <a:cs typeface="Cambria"/>
              </a:rPr>
              <a:t> </a:t>
            </a:r>
            <a:r>
              <a:rPr sz="3000" spc="-25" dirty="0">
                <a:latin typeface="Cambria"/>
                <a:cs typeface="Cambria"/>
              </a:rPr>
              <a:t>the </a:t>
            </a:r>
            <a:r>
              <a:rPr sz="3000" dirty="0">
                <a:latin typeface="Cambria"/>
                <a:cs typeface="Cambria"/>
              </a:rPr>
              <a:t>actual</a:t>
            </a:r>
            <a:r>
              <a:rPr sz="3000" spc="325" dirty="0">
                <a:latin typeface="Cambria"/>
                <a:cs typeface="Cambria"/>
              </a:rPr>
              <a:t> </a:t>
            </a:r>
            <a:r>
              <a:rPr sz="3000" spc="35" dirty="0">
                <a:latin typeface="Cambria"/>
                <a:cs typeface="Cambria"/>
              </a:rPr>
              <a:t>implementation.</a:t>
            </a:r>
            <a:endParaRPr sz="3000">
              <a:latin typeface="Cambria"/>
              <a:cs typeface="Cambria"/>
            </a:endParaRPr>
          </a:p>
          <a:p>
            <a:pPr marL="464184" indent="-285750">
              <a:lnSpc>
                <a:spcPct val="100000"/>
              </a:lnSpc>
              <a:spcBef>
                <a:spcPts val="475"/>
              </a:spcBef>
              <a:buChar char="•"/>
              <a:tabLst>
                <a:tab pos="464184" algn="l"/>
              </a:tabLst>
            </a:pPr>
            <a:r>
              <a:rPr sz="3000" spc="165" dirty="0">
                <a:latin typeface="Cambria"/>
                <a:cs typeface="Cambria"/>
              </a:rPr>
              <a:t>Good</a:t>
            </a:r>
            <a:r>
              <a:rPr sz="3000" spc="155" dirty="0">
                <a:latin typeface="Cambria"/>
                <a:cs typeface="Cambria"/>
              </a:rPr>
              <a:t> </a:t>
            </a:r>
            <a:r>
              <a:rPr sz="3000" spc="55" dirty="0">
                <a:latin typeface="Cambria"/>
                <a:cs typeface="Cambria"/>
              </a:rPr>
              <a:t>design</a:t>
            </a:r>
            <a:r>
              <a:rPr sz="3000" spc="95" dirty="0">
                <a:latin typeface="Cambria"/>
                <a:cs typeface="Cambria"/>
              </a:rPr>
              <a:t> </a:t>
            </a:r>
            <a:r>
              <a:rPr sz="3000" spc="75" dirty="0">
                <a:latin typeface="Cambria"/>
                <a:cs typeface="Cambria"/>
              </a:rPr>
              <a:t>guides</a:t>
            </a:r>
            <a:r>
              <a:rPr sz="3000" spc="120" dirty="0">
                <a:latin typeface="Cambria"/>
                <a:cs typeface="Cambria"/>
              </a:rPr>
              <a:t> </a:t>
            </a:r>
            <a:r>
              <a:rPr sz="3000" spc="75" dirty="0">
                <a:latin typeface="Cambria"/>
                <a:cs typeface="Cambria"/>
              </a:rPr>
              <a:t>coding</a:t>
            </a:r>
            <a:r>
              <a:rPr sz="3000" spc="10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but</a:t>
            </a:r>
            <a:r>
              <a:rPr sz="3000" spc="114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is</a:t>
            </a:r>
            <a:r>
              <a:rPr sz="3000" spc="12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separate</a:t>
            </a:r>
            <a:r>
              <a:rPr sz="3000" spc="105" dirty="0">
                <a:latin typeface="Cambria"/>
                <a:cs typeface="Cambria"/>
              </a:rPr>
              <a:t> </a:t>
            </a:r>
            <a:r>
              <a:rPr sz="3000" spc="50" dirty="0">
                <a:latin typeface="Cambria"/>
                <a:cs typeface="Cambria"/>
              </a:rPr>
              <a:t>from</a:t>
            </a:r>
            <a:r>
              <a:rPr sz="3000" spc="95" dirty="0">
                <a:latin typeface="Cambria"/>
                <a:cs typeface="Cambria"/>
              </a:rPr>
              <a:t> </a:t>
            </a:r>
            <a:r>
              <a:rPr sz="3000" spc="25" dirty="0">
                <a:latin typeface="Cambria"/>
                <a:cs typeface="Cambria"/>
              </a:rPr>
              <a:t>it.</a:t>
            </a:r>
            <a:endParaRPr sz="3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45" dirty="0"/>
              <a:t> </a:t>
            </a:r>
            <a:r>
              <a:rPr sz="3200" spc="105" dirty="0"/>
              <a:t>Principles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409575" y="1057275"/>
            <a:ext cx="11382375" cy="885825"/>
          </a:xfrm>
          <a:custGeom>
            <a:avLst/>
            <a:gdLst/>
            <a:ahLst/>
            <a:cxnLst/>
            <a:rect l="l" t="t" r="r" b="b"/>
            <a:pathLst>
              <a:path w="11382375" h="885825">
                <a:moveTo>
                  <a:pt x="11234674" y="0"/>
                </a:moveTo>
                <a:lnTo>
                  <a:pt x="147650" y="0"/>
                </a:lnTo>
                <a:lnTo>
                  <a:pt x="100980" y="7521"/>
                </a:lnTo>
                <a:lnTo>
                  <a:pt x="60449" y="28472"/>
                </a:lnTo>
                <a:lnTo>
                  <a:pt x="28487" y="60432"/>
                </a:lnTo>
                <a:lnTo>
                  <a:pt x="7527" y="100982"/>
                </a:lnTo>
                <a:lnTo>
                  <a:pt x="0" y="147700"/>
                </a:lnTo>
                <a:lnTo>
                  <a:pt x="0" y="738124"/>
                </a:lnTo>
                <a:lnTo>
                  <a:pt x="7527" y="784842"/>
                </a:lnTo>
                <a:lnTo>
                  <a:pt x="28487" y="825392"/>
                </a:lnTo>
                <a:lnTo>
                  <a:pt x="60449" y="857352"/>
                </a:lnTo>
                <a:lnTo>
                  <a:pt x="100980" y="878303"/>
                </a:lnTo>
                <a:lnTo>
                  <a:pt x="147650" y="885825"/>
                </a:lnTo>
                <a:lnTo>
                  <a:pt x="11234674" y="885825"/>
                </a:lnTo>
                <a:lnTo>
                  <a:pt x="11281343" y="878303"/>
                </a:lnTo>
                <a:lnTo>
                  <a:pt x="11321887" y="857352"/>
                </a:lnTo>
                <a:lnTo>
                  <a:pt x="11353866" y="825392"/>
                </a:lnTo>
                <a:lnTo>
                  <a:pt x="11374841" y="784842"/>
                </a:lnTo>
                <a:lnTo>
                  <a:pt x="11382375" y="738124"/>
                </a:lnTo>
                <a:lnTo>
                  <a:pt x="11382375" y="147700"/>
                </a:lnTo>
                <a:lnTo>
                  <a:pt x="11374841" y="100982"/>
                </a:lnTo>
                <a:lnTo>
                  <a:pt x="11353866" y="60432"/>
                </a:lnTo>
                <a:lnTo>
                  <a:pt x="11321887" y="28472"/>
                </a:lnTo>
                <a:lnTo>
                  <a:pt x="11281343" y="7521"/>
                </a:lnTo>
                <a:lnTo>
                  <a:pt x="11234674" y="0"/>
                </a:lnTo>
                <a:close/>
              </a:path>
            </a:pathLst>
          </a:custGeom>
          <a:solidFill>
            <a:srgbClr val="F892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9575" y="3733800"/>
            <a:ext cx="11382375" cy="876300"/>
          </a:xfrm>
          <a:custGeom>
            <a:avLst/>
            <a:gdLst/>
            <a:ahLst/>
            <a:cxnLst/>
            <a:rect l="l" t="t" r="r" b="b"/>
            <a:pathLst>
              <a:path w="11382375" h="876300">
                <a:moveTo>
                  <a:pt x="11236325" y="0"/>
                </a:moveTo>
                <a:lnTo>
                  <a:pt x="146050" y="0"/>
                </a:lnTo>
                <a:lnTo>
                  <a:pt x="99888" y="7447"/>
                </a:lnTo>
                <a:lnTo>
                  <a:pt x="59796" y="28183"/>
                </a:lnTo>
                <a:lnTo>
                  <a:pt x="28180" y="59801"/>
                </a:lnTo>
                <a:lnTo>
                  <a:pt x="7446" y="99893"/>
                </a:lnTo>
                <a:lnTo>
                  <a:pt x="0" y="146050"/>
                </a:lnTo>
                <a:lnTo>
                  <a:pt x="0" y="730250"/>
                </a:lnTo>
                <a:lnTo>
                  <a:pt x="7446" y="776406"/>
                </a:lnTo>
                <a:lnTo>
                  <a:pt x="28180" y="816498"/>
                </a:lnTo>
                <a:lnTo>
                  <a:pt x="59796" y="848116"/>
                </a:lnTo>
                <a:lnTo>
                  <a:pt x="99888" y="868852"/>
                </a:lnTo>
                <a:lnTo>
                  <a:pt x="146050" y="876300"/>
                </a:lnTo>
                <a:lnTo>
                  <a:pt x="11236325" y="876300"/>
                </a:lnTo>
                <a:lnTo>
                  <a:pt x="11282481" y="868852"/>
                </a:lnTo>
                <a:lnTo>
                  <a:pt x="11322573" y="848116"/>
                </a:lnTo>
                <a:lnTo>
                  <a:pt x="11354191" y="816498"/>
                </a:lnTo>
                <a:lnTo>
                  <a:pt x="11374927" y="776406"/>
                </a:lnTo>
                <a:lnTo>
                  <a:pt x="11382375" y="730250"/>
                </a:lnTo>
                <a:lnTo>
                  <a:pt x="11382375" y="146050"/>
                </a:lnTo>
                <a:lnTo>
                  <a:pt x="11374927" y="99893"/>
                </a:lnTo>
                <a:lnTo>
                  <a:pt x="11354191" y="59801"/>
                </a:lnTo>
                <a:lnTo>
                  <a:pt x="11322573" y="28183"/>
                </a:lnTo>
                <a:lnTo>
                  <a:pt x="11282481" y="7447"/>
                </a:lnTo>
                <a:lnTo>
                  <a:pt x="11236325" y="0"/>
                </a:lnTo>
                <a:close/>
              </a:path>
            </a:pathLst>
          </a:custGeom>
          <a:solidFill>
            <a:srgbClr val="CE8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532" y="877539"/>
            <a:ext cx="10930890" cy="5455920"/>
          </a:xfrm>
          <a:prstGeom prst="rect">
            <a:avLst/>
          </a:prstGeom>
        </p:spPr>
        <p:txBody>
          <a:bodyPr vert="horz" wrap="square" lIns="0" tIns="291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5"/>
              </a:spcBef>
            </a:pPr>
            <a:r>
              <a:rPr sz="3600" spc="60" dirty="0">
                <a:solidFill>
                  <a:srgbClr val="FFFFFF"/>
                </a:solidFill>
                <a:latin typeface="Cambria"/>
                <a:cs typeface="Cambria"/>
              </a:rPr>
              <a:t>Assess</a:t>
            </a:r>
            <a:r>
              <a:rPr sz="360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25" dirty="0">
                <a:solidFill>
                  <a:srgbClr val="FFFFFF"/>
                </a:solidFill>
                <a:latin typeface="Cambria"/>
                <a:cs typeface="Cambria"/>
              </a:rPr>
              <a:t>Quality</a:t>
            </a:r>
            <a:r>
              <a:rPr sz="36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25" dirty="0">
                <a:solidFill>
                  <a:srgbClr val="FFFFFF"/>
                </a:solidFill>
                <a:latin typeface="Cambria"/>
                <a:cs typeface="Cambria"/>
              </a:rPr>
              <a:t>During</a:t>
            </a:r>
            <a:r>
              <a:rPr sz="36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95" dirty="0">
                <a:solidFill>
                  <a:srgbClr val="FFFFFF"/>
                </a:solidFill>
                <a:latin typeface="Cambria"/>
                <a:cs typeface="Cambria"/>
              </a:rPr>
              <a:t>Design</a:t>
            </a:r>
            <a:endParaRPr sz="3600">
              <a:latin typeface="Cambria"/>
              <a:cs typeface="Cambria"/>
            </a:endParaRPr>
          </a:p>
          <a:p>
            <a:pPr marL="478155" marR="1388745" indent="-284480">
              <a:lnSpc>
                <a:spcPts val="3150"/>
              </a:lnSpc>
              <a:spcBef>
                <a:spcPts val="1950"/>
              </a:spcBef>
              <a:buChar char="•"/>
              <a:tabLst>
                <a:tab pos="480059" algn="l"/>
              </a:tabLst>
            </a:pPr>
            <a:r>
              <a:rPr sz="2750" spc="100" dirty="0">
                <a:latin typeface="Cambria"/>
                <a:cs typeface="Cambria"/>
              </a:rPr>
              <a:t>Design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should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be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evaluated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for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efficiency,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scalability,</a:t>
            </a:r>
            <a:r>
              <a:rPr sz="2750" spc="75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 	</a:t>
            </a:r>
            <a:r>
              <a:rPr sz="2750" dirty="0">
                <a:latin typeface="Cambria"/>
                <a:cs typeface="Cambria"/>
              </a:rPr>
              <a:t>correctness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while</a:t>
            </a:r>
            <a:r>
              <a:rPr sz="2750" spc="11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it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being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created.</a:t>
            </a:r>
            <a:endParaRPr sz="2750">
              <a:latin typeface="Cambria"/>
              <a:cs typeface="Cambria"/>
            </a:endParaRPr>
          </a:p>
          <a:p>
            <a:pPr marL="478155" marR="370205" indent="-284480">
              <a:lnSpc>
                <a:spcPts val="3160"/>
              </a:lnSpc>
              <a:spcBef>
                <a:spcPts val="675"/>
              </a:spcBef>
              <a:buChar char="•"/>
              <a:tabLst>
                <a:tab pos="480059" algn="l"/>
              </a:tabLst>
            </a:pPr>
            <a:r>
              <a:rPr sz="2750" spc="175" dirty="0">
                <a:latin typeface="Cambria"/>
                <a:cs typeface="Cambria"/>
              </a:rPr>
              <a:t>Avoid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waiting</a:t>
            </a:r>
            <a:r>
              <a:rPr sz="2750" spc="114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until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8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end</a:t>
            </a:r>
            <a:r>
              <a:rPr sz="2750" spc="114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of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development</a:t>
            </a:r>
            <a:r>
              <a:rPr sz="2750" spc="16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check</a:t>
            </a:r>
            <a:r>
              <a:rPr sz="2750" spc="11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for</a:t>
            </a:r>
            <a:r>
              <a:rPr sz="2750" spc="110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quality 	</a:t>
            </a:r>
            <a:r>
              <a:rPr sz="2750" spc="35" dirty="0">
                <a:latin typeface="Cambria"/>
                <a:cs typeface="Cambria"/>
              </a:rPr>
              <a:t>issues.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3600" spc="90" dirty="0">
                <a:solidFill>
                  <a:srgbClr val="FFFFFF"/>
                </a:solidFill>
                <a:latin typeface="Cambria"/>
                <a:cs typeface="Cambria"/>
              </a:rPr>
              <a:t>Review</a:t>
            </a:r>
            <a:r>
              <a:rPr sz="36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36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20" dirty="0">
                <a:solidFill>
                  <a:srgbClr val="FFFFFF"/>
                </a:solidFill>
                <a:latin typeface="Cambria"/>
                <a:cs typeface="Cambria"/>
              </a:rPr>
              <a:t>Minimize</a:t>
            </a:r>
            <a:r>
              <a:rPr sz="36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90" dirty="0">
                <a:solidFill>
                  <a:srgbClr val="FFFFFF"/>
                </a:solidFill>
                <a:latin typeface="Cambria"/>
                <a:cs typeface="Cambria"/>
              </a:rPr>
              <a:t>Conceptual</a:t>
            </a:r>
            <a:r>
              <a:rPr sz="36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ambria"/>
                <a:cs typeface="Cambria"/>
              </a:rPr>
              <a:t>Errors</a:t>
            </a:r>
            <a:endParaRPr sz="3600">
              <a:latin typeface="Cambria"/>
              <a:cs typeface="Cambria"/>
            </a:endParaRPr>
          </a:p>
          <a:p>
            <a:pPr marL="478155" marR="5080" indent="-284480">
              <a:lnSpc>
                <a:spcPts val="3150"/>
              </a:lnSpc>
              <a:spcBef>
                <a:spcPts val="1950"/>
              </a:spcBef>
              <a:buChar char="•"/>
              <a:tabLst>
                <a:tab pos="480059" algn="l"/>
              </a:tabLst>
            </a:pPr>
            <a:r>
              <a:rPr sz="2750" spc="80" dirty="0">
                <a:latin typeface="Cambria"/>
                <a:cs typeface="Cambria"/>
              </a:rPr>
              <a:t>Regular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peer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reviews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and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feedback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should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be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used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catch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logical 	</a:t>
            </a:r>
            <a:r>
              <a:rPr sz="2750" spc="75" dirty="0">
                <a:latin typeface="Cambria"/>
                <a:cs typeface="Cambria"/>
              </a:rPr>
              <a:t>flaws</a:t>
            </a:r>
            <a:r>
              <a:rPr sz="2750" spc="9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early.</a:t>
            </a:r>
            <a:endParaRPr sz="2750">
              <a:latin typeface="Cambria"/>
              <a:cs typeface="Cambria"/>
            </a:endParaRPr>
          </a:p>
          <a:p>
            <a:pPr marL="478155" marR="417195" indent="-284480">
              <a:lnSpc>
                <a:spcPts val="3160"/>
              </a:lnSpc>
              <a:spcBef>
                <a:spcPts val="680"/>
              </a:spcBef>
              <a:buChar char="•"/>
              <a:tabLst>
                <a:tab pos="480059" algn="l"/>
              </a:tabLst>
            </a:pPr>
            <a:r>
              <a:rPr sz="2750" spc="114" dirty="0">
                <a:latin typeface="Cambria"/>
                <a:cs typeface="Cambria"/>
              </a:rPr>
              <a:t>Helps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prevent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misunderstandings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and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incorrect</a:t>
            </a:r>
            <a:r>
              <a:rPr sz="2750" spc="10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assumptions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40" dirty="0">
                <a:latin typeface="Cambria"/>
                <a:cs typeface="Cambria"/>
              </a:rPr>
              <a:t>in 	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design.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45" dirty="0"/>
              <a:t> </a:t>
            </a:r>
            <a:r>
              <a:rPr sz="3200" spc="140" dirty="0"/>
              <a:t>Process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047750"/>
            <a:ext cx="10620375" cy="53625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65" dirty="0"/>
              <a:t> </a:t>
            </a:r>
            <a:r>
              <a:rPr sz="3200" spc="75" dirty="0"/>
              <a:t>Overview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05141"/>
            <a:ext cx="11236325" cy="5155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715" indent="-232410">
              <a:lnSpc>
                <a:spcPct val="138900"/>
              </a:lnSpc>
              <a:spcBef>
                <a:spcPts val="90"/>
              </a:spcBef>
              <a:buSzPct val="96875"/>
              <a:buFont typeface="Wingdings"/>
              <a:buChar char=""/>
              <a:tabLst>
                <a:tab pos="241300" algn="l"/>
                <a:tab pos="334010" algn="l"/>
              </a:tabLst>
            </a:pPr>
            <a:r>
              <a:rPr sz="3200" dirty="0">
                <a:latin typeface="Cambria"/>
                <a:cs typeface="Cambria"/>
              </a:rPr>
              <a:t>	These</a:t>
            </a:r>
            <a:r>
              <a:rPr sz="3200" spc="21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concepts</a:t>
            </a:r>
            <a:r>
              <a:rPr sz="3200" spc="270" dirty="0">
                <a:latin typeface="Cambria"/>
                <a:cs typeface="Cambria"/>
              </a:rPr>
              <a:t> </a:t>
            </a:r>
            <a:r>
              <a:rPr sz="3200" spc="65" dirty="0">
                <a:latin typeface="Cambria"/>
                <a:cs typeface="Cambria"/>
              </a:rPr>
              <a:t>help</a:t>
            </a:r>
            <a:r>
              <a:rPr sz="3200" spc="225" dirty="0">
                <a:latin typeface="Cambria"/>
                <a:cs typeface="Cambria"/>
              </a:rPr>
              <a:t> </a:t>
            </a:r>
            <a:r>
              <a:rPr sz="3200" spc="80" dirty="0">
                <a:latin typeface="Cambria"/>
                <a:cs typeface="Cambria"/>
              </a:rPr>
              <a:t>in</a:t>
            </a:r>
            <a:r>
              <a:rPr sz="3200" spc="195" dirty="0"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FF0000"/>
                </a:solidFill>
                <a:latin typeface="Cambria"/>
                <a:cs typeface="Cambria"/>
              </a:rPr>
              <a:t>creating</a:t>
            </a:r>
            <a:r>
              <a:rPr sz="3200" spc="2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FF0000"/>
                </a:solidFill>
                <a:latin typeface="Cambria"/>
                <a:cs typeface="Cambria"/>
              </a:rPr>
              <a:t>better</a:t>
            </a:r>
            <a:r>
              <a:rPr sz="3200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200" spc="60" dirty="0">
                <a:solidFill>
                  <a:srgbClr val="FF0000"/>
                </a:solidFill>
                <a:latin typeface="Cambria"/>
                <a:cs typeface="Cambria"/>
              </a:rPr>
              <a:t>designs</a:t>
            </a:r>
            <a:r>
              <a:rPr sz="3200" spc="2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200" spc="95" dirty="0">
                <a:latin typeface="Cambria"/>
                <a:cs typeface="Cambria"/>
              </a:rPr>
              <a:t>and</a:t>
            </a:r>
            <a:r>
              <a:rPr sz="3200" spc="240" dirty="0">
                <a:latin typeface="Cambria"/>
                <a:cs typeface="Cambria"/>
              </a:rPr>
              <a:t> </a:t>
            </a:r>
            <a:r>
              <a:rPr sz="3200" spc="90" dirty="0">
                <a:latin typeface="Cambria"/>
                <a:cs typeface="Cambria"/>
              </a:rPr>
              <a:t>applying </a:t>
            </a:r>
            <a:r>
              <a:rPr sz="3200" dirty="0">
                <a:latin typeface="Cambria"/>
                <a:cs typeface="Cambria"/>
              </a:rPr>
              <a:t>more</a:t>
            </a:r>
            <a:r>
              <a:rPr sz="3200" spc="110" dirty="0">
                <a:latin typeface="Cambria"/>
                <a:cs typeface="Cambria"/>
              </a:rPr>
              <a:t> </a:t>
            </a:r>
            <a:r>
              <a:rPr sz="3200" spc="80" dirty="0">
                <a:latin typeface="Cambria"/>
                <a:cs typeface="Cambria"/>
              </a:rPr>
              <a:t>advanced</a:t>
            </a:r>
            <a:r>
              <a:rPr sz="3200" spc="114" dirty="0">
                <a:latin typeface="Cambria"/>
                <a:cs typeface="Cambria"/>
              </a:rPr>
              <a:t> </a:t>
            </a:r>
            <a:r>
              <a:rPr sz="3200" spc="65" dirty="0">
                <a:latin typeface="Cambria"/>
                <a:cs typeface="Cambria"/>
              </a:rPr>
              <a:t>design</a:t>
            </a:r>
            <a:r>
              <a:rPr sz="3200" spc="110" dirty="0">
                <a:latin typeface="Cambria"/>
                <a:cs typeface="Cambria"/>
              </a:rPr>
              <a:t> </a:t>
            </a:r>
            <a:r>
              <a:rPr sz="3200" spc="55" dirty="0">
                <a:latin typeface="Cambria"/>
                <a:cs typeface="Cambria"/>
              </a:rPr>
              <a:t>methods.</a:t>
            </a:r>
            <a:endParaRPr sz="3200">
              <a:latin typeface="Cambria"/>
              <a:cs typeface="Cambria"/>
            </a:endParaRPr>
          </a:p>
          <a:p>
            <a:pPr marL="241300" marR="6985" indent="-232410">
              <a:lnSpc>
                <a:spcPct val="1408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241300" algn="l"/>
                <a:tab pos="334010" algn="l"/>
                <a:tab pos="1508125" algn="l"/>
                <a:tab pos="2807335" algn="l"/>
                <a:tab pos="4637405" algn="l"/>
                <a:tab pos="6630670" algn="l"/>
                <a:tab pos="7252970" algn="l"/>
                <a:tab pos="9409430" algn="l"/>
              </a:tabLst>
            </a:pPr>
            <a:r>
              <a:rPr sz="3200" spc="55" dirty="0">
                <a:latin typeface="Cambria"/>
                <a:cs typeface="Cambria"/>
              </a:rPr>
              <a:t>	They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80" dirty="0">
                <a:latin typeface="Cambria"/>
                <a:cs typeface="Cambria"/>
              </a:rPr>
              <a:t>guide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-10" dirty="0">
                <a:latin typeface="Cambria"/>
                <a:cs typeface="Cambria"/>
              </a:rPr>
              <a:t>software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-10" dirty="0">
                <a:latin typeface="Cambria"/>
                <a:cs typeface="Cambria"/>
              </a:rPr>
              <a:t>designers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55" dirty="0">
                <a:latin typeface="Cambria"/>
                <a:cs typeface="Cambria"/>
              </a:rPr>
              <a:t>in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40" dirty="0">
                <a:latin typeface="Cambria"/>
                <a:cs typeface="Cambria"/>
              </a:rPr>
              <a:t>answering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3200" spc="-10" dirty="0">
                <a:latin typeface="Cambria"/>
                <a:cs typeface="Cambria"/>
              </a:rPr>
              <a:t>important questions:</a:t>
            </a:r>
            <a:endParaRPr sz="3200">
              <a:latin typeface="Cambria"/>
              <a:cs typeface="Cambria"/>
            </a:endParaRPr>
          </a:p>
          <a:p>
            <a:pPr marL="751840" lvl="1" indent="-281940">
              <a:lnSpc>
                <a:spcPct val="100000"/>
              </a:lnSpc>
              <a:spcBef>
                <a:spcPts val="1490"/>
              </a:spcBef>
              <a:buSzPct val="96363"/>
              <a:buFont typeface="Wingdings"/>
              <a:buChar char=""/>
              <a:tabLst>
                <a:tab pos="751840" algn="l"/>
              </a:tabLst>
            </a:pPr>
            <a:r>
              <a:rPr sz="2750" spc="210" dirty="0">
                <a:solidFill>
                  <a:srgbClr val="FF0000"/>
                </a:solidFill>
                <a:latin typeface="Cambria"/>
                <a:cs typeface="Cambria"/>
              </a:rPr>
              <a:t>How</a:t>
            </a:r>
            <a:r>
              <a:rPr sz="2750" spc="2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750" spc="2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105" dirty="0">
                <a:solidFill>
                  <a:srgbClr val="FF0000"/>
                </a:solidFill>
                <a:latin typeface="Cambria"/>
                <a:cs typeface="Cambria"/>
              </a:rPr>
              <a:t>divide</a:t>
            </a:r>
            <a:r>
              <a:rPr sz="2750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software</a:t>
            </a:r>
            <a:r>
              <a:rPr sz="2750" spc="2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into</a:t>
            </a:r>
            <a:r>
              <a:rPr sz="2750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smaller</a:t>
            </a:r>
            <a:r>
              <a:rPr sz="275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45" dirty="0">
                <a:solidFill>
                  <a:srgbClr val="FF0000"/>
                </a:solidFill>
                <a:latin typeface="Cambria"/>
                <a:cs typeface="Cambria"/>
              </a:rPr>
              <a:t>components?</a:t>
            </a:r>
            <a:endParaRPr sz="2750">
              <a:latin typeface="Cambria"/>
              <a:cs typeface="Cambria"/>
            </a:endParaRPr>
          </a:p>
          <a:p>
            <a:pPr marL="699135" marR="5080" lvl="1" indent="-229235">
              <a:lnSpc>
                <a:spcPts val="4730"/>
              </a:lnSpc>
              <a:spcBef>
                <a:spcPts val="320"/>
              </a:spcBef>
              <a:buSzPct val="96363"/>
              <a:buFont typeface="Wingdings"/>
              <a:buChar char=""/>
              <a:tabLst>
                <a:tab pos="699135" algn="l"/>
                <a:tab pos="752475" algn="l"/>
              </a:tabLst>
            </a:pPr>
            <a:r>
              <a:rPr sz="2750" spc="215" dirty="0">
                <a:solidFill>
                  <a:srgbClr val="FF0000"/>
                </a:solidFill>
                <a:latin typeface="Cambria"/>
                <a:cs typeface="Cambria"/>
              </a:rPr>
              <a:t>	How</a:t>
            </a:r>
            <a:r>
              <a:rPr sz="2750" spc="3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750" spc="3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separate</a:t>
            </a:r>
            <a:r>
              <a:rPr sz="2750" spc="3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details</a:t>
            </a:r>
            <a:r>
              <a:rPr sz="2750" spc="3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750" spc="3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FF0000"/>
                </a:solidFill>
                <a:latin typeface="Cambria"/>
                <a:cs typeface="Cambria"/>
              </a:rPr>
              <a:t>functions</a:t>
            </a:r>
            <a:r>
              <a:rPr sz="2750" spc="3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9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750" spc="3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7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750" spc="3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structures</a:t>
            </a:r>
            <a:r>
              <a:rPr sz="2750" spc="3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70" dirty="0">
                <a:solidFill>
                  <a:srgbClr val="FF0000"/>
                </a:solidFill>
                <a:latin typeface="Cambria"/>
                <a:cs typeface="Cambria"/>
              </a:rPr>
              <a:t>from</a:t>
            </a:r>
            <a:r>
              <a:rPr sz="2750" spc="3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25" dirty="0">
                <a:solidFill>
                  <a:srgbClr val="FF0000"/>
                </a:solidFill>
                <a:latin typeface="Cambria"/>
                <a:cs typeface="Cambria"/>
              </a:rPr>
              <a:t>the </a:t>
            </a:r>
            <a:r>
              <a:rPr sz="2750" spc="50" dirty="0">
                <a:solidFill>
                  <a:srgbClr val="FF0000"/>
                </a:solidFill>
                <a:latin typeface="Cambria"/>
                <a:cs typeface="Cambria"/>
              </a:rPr>
              <a:t>overall</a:t>
            </a:r>
            <a:r>
              <a:rPr sz="2750" spc="2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software</a:t>
            </a:r>
            <a:r>
              <a:rPr sz="2750" spc="2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35" dirty="0">
                <a:solidFill>
                  <a:srgbClr val="FF0000"/>
                </a:solidFill>
                <a:latin typeface="Cambria"/>
                <a:cs typeface="Cambria"/>
              </a:rPr>
              <a:t>concept?</a:t>
            </a:r>
            <a:endParaRPr sz="2750">
              <a:latin typeface="Cambria"/>
              <a:cs typeface="Cambria"/>
            </a:endParaRPr>
          </a:p>
          <a:p>
            <a:pPr marL="751840" lvl="1" indent="-281940">
              <a:lnSpc>
                <a:spcPct val="100000"/>
              </a:lnSpc>
              <a:spcBef>
                <a:spcPts val="1040"/>
              </a:spcBef>
              <a:buSzPct val="96363"/>
              <a:buFont typeface="Wingdings"/>
              <a:buChar char=""/>
              <a:tabLst>
                <a:tab pos="751840" algn="l"/>
              </a:tabLst>
            </a:pPr>
            <a:r>
              <a:rPr sz="2750" spc="100" dirty="0">
                <a:solidFill>
                  <a:srgbClr val="FF0000"/>
                </a:solidFill>
                <a:latin typeface="Cambria"/>
                <a:cs typeface="Cambria"/>
              </a:rPr>
              <a:t>What</a:t>
            </a:r>
            <a:r>
              <a:rPr sz="2750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45" dirty="0">
                <a:solidFill>
                  <a:srgbClr val="FF0000"/>
                </a:solidFill>
                <a:latin typeface="Cambria"/>
                <a:cs typeface="Cambria"/>
              </a:rPr>
              <a:t>standards</a:t>
            </a:r>
            <a:r>
              <a:rPr sz="2750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65" dirty="0">
                <a:solidFill>
                  <a:srgbClr val="FF0000"/>
                </a:solidFill>
                <a:latin typeface="Cambria"/>
                <a:cs typeface="Cambria"/>
              </a:rPr>
              <a:t>define</a:t>
            </a:r>
            <a:r>
              <a:rPr sz="2750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75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90" dirty="0">
                <a:solidFill>
                  <a:srgbClr val="FF0000"/>
                </a:solidFill>
                <a:latin typeface="Cambria"/>
                <a:cs typeface="Cambria"/>
              </a:rPr>
              <a:t>high-</a:t>
            </a:r>
            <a:r>
              <a:rPr sz="2750" spc="70" dirty="0">
                <a:solidFill>
                  <a:srgbClr val="FF0000"/>
                </a:solidFill>
                <a:latin typeface="Cambria"/>
                <a:cs typeface="Cambria"/>
              </a:rPr>
              <a:t>quality</a:t>
            </a:r>
            <a:r>
              <a:rPr sz="2750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software</a:t>
            </a:r>
            <a:r>
              <a:rPr sz="2750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70" dirty="0">
                <a:solidFill>
                  <a:srgbClr val="FF0000"/>
                </a:solidFill>
                <a:latin typeface="Cambria"/>
                <a:cs typeface="Cambria"/>
              </a:rPr>
              <a:t>design?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395" dirty="0"/>
              <a:t>1.</a:t>
            </a:r>
            <a:r>
              <a:rPr sz="3200" spc="225" dirty="0"/>
              <a:t> </a:t>
            </a:r>
            <a:r>
              <a:rPr sz="3200" spc="120" dirty="0"/>
              <a:t>Abstraction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11229975" cy="4302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55" dirty="0">
                <a:latin typeface="Cambria"/>
                <a:cs typeface="Cambria"/>
              </a:rPr>
              <a:t>Abstraction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helps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E64722"/>
                </a:solidFill>
                <a:latin typeface="Cambria"/>
                <a:cs typeface="Cambria"/>
              </a:rPr>
              <a:t>breaking</a:t>
            </a:r>
            <a:r>
              <a:rPr sz="2750" spc="17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114" dirty="0">
                <a:solidFill>
                  <a:srgbClr val="E64722"/>
                </a:solidFill>
                <a:latin typeface="Cambria"/>
                <a:cs typeface="Cambria"/>
              </a:rPr>
              <a:t>down</a:t>
            </a:r>
            <a:r>
              <a:rPr sz="2750" spc="17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a</a:t>
            </a:r>
            <a:r>
              <a:rPr sz="2750" spc="14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E64722"/>
                </a:solidFill>
                <a:latin typeface="Cambria"/>
                <a:cs typeface="Cambria"/>
              </a:rPr>
              <a:t>problem</a:t>
            </a:r>
            <a:r>
              <a:rPr sz="2750" spc="15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into</a:t>
            </a:r>
            <a:r>
              <a:rPr sz="2750" spc="11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45" dirty="0">
                <a:solidFill>
                  <a:srgbClr val="E64722"/>
                </a:solidFill>
                <a:latin typeface="Cambria"/>
                <a:cs typeface="Cambria"/>
              </a:rPr>
              <a:t>different</a:t>
            </a:r>
            <a:r>
              <a:rPr sz="2750" spc="13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45" dirty="0">
                <a:solidFill>
                  <a:srgbClr val="E64722"/>
                </a:solidFill>
                <a:latin typeface="Cambria"/>
                <a:cs typeface="Cambria"/>
              </a:rPr>
              <a:t>levels</a:t>
            </a:r>
            <a:r>
              <a:rPr sz="2750" spc="45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80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41300" marR="5080" indent="-229235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005" algn="l"/>
                <a:tab pos="2338705" algn="l"/>
                <a:tab pos="2801620" algn="l"/>
                <a:tab pos="3502660" algn="l"/>
                <a:tab pos="4888230" algn="l"/>
                <a:tab pos="5409565" algn="l"/>
                <a:tab pos="6654165" algn="l"/>
                <a:tab pos="9372600" algn="l"/>
                <a:tab pos="10620375" algn="l"/>
              </a:tabLst>
            </a:pPr>
            <a:r>
              <a:rPr sz="2750" spc="45" dirty="0">
                <a:latin typeface="Cambria"/>
                <a:cs typeface="Cambria"/>
              </a:rPr>
              <a:t>	Abstraction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is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the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E64722"/>
                </a:solidFill>
                <a:latin typeface="Cambria"/>
                <a:cs typeface="Cambria"/>
              </a:rPr>
              <a:t>process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30" dirty="0">
                <a:solidFill>
                  <a:srgbClr val="E64722"/>
                </a:solidFill>
                <a:latin typeface="Cambria"/>
                <a:cs typeface="Cambria"/>
              </a:rPr>
              <a:t>of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95" dirty="0">
                <a:solidFill>
                  <a:srgbClr val="E64722"/>
                </a:solidFill>
                <a:latin typeface="Cambria"/>
                <a:cs typeface="Cambria"/>
              </a:rPr>
              <a:t>hiding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50" dirty="0">
                <a:solidFill>
                  <a:srgbClr val="E64722"/>
                </a:solidFill>
                <a:latin typeface="Cambria"/>
                <a:cs typeface="Cambria"/>
              </a:rPr>
              <a:t>implementation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E64722"/>
                </a:solidFill>
                <a:latin typeface="Cambria"/>
                <a:cs typeface="Cambria"/>
              </a:rPr>
              <a:t>details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and </a:t>
            </a:r>
            <a:r>
              <a:rPr sz="2750" spc="95" dirty="0">
                <a:solidFill>
                  <a:srgbClr val="E64722"/>
                </a:solidFill>
                <a:latin typeface="Cambria"/>
                <a:cs typeface="Cambria"/>
              </a:rPr>
              <a:t>showing</a:t>
            </a:r>
            <a:r>
              <a:rPr sz="2750" spc="19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85" dirty="0">
                <a:solidFill>
                  <a:srgbClr val="E64722"/>
                </a:solidFill>
                <a:latin typeface="Cambria"/>
                <a:cs typeface="Cambria"/>
              </a:rPr>
              <a:t>only</a:t>
            </a:r>
            <a:r>
              <a:rPr sz="2750" spc="21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essential</a:t>
            </a:r>
            <a:r>
              <a:rPr sz="2750" spc="18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features</a:t>
            </a:r>
            <a:r>
              <a:rPr sz="2750" spc="24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60" dirty="0">
                <a:solidFill>
                  <a:srgbClr val="E64722"/>
                </a:solidFill>
                <a:latin typeface="Cambria"/>
                <a:cs typeface="Cambria"/>
              </a:rPr>
              <a:t>of</a:t>
            </a:r>
            <a:r>
              <a:rPr sz="2750" spc="24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a</a:t>
            </a:r>
            <a:r>
              <a:rPr sz="2750" spc="21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software</a:t>
            </a:r>
            <a:r>
              <a:rPr sz="2750" spc="25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E64722"/>
                </a:solidFill>
                <a:latin typeface="Cambria"/>
                <a:cs typeface="Cambria"/>
              </a:rPr>
              <a:t>system</a:t>
            </a:r>
            <a:r>
              <a:rPr sz="2750" spc="5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730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41300" marR="5715" indent="-229235">
              <a:lnSpc>
                <a:spcPct val="154800"/>
              </a:lnSpc>
              <a:buSzPct val="96363"/>
              <a:buFont typeface="Wingdings"/>
              <a:buChar char=""/>
              <a:tabLst>
                <a:tab pos="241300" algn="l"/>
                <a:tab pos="294005" algn="l"/>
                <a:tab pos="661670" algn="l"/>
                <a:tab pos="1638935" algn="l"/>
                <a:tab pos="2080260" algn="l"/>
                <a:tab pos="3619500" algn="l"/>
                <a:tab pos="5506720" algn="l"/>
                <a:tab pos="6034405" algn="l"/>
                <a:tab pos="7549515" algn="l"/>
                <a:tab pos="9413240" algn="l"/>
                <a:tab pos="9854565" algn="l"/>
                <a:tab pos="10822305" algn="l"/>
              </a:tabLst>
            </a:pPr>
            <a:r>
              <a:rPr sz="2750" spc="-25" dirty="0">
                <a:latin typeface="Cambria"/>
                <a:cs typeface="Cambria"/>
              </a:rPr>
              <a:t>	It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5" dirty="0">
                <a:latin typeface="Cambria"/>
                <a:cs typeface="Cambria"/>
              </a:rPr>
              <a:t>helps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0" dirty="0">
                <a:latin typeface="Cambria"/>
                <a:cs typeface="Cambria"/>
              </a:rPr>
              <a:t>in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5" dirty="0">
                <a:solidFill>
                  <a:srgbClr val="E64722"/>
                </a:solidFill>
                <a:latin typeface="Cambria"/>
                <a:cs typeface="Cambria"/>
              </a:rPr>
              <a:t>reducing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60" dirty="0">
                <a:solidFill>
                  <a:srgbClr val="E64722"/>
                </a:solidFill>
                <a:latin typeface="Cambria"/>
                <a:cs typeface="Cambria"/>
              </a:rPr>
              <a:t>complexity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75" dirty="0">
                <a:latin typeface="Cambria"/>
                <a:cs typeface="Cambria"/>
              </a:rPr>
              <a:t>by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latin typeface="Cambria"/>
                <a:cs typeface="Cambria"/>
              </a:rPr>
              <a:t>allowing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0" dirty="0">
                <a:latin typeface="Cambria"/>
                <a:cs typeface="Cambria"/>
              </a:rPr>
              <a:t>developers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to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0" dirty="0">
                <a:solidFill>
                  <a:srgbClr val="E64722"/>
                </a:solidFill>
                <a:latin typeface="Cambria"/>
                <a:cs typeface="Cambria"/>
              </a:rPr>
              <a:t>focus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-25" dirty="0">
                <a:solidFill>
                  <a:srgbClr val="E64722"/>
                </a:solidFill>
                <a:latin typeface="Cambria"/>
                <a:cs typeface="Cambria"/>
              </a:rPr>
              <a:t>on </a:t>
            </a:r>
            <a:r>
              <a:rPr sz="2750" spc="90" dirty="0">
                <a:solidFill>
                  <a:srgbClr val="E64722"/>
                </a:solidFill>
                <a:latin typeface="Cambria"/>
                <a:cs typeface="Cambria"/>
              </a:rPr>
              <a:t>what</a:t>
            </a:r>
            <a:r>
              <a:rPr sz="2750" spc="7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a</a:t>
            </a:r>
            <a:r>
              <a:rPr sz="2750" spc="13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E64722"/>
                </a:solidFill>
                <a:latin typeface="Cambria"/>
                <a:cs typeface="Cambria"/>
              </a:rPr>
              <a:t>system</a:t>
            </a:r>
            <a:r>
              <a:rPr sz="2750" spc="11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E64722"/>
                </a:solidFill>
                <a:latin typeface="Cambria"/>
                <a:cs typeface="Cambria"/>
              </a:rPr>
              <a:t>does</a:t>
            </a:r>
            <a:r>
              <a:rPr sz="2750" spc="13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rather</a:t>
            </a:r>
            <a:r>
              <a:rPr sz="2750" spc="114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E64722"/>
                </a:solidFill>
                <a:latin typeface="Cambria"/>
                <a:cs typeface="Cambria"/>
              </a:rPr>
              <a:t>than</a:t>
            </a:r>
            <a:r>
              <a:rPr sz="2750" spc="9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110" dirty="0">
                <a:solidFill>
                  <a:srgbClr val="E64722"/>
                </a:solidFill>
                <a:latin typeface="Cambria"/>
                <a:cs typeface="Cambria"/>
              </a:rPr>
              <a:t>how</a:t>
            </a:r>
            <a:r>
              <a:rPr sz="2750" spc="13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it</a:t>
            </a:r>
            <a:r>
              <a:rPr sz="2750" spc="11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is</a:t>
            </a:r>
            <a:r>
              <a:rPr sz="2750" spc="11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70" dirty="0">
                <a:solidFill>
                  <a:srgbClr val="E64722"/>
                </a:solidFill>
                <a:latin typeface="Cambria"/>
                <a:cs typeface="Cambria"/>
              </a:rPr>
              <a:t>implemented</a:t>
            </a:r>
            <a:r>
              <a:rPr sz="2750" spc="7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395" dirty="0"/>
              <a:t>1.</a:t>
            </a:r>
            <a:r>
              <a:rPr sz="3200" spc="225" dirty="0"/>
              <a:t> </a:t>
            </a:r>
            <a:r>
              <a:rPr sz="3200" spc="120" dirty="0"/>
              <a:t>Abstraction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3225" y="1044575"/>
          <a:ext cx="11385550" cy="5237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Abstraction</a:t>
                      </a:r>
                      <a:r>
                        <a:rPr sz="2000" b="1" spc="3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Types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Definition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Example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440">
                <a:tc>
                  <a:txBody>
                    <a:bodyPr/>
                    <a:lstStyle/>
                    <a:p>
                      <a:pPr marL="91440" marR="112903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Procedural Abstraction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77470" algn="just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20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refers</a:t>
                      </a:r>
                      <a:r>
                        <a:rPr sz="20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0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breaking</a:t>
                      </a:r>
                      <a:r>
                        <a:rPr sz="2000" spc="16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7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down</a:t>
                      </a:r>
                      <a:r>
                        <a:rPr sz="2000" spc="18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a</a:t>
                      </a:r>
                      <a:r>
                        <a:rPr sz="2000" spc="19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process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into</a:t>
                      </a:r>
                      <a:r>
                        <a:rPr sz="2000" spc="36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well-defined</a:t>
                      </a:r>
                      <a:r>
                        <a:rPr sz="2000" spc="37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  </a:t>
                      </a:r>
                      <a:r>
                        <a:rPr sz="20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procedures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(functions</a:t>
                      </a:r>
                      <a:r>
                        <a:rPr sz="2000" spc="2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2000" spc="1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methods)</a:t>
                      </a:r>
                      <a:r>
                        <a:rPr sz="2000" spc="2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that</a:t>
                      </a:r>
                      <a:r>
                        <a:rPr sz="2000" spc="2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perform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specific</a:t>
                      </a:r>
                      <a:r>
                        <a:rPr sz="2000" spc="47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tasks</a:t>
                      </a:r>
                      <a:r>
                        <a:rPr sz="2000" spc="4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without</a:t>
                      </a:r>
                      <a:r>
                        <a:rPr sz="2000" spc="3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4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exposing</a:t>
                      </a:r>
                      <a:r>
                        <a:rPr sz="2000" spc="3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2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the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internal</a:t>
                      </a:r>
                      <a:r>
                        <a:rPr sz="2000" spc="15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implementation.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69850" algn="just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32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spc="4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function</a:t>
                      </a:r>
                      <a:r>
                        <a:rPr sz="2000" spc="459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calculateInterest(principal,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rate,</a:t>
                      </a:r>
                      <a:r>
                        <a:rPr sz="2000" spc="45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time)</a:t>
                      </a:r>
                      <a:r>
                        <a:rPr sz="2000" spc="43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that</a:t>
                      </a:r>
                      <a:r>
                        <a:rPr sz="2000" spc="42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computes</a:t>
                      </a:r>
                      <a:r>
                        <a:rPr sz="2000" spc="45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interest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without</a:t>
                      </a:r>
                      <a:r>
                        <a:rPr sz="2000" spc="32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revealing</a:t>
                      </a:r>
                      <a:r>
                        <a:rPr sz="2000" spc="31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34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mathematical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formula</a:t>
                      </a:r>
                      <a:r>
                        <a:rPr sz="2000" spc="3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inside.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2000" b="1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Abstraction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76200" indent="63500" algn="just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2000" spc="2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refers</a:t>
                      </a:r>
                      <a:r>
                        <a:rPr sz="2000" spc="2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000" spc="2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5" dirty="0">
                          <a:latin typeface="Cambria"/>
                          <a:cs typeface="Cambria"/>
                        </a:rPr>
                        <a:t>defining</a:t>
                      </a:r>
                      <a:r>
                        <a:rPr sz="2000" spc="2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data</a:t>
                      </a:r>
                      <a:r>
                        <a:rPr sz="2000" spc="3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structures </a:t>
                      </a:r>
                      <a:r>
                        <a:rPr sz="2000" spc="5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sz="2000" spc="3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a</a:t>
                      </a:r>
                      <a:r>
                        <a:rPr sz="2000" spc="30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spc="9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way</a:t>
                      </a:r>
                      <a:r>
                        <a:rPr sz="2000" spc="29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that</a:t>
                      </a:r>
                      <a:r>
                        <a:rPr sz="2000" spc="29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hides</a:t>
                      </a:r>
                      <a:r>
                        <a:rPr sz="2000" spc="3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spc="-2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the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implementation</a:t>
                      </a:r>
                      <a:r>
                        <a:rPr sz="2000" spc="459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details</a:t>
                      </a:r>
                      <a:r>
                        <a:rPr sz="2000" spc="46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45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35" dirty="0">
                          <a:latin typeface="Cambria"/>
                          <a:cs typeface="Cambria"/>
                        </a:rPr>
                        <a:t>only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exposes</a:t>
                      </a:r>
                      <a:r>
                        <a:rPr sz="20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necessary</a:t>
                      </a:r>
                      <a:r>
                        <a:rPr sz="20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functionalities.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0485" algn="just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spc="32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8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Car</a:t>
                      </a:r>
                      <a:r>
                        <a:rPr sz="2000" spc="2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class</a:t>
                      </a:r>
                      <a:r>
                        <a:rPr sz="2000" spc="22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with</a:t>
                      </a:r>
                      <a:r>
                        <a:rPr sz="20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attributes</a:t>
                      </a:r>
                      <a:r>
                        <a:rPr sz="2000" spc="2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like</a:t>
                      </a:r>
                      <a:r>
                        <a:rPr sz="20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speed,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color,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4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methods</a:t>
                      </a:r>
                      <a:r>
                        <a:rPr sz="2000" spc="4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like</a:t>
                      </a:r>
                      <a:r>
                        <a:rPr sz="2000" spc="4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startEngine()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without</a:t>
                      </a:r>
                      <a:r>
                        <a:rPr sz="2000" spc="28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45" dirty="0">
                          <a:latin typeface="Cambria"/>
                          <a:cs typeface="Cambria"/>
                        </a:rPr>
                        <a:t>exposing</a:t>
                      </a:r>
                      <a:r>
                        <a:rPr sz="2000" spc="28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internal</a:t>
                      </a:r>
                      <a:r>
                        <a:rPr sz="2000" spc="30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engine mechanics.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4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50" dirty="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Abstraction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69850" algn="just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50" dirty="0">
                          <a:latin typeface="Cambria"/>
                          <a:cs typeface="Cambria"/>
                        </a:rPr>
                        <a:t>Control</a:t>
                      </a:r>
                      <a:r>
                        <a:rPr sz="20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abstraction</a:t>
                      </a:r>
                      <a:r>
                        <a:rPr sz="20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hides</a:t>
                      </a:r>
                      <a:r>
                        <a:rPr sz="20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1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details </a:t>
                      </a:r>
                      <a:r>
                        <a:rPr sz="2000" spc="65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2000" spc="2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control</a:t>
                      </a:r>
                      <a:r>
                        <a:rPr sz="2000" spc="2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65" dirty="0">
                          <a:latin typeface="Cambria"/>
                          <a:cs typeface="Cambria"/>
                        </a:rPr>
                        <a:t>flow</a:t>
                      </a:r>
                      <a:r>
                        <a:rPr sz="2000" spc="3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2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execution</a:t>
                      </a:r>
                      <a:r>
                        <a:rPr sz="2000" spc="3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logic, </a:t>
                      </a:r>
                      <a:r>
                        <a:rPr sz="2000" spc="55" dirty="0">
                          <a:latin typeface="Cambria"/>
                          <a:cs typeface="Cambria"/>
                        </a:rPr>
                        <a:t>allowing</a:t>
                      </a:r>
                      <a:r>
                        <a:rPr sz="2000" spc="36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developers</a:t>
                      </a:r>
                      <a:r>
                        <a:rPr sz="2000" spc="35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000" spc="34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focus</a:t>
                      </a:r>
                      <a:r>
                        <a:rPr sz="2000" spc="37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on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high-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level</a:t>
                      </a:r>
                      <a:r>
                        <a:rPr sz="2000" spc="27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tasks</a:t>
                      </a:r>
                      <a:r>
                        <a:rPr sz="2000" spc="2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rather</a:t>
                      </a:r>
                      <a:r>
                        <a:rPr sz="2000" spc="27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than</a:t>
                      </a:r>
                      <a:r>
                        <a:rPr sz="2000" spc="26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low-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level</a:t>
                      </a:r>
                      <a:r>
                        <a:rPr sz="20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control</a:t>
                      </a:r>
                      <a:r>
                        <a:rPr sz="20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mechanisms.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2390" algn="just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Loops</a:t>
                      </a:r>
                      <a:r>
                        <a:rPr sz="2000" spc="229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9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&amp;</a:t>
                      </a:r>
                      <a:r>
                        <a:rPr sz="2000" spc="17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Iterators</a:t>
                      </a:r>
                      <a:r>
                        <a:rPr sz="2000" spc="2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Instead</a:t>
                      </a:r>
                      <a:r>
                        <a:rPr sz="20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65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20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manually 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managing</a:t>
                      </a:r>
                      <a:r>
                        <a:rPr sz="2000" spc="41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loop</a:t>
                      </a:r>
                      <a:r>
                        <a:rPr sz="2000" spc="409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counters</a:t>
                      </a:r>
                      <a:r>
                        <a:rPr sz="2000" spc="41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and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conditions,</a:t>
                      </a:r>
                      <a:r>
                        <a:rPr sz="2000" spc="3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we</a:t>
                      </a:r>
                      <a:r>
                        <a:rPr sz="2000" spc="3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use</a:t>
                      </a:r>
                      <a:r>
                        <a:rPr sz="2000" spc="3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constructs</a:t>
                      </a:r>
                      <a:r>
                        <a:rPr sz="2000" spc="3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like</a:t>
                      </a:r>
                      <a:r>
                        <a:rPr sz="2000" spc="2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for-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each</a:t>
                      </a:r>
                      <a:r>
                        <a:rPr sz="20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loops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20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395" dirty="0"/>
              <a:t>1.</a:t>
            </a:r>
            <a:r>
              <a:rPr sz="3200" spc="229" dirty="0"/>
              <a:t> </a:t>
            </a:r>
            <a:r>
              <a:rPr sz="3200" spc="130" dirty="0"/>
              <a:t>Abstraction</a:t>
            </a:r>
            <a:r>
              <a:rPr sz="3200" spc="300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65" dirty="0"/>
              <a:t>Data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66228"/>
            <a:ext cx="2191385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latin typeface="Cambria"/>
                <a:cs typeface="Cambria"/>
              </a:rPr>
              <a:t>#include</a:t>
            </a:r>
            <a:r>
              <a:rPr sz="1800" spc="28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&lt;iostream&gt; </a:t>
            </a:r>
            <a:r>
              <a:rPr sz="1800" spc="50" dirty="0">
                <a:latin typeface="Cambria"/>
                <a:cs typeface="Cambria"/>
              </a:rPr>
              <a:t>using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namespace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std;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950" y="1896173"/>
            <a:ext cx="6120765" cy="84391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4377690">
              <a:lnSpc>
                <a:spcPts val="2100"/>
              </a:lnSpc>
              <a:spcBef>
                <a:spcPts val="220"/>
              </a:spcBef>
            </a:pPr>
            <a:r>
              <a:rPr sz="1800" dirty="0">
                <a:latin typeface="Cambria"/>
                <a:cs typeface="Cambria"/>
              </a:rPr>
              <a:t>class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Calculator</a:t>
            </a:r>
            <a:r>
              <a:rPr sz="1800" spc="285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{ </a:t>
            </a:r>
            <a:r>
              <a:rPr sz="1800" spc="-10" dirty="0">
                <a:solidFill>
                  <a:srgbClr val="FF0000"/>
                </a:solidFill>
                <a:latin typeface="Cambria"/>
                <a:cs typeface="Cambria"/>
              </a:rPr>
              <a:t>private: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ts val="2120"/>
              </a:lnSpc>
            </a:pP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int</a:t>
            </a:r>
            <a:r>
              <a:rPr sz="18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result;</a:t>
            </a:r>
            <a:r>
              <a:rPr sz="1800" spc="10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800" spc="215" dirty="0">
                <a:latin typeface="Cambria"/>
                <a:cs typeface="Cambria"/>
              </a:rPr>
              <a:t>//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Private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attribute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(hidden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from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direct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access)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8950" y="2993072"/>
            <a:ext cx="6445885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"/>
                <a:cs typeface="Cambria"/>
              </a:rPr>
              <a:t>public: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Cambria"/>
                <a:cs typeface="Cambria"/>
              </a:rPr>
              <a:t>Calculator()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: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result(0)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{}</a:t>
            </a:r>
            <a:r>
              <a:rPr sz="1800" spc="90" dirty="0">
                <a:latin typeface="Cambria"/>
                <a:cs typeface="Cambria"/>
              </a:rPr>
              <a:t>  </a:t>
            </a:r>
            <a:r>
              <a:rPr sz="1800" spc="215" dirty="0">
                <a:latin typeface="Cambria"/>
                <a:cs typeface="Cambria"/>
              </a:rPr>
              <a:t>//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Constructor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initializes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result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0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7867" y="3813111"/>
            <a:ext cx="623824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int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getResult()</a:t>
            </a:r>
            <a:r>
              <a:rPr sz="18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const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{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return</a:t>
            </a:r>
            <a:r>
              <a:rPr sz="18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result;</a:t>
            </a:r>
            <a:r>
              <a:rPr sz="1800" spc="10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800" spc="215" dirty="0">
                <a:latin typeface="Cambria"/>
                <a:cs typeface="Cambria"/>
              </a:rPr>
              <a:t>//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Public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method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access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private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result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50" dirty="0">
                <a:latin typeface="Cambria"/>
                <a:cs typeface="Cambria"/>
              </a:rPr>
              <a:t>}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8950" y="4910137"/>
            <a:ext cx="2820670" cy="8534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41300" marR="5080">
              <a:lnSpc>
                <a:spcPct val="100800"/>
              </a:lnSpc>
              <a:spcBef>
                <a:spcPts val="85"/>
              </a:spcBef>
            </a:pPr>
            <a:r>
              <a:rPr sz="1800" spc="65" dirty="0">
                <a:latin typeface="Cambria"/>
                <a:cs typeface="Cambria"/>
              </a:rPr>
              <a:t>void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add(int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a,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int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b); </a:t>
            </a:r>
            <a:r>
              <a:rPr sz="1800" spc="65" dirty="0">
                <a:latin typeface="Cambria"/>
                <a:cs typeface="Cambria"/>
              </a:rPr>
              <a:t>void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subtract(int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a,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int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b);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25" dirty="0">
                <a:latin typeface="Cambria"/>
                <a:cs typeface="Cambria"/>
              </a:rPr>
              <a:t>};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09508" y="1098105"/>
            <a:ext cx="3611879" cy="253428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just">
              <a:lnSpc>
                <a:spcPct val="153500"/>
              </a:lnSpc>
              <a:spcBef>
                <a:spcPts val="40"/>
              </a:spcBef>
            </a:pPr>
            <a:r>
              <a:rPr sz="2150" dirty="0">
                <a:latin typeface="Cambria"/>
                <a:cs typeface="Cambria"/>
              </a:rPr>
              <a:t>The</a:t>
            </a:r>
            <a:r>
              <a:rPr sz="2150" spc="365" dirty="0">
                <a:latin typeface="Cambria"/>
                <a:cs typeface="Cambria"/>
              </a:rPr>
              <a:t>    </a:t>
            </a:r>
            <a:r>
              <a:rPr sz="2150" dirty="0">
                <a:latin typeface="Cambria"/>
                <a:cs typeface="Cambria"/>
              </a:rPr>
              <a:t>result</a:t>
            </a:r>
            <a:r>
              <a:rPr sz="2150" spc="380" dirty="0">
                <a:latin typeface="Cambria"/>
                <a:cs typeface="Cambria"/>
              </a:rPr>
              <a:t>    </a:t>
            </a:r>
            <a:r>
              <a:rPr sz="2150" dirty="0">
                <a:latin typeface="Cambria"/>
                <a:cs typeface="Cambria"/>
              </a:rPr>
              <a:t>variable</a:t>
            </a:r>
            <a:r>
              <a:rPr sz="2150" spc="360" dirty="0">
                <a:latin typeface="Cambria"/>
                <a:cs typeface="Cambria"/>
              </a:rPr>
              <a:t>    </a:t>
            </a:r>
            <a:r>
              <a:rPr sz="2150" spc="30" dirty="0">
                <a:latin typeface="Cambria"/>
                <a:cs typeface="Cambria"/>
              </a:rPr>
              <a:t>is </a:t>
            </a:r>
            <a:r>
              <a:rPr sz="2150" spc="55" dirty="0">
                <a:latin typeface="Cambria"/>
                <a:cs typeface="Cambria"/>
              </a:rPr>
              <a:t>private,</a:t>
            </a:r>
            <a:r>
              <a:rPr sz="2150" spc="235" dirty="0">
                <a:latin typeface="Cambria"/>
                <a:cs typeface="Cambria"/>
              </a:rPr>
              <a:t>  </a:t>
            </a:r>
            <a:r>
              <a:rPr sz="2150" spc="65" dirty="0">
                <a:latin typeface="Cambria"/>
                <a:cs typeface="Cambria"/>
              </a:rPr>
              <a:t>meaning</a:t>
            </a:r>
            <a:r>
              <a:rPr sz="2150" spc="26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it</a:t>
            </a:r>
            <a:r>
              <a:rPr sz="2150" spc="235" dirty="0">
                <a:latin typeface="Cambria"/>
                <a:cs typeface="Cambria"/>
              </a:rPr>
              <a:t>  </a:t>
            </a:r>
            <a:r>
              <a:rPr sz="2150" spc="-10" dirty="0">
                <a:latin typeface="Cambria"/>
                <a:cs typeface="Cambria"/>
              </a:rPr>
              <a:t>cannot </a:t>
            </a:r>
            <a:r>
              <a:rPr sz="2150" dirty="0">
                <a:latin typeface="Cambria"/>
                <a:cs typeface="Cambria"/>
              </a:rPr>
              <a:t>be</a:t>
            </a:r>
            <a:r>
              <a:rPr sz="2150" spc="509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accessed</a:t>
            </a:r>
            <a:r>
              <a:rPr sz="2150" spc="50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directly</a:t>
            </a:r>
            <a:r>
              <a:rPr sz="2150" spc="525" dirty="0">
                <a:latin typeface="Cambria"/>
                <a:cs typeface="Cambria"/>
              </a:rPr>
              <a:t>  </a:t>
            </a:r>
            <a:r>
              <a:rPr sz="2150" spc="45" dirty="0">
                <a:latin typeface="Cambria"/>
                <a:cs typeface="Cambria"/>
              </a:rPr>
              <a:t>from outside</a:t>
            </a:r>
            <a:r>
              <a:rPr sz="2150" spc="204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8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class.</a:t>
            </a:r>
            <a:r>
              <a:rPr sz="2150" spc="19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200" dirty="0">
                <a:latin typeface="Cambria"/>
                <a:cs typeface="Cambria"/>
              </a:rPr>
              <a:t>  </a:t>
            </a:r>
            <a:r>
              <a:rPr sz="2150" spc="-20" dirty="0">
                <a:latin typeface="Cambria"/>
                <a:cs typeface="Cambria"/>
              </a:rPr>
              <a:t>user </a:t>
            </a:r>
            <a:r>
              <a:rPr sz="2150" dirty="0">
                <a:latin typeface="Cambria"/>
                <a:cs typeface="Cambria"/>
              </a:rPr>
              <a:t>can</a:t>
            </a:r>
            <a:r>
              <a:rPr sz="2150" spc="285" dirty="0">
                <a:latin typeface="Cambria"/>
                <a:cs typeface="Cambria"/>
              </a:rPr>
              <a:t>  </a:t>
            </a:r>
            <a:r>
              <a:rPr sz="2150" spc="75" dirty="0">
                <a:latin typeface="Cambria"/>
                <a:cs typeface="Cambria"/>
              </a:rPr>
              <a:t>only</a:t>
            </a:r>
            <a:r>
              <a:rPr sz="2150" spc="28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access</a:t>
            </a:r>
            <a:r>
              <a:rPr sz="2150" spc="32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290" dirty="0">
                <a:latin typeface="Cambria"/>
                <a:cs typeface="Cambria"/>
              </a:rPr>
              <a:t>  </a:t>
            </a:r>
            <a:r>
              <a:rPr sz="2150" spc="-10" dirty="0">
                <a:latin typeface="Cambria"/>
                <a:cs typeface="Cambria"/>
              </a:rPr>
              <a:t>result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09508" y="3616388"/>
            <a:ext cx="1047750" cy="10172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1400"/>
              </a:lnSpc>
              <a:spcBef>
                <a:spcPts val="90"/>
              </a:spcBef>
            </a:pPr>
            <a:r>
              <a:rPr sz="2150" spc="50" dirty="0">
                <a:latin typeface="Cambria"/>
                <a:cs typeface="Cambria"/>
              </a:rPr>
              <a:t>through </a:t>
            </a:r>
            <a:r>
              <a:rPr sz="2150" spc="55" dirty="0">
                <a:latin typeface="Cambria"/>
                <a:cs typeface="Cambria"/>
              </a:rPr>
              <a:t>method,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86189" y="3616388"/>
            <a:ext cx="787400" cy="10172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46990">
              <a:lnSpc>
                <a:spcPct val="151400"/>
              </a:lnSpc>
              <a:spcBef>
                <a:spcPts val="90"/>
              </a:spcBef>
            </a:pPr>
            <a:r>
              <a:rPr sz="2150" spc="-25" dirty="0">
                <a:latin typeface="Cambria"/>
                <a:cs typeface="Cambria"/>
              </a:rPr>
              <a:t>the </a:t>
            </a:r>
            <a:r>
              <a:rPr sz="2150" spc="50" dirty="0">
                <a:latin typeface="Cambria"/>
                <a:cs typeface="Cambria"/>
              </a:rPr>
              <a:t>which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40264" y="3616388"/>
            <a:ext cx="1376045" cy="10172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1145" marR="5080" indent="-259079">
              <a:lnSpc>
                <a:spcPct val="151400"/>
              </a:lnSpc>
              <a:spcBef>
                <a:spcPts val="90"/>
              </a:spcBef>
            </a:pPr>
            <a:r>
              <a:rPr sz="2150" spc="-10" dirty="0">
                <a:latin typeface="Cambria"/>
                <a:cs typeface="Cambria"/>
              </a:rPr>
              <a:t>getResult() abstracts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09508" y="4608258"/>
            <a:ext cx="3599815" cy="10363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4300"/>
              </a:lnSpc>
              <a:spcBef>
                <a:spcPts val="90"/>
              </a:spcBef>
              <a:tabLst>
                <a:tab pos="1021715" algn="l"/>
                <a:tab pos="1747520" algn="l"/>
                <a:tab pos="3048635" algn="l"/>
              </a:tabLst>
            </a:pPr>
            <a:r>
              <a:rPr sz="2150" spc="75" dirty="0">
                <a:latin typeface="Cambria"/>
                <a:cs typeface="Cambria"/>
              </a:rPr>
              <a:t>away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the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internal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data </a:t>
            </a:r>
            <a:r>
              <a:rPr sz="2150" spc="-10" dirty="0">
                <a:latin typeface="Cambria"/>
                <a:cs typeface="Cambria"/>
              </a:rPr>
              <a:t>structure.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96100" y="1047750"/>
            <a:ext cx="695325" cy="5229225"/>
          </a:xfrm>
          <a:custGeom>
            <a:avLst/>
            <a:gdLst/>
            <a:ahLst/>
            <a:cxnLst/>
            <a:rect l="l" t="t" r="r" b="b"/>
            <a:pathLst>
              <a:path w="695325" h="5229225">
                <a:moveTo>
                  <a:pt x="0" y="0"/>
                </a:moveTo>
                <a:lnTo>
                  <a:pt x="70073" y="1175"/>
                </a:lnTo>
                <a:lnTo>
                  <a:pt x="135342" y="4548"/>
                </a:lnTo>
                <a:lnTo>
                  <a:pt x="194408" y="9885"/>
                </a:lnTo>
                <a:lnTo>
                  <a:pt x="245872" y="16954"/>
                </a:lnTo>
                <a:lnTo>
                  <a:pt x="288334" y="25524"/>
                </a:lnTo>
                <a:lnTo>
                  <a:pt x="340660" y="46234"/>
                </a:lnTo>
                <a:lnTo>
                  <a:pt x="347725" y="57912"/>
                </a:lnTo>
                <a:lnTo>
                  <a:pt x="347725" y="2556637"/>
                </a:lnTo>
                <a:lnTo>
                  <a:pt x="354785" y="2568314"/>
                </a:lnTo>
                <a:lnTo>
                  <a:pt x="407077" y="2589024"/>
                </a:lnTo>
                <a:lnTo>
                  <a:pt x="449516" y="2597594"/>
                </a:lnTo>
                <a:lnTo>
                  <a:pt x="500956" y="2604663"/>
                </a:lnTo>
                <a:lnTo>
                  <a:pt x="560002" y="2610000"/>
                </a:lnTo>
                <a:lnTo>
                  <a:pt x="625257" y="2613373"/>
                </a:lnTo>
                <a:lnTo>
                  <a:pt x="695325" y="2614549"/>
                </a:lnTo>
                <a:lnTo>
                  <a:pt x="625257" y="2615730"/>
                </a:lnTo>
                <a:lnTo>
                  <a:pt x="560002" y="2619117"/>
                </a:lnTo>
                <a:lnTo>
                  <a:pt x="500956" y="2624474"/>
                </a:lnTo>
                <a:lnTo>
                  <a:pt x="449516" y="2631566"/>
                </a:lnTo>
                <a:lnTo>
                  <a:pt x="407077" y="2640159"/>
                </a:lnTo>
                <a:lnTo>
                  <a:pt x="354785" y="2660905"/>
                </a:lnTo>
                <a:lnTo>
                  <a:pt x="347725" y="2672588"/>
                </a:lnTo>
                <a:lnTo>
                  <a:pt x="347725" y="5171287"/>
                </a:lnTo>
                <a:lnTo>
                  <a:pt x="340660" y="5182962"/>
                </a:lnTo>
                <a:lnTo>
                  <a:pt x="288334" y="5203678"/>
                </a:lnTo>
                <a:lnTo>
                  <a:pt x="245872" y="5212253"/>
                </a:lnTo>
                <a:lnTo>
                  <a:pt x="194408" y="5219328"/>
                </a:lnTo>
                <a:lnTo>
                  <a:pt x="135342" y="5224671"/>
                </a:lnTo>
                <a:lnTo>
                  <a:pt x="70073" y="5228047"/>
                </a:lnTo>
                <a:lnTo>
                  <a:pt x="0" y="5229225"/>
                </a:lnTo>
              </a:path>
            </a:pathLst>
          </a:custGeom>
          <a:ln w="19050">
            <a:solidFill>
              <a:srgbClr val="FFC9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20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395" dirty="0"/>
              <a:t>1.</a:t>
            </a:r>
            <a:r>
              <a:rPr sz="3200" spc="229" dirty="0"/>
              <a:t> </a:t>
            </a:r>
            <a:r>
              <a:rPr sz="3200" spc="130" dirty="0"/>
              <a:t>Abstraction</a:t>
            </a:r>
            <a:r>
              <a:rPr sz="3200" spc="300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25" dirty="0"/>
              <a:t>Procedural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113789"/>
            <a:ext cx="528637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10" dirty="0">
                <a:latin typeface="Cambria"/>
                <a:cs typeface="Cambria"/>
              </a:rPr>
              <a:t>void</a:t>
            </a:r>
            <a:r>
              <a:rPr sz="2750" spc="16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Calculator::</a:t>
            </a: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add(int</a:t>
            </a:r>
            <a:r>
              <a:rPr sz="2750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100" dirty="0">
                <a:solidFill>
                  <a:srgbClr val="FF0000"/>
                </a:solidFill>
                <a:latin typeface="Cambria"/>
                <a:cs typeface="Cambria"/>
              </a:rPr>
              <a:t>a,</a:t>
            </a:r>
            <a:r>
              <a:rPr sz="275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int</a:t>
            </a:r>
            <a:r>
              <a:rPr sz="275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b)</a:t>
            </a:r>
            <a:r>
              <a:rPr sz="275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50" dirty="0">
                <a:latin typeface="Cambria"/>
                <a:cs typeface="Cambria"/>
              </a:rPr>
              <a:t>{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19551" y="1628774"/>
            <a:ext cx="33032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91820" algn="l"/>
                <a:tab pos="2796540" algn="l"/>
              </a:tabLst>
            </a:pPr>
            <a:r>
              <a:rPr sz="2750" spc="315" dirty="0">
                <a:latin typeface="Cambria"/>
                <a:cs typeface="Cambria"/>
              </a:rPr>
              <a:t>//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0" dirty="0">
                <a:latin typeface="Cambria"/>
                <a:cs typeface="Cambria"/>
              </a:rPr>
              <a:t>Encapsulates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the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8950" y="1537461"/>
            <a:ext cx="2760980" cy="1570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55600">
              <a:lnSpc>
                <a:spcPct val="122900"/>
              </a:lnSpc>
              <a:spcBef>
                <a:spcPts val="90"/>
              </a:spcBef>
              <a:tabLst>
                <a:tab pos="1409700" algn="l"/>
                <a:tab pos="1773555" algn="l"/>
                <a:tab pos="2098675" algn="l"/>
                <a:tab pos="2461895" algn="l"/>
              </a:tabLst>
            </a:pPr>
            <a:r>
              <a:rPr sz="2750" spc="-10" dirty="0">
                <a:latin typeface="Cambria"/>
                <a:cs typeface="Cambria"/>
              </a:rPr>
              <a:t>result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100" dirty="0">
                <a:latin typeface="Cambria"/>
                <a:cs typeface="Cambria"/>
              </a:rPr>
              <a:t>=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100" dirty="0">
                <a:latin typeface="Cambria"/>
                <a:cs typeface="Cambria"/>
              </a:rPr>
              <a:t>+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b; </a:t>
            </a:r>
            <a:r>
              <a:rPr sz="2750" spc="80" dirty="0">
                <a:latin typeface="Cambria"/>
                <a:cs typeface="Cambria"/>
              </a:rPr>
              <a:t>addition</a:t>
            </a:r>
            <a:r>
              <a:rPr sz="2750" spc="7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logic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750" spc="-50" dirty="0">
                <a:latin typeface="Cambria"/>
                <a:cs typeface="Cambria"/>
              </a:rPr>
              <a:t>}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950" y="3679444"/>
            <a:ext cx="594233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10" dirty="0">
                <a:latin typeface="Cambria"/>
                <a:cs typeface="Cambria"/>
              </a:rPr>
              <a:t>void</a:t>
            </a:r>
            <a:r>
              <a:rPr sz="2750" spc="260" dirty="0">
                <a:latin typeface="Cambria"/>
                <a:cs typeface="Cambria"/>
              </a:rPr>
              <a:t> </a:t>
            </a:r>
            <a:r>
              <a:rPr sz="2750" spc="10" dirty="0">
                <a:latin typeface="Cambria"/>
                <a:cs typeface="Cambria"/>
              </a:rPr>
              <a:t>Calculator::</a:t>
            </a:r>
            <a:r>
              <a:rPr sz="2750" spc="10" dirty="0">
                <a:solidFill>
                  <a:srgbClr val="FF0000"/>
                </a:solidFill>
                <a:latin typeface="Cambria"/>
                <a:cs typeface="Cambria"/>
              </a:rPr>
              <a:t>subtract(int</a:t>
            </a:r>
            <a:r>
              <a:rPr sz="2750" spc="2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100" dirty="0">
                <a:solidFill>
                  <a:srgbClr val="FF0000"/>
                </a:solidFill>
                <a:latin typeface="Cambria"/>
                <a:cs typeface="Cambria"/>
              </a:rPr>
              <a:t>a,</a:t>
            </a:r>
            <a:r>
              <a:rPr sz="275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10" dirty="0">
                <a:solidFill>
                  <a:srgbClr val="FF0000"/>
                </a:solidFill>
                <a:latin typeface="Cambria"/>
                <a:cs typeface="Cambria"/>
              </a:rPr>
              <a:t>int</a:t>
            </a:r>
            <a:r>
              <a:rPr sz="2750" spc="1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10" dirty="0">
                <a:solidFill>
                  <a:srgbClr val="FF0000"/>
                </a:solidFill>
                <a:latin typeface="Cambria"/>
                <a:cs typeface="Cambria"/>
              </a:rPr>
              <a:t>b)</a:t>
            </a:r>
            <a:r>
              <a:rPr sz="2750" spc="2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50" dirty="0">
                <a:latin typeface="Cambria"/>
                <a:cs typeface="Cambria"/>
              </a:rPr>
              <a:t>{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95421" y="4194429"/>
            <a:ext cx="332740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03885" algn="l"/>
                <a:tab pos="2820670" algn="l"/>
              </a:tabLst>
            </a:pPr>
            <a:r>
              <a:rPr sz="2750" spc="315" dirty="0">
                <a:latin typeface="Cambria"/>
                <a:cs typeface="Cambria"/>
              </a:rPr>
              <a:t>//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0" dirty="0">
                <a:latin typeface="Cambria"/>
                <a:cs typeface="Cambria"/>
              </a:rPr>
              <a:t>Encapsulates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the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950" y="4102334"/>
            <a:ext cx="2712085" cy="156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55600">
              <a:lnSpc>
                <a:spcPct val="123000"/>
              </a:lnSpc>
              <a:spcBef>
                <a:spcPts val="95"/>
              </a:spcBef>
              <a:tabLst>
                <a:tab pos="1422400" algn="l"/>
                <a:tab pos="1797685" algn="l"/>
                <a:tab pos="2134870" algn="l"/>
                <a:tab pos="2413635" algn="l"/>
              </a:tabLst>
            </a:pPr>
            <a:r>
              <a:rPr sz="2750" spc="-10" dirty="0">
                <a:latin typeface="Cambria"/>
                <a:cs typeface="Cambria"/>
              </a:rPr>
              <a:t>result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100" dirty="0">
                <a:latin typeface="Cambria"/>
                <a:cs typeface="Cambria"/>
              </a:rPr>
              <a:t>=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-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b; </a:t>
            </a:r>
            <a:r>
              <a:rPr sz="2750" dirty="0">
                <a:latin typeface="Cambria"/>
                <a:cs typeface="Cambria"/>
              </a:rPr>
              <a:t>subtraction</a:t>
            </a:r>
            <a:r>
              <a:rPr sz="2750" spc="459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logic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750" spc="-50" dirty="0">
                <a:latin typeface="Cambria"/>
                <a:cs typeface="Cambria"/>
              </a:rPr>
              <a:t>}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09508" y="1262316"/>
            <a:ext cx="3605529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40410" algn="l"/>
                <a:tab pos="1670685" algn="l"/>
                <a:tab pos="2405380" algn="l"/>
              </a:tabLst>
            </a:pPr>
            <a:r>
              <a:rPr sz="2150" spc="-25" dirty="0">
                <a:latin typeface="Cambria"/>
                <a:cs typeface="Cambria"/>
              </a:rPr>
              <a:t>The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add()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65" dirty="0">
                <a:latin typeface="Cambria"/>
                <a:cs typeface="Cambria"/>
              </a:rPr>
              <a:t>and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subtract()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13240" y="1758378"/>
            <a:ext cx="220345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800225" algn="l"/>
              </a:tabLst>
            </a:pPr>
            <a:r>
              <a:rPr sz="2150" spc="-10" dirty="0">
                <a:latin typeface="Cambria"/>
                <a:cs typeface="Cambria"/>
              </a:rPr>
              <a:t>encapsulate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the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09508" y="1584896"/>
            <a:ext cx="1845310" cy="1541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7335">
              <a:lnSpc>
                <a:spcPct val="154200"/>
              </a:lnSpc>
              <a:spcBef>
                <a:spcPts val="95"/>
              </a:spcBef>
              <a:tabLst>
                <a:tab pos="1212215" algn="l"/>
              </a:tabLst>
            </a:pPr>
            <a:r>
              <a:rPr sz="2150" spc="40" dirty="0">
                <a:latin typeface="Cambria"/>
                <a:cs typeface="Cambria"/>
              </a:rPr>
              <a:t>methods logic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for</a:t>
            </a:r>
            <a:endParaRPr sz="2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  <a:tabLst>
                <a:tab pos="1358265" algn="l"/>
              </a:tabLst>
            </a:pPr>
            <a:r>
              <a:rPr sz="2150" spc="50" dirty="0">
                <a:latin typeface="Cambria"/>
                <a:cs typeface="Cambria"/>
              </a:rPr>
              <a:t>addition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60" dirty="0">
                <a:latin typeface="Cambria"/>
                <a:cs typeface="Cambria"/>
              </a:rPr>
              <a:t>and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24440" y="2089975"/>
            <a:ext cx="1487805" cy="1036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7625">
              <a:lnSpc>
                <a:spcPct val="154300"/>
              </a:lnSpc>
              <a:spcBef>
                <a:spcPts val="95"/>
              </a:spcBef>
            </a:pPr>
            <a:r>
              <a:rPr sz="2150" spc="45" dirty="0">
                <a:latin typeface="Cambria"/>
                <a:cs typeface="Cambria"/>
              </a:rPr>
              <a:t>performing </a:t>
            </a:r>
            <a:r>
              <a:rPr sz="2150" spc="-10" dirty="0">
                <a:latin typeface="Cambria"/>
                <a:cs typeface="Cambria"/>
              </a:rPr>
              <a:t>subtraction.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09508" y="3274314"/>
            <a:ext cx="361251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91515" algn="l"/>
                <a:tab pos="1435100" algn="l"/>
                <a:tab pos="2534920" algn="l"/>
                <a:tab pos="3347085" algn="l"/>
              </a:tabLst>
            </a:pPr>
            <a:r>
              <a:rPr sz="2150" spc="-25" dirty="0">
                <a:latin typeface="Cambria"/>
                <a:cs typeface="Cambria"/>
              </a:rPr>
              <a:t>The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user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doesn't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need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20" dirty="0">
                <a:latin typeface="Cambria"/>
                <a:cs typeface="Cambria"/>
              </a:rPr>
              <a:t>to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09508" y="3780472"/>
            <a:ext cx="3611879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80" dirty="0">
                <a:latin typeface="Cambria"/>
                <a:cs typeface="Cambria"/>
              </a:rPr>
              <a:t>know</a:t>
            </a:r>
            <a:r>
              <a:rPr sz="2150" spc="495" dirty="0">
                <a:latin typeface="Cambria"/>
                <a:cs typeface="Cambria"/>
              </a:rPr>
              <a:t> </a:t>
            </a:r>
            <a:r>
              <a:rPr sz="2150" spc="90" dirty="0">
                <a:latin typeface="Cambria"/>
                <a:cs typeface="Cambria"/>
              </a:rPr>
              <a:t>how</a:t>
            </a:r>
            <a:r>
              <a:rPr sz="2150" spc="46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40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calculation</a:t>
            </a:r>
            <a:r>
              <a:rPr sz="2150" spc="465" dirty="0">
                <a:latin typeface="Cambria"/>
                <a:cs typeface="Cambria"/>
              </a:rPr>
              <a:t> </a:t>
            </a:r>
            <a:r>
              <a:rPr sz="2150" spc="30" dirty="0">
                <a:latin typeface="Cambria"/>
                <a:cs typeface="Cambria"/>
              </a:rPr>
              <a:t>is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49051" y="4102798"/>
            <a:ext cx="667385" cy="1036319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R="10160" algn="r">
              <a:lnSpc>
                <a:spcPct val="100000"/>
              </a:lnSpc>
              <a:spcBef>
                <a:spcPts val="1495"/>
              </a:spcBef>
            </a:pPr>
            <a:r>
              <a:rPr sz="2150" spc="-10" dirty="0">
                <a:latin typeface="Cambria"/>
                <a:cs typeface="Cambria"/>
              </a:rPr>
              <a:t>these</a:t>
            </a:r>
            <a:endParaRPr sz="215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1400"/>
              </a:spcBef>
            </a:pPr>
            <a:r>
              <a:rPr sz="2150" spc="-25" dirty="0">
                <a:latin typeface="Cambria"/>
                <a:cs typeface="Cambria"/>
              </a:rPr>
              <a:t>the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09508" y="4102798"/>
            <a:ext cx="2929255" cy="15417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4300"/>
              </a:lnSpc>
              <a:spcBef>
                <a:spcPts val="90"/>
              </a:spcBef>
              <a:tabLst>
                <a:tab pos="911860" algn="l"/>
                <a:tab pos="1373505" algn="l"/>
                <a:tab pos="1663064" algn="l"/>
                <a:tab pos="1901825" algn="l"/>
                <a:tab pos="2316480" algn="l"/>
              </a:tabLst>
            </a:pPr>
            <a:r>
              <a:rPr sz="2150" spc="40" dirty="0">
                <a:latin typeface="Cambria"/>
                <a:cs typeface="Cambria"/>
              </a:rPr>
              <a:t>done;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they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just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call </a:t>
            </a:r>
            <a:r>
              <a:rPr sz="2150" spc="40" dirty="0">
                <a:latin typeface="Cambria"/>
                <a:cs typeface="Cambria"/>
              </a:rPr>
              <a:t>methods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to</a:t>
            </a:r>
            <a:r>
              <a:rPr sz="2150" dirty="0">
                <a:latin typeface="Cambria"/>
                <a:cs typeface="Cambria"/>
              </a:rPr>
              <a:t>		</a:t>
            </a:r>
            <a:r>
              <a:rPr sz="2150" spc="35" dirty="0">
                <a:latin typeface="Cambria"/>
                <a:cs typeface="Cambria"/>
              </a:rPr>
              <a:t>perform </a:t>
            </a:r>
            <a:r>
              <a:rPr sz="2150" spc="-10" dirty="0">
                <a:latin typeface="Cambria"/>
                <a:cs typeface="Cambria"/>
              </a:rPr>
              <a:t>operations.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896100" y="1047750"/>
            <a:ext cx="695325" cy="5229225"/>
          </a:xfrm>
          <a:custGeom>
            <a:avLst/>
            <a:gdLst/>
            <a:ahLst/>
            <a:cxnLst/>
            <a:rect l="l" t="t" r="r" b="b"/>
            <a:pathLst>
              <a:path w="695325" h="5229225">
                <a:moveTo>
                  <a:pt x="0" y="0"/>
                </a:moveTo>
                <a:lnTo>
                  <a:pt x="70073" y="1175"/>
                </a:lnTo>
                <a:lnTo>
                  <a:pt x="135342" y="4548"/>
                </a:lnTo>
                <a:lnTo>
                  <a:pt x="194408" y="9885"/>
                </a:lnTo>
                <a:lnTo>
                  <a:pt x="245872" y="16954"/>
                </a:lnTo>
                <a:lnTo>
                  <a:pt x="288334" y="25524"/>
                </a:lnTo>
                <a:lnTo>
                  <a:pt x="340660" y="46234"/>
                </a:lnTo>
                <a:lnTo>
                  <a:pt x="347725" y="57912"/>
                </a:lnTo>
                <a:lnTo>
                  <a:pt x="347725" y="2556637"/>
                </a:lnTo>
                <a:lnTo>
                  <a:pt x="354785" y="2568314"/>
                </a:lnTo>
                <a:lnTo>
                  <a:pt x="407077" y="2589024"/>
                </a:lnTo>
                <a:lnTo>
                  <a:pt x="449516" y="2597594"/>
                </a:lnTo>
                <a:lnTo>
                  <a:pt x="500956" y="2604663"/>
                </a:lnTo>
                <a:lnTo>
                  <a:pt x="560002" y="2610000"/>
                </a:lnTo>
                <a:lnTo>
                  <a:pt x="625257" y="2613373"/>
                </a:lnTo>
                <a:lnTo>
                  <a:pt x="695325" y="2614549"/>
                </a:lnTo>
                <a:lnTo>
                  <a:pt x="625257" y="2615730"/>
                </a:lnTo>
                <a:lnTo>
                  <a:pt x="560002" y="2619117"/>
                </a:lnTo>
                <a:lnTo>
                  <a:pt x="500956" y="2624474"/>
                </a:lnTo>
                <a:lnTo>
                  <a:pt x="449516" y="2631566"/>
                </a:lnTo>
                <a:lnTo>
                  <a:pt x="407077" y="2640159"/>
                </a:lnTo>
                <a:lnTo>
                  <a:pt x="354785" y="2660905"/>
                </a:lnTo>
                <a:lnTo>
                  <a:pt x="347725" y="2672588"/>
                </a:lnTo>
                <a:lnTo>
                  <a:pt x="347725" y="5171287"/>
                </a:lnTo>
                <a:lnTo>
                  <a:pt x="340660" y="5182962"/>
                </a:lnTo>
                <a:lnTo>
                  <a:pt x="288334" y="5203678"/>
                </a:lnTo>
                <a:lnTo>
                  <a:pt x="245872" y="5212253"/>
                </a:lnTo>
                <a:lnTo>
                  <a:pt x="194408" y="5219328"/>
                </a:lnTo>
                <a:lnTo>
                  <a:pt x="135342" y="5224671"/>
                </a:lnTo>
                <a:lnTo>
                  <a:pt x="70073" y="5228047"/>
                </a:lnTo>
                <a:lnTo>
                  <a:pt x="0" y="5229225"/>
                </a:lnTo>
              </a:path>
            </a:pathLst>
          </a:custGeom>
          <a:ln w="19050">
            <a:solidFill>
              <a:srgbClr val="FFC9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20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395" dirty="0"/>
              <a:t>1.</a:t>
            </a:r>
            <a:r>
              <a:rPr sz="3200" spc="229" dirty="0"/>
              <a:t> </a:t>
            </a:r>
            <a:r>
              <a:rPr sz="3200" spc="130" dirty="0"/>
              <a:t>Abstraction</a:t>
            </a:r>
            <a:r>
              <a:rPr sz="3200" spc="300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05" dirty="0"/>
              <a:t>Control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70102"/>
            <a:ext cx="3293745" cy="5013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2167255" indent="-114935">
              <a:lnSpc>
                <a:spcPct val="111300"/>
              </a:lnSpc>
              <a:spcBef>
                <a:spcPts val="100"/>
              </a:spcBef>
            </a:pPr>
            <a:r>
              <a:rPr sz="900" dirty="0">
                <a:latin typeface="Cambria"/>
                <a:cs typeface="Cambria"/>
              </a:rPr>
              <a:t>void</a:t>
            </a:r>
            <a:r>
              <a:rPr sz="900" spc="114" dirty="0">
                <a:latin typeface="Cambria"/>
                <a:cs typeface="Cambria"/>
              </a:rPr>
              <a:t> </a:t>
            </a:r>
            <a:r>
              <a:rPr sz="900" dirty="0">
                <a:solidFill>
                  <a:srgbClr val="FF0000"/>
                </a:solidFill>
                <a:latin typeface="Cambria"/>
                <a:cs typeface="Cambria"/>
              </a:rPr>
              <a:t>runCalculator()</a:t>
            </a:r>
            <a:r>
              <a:rPr sz="900" spc="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900" spc="-50" dirty="0">
                <a:latin typeface="Cambria"/>
                <a:cs typeface="Cambria"/>
              </a:rPr>
              <a:t>{</a:t>
            </a:r>
            <a:r>
              <a:rPr sz="900" spc="50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Calculator</a:t>
            </a:r>
            <a:r>
              <a:rPr sz="900" spc="170" dirty="0">
                <a:latin typeface="Cambria"/>
                <a:cs typeface="Cambria"/>
              </a:rPr>
              <a:t> </a:t>
            </a:r>
            <a:r>
              <a:rPr sz="900" spc="-10" dirty="0">
                <a:latin typeface="Cambria"/>
                <a:cs typeface="Cambria"/>
              </a:rPr>
              <a:t>calc;</a:t>
            </a:r>
            <a:endParaRPr sz="900">
              <a:latin typeface="Cambria"/>
              <a:cs typeface="Cambria"/>
            </a:endParaRPr>
          </a:p>
          <a:p>
            <a:pPr marL="127000">
              <a:lnSpc>
                <a:spcPct val="100000"/>
              </a:lnSpc>
              <a:spcBef>
                <a:spcPts val="120"/>
              </a:spcBef>
            </a:pPr>
            <a:r>
              <a:rPr sz="900" dirty="0">
                <a:latin typeface="Cambria"/>
                <a:cs typeface="Cambria"/>
              </a:rPr>
              <a:t>int</a:t>
            </a:r>
            <a:r>
              <a:rPr sz="900" spc="1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choice,</a:t>
            </a:r>
            <a:r>
              <a:rPr sz="900" spc="9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a,</a:t>
            </a:r>
            <a:r>
              <a:rPr sz="900" spc="70" dirty="0">
                <a:latin typeface="Cambria"/>
                <a:cs typeface="Cambria"/>
              </a:rPr>
              <a:t> </a:t>
            </a:r>
            <a:r>
              <a:rPr sz="900" spc="-25" dirty="0">
                <a:latin typeface="Cambria"/>
                <a:cs typeface="Cambria"/>
              </a:rPr>
              <a:t>b;</a:t>
            </a:r>
            <a:endParaRPr sz="900">
              <a:latin typeface="Cambria"/>
              <a:cs typeface="Cambria"/>
            </a:endParaRPr>
          </a:p>
          <a:p>
            <a:pPr marL="12700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latin typeface="Cambria"/>
                <a:cs typeface="Cambria"/>
              </a:rPr>
              <a:t>while</a:t>
            </a:r>
            <a:r>
              <a:rPr sz="900" spc="15" dirty="0">
                <a:latin typeface="Cambria"/>
                <a:cs typeface="Cambria"/>
              </a:rPr>
              <a:t> </a:t>
            </a:r>
            <a:r>
              <a:rPr sz="900" spc="-10" dirty="0">
                <a:latin typeface="Cambria"/>
                <a:cs typeface="Cambria"/>
              </a:rPr>
              <a:t>(true)</a:t>
            </a:r>
            <a:r>
              <a:rPr sz="900" spc="45" dirty="0">
                <a:latin typeface="Cambria"/>
                <a:cs typeface="Cambria"/>
              </a:rPr>
              <a:t> </a:t>
            </a:r>
            <a:r>
              <a:rPr sz="900" spc="-50" dirty="0">
                <a:latin typeface="Cambria"/>
                <a:cs typeface="Cambria"/>
              </a:rPr>
              <a:t>{</a:t>
            </a:r>
            <a:endParaRPr sz="900">
              <a:latin typeface="Cambria"/>
              <a:cs typeface="Cambria"/>
            </a:endParaRPr>
          </a:p>
          <a:p>
            <a:pPr marL="241300" marR="5080">
              <a:lnSpc>
                <a:spcPts val="1200"/>
              </a:lnSpc>
              <a:spcBef>
                <a:spcPts val="60"/>
              </a:spcBef>
            </a:pPr>
            <a:r>
              <a:rPr sz="900" dirty="0">
                <a:latin typeface="Cambria"/>
                <a:cs typeface="Cambria"/>
              </a:rPr>
              <a:t>cout</a:t>
            </a:r>
            <a:r>
              <a:rPr sz="900" spc="10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&lt;&lt;</a:t>
            </a:r>
            <a:r>
              <a:rPr sz="900" spc="14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"\n1.</a:t>
            </a:r>
            <a:r>
              <a:rPr sz="900" spc="114" dirty="0">
                <a:latin typeface="Cambria"/>
                <a:cs typeface="Cambria"/>
              </a:rPr>
              <a:t> </a:t>
            </a:r>
            <a:r>
              <a:rPr sz="900" spc="45" dirty="0">
                <a:latin typeface="Cambria"/>
                <a:cs typeface="Cambria"/>
              </a:rPr>
              <a:t>Add\n2.</a:t>
            </a:r>
            <a:r>
              <a:rPr sz="900" spc="11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Subtract\n3.</a:t>
            </a:r>
            <a:r>
              <a:rPr sz="900" spc="114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Get</a:t>
            </a:r>
            <a:r>
              <a:rPr sz="900" spc="8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Result\n4.</a:t>
            </a:r>
            <a:r>
              <a:rPr sz="900" spc="114" dirty="0">
                <a:latin typeface="Cambria"/>
                <a:cs typeface="Cambria"/>
              </a:rPr>
              <a:t> </a:t>
            </a:r>
            <a:r>
              <a:rPr sz="900" spc="-10" dirty="0">
                <a:latin typeface="Cambria"/>
                <a:cs typeface="Cambria"/>
              </a:rPr>
              <a:t>Exit\n";</a:t>
            </a:r>
            <a:r>
              <a:rPr sz="900" spc="50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cout</a:t>
            </a:r>
            <a:r>
              <a:rPr sz="900" spc="3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&lt;&lt;</a:t>
            </a:r>
            <a:r>
              <a:rPr sz="900" spc="7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"Enter</a:t>
            </a:r>
            <a:r>
              <a:rPr sz="900" spc="6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your</a:t>
            </a:r>
            <a:r>
              <a:rPr sz="900" spc="6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choice:</a:t>
            </a:r>
            <a:r>
              <a:rPr sz="900" spc="45" dirty="0">
                <a:latin typeface="Cambria"/>
                <a:cs typeface="Cambria"/>
              </a:rPr>
              <a:t> </a:t>
            </a:r>
            <a:r>
              <a:rPr sz="900" spc="-25" dirty="0">
                <a:latin typeface="Cambria"/>
                <a:cs typeface="Cambria"/>
              </a:rPr>
              <a:t>";</a:t>
            </a:r>
            <a:endParaRPr sz="9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65"/>
              </a:spcBef>
            </a:pPr>
            <a:r>
              <a:rPr sz="900" dirty="0">
                <a:latin typeface="Cambria"/>
                <a:cs typeface="Cambria"/>
              </a:rPr>
              <a:t>cin</a:t>
            </a:r>
            <a:r>
              <a:rPr sz="900" spc="6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&gt;&gt;</a:t>
            </a:r>
            <a:r>
              <a:rPr sz="900" spc="114" dirty="0">
                <a:latin typeface="Cambria"/>
                <a:cs typeface="Cambria"/>
              </a:rPr>
              <a:t> </a:t>
            </a:r>
            <a:r>
              <a:rPr sz="900" spc="-10" dirty="0">
                <a:latin typeface="Cambria"/>
                <a:cs typeface="Cambria"/>
              </a:rPr>
              <a:t>choice;</a:t>
            </a:r>
            <a:endParaRPr sz="900">
              <a:latin typeface="Cambria"/>
              <a:cs typeface="Cambria"/>
            </a:endParaRPr>
          </a:p>
          <a:p>
            <a:pPr marL="355600" marR="2222500" indent="-114300">
              <a:lnSpc>
                <a:spcPts val="1200"/>
              </a:lnSpc>
              <a:spcBef>
                <a:spcPts val="60"/>
              </a:spcBef>
            </a:pPr>
            <a:r>
              <a:rPr sz="900" dirty="0">
                <a:latin typeface="Cambria"/>
                <a:cs typeface="Cambria"/>
              </a:rPr>
              <a:t>switch (choice)</a:t>
            </a:r>
            <a:r>
              <a:rPr sz="900" spc="40" dirty="0">
                <a:latin typeface="Cambria"/>
                <a:cs typeface="Cambria"/>
              </a:rPr>
              <a:t> </a:t>
            </a:r>
            <a:r>
              <a:rPr sz="900" spc="-50" dirty="0">
                <a:latin typeface="Cambria"/>
                <a:cs typeface="Cambria"/>
              </a:rPr>
              <a:t>{</a:t>
            </a:r>
            <a:r>
              <a:rPr sz="900" spc="50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case</a:t>
            </a:r>
            <a:r>
              <a:rPr sz="900" spc="15" dirty="0">
                <a:latin typeface="Cambria"/>
                <a:cs typeface="Cambria"/>
              </a:rPr>
              <a:t> </a:t>
            </a:r>
            <a:r>
              <a:rPr sz="900" spc="-25" dirty="0">
                <a:latin typeface="Cambria"/>
                <a:cs typeface="Cambria"/>
              </a:rPr>
              <a:t>1:</a:t>
            </a:r>
            <a:endParaRPr sz="900">
              <a:latin typeface="Cambria"/>
              <a:cs typeface="Cambria"/>
            </a:endParaRPr>
          </a:p>
          <a:p>
            <a:pPr marL="469900">
              <a:lnSpc>
                <a:spcPts val="1070"/>
              </a:lnSpc>
            </a:pPr>
            <a:r>
              <a:rPr sz="900" dirty="0">
                <a:latin typeface="Cambria"/>
                <a:cs typeface="Cambria"/>
              </a:rPr>
              <a:t>cout</a:t>
            </a:r>
            <a:r>
              <a:rPr sz="900" spc="2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&lt;&lt;</a:t>
            </a:r>
            <a:r>
              <a:rPr sz="900" spc="6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"Enter</a:t>
            </a:r>
            <a:r>
              <a:rPr sz="900" spc="5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first</a:t>
            </a:r>
            <a:r>
              <a:rPr sz="900" spc="5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number:</a:t>
            </a:r>
            <a:r>
              <a:rPr sz="900" spc="35" dirty="0">
                <a:latin typeface="Cambria"/>
                <a:cs typeface="Cambria"/>
              </a:rPr>
              <a:t> </a:t>
            </a:r>
            <a:r>
              <a:rPr sz="900" spc="-25" dirty="0">
                <a:latin typeface="Cambria"/>
                <a:cs typeface="Cambria"/>
              </a:rPr>
              <a:t>";</a:t>
            </a:r>
            <a:endParaRPr sz="9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120"/>
              </a:spcBef>
            </a:pPr>
            <a:r>
              <a:rPr sz="900" dirty="0">
                <a:latin typeface="Cambria"/>
                <a:cs typeface="Cambria"/>
              </a:rPr>
              <a:t>cin</a:t>
            </a:r>
            <a:r>
              <a:rPr sz="900" spc="6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&gt;&gt;</a:t>
            </a:r>
            <a:r>
              <a:rPr sz="900" spc="114" dirty="0">
                <a:latin typeface="Cambria"/>
                <a:cs typeface="Cambria"/>
              </a:rPr>
              <a:t> </a:t>
            </a:r>
            <a:r>
              <a:rPr sz="900" spc="-25" dirty="0">
                <a:latin typeface="Cambria"/>
                <a:cs typeface="Cambria"/>
              </a:rPr>
              <a:t>a;</a:t>
            </a:r>
            <a:endParaRPr sz="9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latin typeface="Cambria"/>
                <a:cs typeface="Cambria"/>
              </a:rPr>
              <a:t>cout</a:t>
            </a:r>
            <a:r>
              <a:rPr sz="900" spc="5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&lt;&lt;</a:t>
            </a:r>
            <a:r>
              <a:rPr sz="900" spc="9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"Enter</a:t>
            </a:r>
            <a:r>
              <a:rPr sz="900" spc="7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second</a:t>
            </a:r>
            <a:r>
              <a:rPr sz="900" spc="3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number:</a:t>
            </a:r>
            <a:r>
              <a:rPr sz="900" spc="60" dirty="0">
                <a:latin typeface="Cambria"/>
                <a:cs typeface="Cambria"/>
              </a:rPr>
              <a:t> </a:t>
            </a:r>
            <a:r>
              <a:rPr sz="900" spc="-25" dirty="0">
                <a:latin typeface="Cambria"/>
                <a:cs typeface="Cambria"/>
              </a:rPr>
              <a:t>";</a:t>
            </a:r>
            <a:endParaRPr sz="900">
              <a:latin typeface="Cambria"/>
              <a:cs typeface="Cambria"/>
            </a:endParaRPr>
          </a:p>
          <a:p>
            <a:pPr marL="469900" marR="2114550">
              <a:lnSpc>
                <a:spcPct val="111200"/>
              </a:lnSpc>
            </a:pPr>
            <a:r>
              <a:rPr sz="900" dirty="0">
                <a:latin typeface="Cambria"/>
                <a:cs typeface="Cambria"/>
              </a:rPr>
              <a:t>cin</a:t>
            </a:r>
            <a:r>
              <a:rPr sz="900" spc="5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&gt;&gt;</a:t>
            </a:r>
            <a:r>
              <a:rPr sz="900" spc="110" dirty="0">
                <a:latin typeface="Cambria"/>
                <a:cs typeface="Cambria"/>
              </a:rPr>
              <a:t> </a:t>
            </a:r>
            <a:r>
              <a:rPr sz="900" spc="-25" dirty="0">
                <a:latin typeface="Cambria"/>
                <a:cs typeface="Cambria"/>
              </a:rPr>
              <a:t>b;</a:t>
            </a:r>
            <a:r>
              <a:rPr sz="900" spc="50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calc.add(a,</a:t>
            </a:r>
            <a:r>
              <a:rPr sz="900" spc="170" dirty="0">
                <a:latin typeface="Cambria"/>
                <a:cs typeface="Cambria"/>
              </a:rPr>
              <a:t> </a:t>
            </a:r>
            <a:r>
              <a:rPr sz="900" spc="-25" dirty="0">
                <a:latin typeface="Cambria"/>
                <a:cs typeface="Cambria"/>
              </a:rPr>
              <a:t>b);</a:t>
            </a:r>
            <a:r>
              <a:rPr sz="900" spc="500" dirty="0">
                <a:latin typeface="Cambria"/>
                <a:cs typeface="Cambria"/>
              </a:rPr>
              <a:t> </a:t>
            </a:r>
            <a:r>
              <a:rPr sz="900" spc="-10" dirty="0">
                <a:latin typeface="Cambria"/>
                <a:cs typeface="Cambria"/>
              </a:rPr>
              <a:t>break;</a:t>
            </a:r>
            <a:endParaRPr sz="900">
              <a:latin typeface="Cambria"/>
              <a:cs typeface="Cambria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900" dirty="0">
                <a:latin typeface="Cambria"/>
                <a:cs typeface="Cambria"/>
              </a:rPr>
              <a:t>case</a:t>
            </a:r>
            <a:r>
              <a:rPr sz="900" spc="10" dirty="0">
                <a:latin typeface="Cambria"/>
                <a:cs typeface="Cambria"/>
              </a:rPr>
              <a:t> </a:t>
            </a:r>
            <a:r>
              <a:rPr sz="900" spc="-25" dirty="0">
                <a:latin typeface="Cambria"/>
                <a:cs typeface="Cambria"/>
              </a:rPr>
              <a:t>2:</a:t>
            </a:r>
            <a:endParaRPr sz="900">
              <a:latin typeface="Cambria"/>
              <a:cs typeface="Cambria"/>
            </a:endParaRPr>
          </a:p>
          <a:p>
            <a:pPr marL="469900" marR="1300480">
              <a:lnSpc>
                <a:spcPts val="1200"/>
              </a:lnSpc>
              <a:spcBef>
                <a:spcPts val="60"/>
              </a:spcBef>
            </a:pPr>
            <a:r>
              <a:rPr sz="900" dirty="0">
                <a:latin typeface="Cambria"/>
                <a:cs typeface="Cambria"/>
              </a:rPr>
              <a:t>cout</a:t>
            </a:r>
            <a:r>
              <a:rPr sz="900" spc="3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&lt;&lt;</a:t>
            </a:r>
            <a:r>
              <a:rPr sz="900" spc="7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"Enter</a:t>
            </a:r>
            <a:r>
              <a:rPr sz="900" spc="5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first</a:t>
            </a:r>
            <a:r>
              <a:rPr sz="900" spc="6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number:</a:t>
            </a:r>
            <a:r>
              <a:rPr sz="900" spc="40" dirty="0">
                <a:latin typeface="Cambria"/>
                <a:cs typeface="Cambria"/>
              </a:rPr>
              <a:t> </a:t>
            </a:r>
            <a:r>
              <a:rPr sz="900" spc="-25" dirty="0">
                <a:latin typeface="Cambria"/>
                <a:cs typeface="Cambria"/>
              </a:rPr>
              <a:t>";</a:t>
            </a:r>
            <a:r>
              <a:rPr sz="900" spc="50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cin</a:t>
            </a:r>
            <a:r>
              <a:rPr sz="900" spc="6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&gt;&gt;</a:t>
            </a:r>
            <a:r>
              <a:rPr sz="900" spc="114" dirty="0">
                <a:latin typeface="Cambria"/>
                <a:cs typeface="Cambria"/>
              </a:rPr>
              <a:t> </a:t>
            </a:r>
            <a:r>
              <a:rPr sz="900" spc="-25" dirty="0">
                <a:latin typeface="Cambria"/>
                <a:cs typeface="Cambria"/>
              </a:rPr>
              <a:t>a;</a:t>
            </a:r>
            <a:endParaRPr sz="9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60"/>
              </a:spcBef>
            </a:pPr>
            <a:r>
              <a:rPr sz="900" dirty="0">
                <a:latin typeface="Cambria"/>
                <a:cs typeface="Cambria"/>
              </a:rPr>
              <a:t>cout</a:t>
            </a:r>
            <a:r>
              <a:rPr sz="900" spc="4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&lt;&lt;</a:t>
            </a:r>
            <a:r>
              <a:rPr sz="900" spc="9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"Enter</a:t>
            </a:r>
            <a:r>
              <a:rPr sz="900" spc="7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second</a:t>
            </a:r>
            <a:r>
              <a:rPr sz="900" spc="3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number:</a:t>
            </a:r>
            <a:r>
              <a:rPr sz="900" spc="55" dirty="0">
                <a:latin typeface="Cambria"/>
                <a:cs typeface="Cambria"/>
              </a:rPr>
              <a:t> </a:t>
            </a:r>
            <a:r>
              <a:rPr sz="900" spc="-25" dirty="0">
                <a:latin typeface="Cambria"/>
                <a:cs typeface="Cambria"/>
              </a:rPr>
              <a:t>";</a:t>
            </a:r>
            <a:endParaRPr sz="900">
              <a:latin typeface="Cambria"/>
              <a:cs typeface="Cambria"/>
            </a:endParaRPr>
          </a:p>
          <a:p>
            <a:pPr marL="469900" marR="1905000">
              <a:lnSpc>
                <a:spcPts val="1200"/>
              </a:lnSpc>
              <a:spcBef>
                <a:spcPts val="60"/>
              </a:spcBef>
            </a:pPr>
            <a:r>
              <a:rPr sz="900" dirty="0">
                <a:latin typeface="Cambria"/>
                <a:cs typeface="Cambria"/>
              </a:rPr>
              <a:t>cin</a:t>
            </a:r>
            <a:r>
              <a:rPr sz="900" spc="6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&gt;&gt;</a:t>
            </a:r>
            <a:r>
              <a:rPr sz="900" spc="114" dirty="0">
                <a:latin typeface="Cambria"/>
                <a:cs typeface="Cambria"/>
              </a:rPr>
              <a:t> </a:t>
            </a:r>
            <a:r>
              <a:rPr sz="900" spc="-35" dirty="0">
                <a:latin typeface="Cambria"/>
                <a:cs typeface="Cambria"/>
              </a:rPr>
              <a:t>b;</a:t>
            </a:r>
            <a:r>
              <a:rPr sz="900" spc="50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calc.subtract(a,</a:t>
            </a:r>
            <a:r>
              <a:rPr sz="900" spc="60" dirty="0">
                <a:latin typeface="Cambria"/>
                <a:cs typeface="Cambria"/>
              </a:rPr>
              <a:t> </a:t>
            </a:r>
            <a:r>
              <a:rPr sz="900" spc="-25" dirty="0">
                <a:latin typeface="Cambria"/>
                <a:cs typeface="Cambria"/>
              </a:rPr>
              <a:t>b);</a:t>
            </a:r>
            <a:r>
              <a:rPr sz="900" spc="500" dirty="0">
                <a:latin typeface="Cambria"/>
                <a:cs typeface="Cambria"/>
              </a:rPr>
              <a:t> </a:t>
            </a:r>
            <a:r>
              <a:rPr sz="900" spc="-10" dirty="0">
                <a:latin typeface="Cambria"/>
                <a:cs typeface="Cambria"/>
              </a:rPr>
              <a:t>break;</a:t>
            </a:r>
            <a:endParaRPr sz="900">
              <a:latin typeface="Cambria"/>
              <a:cs typeface="Cambria"/>
            </a:endParaRPr>
          </a:p>
          <a:p>
            <a:pPr marL="355600">
              <a:lnSpc>
                <a:spcPts val="1070"/>
              </a:lnSpc>
            </a:pPr>
            <a:r>
              <a:rPr sz="900" dirty="0">
                <a:latin typeface="Cambria"/>
                <a:cs typeface="Cambria"/>
              </a:rPr>
              <a:t>case</a:t>
            </a:r>
            <a:r>
              <a:rPr sz="900" spc="15" dirty="0">
                <a:latin typeface="Cambria"/>
                <a:cs typeface="Cambria"/>
              </a:rPr>
              <a:t> </a:t>
            </a:r>
            <a:r>
              <a:rPr sz="900" spc="-25" dirty="0">
                <a:latin typeface="Cambria"/>
                <a:cs typeface="Cambria"/>
              </a:rPr>
              <a:t>3:</a:t>
            </a:r>
            <a:endParaRPr sz="900">
              <a:latin typeface="Cambria"/>
              <a:cs typeface="Cambria"/>
            </a:endParaRPr>
          </a:p>
          <a:p>
            <a:pPr marL="469900" marR="524510">
              <a:lnSpc>
                <a:spcPct val="111300"/>
              </a:lnSpc>
              <a:spcBef>
                <a:spcPts val="5"/>
              </a:spcBef>
            </a:pPr>
            <a:r>
              <a:rPr sz="900" dirty="0">
                <a:latin typeface="Cambria"/>
                <a:cs typeface="Cambria"/>
              </a:rPr>
              <a:t>cout</a:t>
            </a:r>
            <a:r>
              <a:rPr sz="900" spc="4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&lt;&lt;</a:t>
            </a:r>
            <a:r>
              <a:rPr sz="900" spc="9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"Result:</a:t>
            </a:r>
            <a:r>
              <a:rPr sz="900" spc="6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"</a:t>
            </a:r>
            <a:r>
              <a:rPr sz="900" spc="6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&lt;&lt;</a:t>
            </a:r>
            <a:r>
              <a:rPr sz="900" spc="9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calc.getResult()</a:t>
            </a:r>
            <a:r>
              <a:rPr sz="900" spc="5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&lt;&lt;</a:t>
            </a:r>
            <a:r>
              <a:rPr sz="900" spc="90" dirty="0">
                <a:latin typeface="Cambria"/>
                <a:cs typeface="Cambria"/>
              </a:rPr>
              <a:t> </a:t>
            </a:r>
            <a:r>
              <a:rPr sz="900" spc="-20" dirty="0">
                <a:latin typeface="Cambria"/>
                <a:cs typeface="Cambria"/>
              </a:rPr>
              <a:t>endl;</a:t>
            </a:r>
            <a:r>
              <a:rPr sz="900" spc="500" dirty="0">
                <a:latin typeface="Cambria"/>
                <a:cs typeface="Cambria"/>
              </a:rPr>
              <a:t> </a:t>
            </a:r>
            <a:r>
              <a:rPr sz="900" spc="-10" dirty="0">
                <a:latin typeface="Cambria"/>
                <a:cs typeface="Cambria"/>
              </a:rPr>
              <a:t>break;</a:t>
            </a:r>
            <a:endParaRPr sz="900">
              <a:latin typeface="Cambria"/>
              <a:cs typeface="Cambria"/>
            </a:endParaRPr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sz="900" dirty="0">
                <a:latin typeface="Cambria"/>
                <a:cs typeface="Cambria"/>
              </a:rPr>
              <a:t>case</a:t>
            </a:r>
            <a:r>
              <a:rPr sz="900" spc="15" dirty="0">
                <a:latin typeface="Cambria"/>
                <a:cs typeface="Cambria"/>
              </a:rPr>
              <a:t> </a:t>
            </a:r>
            <a:r>
              <a:rPr sz="900" spc="-25" dirty="0">
                <a:latin typeface="Cambria"/>
                <a:cs typeface="Cambria"/>
              </a:rPr>
              <a:t>4:</a:t>
            </a:r>
            <a:endParaRPr sz="900">
              <a:latin typeface="Cambria"/>
              <a:cs typeface="Cambria"/>
            </a:endParaRPr>
          </a:p>
          <a:p>
            <a:pPr marL="469900" marR="1701800">
              <a:lnSpc>
                <a:spcPct val="111400"/>
              </a:lnSpc>
            </a:pPr>
            <a:r>
              <a:rPr sz="900" dirty="0">
                <a:latin typeface="Cambria"/>
                <a:cs typeface="Cambria"/>
              </a:rPr>
              <a:t>cout</a:t>
            </a:r>
            <a:r>
              <a:rPr sz="900" spc="5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&lt;&lt;</a:t>
            </a:r>
            <a:r>
              <a:rPr sz="900" spc="110" dirty="0">
                <a:latin typeface="Cambria"/>
                <a:cs typeface="Cambria"/>
              </a:rPr>
              <a:t> </a:t>
            </a:r>
            <a:r>
              <a:rPr sz="900" spc="-10" dirty="0">
                <a:latin typeface="Cambria"/>
                <a:cs typeface="Cambria"/>
              </a:rPr>
              <a:t>"Exiting...\n";</a:t>
            </a:r>
            <a:r>
              <a:rPr sz="900" spc="500" dirty="0">
                <a:latin typeface="Cambria"/>
                <a:cs typeface="Cambria"/>
              </a:rPr>
              <a:t> </a:t>
            </a:r>
            <a:r>
              <a:rPr sz="900" spc="-10" dirty="0">
                <a:latin typeface="Cambria"/>
                <a:cs typeface="Cambria"/>
              </a:rPr>
              <a:t>return;</a:t>
            </a:r>
            <a:endParaRPr sz="900">
              <a:latin typeface="Cambria"/>
              <a:cs typeface="Cambria"/>
            </a:endParaRPr>
          </a:p>
          <a:p>
            <a:pPr marL="355600">
              <a:lnSpc>
                <a:spcPct val="100000"/>
              </a:lnSpc>
              <a:spcBef>
                <a:spcPts val="45"/>
              </a:spcBef>
            </a:pPr>
            <a:r>
              <a:rPr sz="900" spc="-10" dirty="0">
                <a:latin typeface="Cambria"/>
                <a:cs typeface="Cambria"/>
              </a:rPr>
              <a:t>default:</a:t>
            </a:r>
            <a:endParaRPr sz="9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120"/>
              </a:spcBef>
            </a:pPr>
            <a:r>
              <a:rPr sz="900" dirty="0">
                <a:latin typeface="Cambria"/>
                <a:cs typeface="Cambria"/>
              </a:rPr>
              <a:t>cout</a:t>
            </a:r>
            <a:r>
              <a:rPr sz="900" spc="7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&lt;&lt;</a:t>
            </a:r>
            <a:r>
              <a:rPr sz="900" spc="13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"Invalid</a:t>
            </a:r>
            <a:r>
              <a:rPr sz="900" spc="10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choice.</a:t>
            </a:r>
            <a:r>
              <a:rPr sz="900" spc="90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Please</a:t>
            </a:r>
            <a:r>
              <a:rPr sz="900" spc="25" dirty="0">
                <a:latin typeface="Cambria"/>
                <a:cs typeface="Cambria"/>
              </a:rPr>
              <a:t> </a:t>
            </a:r>
            <a:r>
              <a:rPr sz="900" dirty="0">
                <a:latin typeface="Cambria"/>
                <a:cs typeface="Cambria"/>
              </a:rPr>
              <a:t>try</a:t>
            </a:r>
            <a:r>
              <a:rPr sz="900" spc="45" dirty="0">
                <a:latin typeface="Cambria"/>
                <a:cs typeface="Cambria"/>
              </a:rPr>
              <a:t> </a:t>
            </a:r>
            <a:r>
              <a:rPr sz="900" spc="-10" dirty="0">
                <a:latin typeface="Cambria"/>
                <a:cs typeface="Cambria"/>
              </a:rPr>
              <a:t>again.\n";</a:t>
            </a:r>
            <a:endParaRPr sz="9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sz="900" spc="-50" dirty="0">
                <a:latin typeface="Cambria"/>
                <a:cs typeface="Cambria"/>
              </a:rPr>
              <a:t>}</a:t>
            </a:r>
            <a:endParaRPr sz="900">
              <a:latin typeface="Cambria"/>
              <a:cs typeface="Cambria"/>
            </a:endParaRPr>
          </a:p>
          <a:p>
            <a:pPr marL="127000">
              <a:lnSpc>
                <a:spcPct val="100000"/>
              </a:lnSpc>
              <a:spcBef>
                <a:spcPts val="120"/>
              </a:spcBef>
            </a:pPr>
            <a:r>
              <a:rPr sz="900" spc="-50" dirty="0">
                <a:latin typeface="Cambria"/>
                <a:cs typeface="Cambria"/>
              </a:rPr>
              <a:t>}</a:t>
            </a:r>
            <a:endParaRPr sz="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50" dirty="0">
                <a:latin typeface="Cambria"/>
                <a:cs typeface="Cambria"/>
              </a:rPr>
              <a:t>}</a:t>
            </a:r>
            <a:endParaRPr sz="9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9508" y="1098105"/>
            <a:ext cx="3606800" cy="50520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6350" algn="just">
              <a:lnSpc>
                <a:spcPct val="152800"/>
              </a:lnSpc>
              <a:spcBef>
                <a:spcPts val="55"/>
              </a:spcBef>
            </a:pPr>
            <a:r>
              <a:rPr sz="2150" spc="10" dirty="0">
                <a:latin typeface="Cambria"/>
                <a:cs typeface="Cambria"/>
              </a:rPr>
              <a:t>The</a:t>
            </a:r>
            <a:r>
              <a:rPr sz="2150" spc="465" dirty="0">
                <a:latin typeface="Cambria"/>
                <a:cs typeface="Cambria"/>
              </a:rPr>
              <a:t> </a:t>
            </a:r>
            <a:r>
              <a:rPr sz="2150" spc="10" dirty="0">
                <a:latin typeface="Cambria"/>
                <a:cs typeface="Cambria"/>
              </a:rPr>
              <a:t>runCalculator()</a:t>
            </a:r>
            <a:r>
              <a:rPr sz="2150" spc="459" dirty="0">
                <a:latin typeface="Cambria"/>
                <a:cs typeface="Cambria"/>
              </a:rPr>
              <a:t> </a:t>
            </a:r>
            <a:r>
              <a:rPr sz="2150" spc="40" dirty="0">
                <a:latin typeface="Cambria"/>
                <a:cs typeface="Cambria"/>
              </a:rPr>
              <a:t>function </a:t>
            </a:r>
            <a:r>
              <a:rPr sz="2150" dirty="0">
                <a:latin typeface="Cambria"/>
                <a:cs typeface="Cambria"/>
              </a:rPr>
              <a:t>abstracts</a:t>
            </a:r>
            <a:r>
              <a:rPr sz="2150" spc="434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41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control</a:t>
            </a:r>
            <a:r>
              <a:rPr sz="2150" spc="465" dirty="0">
                <a:latin typeface="Cambria"/>
                <a:cs typeface="Cambria"/>
              </a:rPr>
              <a:t> </a:t>
            </a:r>
            <a:r>
              <a:rPr sz="2150" spc="75" dirty="0">
                <a:latin typeface="Cambria"/>
                <a:cs typeface="Cambria"/>
              </a:rPr>
              <a:t>flow</a:t>
            </a:r>
            <a:r>
              <a:rPr sz="2150" spc="500" dirty="0">
                <a:latin typeface="Cambria"/>
                <a:cs typeface="Cambria"/>
              </a:rPr>
              <a:t> </a:t>
            </a:r>
            <a:r>
              <a:rPr sz="2150" spc="45" dirty="0">
                <a:latin typeface="Cambria"/>
                <a:cs typeface="Cambria"/>
              </a:rPr>
              <a:t>of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20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program.</a:t>
            </a:r>
            <a:endParaRPr sz="2150">
              <a:latin typeface="Cambria"/>
              <a:cs typeface="Cambria"/>
            </a:endParaRPr>
          </a:p>
          <a:p>
            <a:pPr marL="12700" marR="5080" algn="just">
              <a:lnSpc>
                <a:spcPct val="153800"/>
              </a:lnSpc>
              <a:spcBef>
                <a:spcPts val="15"/>
              </a:spcBef>
              <a:tabLst>
                <a:tab pos="1430655" algn="l"/>
                <a:tab pos="2846705" algn="l"/>
              </a:tabLst>
            </a:pPr>
            <a:r>
              <a:rPr sz="2150" dirty="0">
                <a:latin typeface="Cambria"/>
                <a:cs typeface="Cambria"/>
              </a:rPr>
              <a:t>It</a:t>
            </a:r>
            <a:r>
              <a:rPr sz="2150" spc="50" dirty="0">
                <a:latin typeface="Cambria"/>
                <a:cs typeface="Cambria"/>
              </a:rPr>
              <a:t>  provides</a:t>
            </a:r>
            <a:r>
              <a:rPr sz="2150" spc="9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60" dirty="0">
                <a:latin typeface="Cambria"/>
                <a:cs typeface="Cambria"/>
              </a:rPr>
              <a:t>  </a:t>
            </a:r>
            <a:r>
              <a:rPr sz="2150" spc="50" dirty="0">
                <a:latin typeface="Cambria"/>
                <a:cs typeface="Cambria"/>
              </a:rPr>
              <a:t>simple</a:t>
            </a:r>
            <a:r>
              <a:rPr sz="2150" spc="65" dirty="0">
                <a:latin typeface="Cambria"/>
                <a:cs typeface="Cambria"/>
              </a:rPr>
              <a:t>  </a:t>
            </a:r>
            <a:r>
              <a:rPr sz="2150" spc="45" dirty="0">
                <a:latin typeface="Cambria"/>
                <a:cs typeface="Cambria"/>
              </a:rPr>
              <a:t>menu- </a:t>
            </a:r>
            <a:r>
              <a:rPr sz="2150" spc="65" dirty="0">
                <a:latin typeface="Cambria"/>
                <a:cs typeface="Cambria"/>
              </a:rPr>
              <a:t>driven</a:t>
            </a:r>
            <a:r>
              <a:rPr sz="2150" spc="8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interface</a:t>
            </a:r>
            <a:r>
              <a:rPr sz="2150" spc="10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that</a:t>
            </a:r>
            <a:r>
              <a:rPr sz="2150" spc="110" dirty="0">
                <a:latin typeface="Cambria"/>
                <a:cs typeface="Cambria"/>
              </a:rPr>
              <a:t>  </a:t>
            </a:r>
            <a:r>
              <a:rPr sz="2150" spc="40" dirty="0">
                <a:latin typeface="Cambria"/>
                <a:cs typeface="Cambria"/>
              </a:rPr>
              <a:t>allows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38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user</a:t>
            </a:r>
            <a:r>
              <a:rPr sz="2150" spc="45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to</a:t>
            </a:r>
            <a:r>
              <a:rPr sz="2150" spc="38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interact</a:t>
            </a:r>
            <a:r>
              <a:rPr sz="2150" spc="455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with</a:t>
            </a:r>
            <a:r>
              <a:rPr sz="2150" spc="390" dirty="0">
                <a:latin typeface="Cambria"/>
                <a:cs typeface="Cambria"/>
              </a:rPr>
              <a:t> </a:t>
            </a:r>
            <a:r>
              <a:rPr sz="2150" spc="-25" dirty="0">
                <a:latin typeface="Cambria"/>
                <a:cs typeface="Cambria"/>
              </a:rPr>
              <a:t>the </a:t>
            </a:r>
            <a:r>
              <a:rPr sz="2150" dirty="0">
                <a:latin typeface="Cambria"/>
                <a:cs typeface="Cambria"/>
              </a:rPr>
              <a:t>calculator</a:t>
            </a:r>
            <a:r>
              <a:rPr sz="2150" spc="35" dirty="0">
                <a:latin typeface="Cambria"/>
                <a:cs typeface="Cambria"/>
              </a:rPr>
              <a:t>  </a:t>
            </a:r>
            <a:r>
              <a:rPr sz="2150" spc="55" dirty="0">
                <a:latin typeface="Cambria"/>
                <a:cs typeface="Cambria"/>
              </a:rPr>
              <a:t>without</a:t>
            </a:r>
            <a:r>
              <a:rPr sz="2150" spc="80" dirty="0">
                <a:latin typeface="Cambria"/>
                <a:cs typeface="Cambria"/>
              </a:rPr>
              <a:t>  </a:t>
            </a:r>
            <a:r>
              <a:rPr sz="2150" spc="60" dirty="0">
                <a:latin typeface="Cambria"/>
                <a:cs typeface="Cambria"/>
              </a:rPr>
              <a:t>worrying </a:t>
            </a:r>
            <a:r>
              <a:rPr sz="2150" spc="50" dirty="0">
                <a:latin typeface="Cambria"/>
                <a:cs typeface="Cambria"/>
              </a:rPr>
              <a:t>about</a:t>
            </a:r>
            <a:r>
              <a:rPr sz="2150" spc="14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50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underlying</a:t>
            </a:r>
            <a:r>
              <a:rPr sz="2150" spc="190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control </a:t>
            </a:r>
            <a:r>
              <a:rPr sz="2150" spc="40" dirty="0">
                <a:latin typeface="Cambria"/>
                <a:cs typeface="Cambria"/>
              </a:rPr>
              <a:t>logic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0" dirty="0">
                <a:latin typeface="Cambria"/>
                <a:cs typeface="Cambria"/>
              </a:rPr>
              <a:t>(e.g.,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5" dirty="0">
                <a:latin typeface="Cambria"/>
                <a:cs typeface="Cambria"/>
              </a:rPr>
              <a:t>loops, </a:t>
            </a:r>
            <a:r>
              <a:rPr sz="2150" spc="-10" dirty="0">
                <a:latin typeface="Cambria"/>
                <a:cs typeface="Cambria"/>
              </a:rPr>
              <a:t>conditionals).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96100" y="1047750"/>
            <a:ext cx="695325" cy="5229225"/>
          </a:xfrm>
          <a:custGeom>
            <a:avLst/>
            <a:gdLst/>
            <a:ahLst/>
            <a:cxnLst/>
            <a:rect l="l" t="t" r="r" b="b"/>
            <a:pathLst>
              <a:path w="695325" h="5229225">
                <a:moveTo>
                  <a:pt x="0" y="0"/>
                </a:moveTo>
                <a:lnTo>
                  <a:pt x="70073" y="1175"/>
                </a:lnTo>
                <a:lnTo>
                  <a:pt x="135342" y="4548"/>
                </a:lnTo>
                <a:lnTo>
                  <a:pt x="194408" y="9885"/>
                </a:lnTo>
                <a:lnTo>
                  <a:pt x="245872" y="16954"/>
                </a:lnTo>
                <a:lnTo>
                  <a:pt x="288334" y="25524"/>
                </a:lnTo>
                <a:lnTo>
                  <a:pt x="340660" y="46234"/>
                </a:lnTo>
                <a:lnTo>
                  <a:pt x="347725" y="57912"/>
                </a:lnTo>
                <a:lnTo>
                  <a:pt x="347725" y="2556637"/>
                </a:lnTo>
                <a:lnTo>
                  <a:pt x="354785" y="2568314"/>
                </a:lnTo>
                <a:lnTo>
                  <a:pt x="407077" y="2589024"/>
                </a:lnTo>
                <a:lnTo>
                  <a:pt x="449516" y="2597594"/>
                </a:lnTo>
                <a:lnTo>
                  <a:pt x="500956" y="2604663"/>
                </a:lnTo>
                <a:lnTo>
                  <a:pt x="560002" y="2610000"/>
                </a:lnTo>
                <a:lnTo>
                  <a:pt x="625257" y="2613373"/>
                </a:lnTo>
                <a:lnTo>
                  <a:pt x="695325" y="2614549"/>
                </a:lnTo>
                <a:lnTo>
                  <a:pt x="625257" y="2615730"/>
                </a:lnTo>
                <a:lnTo>
                  <a:pt x="560002" y="2619117"/>
                </a:lnTo>
                <a:lnTo>
                  <a:pt x="500956" y="2624474"/>
                </a:lnTo>
                <a:lnTo>
                  <a:pt x="449516" y="2631566"/>
                </a:lnTo>
                <a:lnTo>
                  <a:pt x="407077" y="2640159"/>
                </a:lnTo>
                <a:lnTo>
                  <a:pt x="354785" y="2660905"/>
                </a:lnTo>
                <a:lnTo>
                  <a:pt x="347725" y="2672588"/>
                </a:lnTo>
                <a:lnTo>
                  <a:pt x="347725" y="5171287"/>
                </a:lnTo>
                <a:lnTo>
                  <a:pt x="340660" y="5182962"/>
                </a:lnTo>
                <a:lnTo>
                  <a:pt x="288334" y="5203678"/>
                </a:lnTo>
                <a:lnTo>
                  <a:pt x="245872" y="5212253"/>
                </a:lnTo>
                <a:lnTo>
                  <a:pt x="194408" y="5219328"/>
                </a:lnTo>
                <a:lnTo>
                  <a:pt x="135342" y="5224671"/>
                </a:lnTo>
                <a:lnTo>
                  <a:pt x="70073" y="5228047"/>
                </a:lnTo>
                <a:lnTo>
                  <a:pt x="0" y="5229225"/>
                </a:lnTo>
              </a:path>
            </a:pathLst>
          </a:custGeom>
          <a:ln w="19050">
            <a:solidFill>
              <a:srgbClr val="FFC9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45" dirty="0"/>
              <a:t> </a:t>
            </a:r>
            <a:r>
              <a:rPr sz="3200" spc="195" dirty="0"/>
              <a:t>2.</a:t>
            </a:r>
            <a:r>
              <a:rPr sz="3200" spc="225" dirty="0"/>
              <a:t> </a:t>
            </a:r>
            <a:r>
              <a:rPr sz="3200" spc="120" dirty="0"/>
              <a:t>Architecture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3785" cy="38792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4800"/>
              </a:lnSpc>
              <a:spcBef>
                <a:spcPts val="90"/>
              </a:spcBef>
              <a:buFont typeface="Wingdings"/>
              <a:buChar char=""/>
              <a:tabLst>
                <a:tab pos="241300" algn="l"/>
                <a:tab pos="383540" algn="l"/>
                <a:tab pos="1916430" algn="l"/>
                <a:tab pos="3916045" algn="l"/>
                <a:tab pos="5184775" algn="l"/>
                <a:tab pos="5808345" algn="l"/>
                <a:tab pos="7358380" algn="l"/>
                <a:tab pos="7802245" algn="l"/>
                <a:tab pos="9298305" algn="l"/>
              </a:tabLst>
            </a:pPr>
            <a:r>
              <a:rPr sz="2750" spc="40" dirty="0">
                <a:latin typeface="Cambria"/>
                <a:cs typeface="Cambria"/>
              </a:rPr>
              <a:t>	Software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architecture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5" dirty="0">
                <a:latin typeface="Cambria"/>
                <a:cs typeface="Cambria"/>
              </a:rPr>
              <a:t>defines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the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E64722"/>
                </a:solidFill>
                <a:latin typeface="Cambria"/>
                <a:cs typeface="Cambria"/>
              </a:rPr>
              <a:t>structure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30" dirty="0">
                <a:solidFill>
                  <a:srgbClr val="E64722"/>
                </a:solidFill>
                <a:latin typeface="Cambria"/>
                <a:cs typeface="Cambria"/>
              </a:rPr>
              <a:t>of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E64722"/>
                </a:solidFill>
                <a:latin typeface="Cambria"/>
                <a:cs typeface="Cambria"/>
              </a:rPr>
              <a:t>software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45" dirty="0">
                <a:solidFill>
                  <a:srgbClr val="E64722"/>
                </a:solidFill>
                <a:latin typeface="Cambria"/>
                <a:cs typeface="Cambria"/>
              </a:rPr>
              <a:t>components </a:t>
            </a:r>
            <a:r>
              <a:rPr sz="2750" spc="85" dirty="0">
                <a:solidFill>
                  <a:srgbClr val="E64722"/>
                </a:solidFill>
                <a:latin typeface="Cambria"/>
                <a:cs typeface="Cambria"/>
              </a:rPr>
              <a:t>and</a:t>
            </a:r>
            <a:r>
              <a:rPr sz="2750" spc="18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their</a:t>
            </a:r>
            <a:r>
              <a:rPr sz="2750" spc="12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E64722"/>
                </a:solidFill>
                <a:latin typeface="Cambria"/>
                <a:cs typeface="Cambria"/>
              </a:rPr>
              <a:t>interactions</a:t>
            </a:r>
            <a:r>
              <a:rPr sz="2750" spc="-1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95275" indent="-290830">
              <a:lnSpc>
                <a:spcPct val="100000"/>
              </a:lnSpc>
              <a:buFont typeface="Wingdings"/>
              <a:buChar char=""/>
              <a:tabLst>
                <a:tab pos="295275" algn="l"/>
              </a:tabLst>
            </a:pPr>
            <a:r>
              <a:rPr sz="2750" dirty="0">
                <a:latin typeface="Cambria"/>
                <a:cs typeface="Cambria"/>
              </a:rPr>
              <a:t>It</a:t>
            </a:r>
            <a:r>
              <a:rPr sz="2750" spc="11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serves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as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65" dirty="0">
                <a:solidFill>
                  <a:srgbClr val="E64722"/>
                </a:solidFill>
                <a:latin typeface="Cambria"/>
                <a:cs typeface="Cambria"/>
              </a:rPr>
              <a:t>framework</a:t>
            </a:r>
            <a:r>
              <a:rPr sz="2750" spc="16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for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E64722"/>
                </a:solidFill>
                <a:latin typeface="Cambria"/>
                <a:cs typeface="Cambria"/>
              </a:rPr>
              <a:t>detailed</a:t>
            </a:r>
            <a:r>
              <a:rPr sz="2750" spc="18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75" dirty="0">
                <a:solidFill>
                  <a:srgbClr val="E64722"/>
                </a:solidFill>
                <a:latin typeface="Cambria"/>
                <a:cs typeface="Cambria"/>
              </a:rPr>
              <a:t>design</a:t>
            </a:r>
            <a:r>
              <a:rPr sz="2750" spc="16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E64722"/>
                </a:solidFill>
                <a:latin typeface="Cambria"/>
                <a:cs typeface="Cambria"/>
              </a:rPr>
              <a:t>activities</a:t>
            </a:r>
            <a:r>
              <a:rPr sz="2750" spc="-1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94640" indent="-29019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4640" algn="l"/>
              </a:tabLst>
            </a:pPr>
            <a:r>
              <a:rPr sz="2750" spc="50" dirty="0">
                <a:latin typeface="Cambria"/>
                <a:cs typeface="Cambria"/>
              </a:rPr>
              <a:t>Architectural</a:t>
            </a:r>
            <a:r>
              <a:rPr sz="2750" spc="1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patterns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help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E64722"/>
                </a:solidFill>
                <a:latin typeface="Cambria"/>
                <a:cs typeface="Cambria"/>
              </a:rPr>
              <a:t>solve</a:t>
            </a:r>
            <a:r>
              <a:rPr sz="2750" spc="18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85" dirty="0">
                <a:solidFill>
                  <a:srgbClr val="E64722"/>
                </a:solidFill>
                <a:latin typeface="Cambria"/>
                <a:cs typeface="Cambria"/>
              </a:rPr>
              <a:t>common</a:t>
            </a:r>
            <a:r>
              <a:rPr sz="2750" spc="17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75" dirty="0">
                <a:solidFill>
                  <a:srgbClr val="E64722"/>
                </a:solidFill>
                <a:latin typeface="Cambria"/>
                <a:cs typeface="Cambria"/>
              </a:rPr>
              <a:t>design</a:t>
            </a:r>
            <a:r>
              <a:rPr sz="2750" spc="17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E64722"/>
                </a:solidFill>
                <a:latin typeface="Cambria"/>
                <a:cs typeface="Cambria"/>
              </a:rPr>
              <a:t>problems</a:t>
            </a:r>
            <a:r>
              <a:rPr sz="2750" spc="5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45" dirty="0"/>
              <a:t> </a:t>
            </a:r>
            <a:r>
              <a:rPr sz="3200" spc="195" dirty="0"/>
              <a:t>2.</a:t>
            </a:r>
            <a:r>
              <a:rPr sz="3200" spc="225" dirty="0"/>
              <a:t> </a:t>
            </a:r>
            <a:r>
              <a:rPr sz="3200" spc="120" dirty="0"/>
              <a:t>Architecture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11237595" cy="3987165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92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b="1" spc="125" dirty="0">
                <a:latin typeface="Times New Roman"/>
                <a:cs typeface="Times New Roman"/>
              </a:rPr>
              <a:t>Key</a:t>
            </a:r>
            <a:r>
              <a:rPr sz="2750" b="1" spc="30" dirty="0">
                <a:latin typeface="Times New Roman"/>
                <a:cs typeface="Times New Roman"/>
              </a:rPr>
              <a:t> </a:t>
            </a:r>
            <a:r>
              <a:rPr sz="2750" b="1" spc="90" dirty="0">
                <a:latin typeface="Times New Roman"/>
                <a:cs typeface="Times New Roman"/>
              </a:rPr>
              <a:t>properties</a:t>
            </a:r>
            <a:r>
              <a:rPr sz="2750" b="1" spc="45" dirty="0">
                <a:latin typeface="Times New Roman"/>
                <a:cs typeface="Times New Roman"/>
              </a:rPr>
              <a:t> </a:t>
            </a:r>
            <a:r>
              <a:rPr sz="2750" b="1" spc="175" dirty="0">
                <a:latin typeface="Times New Roman"/>
                <a:cs typeface="Times New Roman"/>
              </a:rPr>
              <a:t>of</a:t>
            </a:r>
            <a:r>
              <a:rPr sz="2750" b="1" spc="25" dirty="0">
                <a:latin typeface="Times New Roman"/>
                <a:cs typeface="Times New Roman"/>
              </a:rPr>
              <a:t> </a:t>
            </a:r>
            <a:r>
              <a:rPr sz="2750" b="1" spc="45" dirty="0">
                <a:latin typeface="Times New Roman"/>
                <a:cs typeface="Times New Roman"/>
              </a:rPr>
              <a:t>architectural</a:t>
            </a:r>
            <a:r>
              <a:rPr sz="2750" b="1" spc="75" dirty="0">
                <a:latin typeface="Times New Roman"/>
                <a:cs typeface="Times New Roman"/>
              </a:rPr>
              <a:t> </a:t>
            </a:r>
            <a:r>
              <a:rPr sz="2750" b="1" spc="155" dirty="0">
                <a:latin typeface="Times New Roman"/>
                <a:cs typeface="Times New Roman"/>
              </a:rPr>
              <a:t>design</a:t>
            </a:r>
            <a:endParaRPr sz="2750">
              <a:latin typeface="Times New Roman"/>
              <a:cs typeface="Times New Roman"/>
            </a:endParaRPr>
          </a:p>
          <a:p>
            <a:pPr marL="712470" lvl="1" indent="-244475">
              <a:lnSpc>
                <a:spcPct val="100000"/>
              </a:lnSpc>
              <a:spcBef>
                <a:spcPts val="1560"/>
              </a:spcBef>
              <a:buSzPct val="95833"/>
              <a:buFont typeface="Wingdings"/>
              <a:buChar char=""/>
              <a:tabLst>
                <a:tab pos="712470" algn="l"/>
                <a:tab pos="2227580" algn="l"/>
                <a:tab pos="3777615" algn="l"/>
                <a:tab pos="5208905" algn="l"/>
              </a:tabLst>
            </a:pPr>
            <a:r>
              <a:rPr sz="2400" b="1" spc="-10" dirty="0">
                <a:solidFill>
                  <a:srgbClr val="E64722"/>
                </a:solidFill>
                <a:latin typeface="Times New Roman"/>
                <a:cs typeface="Times New Roman"/>
              </a:rPr>
              <a:t>Structural</a:t>
            </a:r>
            <a:r>
              <a:rPr sz="2400" b="1" dirty="0">
                <a:solidFill>
                  <a:srgbClr val="E64722"/>
                </a:solidFill>
                <a:latin typeface="Times New Roman"/>
                <a:cs typeface="Times New Roman"/>
              </a:rPr>
              <a:t>	</a:t>
            </a:r>
            <a:r>
              <a:rPr sz="2400" b="1" spc="45" dirty="0">
                <a:solidFill>
                  <a:srgbClr val="E64722"/>
                </a:solidFill>
                <a:latin typeface="Times New Roman"/>
                <a:cs typeface="Times New Roman"/>
              </a:rPr>
              <a:t>properties</a:t>
            </a:r>
            <a:r>
              <a:rPr sz="2400" b="1" dirty="0">
                <a:solidFill>
                  <a:srgbClr val="E64722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Cambria"/>
                <a:cs typeface="Cambria"/>
              </a:rPr>
              <a:t>–</a:t>
            </a:r>
            <a:r>
              <a:rPr sz="2400" spc="459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Defines</a:t>
            </a:r>
            <a:r>
              <a:rPr sz="2400" dirty="0">
                <a:latin typeface="Cambria"/>
                <a:cs typeface="Cambria"/>
              </a:rPr>
              <a:t>	system</a:t>
            </a:r>
            <a:r>
              <a:rPr sz="2400" spc="5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components</a:t>
            </a:r>
            <a:r>
              <a:rPr sz="2400" spc="58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(e.g.,</a:t>
            </a:r>
            <a:r>
              <a:rPr sz="2400" spc="57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modules,</a:t>
            </a:r>
            <a:r>
              <a:rPr sz="2400" spc="5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objects)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spc="65" dirty="0">
                <a:latin typeface="Cambria"/>
                <a:cs typeface="Cambria"/>
              </a:rPr>
              <a:t>and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their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interactions.</a:t>
            </a:r>
            <a:endParaRPr sz="2400">
              <a:latin typeface="Cambria"/>
              <a:cs typeface="Cambria"/>
            </a:endParaRPr>
          </a:p>
          <a:p>
            <a:pPr marL="699135" marR="5080" lvl="1" indent="-231140">
              <a:lnSpc>
                <a:spcPct val="148600"/>
              </a:lnSpc>
              <a:spcBef>
                <a:spcPts val="75"/>
              </a:spcBef>
              <a:buSzPct val="95833"/>
              <a:buFont typeface="Wingdings"/>
              <a:buChar char=""/>
              <a:tabLst>
                <a:tab pos="699135" algn="l"/>
                <a:tab pos="712470" algn="l"/>
                <a:tab pos="3123565" algn="l"/>
                <a:tab pos="4704715" algn="l"/>
                <a:tab pos="5015230" algn="l"/>
                <a:tab pos="6580505" algn="l"/>
                <a:tab pos="8535035" algn="l"/>
                <a:tab pos="9843135" algn="l"/>
              </a:tabLst>
            </a:pPr>
            <a:r>
              <a:rPr sz="2400" b="1" spc="-55" dirty="0">
                <a:solidFill>
                  <a:srgbClr val="E64722"/>
                </a:solidFill>
                <a:latin typeface="Times New Roman"/>
                <a:cs typeface="Times New Roman"/>
              </a:rPr>
              <a:t>	Extra-</a:t>
            </a:r>
            <a:r>
              <a:rPr sz="2400" b="1" spc="70" dirty="0">
                <a:solidFill>
                  <a:srgbClr val="E64722"/>
                </a:solidFill>
                <a:latin typeface="Times New Roman"/>
                <a:cs typeface="Times New Roman"/>
              </a:rPr>
              <a:t>functional</a:t>
            </a:r>
            <a:r>
              <a:rPr sz="2400" b="1" dirty="0">
                <a:solidFill>
                  <a:srgbClr val="E64722"/>
                </a:solidFill>
                <a:latin typeface="Times New Roman"/>
                <a:cs typeface="Times New Roman"/>
              </a:rPr>
              <a:t>	</a:t>
            </a:r>
            <a:r>
              <a:rPr sz="2400" b="1" spc="45" dirty="0">
                <a:solidFill>
                  <a:srgbClr val="E64722"/>
                </a:solidFill>
                <a:latin typeface="Times New Roman"/>
                <a:cs typeface="Times New Roman"/>
              </a:rPr>
              <a:t>properties</a:t>
            </a:r>
            <a:r>
              <a:rPr sz="2400" b="1" dirty="0">
                <a:solidFill>
                  <a:srgbClr val="E64722"/>
                </a:solidFill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Cambria"/>
                <a:cs typeface="Cambria"/>
              </a:rPr>
              <a:t>–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Addresses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performance,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security,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reliability, </a:t>
            </a:r>
            <a:r>
              <a:rPr sz="2400" dirty="0">
                <a:latin typeface="Cambria"/>
                <a:cs typeface="Cambria"/>
              </a:rPr>
              <a:t>adaptability,</a:t>
            </a:r>
            <a:r>
              <a:rPr sz="2400" spc="50" dirty="0">
                <a:latin typeface="Cambria"/>
                <a:cs typeface="Cambria"/>
              </a:rPr>
              <a:t>  </a:t>
            </a:r>
            <a:r>
              <a:rPr sz="2400" spc="-20" dirty="0">
                <a:latin typeface="Cambria"/>
                <a:cs typeface="Cambria"/>
              </a:rPr>
              <a:t>etc.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  <a:tab pos="2043430" algn="l"/>
                <a:tab pos="2475865" algn="l"/>
                <a:tab pos="3585210" algn="l"/>
                <a:tab pos="4829810" algn="l"/>
                <a:tab pos="5125720" algn="l"/>
                <a:tab pos="5909310" algn="l"/>
                <a:tab pos="7457440" algn="l"/>
                <a:tab pos="8498205" algn="l"/>
                <a:tab pos="9750425" algn="l"/>
                <a:tab pos="10283190" algn="l"/>
              </a:tabLst>
            </a:pPr>
            <a:r>
              <a:rPr sz="2400" b="1" spc="65" dirty="0">
                <a:solidFill>
                  <a:srgbClr val="E64722"/>
                </a:solidFill>
                <a:latin typeface="Times New Roman"/>
                <a:cs typeface="Times New Roman"/>
              </a:rPr>
              <a:t>Families</a:t>
            </a:r>
            <a:r>
              <a:rPr sz="2400" b="1" dirty="0">
                <a:solidFill>
                  <a:srgbClr val="E64722"/>
                </a:solidFill>
                <a:latin typeface="Times New Roman"/>
                <a:cs typeface="Times New Roman"/>
              </a:rPr>
              <a:t>	</a:t>
            </a:r>
            <a:r>
              <a:rPr sz="2400" b="1" spc="110" dirty="0">
                <a:solidFill>
                  <a:srgbClr val="E64722"/>
                </a:solidFill>
                <a:latin typeface="Times New Roman"/>
                <a:cs typeface="Times New Roman"/>
              </a:rPr>
              <a:t>of</a:t>
            </a:r>
            <a:r>
              <a:rPr sz="2400" b="1" dirty="0">
                <a:solidFill>
                  <a:srgbClr val="E64722"/>
                </a:solidFill>
                <a:latin typeface="Times New Roman"/>
                <a:cs typeface="Times New Roman"/>
              </a:rPr>
              <a:t>	</a:t>
            </a:r>
            <a:r>
              <a:rPr sz="2400" b="1" spc="45" dirty="0">
                <a:solidFill>
                  <a:srgbClr val="E64722"/>
                </a:solidFill>
                <a:latin typeface="Times New Roman"/>
                <a:cs typeface="Times New Roman"/>
              </a:rPr>
              <a:t>related</a:t>
            </a:r>
            <a:r>
              <a:rPr sz="2400" b="1" dirty="0">
                <a:solidFill>
                  <a:srgbClr val="E64722"/>
                </a:solidFill>
                <a:latin typeface="Times New Roman"/>
                <a:cs typeface="Times New Roman"/>
              </a:rPr>
              <a:t>	</a:t>
            </a:r>
            <a:r>
              <a:rPr sz="2400" b="1" spc="90" dirty="0">
                <a:solidFill>
                  <a:srgbClr val="E64722"/>
                </a:solidFill>
                <a:latin typeface="Times New Roman"/>
                <a:cs typeface="Times New Roman"/>
              </a:rPr>
              <a:t>systems</a:t>
            </a:r>
            <a:r>
              <a:rPr sz="2400" b="1" dirty="0">
                <a:solidFill>
                  <a:srgbClr val="E64722"/>
                </a:solidFill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Cambria"/>
                <a:cs typeface="Cambria"/>
              </a:rPr>
              <a:t>–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0" dirty="0">
                <a:latin typeface="Cambria"/>
                <a:cs typeface="Cambria"/>
              </a:rPr>
              <a:t>Uses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repeatable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0" dirty="0">
                <a:latin typeface="Cambria"/>
                <a:cs typeface="Cambria"/>
              </a:rPr>
              <a:t>design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patterns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for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similar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05"/>
              </a:spcBef>
            </a:pPr>
            <a:r>
              <a:rPr sz="2400" spc="-10" dirty="0">
                <a:latin typeface="Cambria"/>
                <a:cs typeface="Cambria"/>
              </a:rPr>
              <a:t>systems.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45" dirty="0"/>
              <a:t> </a:t>
            </a:r>
            <a:r>
              <a:rPr sz="3200" spc="195" dirty="0"/>
              <a:t>2.</a:t>
            </a:r>
            <a:r>
              <a:rPr sz="3200" spc="225" dirty="0"/>
              <a:t> </a:t>
            </a:r>
            <a:r>
              <a:rPr sz="3200" spc="120" dirty="0"/>
              <a:t>Architecture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3225" y="1044575"/>
          <a:ext cx="11385550" cy="5335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7085">
                <a:tc>
                  <a:txBody>
                    <a:bodyPr/>
                    <a:lstStyle/>
                    <a:p>
                      <a:pPr marL="897255" marR="105410" indent="-7785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Architecture</a:t>
                      </a:r>
                      <a:r>
                        <a:rPr sz="2000" b="1" spc="3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Model </a:t>
                      </a:r>
                      <a:r>
                        <a:rPr sz="2000" b="1" spc="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Types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Definition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Example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9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Structured</a:t>
                      </a:r>
                      <a:r>
                        <a:rPr sz="2000" b="1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95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73660" algn="just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Represents</a:t>
                      </a:r>
                      <a:r>
                        <a:rPr sz="2000" spc="2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software</a:t>
                      </a:r>
                      <a:r>
                        <a:rPr sz="2000" spc="2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architecture</a:t>
                      </a:r>
                      <a:r>
                        <a:rPr sz="2000" spc="18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as</a:t>
                      </a:r>
                      <a:r>
                        <a:rPr sz="2000" spc="204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50" dirty="0">
                          <a:latin typeface="Cambria"/>
                          <a:cs typeface="Cambria"/>
                        </a:rPr>
                        <a:t>a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structured</a:t>
                      </a:r>
                      <a:r>
                        <a:rPr sz="2000" spc="29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collection</a:t>
                      </a:r>
                      <a:r>
                        <a:rPr sz="2000" spc="28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spc="6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sz="2000" spc="28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program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components</a:t>
                      </a:r>
                      <a:r>
                        <a:rPr sz="2000" spc="27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(e.g.,</a:t>
                      </a:r>
                      <a:r>
                        <a:rPr sz="2000" spc="28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45" dirty="0">
                          <a:latin typeface="Cambria"/>
                          <a:cs typeface="Cambria"/>
                        </a:rPr>
                        <a:t>modules,</a:t>
                      </a:r>
                      <a:r>
                        <a:rPr sz="2000" spc="29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objects,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filters)</a:t>
                      </a:r>
                      <a:r>
                        <a:rPr sz="2000" spc="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65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their</a:t>
                      </a:r>
                      <a:r>
                        <a:rPr sz="2000" spc="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interactions.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71120" algn="just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32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spc="2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45" dirty="0">
                          <a:latin typeface="Cambria"/>
                          <a:cs typeface="Cambria"/>
                        </a:rPr>
                        <a:t>Layered</a:t>
                      </a:r>
                      <a:r>
                        <a:rPr sz="2000" spc="28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Architecture</a:t>
                      </a:r>
                      <a:r>
                        <a:rPr sz="2000" spc="3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(e.g.,</a:t>
                      </a:r>
                      <a:r>
                        <a:rPr sz="2000" spc="3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25" dirty="0">
                          <a:latin typeface="Cambria"/>
                          <a:cs typeface="Cambria"/>
                        </a:rPr>
                        <a:t>in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web</a:t>
                      </a:r>
                      <a:r>
                        <a:rPr sz="2000" spc="484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applications:</a:t>
                      </a:r>
                      <a:r>
                        <a:rPr sz="2000" spc="484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Presentation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Layer</a:t>
                      </a:r>
                      <a:r>
                        <a:rPr sz="2000" spc="7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350" dirty="0">
                          <a:latin typeface="Cambria"/>
                          <a:cs typeface="Cambria"/>
                        </a:rPr>
                        <a:t>→</a:t>
                      </a:r>
                      <a:r>
                        <a:rPr sz="2000" spc="4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Business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70" dirty="0">
                          <a:latin typeface="Cambria"/>
                          <a:cs typeface="Cambria"/>
                        </a:rPr>
                        <a:t>Logic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Layer</a:t>
                      </a:r>
                      <a:r>
                        <a:rPr sz="2000" spc="7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300" dirty="0">
                          <a:latin typeface="Cambria"/>
                          <a:cs typeface="Cambria"/>
                        </a:rPr>
                        <a:t>→ </a:t>
                      </a:r>
                      <a:r>
                        <a:rPr sz="2000" spc="65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20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Access</a:t>
                      </a:r>
                      <a:r>
                        <a:rPr sz="20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Layer).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9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Framework</a:t>
                      </a:r>
                      <a:r>
                        <a:rPr sz="2000" b="1" spc="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8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74295" algn="just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1868170" algn="l"/>
                          <a:tab pos="3886835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Increases</a:t>
                      </a:r>
                      <a:r>
                        <a:rPr sz="2000" spc="20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abstraction</a:t>
                      </a:r>
                      <a:r>
                        <a:rPr sz="2000" spc="19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by</a:t>
                      </a:r>
                      <a:r>
                        <a:rPr sz="2000" spc="19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identifying repeatable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architectural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design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frameworks</a:t>
                      </a:r>
                      <a:r>
                        <a:rPr sz="2000" spc="44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used</a:t>
                      </a:r>
                      <a:r>
                        <a:rPr sz="2000" spc="445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2000" spc="440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similar applications.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72390" algn="just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framework</a:t>
                      </a:r>
                      <a:r>
                        <a:rPr sz="2000" spc="254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2000" spc="23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web</a:t>
                      </a:r>
                      <a:r>
                        <a:rPr sz="2000" spc="25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development,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where</a:t>
                      </a:r>
                      <a:r>
                        <a:rPr sz="2000" spc="22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229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85" dirty="0">
                          <a:latin typeface="Cambria"/>
                          <a:cs typeface="Cambria"/>
                        </a:rPr>
                        <a:t>Model</a:t>
                      </a:r>
                      <a:r>
                        <a:rPr sz="2000" spc="22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manages</a:t>
                      </a:r>
                      <a:r>
                        <a:rPr sz="2000" spc="24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data,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38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90" dirty="0">
                          <a:latin typeface="Cambria"/>
                          <a:cs typeface="Cambria"/>
                        </a:rPr>
                        <a:t>View</a:t>
                      </a:r>
                      <a:r>
                        <a:rPr sz="2000" spc="37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handles</a:t>
                      </a:r>
                      <a:r>
                        <a:rPr sz="2000" spc="4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120" dirty="0">
                          <a:latin typeface="Cambria"/>
                          <a:cs typeface="Cambria"/>
                        </a:rPr>
                        <a:t>UI,</a:t>
                      </a:r>
                      <a:r>
                        <a:rPr sz="2000" spc="36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37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Controller</a:t>
                      </a:r>
                      <a:r>
                        <a:rPr sz="2000" spc="1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processes</a:t>
                      </a:r>
                      <a:r>
                        <a:rPr sz="2000" spc="2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input.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9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90" dirty="0">
                          <a:latin typeface="Times New Roman"/>
                          <a:cs typeface="Times New Roman"/>
                        </a:rPr>
                        <a:t>Dynamic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8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70485" algn="just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Focuses</a:t>
                      </a:r>
                      <a:r>
                        <a:rPr sz="2000" spc="21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2000" spc="18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21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behavioral</a:t>
                      </a:r>
                      <a:r>
                        <a:rPr sz="2000" spc="2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aspects</a:t>
                      </a:r>
                      <a:r>
                        <a:rPr sz="2000" spc="2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4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of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architecture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,</a:t>
                      </a:r>
                      <a:r>
                        <a:rPr sz="2000" spc="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55" dirty="0">
                          <a:latin typeface="Cambria"/>
                          <a:cs typeface="Cambria"/>
                        </a:rPr>
                        <a:t>showing</a:t>
                      </a:r>
                      <a:r>
                        <a:rPr sz="2000" spc="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7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how</a:t>
                      </a:r>
                      <a:r>
                        <a:rPr sz="2000" spc="8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1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system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structure</a:t>
                      </a:r>
                      <a:r>
                        <a:rPr sz="2000" spc="4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or</a:t>
                      </a:r>
                      <a:r>
                        <a:rPr sz="2000" spc="4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configuration</a:t>
                      </a:r>
                      <a:r>
                        <a:rPr sz="2000" spc="8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changes</a:t>
                      </a:r>
                      <a:r>
                        <a:rPr sz="2000" spc="6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3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due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sz="2000" spc="7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external</a:t>
                      </a:r>
                      <a:r>
                        <a:rPr sz="2000" spc="9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events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72390" algn="just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32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spc="30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real-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time</a:t>
                      </a:r>
                      <a:r>
                        <a:rPr sz="2000" spc="31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traffic</a:t>
                      </a:r>
                      <a:r>
                        <a:rPr sz="2000" spc="31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monitoring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system</a:t>
                      </a:r>
                      <a:r>
                        <a:rPr sz="2000" spc="31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that</a:t>
                      </a:r>
                      <a:r>
                        <a:rPr sz="2000" spc="3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dynamically</a:t>
                      </a:r>
                      <a:r>
                        <a:rPr sz="2000" spc="32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adjusts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signals</a:t>
                      </a:r>
                      <a:r>
                        <a:rPr sz="2000" spc="17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based</a:t>
                      </a:r>
                      <a:r>
                        <a:rPr sz="2000" spc="1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2000" spc="15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real-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time</a:t>
                      </a:r>
                      <a:r>
                        <a:rPr sz="2000" spc="18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traffic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data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45" dirty="0"/>
              <a:t> </a:t>
            </a:r>
            <a:r>
              <a:rPr sz="3200" spc="195" dirty="0"/>
              <a:t>2.</a:t>
            </a:r>
            <a:r>
              <a:rPr sz="3200" spc="225" dirty="0"/>
              <a:t> </a:t>
            </a:r>
            <a:r>
              <a:rPr sz="3200" spc="120" dirty="0"/>
              <a:t>Architecture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3225" y="1044575"/>
          <a:ext cx="11385550" cy="4726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8840">
                <a:tc>
                  <a:txBody>
                    <a:bodyPr/>
                    <a:lstStyle/>
                    <a:p>
                      <a:pPr marL="897255" marR="105410" indent="-7785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Architecture</a:t>
                      </a:r>
                      <a:r>
                        <a:rPr sz="2000" b="1" spc="3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Model </a:t>
                      </a:r>
                      <a:r>
                        <a:rPr sz="2000" b="1" spc="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Types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Definition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Example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76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50" dirty="0"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95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76200" algn="just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Represents</a:t>
                      </a:r>
                      <a:r>
                        <a:rPr sz="2000" spc="32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32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business</a:t>
                      </a:r>
                      <a:r>
                        <a:rPr sz="2000" spc="30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or</a:t>
                      </a:r>
                      <a:r>
                        <a:rPr sz="2000" spc="29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technical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processes</a:t>
                      </a:r>
                      <a:r>
                        <a:rPr sz="2000" spc="43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that</a:t>
                      </a:r>
                      <a:r>
                        <a:rPr sz="2000" spc="42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44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system</a:t>
                      </a:r>
                      <a:r>
                        <a:rPr sz="2000" spc="43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must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accommodate,</a:t>
                      </a:r>
                      <a:r>
                        <a:rPr sz="2000" spc="35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spc="4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focusing</a:t>
                      </a:r>
                      <a:r>
                        <a:rPr sz="2000" spc="35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spc="6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on</a:t>
                      </a:r>
                      <a:r>
                        <a:rPr sz="2000" spc="34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spc="4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how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different</a:t>
                      </a:r>
                      <a:r>
                        <a:rPr sz="2000" spc="8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tasks</a:t>
                      </a:r>
                      <a:r>
                        <a:rPr sz="2000" spc="14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are</a:t>
                      </a:r>
                      <a:r>
                        <a:rPr sz="2000" spc="1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executed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71755" algn="just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185" dirty="0">
                          <a:latin typeface="Cambria"/>
                          <a:cs typeface="Cambria"/>
                        </a:rPr>
                        <a:t>An</a:t>
                      </a:r>
                      <a:r>
                        <a:rPr sz="2000" spc="33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55" dirty="0">
                          <a:latin typeface="Cambria"/>
                          <a:cs typeface="Cambria"/>
                        </a:rPr>
                        <a:t>Order</a:t>
                      </a:r>
                      <a:r>
                        <a:rPr sz="2000" spc="34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Processing</a:t>
                      </a:r>
                      <a:r>
                        <a:rPr sz="2000" spc="34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System,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where</a:t>
                      </a:r>
                      <a:r>
                        <a:rPr sz="2000" spc="35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an</a:t>
                      </a:r>
                      <a:r>
                        <a:rPr sz="2000" spc="36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online</a:t>
                      </a:r>
                      <a:r>
                        <a:rPr sz="2000" spc="36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order</a:t>
                      </a:r>
                      <a:r>
                        <a:rPr sz="2000" spc="35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goes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through</a:t>
                      </a:r>
                      <a:r>
                        <a:rPr sz="2000" spc="320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steps</a:t>
                      </a:r>
                      <a:r>
                        <a:rPr sz="2000" spc="320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like</a:t>
                      </a:r>
                      <a:r>
                        <a:rPr sz="2000" spc="315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2000" spc="45" dirty="0">
                          <a:latin typeface="Cambria"/>
                          <a:cs typeface="Cambria"/>
                        </a:rPr>
                        <a:t>Order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Placement</a:t>
                      </a:r>
                      <a:r>
                        <a:rPr sz="2000" spc="8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350" dirty="0">
                          <a:latin typeface="Cambria"/>
                          <a:cs typeface="Cambria"/>
                        </a:rPr>
                        <a:t>→</a:t>
                      </a:r>
                      <a:r>
                        <a:rPr sz="2000" spc="8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Payment</a:t>
                      </a:r>
                      <a:r>
                        <a:rPr sz="2000" spc="9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Processing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97155" algn="just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000" spc="350" dirty="0">
                          <a:latin typeface="Cambria"/>
                          <a:cs typeface="Cambria"/>
                        </a:rPr>
                        <a:t>→</a:t>
                      </a:r>
                      <a:r>
                        <a:rPr sz="20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Inventory</a:t>
                      </a:r>
                      <a:r>
                        <a:rPr sz="20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70" dirty="0">
                          <a:latin typeface="Cambria"/>
                          <a:cs typeface="Cambria"/>
                        </a:rPr>
                        <a:t>Check</a:t>
                      </a:r>
                      <a:r>
                        <a:rPr sz="20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350" dirty="0">
                          <a:latin typeface="Cambria"/>
                          <a:cs typeface="Cambria"/>
                        </a:rPr>
                        <a:t>→</a:t>
                      </a:r>
                      <a:r>
                        <a:rPr sz="20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5" dirty="0">
                          <a:latin typeface="Cambria"/>
                          <a:cs typeface="Cambria"/>
                        </a:rPr>
                        <a:t>Shipping.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97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b="1" spc="55" dirty="0">
                          <a:latin typeface="Times New Roman"/>
                          <a:cs typeface="Times New Roman"/>
                        </a:rPr>
                        <a:t>Functional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95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70485" algn="just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Represents</a:t>
                      </a:r>
                      <a:r>
                        <a:rPr sz="2000" spc="13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14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functional</a:t>
                      </a:r>
                      <a:r>
                        <a:rPr sz="2000" spc="12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hierarchy</a:t>
                      </a:r>
                      <a:r>
                        <a:rPr sz="2000" spc="12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45" dirty="0">
                          <a:latin typeface="Cambria"/>
                          <a:cs typeface="Cambria"/>
                        </a:rPr>
                        <a:t>of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47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system,</a:t>
                      </a:r>
                      <a:r>
                        <a:rPr sz="2000" spc="45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55" dirty="0">
                          <a:latin typeface="Cambria"/>
                          <a:cs typeface="Cambria"/>
                        </a:rPr>
                        <a:t>showing</a:t>
                      </a:r>
                      <a:r>
                        <a:rPr sz="2000" spc="459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7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how</a:t>
                      </a:r>
                      <a:r>
                        <a:rPr sz="2000" spc="459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different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functions</a:t>
                      </a:r>
                      <a:r>
                        <a:rPr sz="2000" spc="459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interact</a:t>
                      </a:r>
                      <a:r>
                        <a:rPr sz="2000" spc="459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6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47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depend</a:t>
                      </a:r>
                      <a:r>
                        <a:rPr sz="2000" spc="45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2000" spc="4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each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other.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72390" algn="just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2234565" algn="l"/>
                          <a:tab pos="3250565" algn="l"/>
                        </a:tabLst>
                      </a:pPr>
                      <a:r>
                        <a:rPr sz="2000" spc="32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spc="28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Banking</a:t>
                      </a:r>
                      <a:r>
                        <a:rPr sz="2000" spc="31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System,</a:t>
                      </a:r>
                      <a:r>
                        <a:rPr sz="2000" spc="3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where</a:t>
                      </a:r>
                      <a:r>
                        <a:rPr sz="2000" spc="3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high-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level</a:t>
                      </a:r>
                      <a:r>
                        <a:rPr sz="2000" spc="47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functions</a:t>
                      </a:r>
                      <a:r>
                        <a:rPr sz="2000" spc="47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like</a:t>
                      </a:r>
                      <a:r>
                        <a:rPr sz="2000" spc="47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"Manage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Accounts"</a:t>
                      </a:r>
                      <a:r>
                        <a:rPr sz="2000" spc="204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2000" spc="1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broken</a:t>
                      </a:r>
                      <a:r>
                        <a:rPr sz="2000" spc="17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75" dirty="0">
                          <a:latin typeface="Cambria"/>
                          <a:cs typeface="Cambria"/>
                        </a:rPr>
                        <a:t>down</a:t>
                      </a:r>
                      <a:r>
                        <a:rPr sz="2000" spc="18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into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sub-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functions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like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"Create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Account,"</a:t>
                      </a:r>
                      <a:r>
                        <a:rPr sz="2000" spc="28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"Deposit</a:t>
                      </a:r>
                      <a:r>
                        <a:rPr sz="2000" spc="3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65" dirty="0">
                          <a:latin typeface="Cambria"/>
                          <a:cs typeface="Cambria"/>
                        </a:rPr>
                        <a:t>Money,"</a:t>
                      </a:r>
                      <a:r>
                        <a:rPr sz="2000" spc="27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and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"Withdraw</a:t>
                      </a:r>
                      <a:r>
                        <a:rPr sz="2000" spc="4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Money."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95" dirty="0"/>
              <a:t>2.</a:t>
            </a:r>
            <a:r>
              <a:rPr sz="3200" spc="225" dirty="0"/>
              <a:t> </a:t>
            </a:r>
            <a:r>
              <a:rPr sz="3200" spc="130" dirty="0"/>
              <a:t>Architecture</a:t>
            </a:r>
            <a:r>
              <a:rPr sz="3200" spc="29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70" dirty="0"/>
              <a:t>Structured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17867" y="2172906"/>
            <a:ext cx="648843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73785" algn="l"/>
                <a:tab pos="1763395" algn="l"/>
                <a:tab pos="2846070" algn="l"/>
                <a:tab pos="5213350" algn="l"/>
                <a:tab pos="5681345" algn="l"/>
              </a:tabLst>
            </a:pPr>
            <a:r>
              <a:rPr sz="2600" spc="-20" dirty="0">
                <a:latin typeface="Cambria"/>
                <a:cs typeface="Cambria"/>
              </a:rPr>
              <a:t>such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as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b="1" spc="55" dirty="0">
                <a:latin typeface="Times New Roman"/>
                <a:cs typeface="Times New Roman"/>
              </a:rPr>
              <a:t>User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90" dirty="0">
                <a:latin typeface="Times New Roman"/>
                <a:cs typeface="Times New Roman"/>
              </a:rPr>
              <a:t>Management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-50" dirty="0">
                <a:latin typeface="Times New Roman"/>
                <a:cs typeface="Times New Roman"/>
              </a:rPr>
              <a:t>,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85" dirty="0">
                <a:latin typeface="Times New Roman"/>
                <a:cs typeface="Times New Roman"/>
              </a:rPr>
              <a:t>Book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950" y="2573210"/>
            <a:ext cx="6717030" cy="368617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30"/>
              </a:spcBef>
            </a:pPr>
            <a:r>
              <a:rPr sz="2600" b="1" spc="75" dirty="0">
                <a:latin typeface="Times New Roman"/>
                <a:cs typeface="Times New Roman"/>
              </a:rPr>
              <a:t>Inventory</a:t>
            </a:r>
            <a:r>
              <a:rPr sz="2600" b="1" spc="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,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00" dirty="0">
                <a:latin typeface="Times New Roman"/>
                <a:cs typeface="Times New Roman"/>
              </a:rPr>
              <a:t>and</a:t>
            </a:r>
            <a:r>
              <a:rPr sz="2600" b="1" spc="-40" dirty="0">
                <a:latin typeface="Times New Roman"/>
                <a:cs typeface="Times New Roman"/>
              </a:rPr>
              <a:t> </a:t>
            </a:r>
            <a:r>
              <a:rPr sz="2600" b="1" spc="45" dirty="0">
                <a:latin typeface="Times New Roman"/>
                <a:cs typeface="Times New Roman"/>
              </a:rPr>
              <a:t>Transaction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b="1" spc="100" dirty="0">
                <a:latin typeface="Times New Roman"/>
                <a:cs typeface="Times New Roman"/>
              </a:rPr>
              <a:t>Management</a:t>
            </a:r>
            <a:r>
              <a:rPr sz="2600" b="1" spc="-40" dirty="0">
                <a:latin typeface="Times New Roman"/>
                <a:cs typeface="Times New Roman"/>
              </a:rPr>
              <a:t> </a:t>
            </a:r>
            <a:r>
              <a:rPr sz="2600" spc="65" dirty="0">
                <a:latin typeface="Cambria"/>
                <a:cs typeface="Cambria"/>
              </a:rPr>
              <a:t>.</a:t>
            </a:r>
            <a:endParaRPr sz="2600">
              <a:latin typeface="Cambria"/>
              <a:cs typeface="Cambria"/>
            </a:endParaRPr>
          </a:p>
          <a:p>
            <a:pPr marL="274320" indent="-265430">
              <a:lnSpc>
                <a:spcPct val="100000"/>
              </a:lnSpc>
              <a:spcBef>
                <a:spcPts val="9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latin typeface="Cambria"/>
                <a:cs typeface="Cambria"/>
              </a:rPr>
              <a:t>Each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module</a:t>
            </a:r>
            <a:r>
              <a:rPr sz="2600" spc="19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has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specific</a:t>
            </a:r>
            <a:r>
              <a:rPr sz="2600" spc="21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responsibilities:</a:t>
            </a:r>
            <a:endParaRPr sz="2600">
              <a:latin typeface="Cambria"/>
              <a:cs typeface="Cambria"/>
            </a:endParaRPr>
          </a:p>
          <a:p>
            <a:pPr marL="697865" marR="10160" lvl="1" indent="-227965">
              <a:lnSpc>
                <a:spcPct val="131000"/>
              </a:lnSpc>
              <a:spcBef>
                <a:spcPts val="135"/>
              </a:spcBef>
              <a:buSzPct val="95348"/>
              <a:buFont typeface="Wingdings"/>
              <a:buChar char=""/>
              <a:tabLst>
                <a:tab pos="699135" algn="l"/>
              </a:tabLst>
            </a:pPr>
            <a:r>
              <a:rPr sz="2150" b="1" spc="85" dirty="0">
                <a:latin typeface="Times New Roman"/>
                <a:cs typeface="Times New Roman"/>
              </a:rPr>
              <a:t>User</a:t>
            </a:r>
            <a:r>
              <a:rPr sz="2150" b="1" spc="390" dirty="0">
                <a:latin typeface="Times New Roman"/>
                <a:cs typeface="Times New Roman"/>
              </a:rPr>
              <a:t> </a:t>
            </a:r>
            <a:r>
              <a:rPr sz="2150" b="1" spc="100" dirty="0">
                <a:latin typeface="Times New Roman"/>
                <a:cs typeface="Times New Roman"/>
              </a:rPr>
              <a:t>Management</a:t>
            </a:r>
            <a:r>
              <a:rPr sz="2150" b="1" spc="47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Cambria"/>
                <a:cs typeface="Cambria"/>
              </a:rPr>
              <a:t>:</a:t>
            </a:r>
            <a:r>
              <a:rPr sz="2150" spc="490" dirty="0">
                <a:latin typeface="Cambria"/>
                <a:cs typeface="Cambria"/>
              </a:rPr>
              <a:t> </a:t>
            </a:r>
            <a:r>
              <a:rPr sz="2150" spc="90" dirty="0">
                <a:latin typeface="Cambria"/>
                <a:cs typeface="Cambria"/>
              </a:rPr>
              <a:t>Handles</a:t>
            </a:r>
            <a:r>
              <a:rPr sz="2150" spc="47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user</a:t>
            </a:r>
            <a:r>
              <a:rPr sz="2150" spc="515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registration, 	</a:t>
            </a:r>
            <a:r>
              <a:rPr sz="2150" spc="65" dirty="0">
                <a:latin typeface="Cambria"/>
                <a:cs typeface="Cambria"/>
              </a:rPr>
              <a:t>login,</a:t>
            </a:r>
            <a:r>
              <a:rPr sz="2150" spc="215" dirty="0">
                <a:latin typeface="Cambria"/>
                <a:cs typeface="Cambria"/>
              </a:rPr>
              <a:t> </a:t>
            </a:r>
            <a:r>
              <a:rPr sz="2150" spc="85" dirty="0">
                <a:latin typeface="Cambria"/>
                <a:cs typeface="Cambria"/>
              </a:rPr>
              <a:t>and</a:t>
            </a:r>
            <a:r>
              <a:rPr sz="2150" spc="18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profile</a:t>
            </a:r>
            <a:r>
              <a:rPr sz="2150" spc="210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updates.</a:t>
            </a:r>
            <a:endParaRPr sz="2150">
              <a:latin typeface="Cambria"/>
              <a:cs typeface="Cambria"/>
            </a:endParaRPr>
          </a:p>
          <a:p>
            <a:pPr marL="697865" marR="8890" lvl="1" indent="-227965">
              <a:lnSpc>
                <a:spcPct val="133900"/>
              </a:lnSpc>
              <a:buSzPct val="95348"/>
              <a:buFont typeface="Wingdings"/>
              <a:buChar char=""/>
              <a:tabLst>
                <a:tab pos="699135" algn="l"/>
                <a:tab pos="1522095" algn="l"/>
                <a:tab pos="2936240" algn="l"/>
                <a:tab pos="3161030" algn="l"/>
                <a:tab pos="4429125" algn="l"/>
                <a:tab pos="4970145" algn="l"/>
                <a:tab pos="5495925" algn="l"/>
                <a:tab pos="5897245" algn="l"/>
              </a:tabLst>
            </a:pPr>
            <a:r>
              <a:rPr sz="2150" b="1" spc="80" dirty="0">
                <a:latin typeface="Times New Roman"/>
                <a:cs typeface="Times New Roman"/>
              </a:rPr>
              <a:t>Book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b="1" spc="70" dirty="0">
                <a:latin typeface="Times New Roman"/>
                <a:cs typeface="Times New Roman"/>
              </a:rPr>
              <a:t>Inventory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spc="-50" dirty="0">
                <a:latin typeface="Cambria"/>
                <a:cs typeface="Cambria"/>
              </a:rPr>
              <a:t>: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70" dirty="0">
                <a:latin typeface="Cambria"/>
                <a:cs typeface="Cambria"/>
              </a:rPr>
              <a:t>Manages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the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list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0" dirty="0">
                <a:latin typeface="Cambria"/>
                <a:cs typeface="Cambria"/>
              </a:rPr>
              <a:t>of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0" dirty="0">
                <a:latin typeface="Cambria"/>
                <a:cs typeface="Cambria"/>
              </a:rPr>
              <a:t>books, 	</a:t>
            </a:r>
            <a:r>
              <a:rPr sz="2150" dirty="0">
                <a:latin typeface="Cambria"/>
                <a:cs typeface="Cambria"/>
              </a:rPr>
              <a:t>their</a:t>
            </a:r>
            <a:r>
              <a:rPr sz="2150" spc="120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availability,</a:t>
            </a:r>
            <a:r>
              <a:rPr sz="2150" spc="114" dirty="0">
                <a:latin typeface="Cambria"/>
                <a:cs typeface="Cambria"/>
              </a:rPr>
              <a:t> </a:t>
            </a:r>
            <a:r>
              <a:rPr sz="2150" spc="90" dirty="0">
                <a:latin typeface="Cambria"/>
                <a:cs typeface="Cambria"/>
              </a:rPr>
              <a:t>and </a:t>
            </a:r>
            <a:r>
              <a:rPr sz="2150" spc="-10" dirty="0">
                <a:latin typeface="Cambria"/>
                <a:cs typeface="Cambria"/>
              </a:rPr>
              <a:t>details.</a:t>
            </a:r>
            <a:endParaRPr sz="2150">
              <a:latin typeface="Cambria"/>
              <a:cs typeface="Cambria"/>
            </a:endParaRPr>
          </a:p>
          <a:p>
            <a:pPr marL="697865" lvl="1" indent="-227965">
              <a:lnSpc>
                <a:spcPct val="100000"/>
              </a:lnSpc>
              <a:spcBef>
                <a:spcPts val="875"/>
              </a:spcBef>
              <a:buSzPct val="95348"/>
              <a:buFont typeface="Wingdings"/>
              <a:buChar char=""/>
              <a:tabLst>
                <a:tab pos="697865" algn="l"/>
              </a:tabLst>
            </a:pPr>
            <a:r>
              <a:rPr sz="2150" b="1" spc="55" dirty="0">
                <a:latin typeface="Times New Roman"/>
                <a:cs typeface="Times New Roman"/>
              </a:rPr>
              <a:t>Transaction</a:t>
            </a:r>
            <a:r>
              <a:rPr sz="2150" b="1" spc="300" dirty="0">
                <a:latin typeface="Times New Roman"/>
                <a:cs typeface="Times New Roman"/>
              </a:rPr>
              <a:t> </a:t>
            </a:r>
            <a:r>
              <a:rPr sz="2150" b="1" spc="100" dirty="0">
                <a:latin typeface="Times New Roman"/>
                <a:cs typeface="Times New Roman"/>
              </a:rPr>
              <a:t>Management</a:t>
            </a:r>
            <a:r>
              <a:rPr sz="2150" b="1" spc="30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Cambria"/>
                <a:cs typeface="Cambria"/>
              </a:rPr>
              <a:t>:</a:t>
            </a:r>
            <a:r>
              <a:rPr sz="2150" spc="315" dirty="0">
                <a:latin typeface="Cambria"/>
                <a:cs typeface="Cambria"/>
              </a:rPr>
              <a:t> </a:t>
            </a:r>
            <a:r>
              <a:rPr sz="2150" spc="90" dirty="0">
                <a:latin typeface="Cambria"/>
                <a:cs typeface="Cambria"/>
              </a:rPr>
              <a:t>Handles</a:t>
            </a:r>
            <a:r>
              <a:rPr sz="2150" spc="300" dirty="0">
                <a:latin typeface="Cambria"/>
                <a:cs typeface="Cambria"/>
              </a:rPr>
              <a:t> </a:t>
            </a:r>
            <a:r>
              <a:rPr sz="2150" spc="45" dirty="0">
                <a:latin typeface="Cambria"/>
                <a:cs typeface="Cambria"/>
              </a:rPr>
              <a:t>borrowing</a:t>
            </a:r>
            <a:endParaRPr sz="215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875"/>
              </a:spcBef>
            </a:pPr>
            <a:r>
              <a:rPr sz="2150" spc="80" dirty="0">
                <a:latin typeface="Cambria"/>
                <a:cs typeface="Cambria"/>
              </a:rPr>
              <a:t>and</a:t>
            </a:r>
            <a:r>
              <a:rPr sz="2150" spc="27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returning</a:t>
            </a:r>
            <a:r>
              <a:rPr sz="2150" spc="290" dirty="0">
                <a:latin typeface="Cambria"/>
                <a:cs typeface="Cambria"/>
              </a:rPr>
              <a:t> </a:t>
            </a:r>
            <a:r>
              <a:rPr sz="2150" spc="45" dirty="0">
                <a:latin typeface="Cambria"/>
                <a:cs typeface="Cambria"/>
              </a:rPr>
              <a:t>books.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8950" y="1028554"/>
            <a:ext cx="10641330" cy="131000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25"/>
              </a:spcBef>
              <a:buFont typeface="Wingdings"/>
              <a:buChar char=""/>
              <a:tabLst>
                <a:tab pos="356870" algn="l"/>
              </a:tabLst>
            </a:pPr>
            <a:r>
              <a:rPr sz="2600" b="1" dirty="0">
                <a:latin typeface="Times New Roman"/>
                <a:cs typeface="Times New Roman"/>
              </a:rPr>
              <a:t>Library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spc="100" dirty="0">
                <a:latin typeface="Times New Roman"/>
                <a:cs typeface="Times New Roman"/>
              </a:rPr>
              <a:t>Management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110" dirty="0">
                <a:latin typeface="Times New Roman"/>
                <a:cs typeface="Times New Roman"/>
              </a:rPr>
              <a:t>System</a:t>
            </a:r>
            <a:endParaRPr sz="2600">
              <a:latin typeface="Times New Roman"/>
              <a:cs typeface="Times New Roman"/>
            </a:endParaRPr>
          </a:p>
          <a:p>
            <a:pPr marL="274320" indent="-274320">
              <a:lnSpc>
                <a:spcPts val="3045"/>
              </a:lnSpc>
              <a:spcBef>
                <a:spcPts val="935"/>
              </a:spcBef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latin typeface="Cambria"/>
                <a:cs typeface="Cambria"/>
              </a:rPr>
              <a:t>The</a:t>
            </a:r>
            <a:r>
              <a:rPr sz="2600" spc="30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system</a:t>
            </a:r>
            <a:r>
              <a:rPr sz="2600" spc="2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is</a:t>
            </a:r>
            <a:r>
              <a:rPr sz="2600" spc="290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divided</a:t>
            </a:r>
            <a:r>
              <a:rPr sz="2600" spc="2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into</a:t>
            </a:r>
            <a:r>
              <a:rPr sz="2600" spc="254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several</a:t>
            </a:r>
            <a:r>
              <a:rPr sz="2600" spc="280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modules</a:t>
            </a:r>
            <a:endParaRPr sz="2600">
              <a:latin typeface="Cambria"/>
              <a:cs typeface="Cambria"/>
            </a:endParaRPr>
          </a:p>
          <a:p>
            <a:pPr marR="5080" algn="r">
              <a:lnSpc>
                <a:spcPts val="2085"/>
              </a:lnSpc>
            </a:pPr>
            <a:r>
              <a:rPr sz="1800" b="1" dirty="0">
                <a:latin typeface="Times New Roman"/>
                <a:cs typeface="Times New Roman"/>
              </a:rPr>
              <a:t>Library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60" dirty="0">
                <a:latin typeface="Times New Roman"/>
                <a:cs typeface="Times New Roman"/>
              </a:rPr>
              <a:t>Management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70" dirty="0"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11133" y="2314892"/>
            <a:ext cx="24822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├──</a:t>
            </a:r>
            <a:r>
              <a:rPr sz="1800" b="1" spc="1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User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50" dirty="0">
                <a:latin typeface="Times New Roman"/>
                <a:cs typeface="Times New Roman"/>
              </a:rPr>
              <a:t>Management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11133" y="2591498"/>
            <a:ext cx="2313940" cy="57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6075" algn="l"/>
              </a:tabLst>
            </a:pPr>
            <a:r>
              <a:rPr sz="1800" b="1" spc="-50" dirty="0">
                <a:latin typeface="Times New Roman"/>
                <a:cs typeface="Times New Roman"/>
              </a:rPr>
              <a:t>│</a:t>
            </a:r>
            <a:r>
              <a:rPr sz="1800" b="1" dirty="0">
                <a:latin typeface="Times New Roman"/>
                <a:cs typeface="Times New Roman"/>
              </a:rPr>
              <a:t>	├──</a:t>
            </a:r>
            <a:r>
              <a:rPr sz="1800" b="1" spc="1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Register</a:t>
            </a:r>
            <a:r>
              <a:rPr sz="1800" b="1" spc="150" dirty="0">
                <a:latin typeface="Times New Roman"/>
                <a:cs typeface="Times New Roman"/>
              </a:rPr>
              <a:t> </a:t>
            </a:r>
            <a:r>
              <a:rPr sz="1800" b="1" spc="30" dirty="0">
                <a:latin typeface="Times New Roman"/>
                <a:cs typeface="Times New Roman"/>
              </a:rPr>
              <a:t>User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346075" algn="l"/>
              </a:tabLst>
            </a:pPr>
            <a:r>
              <a:rPr sz="1800" b="1" spc="-50" dirty="0">
                <a:latin typeface="Times New Roman"/>
                <a:cs typeface="Times New Roman"/>
              </a:rPr>
              <a:t>│</a:t>
            </a:r>
            <a:r>
              <a:rPr sz="1800" b="1" dirty="0">
                <a:latin typeface="Times New Roman"/>
                <a:cs typeface="Times New Roman"/>
              </a:rPr>
              <a:t>	├──</a:t>
            </a:r>
            <a:r>
              <a:rPr sz="1800" b="1" spc="1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Login</a:t>
            </a:r>
            <a:r>
              <a:rPr sz="1800" b="1" spc="17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User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11133" y="3144837"/>
            <a:ext cx="2434590" cy="56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  <a:tabLst>
                <a:tab pos="346075" algn="l"/>
              </a:tabLst>
            </a:pPr>
            <a:r>
              <a:rPr sz="1800" b="1" spc="-50" dirty="0">
                <a:latin typeface="Times New Roman"/>
                <a:cs typeface="Times New Roman"/>
              </a:rPr>
              <a:t>│</a:t>
            </a:r>
            <a:r>
              <a:rPr sz="1800" b="1" dirty="0">
                <a:latin typeface="Times New Roman"/>
                <a:cs typeface="Times New Roman"/>
              </a:rPr>
              <a:t>	└──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spc="60" dirty="0">
                <a:latin typeface="Times New Roman"/>
                <a:cs typeface="Times New Roman"/>
              </a:rPr>
              <a:t>Update</a:t>
            </a:r>
            <a:r>
              <a:rPr sz="1800" b="1" spc="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Profile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</a:pPr>
            <a:r>
              <a:rPr sz="1800" b="1" dirty="0">
                <a:latin typeface="Times New Roman"/>
                <a:cs typeface="Times New Roman"/>
              </a:rPr>
              <a:t>├──</a:t>
            </a:r>
            <a:r>
              <a:rPr sz="1800" b="1" spc="50" dirty="0">
                <a:latin typeface="Times New Roman"/>
                <a:cs typeface="Times New Roman"/>
              </a:rPr>
              <a:t> Book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40" dirty="0">
                <a:latin typeface="Times New Roman"/>
                <a:cs typeface="Times New Roman"/>
              </a:rPr>
              <a:t>Inventory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11133" y="3688397"/>
            <a:ext cx="2885440" cy="85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6075" algn="l"/>
              </a:tabLst>
            </a:pPr>
            <a:r>
              <a:rPr sz="1800" b="1" spc="-50" dirty="0">
                <a:latin typeface="Times New Roman"/>
                <a:cs typeface="Times New Roman"/>
              </a:rPr>
              <a:t>│</a:t>
            </a:r>
            <a:r>
              <a:rPr sz="1800" b="1" dirty="0">
                <a:latin typeface="Times New Roman"/>
                <a:cs typeface="Times New Roman"/>
              </a:rPr>
              <a:t>	├──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85" dirty="0">
                <a:latin typeface="Times New Roman"/>
                <a:cs typeface="Times New Roman"/>
              </a:rPr>
              <a:t>Add</a:t>
            </a:r>
            <a:r>
              <a:rPr sz="1800" b="1" spc="45" dirty="0">
                <a:latin typeface="Times New Roman"/>
                <a:cs typeface="Times New Roman"/>
              </a:rPr>
              <a:t> </a:t>
            </a:r>
            <a:r>
              <a:rPr sz="1800" b="1" spc="30" dirty="0">
                <a:latin typeface="Times New Roman"/>
                <a:cs typeface="Times New Roman"/>
              </a:rPr>
              <a:t>Book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346075" algn="l"/>
              </a:tabLst>
            </a:pPr>
            <a:r>
              <a:rPr sz="1800" b="1" spc="-50" dirty="0">
                <a:latin typeface="Times New Roman"/>
                <a:cs typeface="Times New Roman"/>
              </a:rPr>
              <a:t>│</a:t>
            </a:r>
            <a:r>
              <a:rPr sz="1800" b="1" dirty="0">
                <a:latin typeface="Times New Roman"/>
                <a:cs typeface="Times New Roman"/>
              </a:rPr>
              <a:t>	├──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spc="70" dirty="0">
                <a:latin typeface="Times New Roman"/>
                <a:cs typeface="Times New Roman"/>
              </a:rPr>
              <a:t>Remove</a:t>
            </a:r>
            <a:r>
              <a:rPr sz="1800" b="1" spc="25" dirty="0">
                <a:latin typeface="Times New Roman"/>
                <a:cs typeface="Times New Roman"/>
              </a:rPr>
              <a:t> </a:t>
            </a:r>
            <a:r>
              <a:rPr sz="1800" b="1" spc="50" dirty="0">
                <a:latin typeface="Times New Roman"/>
                <a:cs typeface="Times New Roman"/>
              </a:rPr>
              <a:t>Book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  <a:tabLst>
                <a:tab pos="346075" algn="l"/>
              </a:tabLst>
            </a:pPr>
            <a:r>
              <a:rPr sz="1800" b="1" spc="-50" dirty="0">
                <a:latin typeface="Times New Roman"/>
                <a:cs typeface="Times New Roman"/>
              </a:rPr>
              <a:t>│</a:t>
            </a:r>
            <a:r>
              <a:rPr sz="1800" b="1" dirty="0">
                <a:latin typeface="Times New Roman"/>
                <a:cs typeface="Times New Roman"/>
              </a:rPr>
              <a:t>	└──</a:t>
            </a:r>
            <a:r>
              <a:rPr sz="1800" b="1" spc="1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Check</a:t>
            </a:r>
            <a:r>
              <a:rPr sz="1800" b="1" spc="165" dirty="0">
                <a:latin typeface="Times New Roman"/>
                <a:cs typeface="Times New Roman"/>
              </a:rPr>
              <a:t> </a:t>
            </a:r>
            <a:r>
              <a:rPr sz="1800" b="1" spc="60" dirty="0">
                <a:latin typeface="Times New Roman"/>
                <a:cs typeface="Times New Roman"/>
              </a:rPr>
              <a:t>Availability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11133" y="4518342"/>
            <a:ext cx="3234055" cy="84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└──</a:t>
            </a:r>
            <a:r>
              <a:rPr sz="1800" b="1" spc="2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Transaction</a:t>
            </a:r>
            <a:r>
              <a:rPr sz="1800" b="1" spc="150" dirty="0">
                <a:latin typeface="Times New Roman"/>
                <a:cs typeface="Times New Roman"/>
              </a:rPr>
              <a:t> </a:t>
            </a:r>
            <a:r>
              <a:rPr sz="1800" b="1" spc="50" dirty="0">
                <a:latin typeface="Times New Roman"/>
                <a:cs typeface="Times New Roman"/>
              </a:rPr>
              <a:t>Management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ts val="2130"/>
              </a:lnSpc>
            </a:pPr>
            <a:r>
              <a:rPr sz="1800" b="1" dirty="0">
                <a:latin typeface="Times New Roman"/>
                <a:cs typeface="Times New Roman"/>
              </a:rPr>
              <a:t>├──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Borrow</a:t>
            </a:r>
            <a:r>
              <a:rPr sz="1800" b="1" spc="40" dirty="0">
                <a:latin typeface="Times New Roman"/>
                <a:cs typeface="Times New Roman"/>
              </a:rPr>
              <a:t> </a:t>
            </a:r>
            <a:r>
              <a:rPr sz="1800" b="1" spc="50" dirty="0">
                <a:latin typeface="Times New Roman"/>
                <a:cs typeface="Times New Roman"/>
              </a:rPr>
              <a:t>Book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20"/>
              </a:spcBef>
            </a:pPr>
            <a:r>
              <a:rPr sz="1800" b="1" dirty="0">
                <a:latin typeface="Times New Roman"/>
                <a:cs typeface="Times New Roman"/>
              </a:rPr>
              <a:t>└──</a:t>
            </a:r>
            <a:r>
              <a:rPr sz="1800" b="1" spc="1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Return</a:t>
            </a:r>
            <a:r>
              <a:rPr sz="1800" b="1" spc="75" dirty="0">
                <a:latin typeface="Times New Roman"/>
                <a:cs typeface="Times New Roman"/>
              </a:rPr>
              <a:t> </a:t>
            </a:r>
            <a:r>
              <a:rPr sz="1800" b="1" spc="30" dirty="0">
                <a:latin typeface="Times New Roman"/>
                <a:cs typeface="Times New Roman"/>
              </a:rPr>
              <a:t>Book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95" dirty="0"/>
              <a:t>2.</a:t>
            </a:r>
            <a:r>
              <a:rPr sz="3200" spc="225" dirty="0"/>
              <a:t> </a:t>
            </a:r>
            <a:r>
              <a:rPr sz="3200" spc="130" dirty="0"/>
              <a:t>Architecture</a:t>
            </a:r>
            <a:r>
              <a:rPr sz="3200" spc="29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30" dirty="0"/>
              <a:t>Framework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26223"/>
            <a:ext cx="6188710" cy="453898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311150" indent="-298450" algn="just">
              <a:lnSpc>
                <a:spcPct val="100000"/>
              </a:lnSpc>
              <a:spcBef>
                <a:spcPts val="970"/>
              </a:spcBef>
              <a:buFont typeface="Wingdings"/>
              <a:buChar char=""/>
              <a:tabLst>
                <a:tab pos="311150" algn="l"/>
              </a:tabLst>
            </a:pPr>
            <a:r>
              <a:rPr sz="2150" b="1" dirty="0">
                <a:latin typeface="Times New Roman"/>
                <a:cs typeface="Times New Roman"/>
              </a:rPr>
              <a:t>Library</a:t>
            </a:r>
            <a:r>
              <a:rPr sz="2150" b="1" spc="105" dirty="0">
                <a:latin typeface="Times New Roman"/>
                <a:cs typeface="Times New Roman"/>
              </a:rPr>
              <a:t> </a:t>
            </a:r>
            <a:r>
              <a:rPr sz="2150" b="1" spc="100" dirty="0">
                <a:latin typeface="Times New Roman"/>
                <a:cs typeface="Times New Roman"/>
              </a:rPr>
              <a:t>Management</a:t>
            </a:r>
            <a:r>
              <a:rPr sz="2150" b="1" spc="125" dirty="0">
                <a:latin typeface="Times New Roman"/>
                <a:cs typeface="Times New Roman"/>
              </a:rPr>
              <a:t> </a:t>
            </a:r>
            <a:r>
              <a:rPr sz="2150" b="1" spc="105" dirty="0">
                <a:latin typeface="Times New Roman"/>
                <a:cs typeface="Times New Roman"/>
              </a:rPr>
              <a:t>System</a:t>
            </a:r>
            <a:endParaRPr sz="2150">
              <a:latin typeface="Times New Roman"/>
              <a:cs typeface="Times New Roman"/>
            </a:endParaRPr>
          </a:p>
          <a:p>
            <a:pPr marL="240029" marR="5080" indent="-229870" algn="just">
              <a:lnSpc>
                <a:spcPct val="133900"/>
              </a:lnSpc>
              <a:buFont typeface="Wingdings"/>
              <a:buChar char=""/>
              <a:tabLst>
                <a:tab pos="241300" algn="l"/>
              </a:tabLst>
            </a:pPr>
            <a:r>
              <a:rPr sz="2150" spc="345" dirty="0">
                <a:latin typeface="Cambria"/>
                <a:cs typeface="Cambria"/>
              </a:rPr>
              <a:t>A</a:t>
            </a:r>
            <a:r>
              <a:rPr sz="2150" spc="245" dirty="0">
                <a:latin typeface="Cambria"/>
                <a:cs typeface="Cambria"/>
              </a:rPr>
              <a:t>  </a:t>
            </a:r>
            <a:r>
              <a:rPr sz="2150" spc="65" dirty="0">
                <a:latin typeface="Cambria"/>
                <a:cs typeface="Cambria"/>
              </a:rPr>
              <a:t>Web</a:t>
            </a:r>
            <a:r>
              <a:rPr sz="2150" spc="265" dirty="0">
                <a:latin typeface="Cambria"/>
                <a:cs typeface="Cambria"/>
              </a:rPr>
              <a:t>  </a:t>
            </a:r>
            <a:r>
              <a:rPr sz="2150" spc="75" dirty="0">
                <a:latin typeface="Cambria"/>
                <a:cs typeface="Cambria"/>
              </a:rPr>
              <a:t>Application</a:t>
            </a:r>
            <a:r>
              <a:rPr sz="2150" spc="254" dirty="0">
                <a:latin typeface="Cambria"/>
                <a:cs typeface="Cambria"/>
              </a:rPr>
              <a:t>  </a:t>
            </a:r>
            <a:r>
              <a:rPr sz="2150" spc="55" dirty="0">
                <a:latin typeface="Cambria"/>
                <a:cs typeface="Cambria"/>
              </a:rPr>
              <a:t>Framework</a:t>
            </a:r>
            <a:r>
              <a:rPr sz="2150" spc="25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like</a:t>
            </a:r>
            <a:r>
              <a:rPr sz="2150" spc="265" dirty="0">
                <a:latin typeface="Cambria"/>
                <a:cs typeface="Cambria"/>
              </a:rPr>
              <a:t>  </a:t>
            </a:r>
            <a:r>
              <a:rPr sz="2150" spc="75" dirty="0">
                <a:solidFill>
                  <a:srgbClr val="FF0000"/>
                </a:solidFill>
                <a:latin typeface="Cambria"/>
                <a:cs typeface="Cambria"/>
              </a:rPr>
              <a:t>Django 	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(Python)</a:t>
            </a:r>
            <a:r>
              <a:rPr sz="2150" spc="2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15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65" dirty="0">
                <a:solidFill>
                  <a:srgbClr val="FF0000"/>
                </a:solidFill>
                <a:latin typeface="Cambria"/>
                <a:cs typeface="Cambria"/>
              </a:rPr>
              <a:t>Spring</a:t>
            </a:r>
            <a:r>
              <a:rPr sz="2150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Boot</a:t>
            </a:r>
            <a:r>
              <a:rPr sz="2150" spc="2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(Java)</a:t>
            </a:r>
            <a:r>
              <a:rPr sz="2150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could</a:t>
            </a:r>
            <a:r>
              <a:rPr sz="2150" spc="26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be</a:t>
            </a:r>
            <a:r>
              <a:rPr sz="2150" spc="245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used</a:t>
            </a:r>
            <a:r>
              <a:rPr sz="2150" spc="275" dirty="0">
                <a:latin typeface="Cambria"/>
                <a:cs typeface="Cambria"/>
              </a:rPr>
              <a:t> </a:t>
            </a:r>
            <a:r>
              <a:rPr sz="2150" spc="-25" dirty="0">
                <a:latin typeface="Cambria"/>
                <a:cs typeface="Cambria"/>
              </a:rPr>
              <a:t>to 	</a:t>
            </a:r>
            <a:r>
              <a:rPr sz="2150" spc="75" dirty="0">
                <a:latin typeface="Cambria"/>
                <a:cs typeface="Cambria"/>
              </a:rPr>
              <a:t>build</a:t>
            </a:r>
            <a:r>
              <a:rPr sz="2150" spc="114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85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Library</a:t>
            </a:r>
            <a:r>
              <a:rPr sz="2150" spc="105" dirty="0">
                <a:latin typeface="Cambria"/>
                <a:cs typeface="Cambria"/>
              </a:rPr>
              <a:t> </a:t>
            </a:r>
            <a:r>
              <a:rPr sz="2150" spc="75" dirty="0">
                <a:latin typeface="Cambria"/>
                <a:cs typeface="Cambria"/>
              </a:rPr>
              <a:t>Management</a:t>
            </a:r>
            <a:r>
              <a:rPr sz="2150" spc="125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System.</a:t>
            </a:r>
            <a:endParaRPr sz="2150">
              <a:latin typeface="Cambria"/>
              <a:cs typeface="Cambria"/>
            </a:endParaRPr>
          </a:p>
          <a:p>
            <a:pPr marL="241300" indent="-230504" algn="just">
              <a:lnSpc>
                <a:spcPct val="100000"/>
              </a:lnSpc>
              <a:spcBef>
                <a:spcPts val="800"/>
              </a:spcBef>
              <a:buFont typeface="Wingdings"/>
              <a:buChar char=""/>
              <a:tabLst>
                <a:tab pos="241300" algn="l"/>
              </a:tabLst>
            </a:pPr>
            <a:r>
              <a:rPr sz="2150" dirty="0">
                <a:latin typeface="Cambria"/>
                <a:cs typeface="Cambria"/>
              </a:rPr>
              <a:t>The</a:t>
            </a:r>
            <a:r>
              <a:rPr sz="2150" spc="430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framework</a:t>
            </a:r>
            <a:r>
              <a:rPr sz="2150" spc="445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provides</a:t>
            </a:r>
            <a:r>
              <a:rPr sz="2150" spc="49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pre-built</a:t>
            </a:r>
            <a:r>
              <a:rPr sz="2150" spc="409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components</a:t>
            </a:r>
            <a:endParaRPr sz="2150">
              <a:latin typeface="Cambria"/>
              <a:cs typeface="Cambria"/>
            </a:endParaRPr>
          </a:p>
          <a:p>
            <a:pPr marL="241300" algn="just">
              <a:lnSpc>
                <a:spcPct val="100000"/>
              </a:lnSpc>
              <a:spcBef>
                <a:spcPts val="875"/>
              </a:spcBef>
            </a:pPr>
            <a:r>
              <a:rPr sz="2150" dirty="0">
                <a:latin typeface="Cambria"/>
                <a:cs typeface="Cambria"/>
              </a:rPr>
              <a:t>for</a:t>
            </a:r>
            <a:r>
              <a:rPr sz="2150" spc="140" dirty="0">
                <a:latin typeface="Cambria"/>
                <a:cs typeface="Cambria"/>
              </a:rPr>
              <a:t> </a:t>
            </a:r>
            <a:r>
              <a:rPr sz="2150" spc="75" dirty="0">
                <a:latin typeface="Cambria"/>
                <a:cs typeface="Cambria"/>
              </a:rPr>
              <a:t>handling</a:t>
            </a:r>
            <a:r>
              <a:rPr sz="2150" spc="135" dirty="0">
                <a:latin typeface="Cambria"/>
                <a:cs typeface="Cambria"/>
              </a:rPr>
              <a:t> </a:t>
            </a:r>
            <a:r>
              <a:rPr sz="2150" spc="75" dirty="0">
                <a:latin typeface="Cambria"/>
                <a:cs typeface="Cambria"/>
              </a:rPr>
              <a:t>common</a:t>
            </a:r>
            <a:r>
              <a:rPr sz="2150" spc="13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tasks</a:t>
            </a:r>
            <a:r>
              <a:rPr sz="2150" spc="150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such</a:t>
            </a:r>
            <a:r>
              <a:rPr sz="2150" spc="150" dirty="0">
                <a:latin typeface="Cambria"/>
                <a:cs typeface="Cambria"/>
              </a:rPr>
              <a:t> </a:t>
            </a:r>
            <a:r>
              <a:rPr sz="2150" spc="-25" dirty="0">
                <a:latin typeface="Cambria"/>
                <a:cs typeface="Cambria"/>
              </a:rPr>
              <a:t>as:</a:t>
            </a:r>
            <a:endParaRPr sz="2150">
              <a:latin typeface="Cambria"/>
              <a:cs typeface="Cambria"/>
            </a:endParaRPr>
          </a:p>
          <a:p>
            <a:pPr marL="697865" lvl="1" indent="-227965" algn="just">
              <a:lnSpc>
                <a:spcPct val="100000"/>
              </a:lnSpc>
              <a:spcBef>
                <a:spcPts val="800"/>
              </a:spcBef>
              <a:buFont typeface="Wingdings"/>
              <a:buChar char=""/>
              <a:tabLst>
                <a:tab pos="697865" algn="l"/>
              </a:tabLst>
            </a:pPr>
            <a:r>
              <a:rPr sz="1850" spc="50" dirty="0">
                <a:solidFill>
                  <a:srgbClr val="FF0000"/>
                </a:solidFill>
                <a:latin typeface="Cambria"/>
                <a:cs typeface="Cambria"/>
              </a:rPr>
              <a:t>Authentication</a:t>
            </a:r>
            <a:r>
              <a:rPr sz="185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:</a:t>
            </a:r>
            <a:r>
              <a:rPr sz="1850" spc="80" dirty="0">
                <a:latin typeface="Cambria"/>
                <a:cs typeface="Cambria"/>
              </a:rPr>
              <a:t> </a:t>
            </a:r>
            <a:r>
              <a:rPr sz="1850" spc="65" dirty="0">
                <a:latin typeface="Cambria"/>
                <a:cs typeface="Cambria"/>
              </a:rPr>
              <a:t>User</a:t>
            </a:r>
            <a:r>
              <a:rPr sz="1850" spc="45" dirty="0">
                <a:latin typeface="Cambria"/>
                <a:cs typeface="Cambria"/>
              </a:rPr>
              <a:t> </a:t>
            </a:r>
            <a:r>
              <a:rPr sz="1850" spc="65" dirty="0">
                <a:latin typeface="Cambria"/>
                <a:cs typeface="Cambria"/>
              </a:rPr>
              <a:t>login </a:t>
            </a:r>
            <a:r>
              <a:rPr sz="1850" spc="60" dirty="0">
                <a:latin typeface="Cambria"/>
                <a:cs typeface="Cambria"/>
              </a:rPr>
              <a:t>and</a:t>
            </a:r>
            <a:r>
              <a:rPr sz="1850" spc="120" dirty="0">
                <a:latin typeface="Cambria"/>
                <a:cs typeface="Cambria"/>
              </a:rPr>
              <a:t> </a:t>
            </a:r>
            <a:r>
              <a:rPr sz="1850" spc="-10" dirty="0">
                <a:latin typeface="Cambria"/>
                <a:cs typeface="Cambria"/>
              </a:rPr>
              <a:t>registration.</a:t>
            </a:r>
            <a:endParaRPr sz="1850">
              <a:latin typeface="Cambria"/>
              <a:cs typeface="Cambria"/>
            </a:endParaRPr>
          </a:p>
          <a:p>
            <a:pPr marL="697865" marR="18415" lvl="1" indent="-227965" algn="just">
              <a:lnSpc>
                <a:spcPct val="131800"/>
              </a:lnSpc>
              <a:spcBef>
                <a:spcPts val="80"/>
              </a:spcBef>
              <a:buFont typeface="Wingdings"/>
              <a:buChar char=""/>
              <a:tabLst>
                <a:tab pos="699135" algn="l"/>
              </a:tabLst>
            </a:pPr>
            <a:r>
              <a:rPr sz="1850" spc="45" dirty="0">
                <a:solidFill>
                  <a:srgbClr val="FF0000"/>
                </a:solidFill>
                <a:latin typeface="Cambria"/>
                <a:cs typeface="Cambria"/>
              </a:rPr>
              <a:t>Database</a:t>
            </a:r>
            <a:r>
              <a:rPr sz="1850" spc="55" dirty="0">
                <a:solidFill>
                  <a:srgbClr val="FF0000"/>
                </a:solidFill>
                <a:latin typeface="Cambria"/>
                <a:cs typeface="Cambria"/>
              </a:rPr>
              <a:t>  Access</a:t>
            </a:r>
            <a:r>
              <a:rPr sz="1850" spc="6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:</a:t>
            </a:r>
            <a:r>
              <a:rPr sz="1850" spc="60" dirty="0">
                <a:latin typeface="Cambria"/>
                <a:cs typeface="Cambria"/>
              </a:rPr>
              <a:t>  </a:t>
            </a:r>
            <a:r>
              <a:rPr sz="1850" spc="95" dirty="0">
                <a:latin typeface="Cambria"/>
                <a:cs typeface="Cambria"/>
              </a:rPr>
              <a:t>Managing</a:t>
            </a:r>
            <a:r>
              <a:rPr sz="1850" spc="70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book</a:t>
            </a:r>
            <a:r>
              <a:rPr sz="1850" spc="60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inventory</a:t>
            </a:r>
            <a:r>
              <a:rPr sz="1850" spc="90" dirty="0">
                <a:latin typeface="Cambria"/>
                <a:cs typeface="Cambria"/>
              </a:rPr>
              <a:t>  </a:t>
            </a:r>
            <a:r>
              <a:rPr sz="1850" spc="40" dirty="0">
                <a:latin typeface="Cambria"/>
                <a:cs typeface="Cambria"/>
              </a:rPr>
              <a:t>and 	</a:t>
            </a:r>
            <a:r>
              <a:rPr sz="1850" dirty="0">
                <a:latin typeface="Cambria"/>
                <a:cs typeface="Cambria"/>
              </a:rPr>
              <a:t>user</a:t>
            </a:r>
            <a:r>
              <a:rPr sz="1850" spc="165" dirty="0">
                <a:latin typeface="Cambria"/>
                <a:cs typeface="Cambria"/>
              </a:rPr>
              <a:t> </a:t>
            </a:r>
            <a:r>
              <a:rPr sz="1850" spc="40" dirty="0">
                <a:latin typeface="Cambria"/>
                <a:cs typeface="Cambria"/>
              </a:rPr>
              <a:t>data.</a:t>
            </a:r>
            <a:endParaRPr sz="1850">
              <a:latin typeface="Cambria"/>
              <a:cs typeface="Cambria"/>
            </a:endParaRPr>
          </a:p>
          <a:p>
            <a:pPr marL="697865" marR="9525" lvl="1" indent="-227965" algn="just">
              <a:lnSpc>
                <a:spcPct val="132000"/>
              </a:lnSpc>
              <a:spcBef>
                <a:spcPts val="75"/>
              </a:spcBef>
              <a:buFont typeface="Wingdings"/>
              <a:buChar char=""/>
              <a:tabLst>
                <a:tab pos="699135" algn="l"/>
              </a:tabLst>
            </a:pPr>
            <a:r>
              <a:rPr sz="1850" spc="70" dirty="0">
                <a:solidFill>
                  <a:srgbClr val="FF0000"/>
                </a:solidFill>
                <a:latin typeface="Cambria"/>
                <a:cs typeface="Cambria"/>
              </a:rPr>
              <a:t>Routing</a:t>
            </a:r>
            <a:r>
              <a:rPr sz="1850" spc="24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:</a:t>
            </a:r>
            <a:r>
              <a:rPr sz="1850" spc="245" dirty="0">
                <a:latin typeface="Cambria"/>
                <a:cs typeface="Cambria"/>
              </a:rPr>
              <a:t>  </a:t>
            </a:r>
            <a:r>
              <a:rPr sz="1850" spc="95" dirty="0">
                <a:latin typeface="Cambria"/>
                <a:cs typeface="Cambria"/>
              </a:rPr>
              <a:t>Handling</a:t>
            </a:r>
            <a:r>
              <a:rPr sz="1850" spc="265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requests</a:t>
            </a:r>
            <a:r>
              <a:rPr sz="1850" spc="240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for</a:t>
            </a:r>
            <a:r>
              <a:rPr sz="1850" spc="260" dirty="0">
                <a:latin typeface="Cambria"/>
                <a:cs typeface="Cambria"/>
              </a:rPr>
              <a:t>  </a:t>
            </a:r>
            <a:r>
              <a:rPr sz="1850" spc="45" dirty="0">
                <a:latin typeface="Cambria"/>
                <a:cs typeface="Cambria"/>
              </a:rPr>
              <a:t>borrowing</a:t>
            </a:r>
            <a:r>
              <a:rPr sz="1850" spc="245" dirty="0">
                <a:latin typeface="Cambria"/>
                <a:cs typeface="Cambria"/>
              </a:rPr>
              <a:t>  </a:t>
            </a:r>
            <a:r>
              <a:rPr sz="1850" spc="-25" dirty="0">
                <a:latin typeface="Cambria"/>
                <a:cs typeface="Cambria"/>
              </a:rPr>
              <a:t>or 	</a:t>
            </a:r>
            <a:r>
              <a:rPr sz="1850" dirty="0">
                <a:latin typeface="Cambria"/>
                <a:cs typeface="Cambria"/>
              </a:rPr>
              <a:t>returning</a:t>
            </a:r>
            <a:r>
              <a:rPr sz="1850" spc="455" dirty="0">
                <a:latin typeface="Cambria"/>
                <a:cs typeface="Cambria"/>
              </a:rPr>
              <a:t> </a:t>
            </a:r>
            <a:r>
              <a:rPr sz="1850" spc="-10" dirty="0">
                <a:latin typeface="Cambria"/>
                <a:cs typeface="Cambria"/>
              </a:rPr>
              <a:t>books.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12355" y="2038603"/>
            <a:ext cx="4269740" cy="13112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283845">
              <a:lnSpc>
                <a:spcPct val="102899"/>
              </a:lnSpc>
              <a:spcBef>
                <a:spcPts val="75"/>
              </a:spcBef>
            </a:pPr>
            <a:r>
              <a:rPr sz="1400" b="1" dirty="0">
                <a:latin typeface="Times New Roman"/>
                <a:cs typeface="Times New Roman"/>
              </a:rPr>
              <a:t>Library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b="1" spc="50" dirty="0">
                <a:latin typeface="Times New Roman"/>
                <a:cs typeface="Times New Roman"/>
              </a:rPr>
              <a:t>Management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65" dirty="0">
                <a:latin typeface="Times New Roman"/>
                <a:cs typeface="Times New Roman"/>
              </a:rPr>
              <a:t>System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Built</a:t>
            </a:r>
            <a:r>
              <a:rPr sz="1400" b="1" spc="40" dirty="0">
                <a:latin typeface="Times New Roman"/>
                <a:cs typeface="Times New Roman"/>
              </a:rPr>
              <a:t> </a:t>
            </a:r>
            <a:r>
              <a:rPr sz="1400" b="1" spc="80" dirty="0">
                <a:latin typeface="Times New Roman"/>
                <a:cs typeface="Times New Roman"/>
              </a:rPr>
              <a:t>Using</a:t>
            </a:r>
            <a:r>
              <a:rPr sz="1400" b="1" spc="20" dirty="0">
                <a:latin typeface="Times New Roman"/>
                <a:cs typeface="Times New Roman"/>
              </a:rPr>
              <a:t> </a:t>
            </a:r>
            <a:r>
              <a:rPr sz="1400" b="1" spc="40" dirty="0">
                <a:latin typeface="Times New Roman"/>
                <a:cs typeface="Times New Roman"/>
              </a:rPr>
              <a:t>Django </a:t>
            </a:r>
            <a:r>
              <a:rPr sz="1400" b="1" spc="-10" dirty="0">
                <a:latin typeface="Times New Roman"/>
                <a:cs typeface="Times New Roman"/>
              </a:rPr>
              <a:t>Framework</a:t>
            </a:r>
            <a:endParaRPr sz="1400">
              <a:latin typeface="Times New Roman"/>
              <a:cs typeface="Times New Roman"/>
            </a:endParaRPr>
          </a:p>
          <a:p>
            <a:pPr marL="190500">
              <a:lnSpc>
                <a:spcPts val="1650"/>
              </a:lnSpc>
            </a:pPr>
            <a:r>
              <a:rPr sz="1400" b="1" spc="20" dirty="0">
                <a:latin typeface="Times New Roman"/>
                <a:cs typeface="Times New Roman"/>
              </a:rPr>
              <a:t>├──</a:t>
            </a:r>
            <a:r>
              <a:rPr sz="1400" b="1" spc="175" dirty="0">
                <a:latin typeface="Times New Roman"/>
                <a:cs typeface="Times New Roman"/>
              </a:rPr>
              <a:t> </a:t>
            </a:r>
            <a:r>
              <a:rPr sz="1400" b="1" spc="20" dirty="0">
                <a:latin typeface="Times New Roman"/>
                <a:cs typeface="Times New Roman"/>
              </a:rPr>
              <a:t>Authentication</a:t>
            </a:r>
            <a:r>
              <a:rPr sz="1400" b="1" spc="165" dirty="0">
                <a:latin typeface="Times New Roman"/>
                <a:cs typeface="Times New Roman"/>
              </a:rPr>
              <a:t> </a:t>
            </a:r>
            <a:r>
              <a:rPr sz="1400" b="1" spc="20" dirty="0">
                <a:latin typeface="Times New Roman"/>
                <a:cs typeface="Times New Roman"/>
              </a:rPr>
              <a:t>(Built-</a:t>
            </a:r>
            <a:r>
              <a:rPr sz="1400" b="1" spc="35" dirty="0">
                <a:latin typeface="Times New Roman"/>
                <a:cs typeface="Times New Roman"/>
              </a:rPr>
              <a:t>in)</a:t>
            </a:r>
            <a:endParaRPr sz="1400">
              <a:latin typeface="Times New Roman"/>
              <a:cs typeface="Times New Roman"/>
            </a:endParaRPr>
          </a:p>
          <a:p>
            <a:pPr marL="190500">
              <a:lnSpc>
                <a:spcPts val="1664"/>
              </a:lnSpc>
              <a:spcBef>
                <a:spcPts val="50"/>
              </a:spcBef>
            </a:pPr>
            <a:r>
              <a:rPr sz="1400" b="1" spc="10" dirty="0">
                <a:latin typeface="Times New Roman"/>
                <a:cs typeface="Times New Roman"/>
              </a:rPr>
              <a:t>├──</a:t>
            </a:r>
            <a:r>
              <a:rPr sz="1400" b="1" spc="165" dirty="0">
                <a:latin typeface="Times New Roman"/>
                <a:cs typeface="Times New Roman"/>
              </a:rPr>
              <a:t> </a:t>
            </a:r>
            <a:r>
              <a:rPr sz="1400" b="1" spc="10" dirty="0">
                <a:latin typeface="Times New Roman"/>
                <a:cs typeface="Times New Roman"/>
              </a:rPr>
              <a:t>Database</a:t>
            </a:r>
            <a:r>
              <a:rPr sz="1400" b="1" spc="170" dirty="0">
                <a:latin typeface="Times New Roman"/>
                <a:cs typeface="Times New Roman"/>
              </a:rPr>
              <a:t> </a:t>
            </a:r>
            <a:r>
              <a:rPr sz="1400" b="1" spc="50" dirty="0">
                <a:latin typeface="Times New Roman"/>
                <a:cs typeface="Times New Roman"/>
              </a:rPr>
              <a:t>ORM</a:t>
            </a:r>
            <a:r>
              <a:rPr sz="1400" b="1" spc="110" dirty="0">
                <a:latin typeface="Times New Roman"/>
                <a:cs typeface="Times New Roman"/>
              </a:rPr>
              <a:t> </a:t>
            </a:r>
            <a:r>
              <a:rPr sz="1400" b="1" spc="10" dirty="0">
                <a:latin typeface="Times New Roman"/>
                <a:cs typeface="Times New Roman"/>
              </a:rPr>
              <a:t>(Object-Relational</a:t>
            </a:r>
            <a:r>
              <a:rPr sz="1400" b="1" spc="185" dirty="0">
                <a:latin typeface="Times New Roman"/>
                <a:cs typeface="Times New Roman"/>
              </a:rPr>
              <a:t> </a:t>
            </a:r>
            <a:r>
              <a:rPr sz="1400" b="1" spc="35" dirty="0">
                <a:latin typeface="Times New Roman"/>
                <a:cs typeface="Times New Roman"/>
              </a:rPr>
              <a:t>Mapping)</a:t>
            </a:r>
            <a:endParaRPr sz="1400">
              <a:latin typeface="Times New Roman"/>
              <a:cs typeface="Times New Roman"/>
            </a:endParaRPr>
          </a:p>
          <a:p>
            <a:pPr marL="190500">
              <a:lnSpc>
                <a:spcPts val="1650"/>
              </a:lnSpc>
            </a:pPr>
            <a:r>
              <a:rPr sz="1400" b="1" dirty="0">
                <a:latin typeface="Times New Roman"/>
                <a:cs typeface="Times New Roman"/>
              </a:rPr>
              <a:t>├──</a:t>
            </a:r>
            <a:r>
              <a:rPr sz="1400" b="1" spc="9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URL</a:t>
            </a:r>
            <a:r>
              <a:rPr sz="1400" b="1" spc="85" dirty="0">
                <a:latin typeface="Times New Roman"/>
                <a:cs typeface="Times New Roman"/>
              </a:rPr>
              <a:t> </a:t>
            </a:r>
            <a:r>
              <a:rPr sz="1400" b="1" spc="50" dirty="0">
                <a:latin typeface="Times New Roman"/>
                <a:cs typeface="Times New Roman"/>
              </a:rPr>
              <a:t>Routing</a:t>
            </a:r>
            <a:r>
              <a:rPr sz="1400" b="1" spc="9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(Request</a:t>
            </a:r>
            <a:r>
              <a:rPr sz="1400" b="1" spc="110" dirty="0">
                <a:latin typeface="Times New Roman"/>
                <a:cs typeface="Times New Roman"/>
              </a:rPr>
              <a:t> </a:t>
            </a:r>
            <a:r>
              <a:rPr sz="1400" b="1" spc="40" dirty="0">
                <a:latin typeface="Times New Roman"/>
                <a:cs typeface="Times New Roman"/>
              </a:rPr>
              <a:t>Handling)</a:t>
            </a:r>
            <a:endParaRPr sz="1400">
              <a:latin typeface="Times New Roman"/>
              <a:cs typeface="Times New Roman"/>
            </a:endParaRPr>
          </a:p>
          <a:p>
            <a:pPr marL="190500">
              <a:lnSpc>
                <a:spcPts val="1664"/>
              </a:lnSpc>
            </a:pPr>
            <a:r>
              <a:rPr sz="1400" b="1" dirty="0">
                <a:latin typeface="Times New Roman"/>
                <a:cs typeface="Times New Roman"/>
              </a:rPr>
              <a:t>└──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50" dirty="0">
                <a:latin typeface="Times New Roman"/>
                <a:cs typeface="Times New Roman"/>
              </a:rPr>
              <a:t>Templates</a:t>
            </a:r>
            <a:r>
              <a:rPr sz="1400" b="1" spc="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(HTML </a:t>
            </a:r>
            <a:r>
              <a:rPr sz="1400" b="1" spc="65" dirty="0">
                <a:latin typeface="Times New Roman"/>
                <a:cs typeface="Times New Roman"/>
              </a:rPr>
              <a:t>Views)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95" dirty="0"/>
              <a:t>2.</a:t>
            </a:r>
            <a:r>
              <a:rPr sz="3200" spc="225" dirty="0"/>
              <a:t> </a:t>
            </a:r>
            <a:r>
              <a:rPr sz="3200" spc="130" dirty="0"/>
              <a:t>Architecture</a:t>
            </a:r>
            <a:r>
              <a:rPr sz="3200" spc="29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45" dirty="0"/>
              <a:t>Dynamic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9115425" cy="3007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384175" algn="l"/>
              </a:tabLst>
            </a:pPr>
            <a:r>
              <a:rPr sz="2750" b="1" dirty="0">
                <a:latin typeface="Times New Roman"/>
                <a:cs typeface="Times New Roman"/>
              </a:rPr>
              <a:t>Library</a:t>
            </a:r>
            <a:r>
              <a:rPr sz="2750" b="1" spc="100" dirty="0">
                <a:latin typeface="Times New Roman"/>
                <a:cs typeface="Times New Roman"/>
              </a:rPr>
              <a:t> </a:t>
            </a:r>
            <a:r>
              <a:rPr sz="2750" b="1" spc="125" dirty="0">
                <a:latin typeface="Times New Roman"/>
                <a:cs typeface="Times New Roman"/>
              </a:rPr>
              <a:t>Management</a:t>
            </a:r>
            <a:r>
              <a:rPr sz="2750" b="1" spc="95" dirty="0">
                <a:latin typeface="Times New Roman"/>
                <a:cs typeface="Times New Roman"/>
              </a:rPr>
              <a:t> </a:t>
            </a:r>
            <a:r>
              <a:rPr sz="2750" b="1" spc="130" dirty="0">
                <a:latin typeface="Times New Roman"/>
                <a:cs typeface="Times New Roman"/>
              </a:rPr>
              <a:t>System</a:t>
            </a: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750">
              <a:latin typeface="Times New Roman"/>
              <a:cs typeface="Times New Roman"/>
            </a:endParaRPr>
          </a:p>
          <a:p>
            <a:pPr marL="2182495" marR="2755265" indent="-254000">
              <a:lnSpc>
                <a:spcPct val="100000"/>
              </a:lnSpc>
              <a:spcBef>
                <a:spcPts val="5"/>
              </a:spcBef>
            </a:pPr>
            <a:r>
              <a:rPr sz="2000" b="1" spc="95" dirty="0">
                <a:latin typeface="Times New Roman"/>
                <a:cs typeface="Times New Roman"/>
              </a:rPr>
              <a:t>Sequence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Diagram: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spc="50" dirty="0">
                <a:latin typeface="Times New Roman"/>
                <a:cs typeface="Times New Roman"/>
              </a:rPr>
              <a:t>Borrowing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spc="55" dirty="0">
                <a:latin typeface="Times New Roman"/>
                <a:cs typeface="Times New Roman"/>
              </a:rPr>
              <a:t>Book User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-</a:t>
            </a:r>
            <a:r>
              <a:rPr sz="2000" b="1" spc="90" dirty="0">
                <a:latin typeface="Times New Roman"/>
                <a:cs typeface="Times New Roman"/>
              </a:rPr>
              <a:t>&gt;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b="1" spc="55" dirty="0">
                <a:latin typeface="Times New Roman"/>
                <a:cs typeface="Times New Roman"/>
              </a:rPr>
              <a:t>System: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Login</a:t>
            </a:r>
            <a:endParaRPr sz="2000">
              <a:latin typeface="Times New Roman"/>
              <a:cs typeface="Times New Roman"/>
            </a:endParaRPr>
          </a:p>
          <a:p>
            <a:pPr marL="2182495" marR="1578610">
              <a:lnSpc>
                <a:spcPct val="100000"/>
              </a:lnSpc>
              <a:spcBef>
                <a:spcPts val="5"/>
              </a:spcBef>
            </a:pPr>
            <a:r>
              <a:rPr sz="2000" b="1" spc="90" dirty="0">
                <a:latin typeface="Times New Roman"/>
                <a:cs typeface="Times New Roman"/>
              </a:rPr>
              <a:t>System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-</a:t>
            </a:r>
            <a:r>
              <a:rPr sz="2000" b="1" spc="90" dirty="0">
                <a:latin typeface="Times New Roman"/>
                <a:cs typeface="Times New Roman"/>
              </a:rPr>
              <a:t>&gt;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spc="70" dirty="0">
                <a:latin typeface="Times New Roman"/>
                <a:cs typeface="Times New Roman"/>
              </a:rPr>
              <a:t>Book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Inventory: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spc="60" dirty="0">
                <a:solidFill>
                  <a:srgbClr val="FF0000"/>
                </a:solidFill>
                <a:latin typeface="Times New Roman"/>
                <a:cs typeface="Times New Roman"/>
              </a:rPr>
              <a:t>Check</a:t>
            </a:r>
            <a:r>
              <a:rPr sz="200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65" dirty="0">
                <a:solidFill>
                  <a:srgbClr val="FF0000"/>
                </a:solidFill>
                <a:latin typeface="Times New Roman"/>
                <a:cs typeface="Times New Roman"/>
              </a:rPr>
              <a:t>Availability </a:t>
            </a:r>
            <a:r>
              <a:rPr sz="2000" b="1" spc="85" dirty="0">
                <a:latin typeface="Times New Roman"/>
                <a:cs typeface="Times New Roman"/>
              </a:rPr>
              <a:t>Book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55" dirty="0">
                <a:latin typeface="Times New Roman"/>
                <a:cs typeface="Times New Roman"/>
              </a:rPr>
              <a:t>Inventory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-</a:t>
            </a:r>
            <a:r>
              <a:rPr sz="2000" b="1" spc="-30" dirty="0">
                <a:latin typeface="Times New Roman"/>
                <a:cs typeface="Times New Roman"/>
              </a:rPr>
              <a:t>-</a:t>
            </a:r>
            <a:r>
              <a:rPr sz="2000" b="1" spc="90" dirty="0">
                <a:latin typeface="Times New Roman"/>
                <a:cs typeface="Times New Roman"/>
              </a:rPr>
              <a:t>&gt;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55" dirty="0">
                <a:latin typeface="Times New Roman"/>
                <a:cs typeface="Times New Roman"/>
              </a:rPr>
              <a:t>System: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85" dirty="0">
                <a:solidFill>
                  <a:srgbClr val="FF0000"/>
                </a:solidFill>
                <a:latin typeface="Times New Roman"/>
                <a:cs typeface="Times New Roman"/>
              </a:rPr>
              <a:t>Book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70" dirty="0">
                <a:solidFill>
                  <a:srgbClr val="FF0000"/>
                </a:solidFill>
                <a:latin typeface="Times New Roman"/>
                <a:cs typeface="Times New Roman"/>
              </a:rPr>
              <a:t>Available</a:t>
            </a:r>
            <a:endParaRPr sz="2000">
              <a:latin typeface="Times New Roman"/>
              <a:cs typeface="Times New Roman"/>
            </a:endParaRPr>
          </a:p>
          <a:p>
            <a:pPr marL="2182495" marR="5080">
              <a:lnSpc>
                <a:spcPct val="100000"/>
              </a:lnSpc>
              <a:spcBef>
                <a:spcPts val="5"/>
              </a:spcBef>
            </a:pPr>
            <a:r>
              <a:rPr sz="2000" b="1" spc="90" dirty="0">
                <a:latin typeface="Times New Roman"/>
                <a:cs typeface="Times New Roman"/>
              </a:rPr>
              <a:t>System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-</a:t>
            </a:r>
            <a:r>
              <a:rPr sz="2000" b="1" spc="90" dirty="0">
                <a:latin typeface="Times New Roman"/>
                <a:cs typeface="Times New Roman"/>
              </a:rPr>
              <a:t>&gt;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Transaction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spc="50" dirty="0">
                <a:latin typeface="Times New Roman"/>
                <a:cs typeface="Times New Roman"/>
              </a:rPr>
              <a:t>Management: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Record</a:t>
            </a:r>
            <a:r>
              <a:rPr sz="2000" b="1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Times New Roman"/>
                <a:cs typeface="Times New Roman"/>
              </a:rPr>
              <a:t>Borrowing </a:t>
            </a:r>
            <a:r>
              <a:rPr sz="2000" b="1" dirty="0">
                <a:latin typeface="Times New Roman"/>
                <a:cs typeface="Times New Roman"/>
              </a:rPr>
              <a:t>Transaction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spc="80" dirty="0">
                <a:latin typeface="Times New Roman"/>
                <a:cs typeface="Times New Roman"/>
              </a:rPr>
              <a:t>Management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-</a:t>
            </a:r>
            <a:r>
              <a:rPr sz="2000" b="1" spc="-30" dirty="0">
                <a:latin typeface="Times New Roman"/>
                <a:cs typeface="Times New Roman"/>
              </a:rPr>
              <a:t>-</a:t>
            </a:r>
            <a:r>
              <a:rPr sz="2000" b="1" spc="90" dirty="0">
                <a:latin typeface="Times New Roman"/>
                <a:cs typeface="Times New Roman"/>
              </a:rPr>
              <a:t>&gt;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spc="55" dirty="0">
                <a:latin typeface="Times New Roman"/>
                <a:cs typeface="Times New Roman"/>
              </a:rPr>
              <a:t>System: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Transaction</a:t>
            </a:r>
            <a:r>
              <a:rPr sz="2000" b="1" spc="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45" dirty="0">
                <a:solidFill>
                  <a:srgbClr val="FF0000"/>
                </a:solidFill>
                <a:latin typeface="Times New Roman"/>
                <a:cs typeface="Times New Roman"/>
              </a:rPr>
              <a:t>Recorded </a:t>
            </a:r>
            <a:r>
              <a:rPr sz="2000" b="1" spc="90" dirty="0">
                <a:latin typeface="Times New Roman"/>
                <a:cs typeface="Times New Roman"/>
              </a:rPr>
              <a:t>System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-</a:t>
            </a:r>
            <a:r>
              <a:rPr sz="2000" b="1" spc="-30" dirty="0">
                <a:latin typeface="Times New Roman"/>
                <a:cs typeface="Times New Roman"/>
              </a:rPr>
              <a:t>-</a:t>
            </a:r>
            <a:r>
              <a:rPr sz="2000" b="1" spc="90" dirty="0">
                <a:latin typeface="Times New Roman"/>
                <a:cs typeface="Times New Roman"/>
              </a:rPr>
              <a:t>&gt;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User: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60" dirty="0">
                <a:solidFill>
                  <a:srgbClr val="FF0000"/>
                </a:solidFill>
                <a:latin typeface="Times New Roman"/>
                <a:cs typeface="Times New Roman"/>
              </a:rPr>
              <a:t>Confirm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45" dirty="0">
                <a:solidFill>
                  <a:srgbClr val="FF0000"/>
                </a:solidFill>
                <a:latin typeface="Times New Roman"/>
                <a:cs typeface="Times New Roman"/>
              </a:rPr>
              <a:t>Borrowing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95" dirty="0"/>
              <a:t>2.</a:t>
            </a:r>
            <a:r>
              <a:rPr sz="3200" spc="225" dirty="0"/>
              <a:t> </a:t>
            </a:r>
            <a:r>
              <a:rPr sz="3200" spc="130" dirty="0"/>
              <a:t>Architecture</a:t>
            </a:r>
            <a:r>
              <a:rPr sz="3200" spc="29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45" dirty="0"/>
              <a:t>Dynamic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8404225" cy="2410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384175" algn="l"/>
              </a:tabLst>
            </a:pPr>
            <a:r>
              <a:rPr sz="2750" b="1" dirty="0">
                <a:latin typeface="Times New Roman"/>
                <a:cs typeface="Times New Roman"/>
              </a:rPr>
              <a:t>Library</a:t>
            </a:r>
            <a:r>
              <a:rPr sz="2750" b="1" spc="100" dirty="0">
                <a:latin typeface="Times New Roman"/>
                <a:cs typeface="Times New Roman"/>
              </a:rPr>
              <a:t> </a:t>
            </a:r>
            <a:r>
              <a:rPr sz="2750" b="1" spc="125" dirty="0">
                <a:latin typeface="Times New Roman"/>
                <a:cs typeface="Times New Roman"/>
              </a:rPr>
              <a:t>Management</a:t>
            </a:r>
            <a:r>
              <a:rPr sz="2750" b="1" spc="95" dirty="0">
                <a:latin typeface="Times New Roman"/>
                <a:cs typeface="Times New Roman"/>
              </a:rPr>
              <a:t> </a:t>
            </a:r>
            <a:r>
              <a:rPr sz="2750" b="1" spc="130" dirty="0">
                <a:latin typeface="Times New Roman"/>
                <a:cs typeface="Times New Roman"/>
              </a:rPr>
              <a:t>System</a:t>
            </a: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2750">
              <a:latin typeface="Times New Roman"/>
              <a:cs typeface="Times New Roman"/>
            </a:endParaRPr>
          </a:p>
          <a:p>
            <a:pPr marL="49212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spc="95" dirty="0">
                <a:latin typeface="Times New Roman"/>
                <a:cs typeface="Times New Roman"/>
              </a:rPr>
              <a:t>Flow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Diagram: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spc="50" dirty="0">
                <a:latin typeface="Times New Roman"/>
                <a:cs typeface="Times New Roman"/>
              </a:rPr>
              <a:t>Borrowing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spc="55" dirty="0">
                <a:latin typeface="Times New Roman"/>
                <a:cs typeface="Times New Roman"/>
              </a:rPr>
              <a:t>Book</a:t>
            </a:r>
            <a:endParaRPr sz="2000">
              <a:latin typeface="Times New Roman"/>
              <a:cs typeface="Times New Roman"/>
            </a:endParaRPr>
          </a:p>
          <a:p>
            <a:pPr marL="74612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[User]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-</a:t>
            </a:r>
            <a:r>
              <a:rPr sz="2000" b="1" spc="90" dirty="0">
                <a:latin typeface="Times New Roman"/>
                <a:cs typeface="Times New Roman"/>
              </a:rPr>
              <a:t>&gt;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spc="60" dirty="0">
                <a:solidFill>
                  <a:srgbClr val="FF0000"/>
                </a:solidFill>
                <a:latin typeface="Times New Roman"/>
                <a:cs typeface="Times New Roman"/>
              </a:rPr>
              <a:t>(Request</a:t>
            </a:r>
            <a:r>
              <a:rPr sz="2000" b="1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Borrow)</a:t>
            </a:r>
            <a:r>
              <a:rPr sz="2000" b="1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-</a:t>
            </a:r>
            <a:r>
              <a:rPr sz="2000" b="1" spc="90" dirty="0">
                <a:latin typeface="Times New Roman"/>
                <a:cs typeface="Times New Roman"/>
              </a:rPr>
              <a:t>&gt;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spc="55" dirty="0">
                <a:latin typeface="Times New Roman"/>
                <a:cs typeface="Times New Roman"/>
              </a:rPr>
              <a:t>[System]</a:t>
            </a:r>
            <a:endParaRPr sz="2000">
              <a:latin typeface="Times New Roman"/>
              <a:cs typeface="Times New Roman"/>
            </a:endParaRPr>
          </a:p>
          <a:p>
            <a:pPr marL="746125">
              <a:lnSpc>
                <a:spcPct val="100000"/>
              </a:lnSpc>
              <a:spcBef>
                <a:spcPts val="5"/>
              </a:spcBef>
            </a:pPr>
            <a:r>
              <a:rPr sz="2000" b="1" spc="65" dirty="0">
                <a:latin typeface="Times New Roman"/>
                <a:cs typeface="Times New Roman"/>
              </a:rPr>
              <a:t>[System]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-</a:t>
            </a:r>
            <a:r>
              <a:rPr sz="2000" b="1" spc="90" dirty="0">
                <a:latin typeface="Times New Roman"/>
                <a:cs typeface="Times New Roman"/>
              </a:rPr>
              <a:t>&gt;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(Check</a:t>
            </a:r>
            <a:r>
              <a:rPr sz="2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70" dirty="0">
                <a:solidFill>
                  <a:srgbClr val="FF0000"/>
                </a:solidFill>
                <a:latin typeface="Times New Roman"/>
                <a:cs typeface="Times New Roman"/>
              </a:rPr>
              <a:t>Availability)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-</a:t>
            </a:r>
            <a:r>
              <a:rPr sz="2000" b="1" spc="90" dirty="0">
                <a:latin typeface="Times New Roman"/>
                <a:cs typeface="Times New Roman"/>
              </a:rPr>
              <a:t>&gt;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spc="60" dirty="0">
                <a:latin typeface="Times New Roman"/>
                <a:cs typeface="Times New Roman"/>
              </a:rPr>
              <a:t>[Book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b="1" spc="40" dirty="0">
                <a:latin typeface="Times New Roman"/>
                <a:cs typeface="Times New Roman"/>
              </a:rPr>
              <a:t>Inventory]</a:t>
            </a:r>
            <a:endParaRPr sz="2000">
              <a:latin typeface="Times New Roman"/>
              <a:cs typeface="Times New Roman"/>
            </a:endParaRPr>
          </a:p>
          <a:p>
            <a:pPr marL="746125" marR="5080">
              <a:lnSpc>
                <a:spcPct val="100000"/>
              </a:lnSpc>
              <a:spcBef>
                <a:spcPts val="5"/>
              </a:spcBef>
            </a:pPr>
            <a:r>
              <a:rPr sz="2000" b="1" spc="60" dirty="0">
                <a:latin typeface="Times New Roman"/>
                <a:cs typeface="Times New Roman"/>
              </a:rPr>
              <a:t>[Book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spc="45" dirty="0">
                <a:latin typeface="Times New Roman"/>
                <a:cs typeface="Times New Roman"/>
              </a:rPr>
              <a:t>Inventory]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-</a:t>
            </a:r>
            <a:r>
              <a:rPr sz="2000" b="1" spc="90" dirty="0">
                <a:latin typeface="Times New Roman"/>
                <a:cs typeface="Times New Roman"/>
              </a:rPr>
              <a:t>&gt;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(Update</a:t>
            </a:r>
            <a:r>
              <a:rPr sz="20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Status)</a:t>
            </a:r>
            <a:r>
              <a:rPr sz="20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-</a:t>
            </a:r>
            <a:r>
              <a:rPr sz="2000" b="1" spc="90" dirty="0">
                <a:latin typeface="Times New Roman"/>
                <a:cs typeface="Times New Roman"/>
              </a:rPr>
              <a:t>&gt;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[Transaction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spc="55" dirty="0">
                <a:latin typeface="Times New Roman"/>
                <a:cs typeface="Times New Roman"/>
              </a:rPr>
              <a:t>Management] </a:t>
            </a:r>
            <a:r>
              <a:rPr sz="2000" b="1" dirty="0">
                <a:latin typeface="Times New Roman"/>
                <a:cs typeface="Times New Roman"/>
              </a:rPr>
              <a:t>[Transaction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spc="65" dirty="0">
                <a:latin typeface="Times New Roman"/>
                <a:cs typeface="Times New Roman"/>
              </a:rPr>
              <a:t>Management]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-</a:t>
            </a:r>
            <a:r>
              <a:rPr sz="2000" b="1" spc="90" dirty="0">
                <a:latin typeface="Times New Roman"/>
                <a:cs typeface="Times New Roman"/>
              </a:rPr>
              <a:t>&gt; </a:t>
            </a:r>
            <a:r>
              <a:rPr sz="20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(Confirm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Borrow)</a:t>
            </a:r>
            <a:r>
              <a:rPr sz="2000" b="1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-</a:t>
            </a:r>
            <a:r>
              <a:rPr sz="2000" b="1" spc="90" dirty="0">
                <a:latin typeface="Times New Roman"/>
                <a:cs typeface="Times New Roman"/>
              </a:rPr>
              <a:t>&gt;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[User]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95" dirty="0"/>
              <a:t>2.</a:t>
            </a:r>
            <a:r>
              <a:rPr sz="3200" spc="225" dirty="0"/>
              <a:t> </a:t>
            </a:r>
            <a:r>
              <a:rPr sz="3200" spc="130" dirty="0"/>
              <a:t>Architecture</a:t>
            </a:r>
            <a:r>
              <a:rPr sz="3200" spc="29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45" dirty="0"/>
              <a:t>Functional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199514"/>
            <a:ext cx="4745355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356870" algn="l"/>
              </a:tabLst>
            </a:pPr>
            <a:r>
              <a:rPr sz="2600" b="1" dirty="0">
                <a:latin typeface="Times New Roman"/>
                <a:cs typeface="Times New Roman"/>
              </a:rPr>
              <a:t>Library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spc="100" dirty="0">
                <a:latin typeface="Times New Roman"/>
                <a:cs typeface="Times New Roman"/>
              </a:rPr>
              <a:t>Management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spc="110" dirty="0">
                <a:latin typeface="Times New Roman"/>
                <a:cs typeface="Times New Roman"/>
              </a:rPr>
              <a:t>System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950" y="1603888"/>
            <a:ext cx="7655559" cy="442277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5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functional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requirements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of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system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include:</a:t>
            </a:r>
            <a:endParaRPr sz="240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127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b="1" spc="45" dirty="0">
                <a:latin typeface="Times New Roman"/>
                <a:cs typeface="Times New Roman"/>
              </a:rPr>
              <a:t>Register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spc="55" dirty="0">
                <a:latin typeface="Times New Roman"/>
                <a:cs typeface="Times New Roman"/>
              </a:rPr>
              <a:t>User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"/>
                <a:cs typeface="Cambria"/>
              </a:rPr>
              <a:t>: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Allows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new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users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create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account.</a:t>
            </a:r>
            <a:endParaRPr sz="200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b="1" spc="65" dirty="0">
                <a:latin typeface="Times New Roman"/>
                <a:cs typeface="Times New Roman"/>
              </a:rPr>
              <a:t>Login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spc="55" dirty="0">
                <a:latin typeface="Times New Roman"/>
                <a:cs typeface="Times New Roman"/>
              </a:rPr>
              <a:t>User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"/>
                <a:cs typeface="Cambria"/>
              </a:rPr>
              <a:t>: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Allows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existing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users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55" dirty="0">
                <a:latin typeface="Cambria"/>
                <a:cs typeface="Cambria"/>
              </a:rPr>
              <a:t> log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in.</a:t>
            </a:r>
            <a:endParaRPr sz="2000">
              <a:latin typeface="Cambria"/>
              <a:cs typeface="Cambria"/>
            </a:endParaRPr>
          </a:p>
          <a:p>
            <a:pPr marL="699135" marR="5080" lvl="1" indent="-229235">
              <a:lnSpc>
                <a:spcPct val="150200"/>
              </a:lnSpc>
              <a:spcBef>
                <a:spcPts val="5"/>
              </a:spcBef>
              <a:buFont typeface="Arial MT"/>
              <a:buChar char="•"/>
              <a:tabLst>
                <a:tab pos="699135" algn="l"/>
                <a:tab pos="1602740" algn="l"/>
                <a:tab pos="3573779" algn="l"/>
                <a:tab pos="593598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Search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85" dirty="0">
                <a:latin typeface="Times New Roman"/>
                <a:cs typeface="Times New Roman"/>
              </a:rPr>
              <a:t>Books</a:t>
            </a:r>
            <a:r>
              <a:rPr sz="2000" b="1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"/>
                <a:cs typeface="Cambria"/>
              </a:rPr>
              <a:t>:</a:t>
            </a:r>
            <a:r>
              <a:rPr sz="2000" spc="55" dirty="0">
                <a:latin typeface="Cambria"/>
                <a:cs typeface="Cambria"/>
              </a:rPr>
              <a:t>  </a:t>
            </a:r>
            <a:r>
              <a:rPr sz="2000" spc="70" dirty="0">
                <a:latin typeface="Cambria"/>
                <a:cs typeface="Cambria"/>
              </a:rPr>
              <a:t>Allows</a:t>
            </a:r>
            <a:r>
              <a:rPr sz="2000" dirty="0">
                <a:latin typeface="Cambria"/>
                <a:cs typeface="Cambria"/>
              </a:rPr>
              <a:t>	users</a:t>
            </a:r>
            <a:r>
              <a:rPr sz="2000" spc="5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5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search</a:t>
            </a:r>
            <a:r>
              <a:rPr sz="2000" spc="55" dirty="0">
                <a:latin typeface="Cambria"/>
                <a:cs typeface="Cambria"/>
              </a:rPr>
              <a:t>  </a:t>
            </a:r>
            <a:r>
              <a:rPr sz="2000" spc="-25" dirty="0">
                <a:latin typeface="Cambria"/>
                <a:cs typeface="Cambria"/>
              </a:rPr>
              <a:t>for</a:t>
            </a:r>
            <a:r>
              <a:rPr sz="2000" dirty="0">
                <a:latin typeface="Cambria"/>
                <a:cs typeface="Cambria"/>
              </a:rPr>
              <a:t>	books</a:t>
            </a:r>
            <a:r>
              <a:rPr sz="2000" spc="75" dirty="0">
                <a:latin typeface="Cambria"/>
                <a:cs typeface="Cambria"/>
              </a:rPr>
              <a:t>  </a:t>
            </a:r>
            <a:r>
              <a:rPr sz="2000" spc="60" dirty="0">
                <a:latin typeface="Cambria"/>
                <a:cs typeface="Cambria"/>
              </a:rPr>
              <a:t>by</a:t>
            </a:r>
            <a:r>
              <a:rPr sz="2000" spc="80" dirty="0">
                <a:latin typeface="Cambria"/>
                <a:cs typeface="Cambria"/>
              </a:rPr>
              <a:t>  </a:t>
            </a:r>
            <a:r>
              <a:rPr sz="2000" spc="-10" dirty="0">
                <a:latin typeface="Cambria"/>
                <a:cs typeface="Cambria"/>
              </a:rPr>
              <a:t>title, </a:t>
            </a:r>
            <a:r>
              <a:rPr sz="2000" dirty="0">
                <a:latin typeface="Cambria"/>
                <a:cs typeface="Cambria"/>
              </a:rPr>
              <a:t>author,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genre.</a:t>
            </a:r>
            <a:endParaRPr sz="200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b="1" dirty="0">
                <a:latin typeface="Times New Roman"/>
                <a:cs typeface="Times New Roman"/>
              </a:rPr>
              <a:t>Borrow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spc="85" dirty="0">
                <a:latin typeface="Times New Roman"/>
                <a:cs typeface="Times New Roman"/>
              </a:rPr>
              <a:t>Book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"/>
                <a:cs typeface="Cambria"/>
              </a:rPr>
              <a:t>: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Allows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users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borrow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book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if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it's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available.</a:t>
            </a:r>
            <a:endParaRPr sz="200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b="1" dirty="0">
                <a:latin typeface="Times New Roman"/>
                <a:cs typeface="Times New Roman"/>
              </a:rPr>
              <a:t>Return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spc="85" dirty="0">
                <a:latin typeface="Times New Roman"/>
                <a:cs typeface="Times New Roman"/>
              </a:rPr>
              <a:t>Book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"/>
                <a:cs typeface="Cambria"/>
              </a:rPr>
              <a:t>: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Allows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users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return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borrowed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book.</a:t>
            </a:r>
            <a:endParaRPr sz="2000">
              <a:latin typeface="Cambria"/>
              <a:cs typeface="Cambria"/>
            </a:endParaRPr>
          </a:p>
          <a:p>
            <a:pPr marL="255270" indent="-244475">
              <a:lnSpc>
                <a:spcPct val="100000"/>
              </a:lnSpc>
              <a:spcBef>
                <a:spcPts val="1330"/>
              </a:spcBef>
              <a:buSzPct val="95833"/>
              <a:buFont typeface="Wingdings"/>
              <a:buChar char=""/>
              <a:tabLst>
                <a:tab pos="255270" algn="l"/>
                <a:tab pos="589280" algn="l"/>
                <a:tab pos="1967864" algn="l"/>
                <a:tab pos="2783205" algn="l"/>
                <a:tab pos="3337560" algn="l"/>
                <a:tab pos="4411345" algn="l"/>
                <a:tab pos="5169535" algn="l"/>
                <a:tab pos="6372225" algn="l"/>
              </a:tabLst>
            </a:pPr>
            <a:r>
              <a:rPr sz="2400" spc="-25" dirty="0">
                <a:latin typeface="Cambria"/>
                <a:cs typeface="Cambria"/>
              </a:rPr>
              <a:t>It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describes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solidFill>
                  <a:srgbClr val="FF0000"/>
                </a:solidFill>
                <a:latin typeface="Cambria"/>
                <a:cs typeface="Cambria"/>
              </a:rPr>
              <a:t>what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2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system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20" dirty="0">
                <a:solidFill>
                  <a:srgbClr val="FF0000"/>
                </a:solidFill>
                <a:latin typeface="Cambria"/>
                <a:cs typeface="Cambria"/>
              </a:rPr>
              <a:t>does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without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35" dirty="0">
                <a:solidFill>
                  <a:srgbClr val="FF0000"/>
                </a:solidFill>
                <a:latin typeface="Cambria"/>
                <a:cs typeface="Cambria"/>
              </a:rPr>
              <a:t>worrying</a:t>
            </a:r>
            <a:endParaRPr sz="24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about</a:t>
            </a:r>
            <a:r>
              <a:rPr sz="240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FF0000"/>
                </a:solidFill>
                <a:latin typeface="Cambria"/>
                <a:cs typeface="Cambria"/>
              </a:rPr>
              <a:t>how</a:t>
            </a: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it</a:t>
            </a:r>
            <a:r>
              <a:rPr sz="2400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does</a:t>
            </a:r>
            <a:r>
              <a:rPr sz="2400" spc="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mbria"/>
                <a:cs typeface="Cambria"/>
              </a:rPr>
              <a:t>it</a:t>
            </a:r>
            <a:r>
              <a:rPr sz="2400" spc="-25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41690" y="2063813"/>
            <a:ext cx="3038475" cy="1860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55" dirty="0">
                <a:latin typeface="Times New Roman"/>
                <a:cs typeface="Times New Roman"/>
              </a:rPr>
              <a:t>Functional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40" dirty="0">
                <a:latin typeface="Times New Roman"/>
                <a:cs typeface="Times New Roman"/>
              </a:rPr>
              <a:t>Requirements:</a:t>
            </a:r>
            <a:endParaRPr sz="20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├──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spc="50" dirty="0">
                <a:latin typeface="Times New Roman"/>
                <a:cs typeface="Times New Roman"/>
              </a:rPr>
              <a:t>Register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35" dirty="0">
                <a:latin typeface="Times New Roman"/>
                <a:cs typeface="Times New Roman"/>
              </a:rPr>
              <a:t>User</a:t>
            </a:r>
            <a:endParaRPr sz="20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├──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spc="65" dirty="0">
                <a:latin typeface="Times New Roman"/>
                <a:cs typeface="Times New Roman"/>
              </a:rPr>
              <a:t>Login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User</a:t>
            </a:r>
            <a:endParaRPr sz="20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├──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Search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spc="80" dirty="0">
                <a:latin typeface="Times New Roman"/>
                <a:cs typeface="Times New Roman"/>
              </a:rPr>
              <a:t>Books</a:t>
            </a:r>
            <a:endParaRPr sz="20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├──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Borrow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spc="55" dirty="0">
                <a:latin typeface="Times New Roman"/>
                <a:cs typeface="Times New Roman"/>
              </a:rPr>
              <a:t>Book</a:t>
            </a:r>
            <a:endParaRPr sz="20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└──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Return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spc="50" dirty="0">
                <a:latin typeface="Times New Roman"/>
                <a:cs typeface="Times New Roman"/>
              </a:rPr>
              <a:t>Book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95" dirty="0"/>
              <a:t>2.</a:t>
            </a:r>
            <a:r>
              <a:rPr sz="3200" spc="225" dirty="0"/>
              <a:t> </a:t>
            </a:r>
            <a:r>
              <a:rPr sz="3200" spc="130" dirty="0"/>
              <a:t>Architecture</a:t>
            </a:r>
            <a:r>
              <a:rPr sz="3200" spc="260" dirty="0"/>
              <a:t> </a:t>
            </a:r>
            <a:r>
              <a:rPr sz="3200" spc="170" dirty="0"/>
              <a:t>Concepts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3225" y="1044575"/>
          <a:ext cx="11385550" cy="53619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9169">
                <a:tc>
                  <a:txBody>
                    <a:bodyPr/>
                    <a:lstStyle/>
                    <a:p>
                      <a:pPr marL="769620" marR="515620" indent="-2381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Architecture </a:t>
                      </a:r>
                      <a:r>
                        <a:rPr sz="2000" b="1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Concept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Definition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Measures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2770">
                <a:tc>
                  <a:txBody>
                    <a:bodyPr/>
                    <a:lstStyle/>
                    <a:p>
                      <a:pPr marL="91440" marR="81915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1349375" algn="l"/>
                        </a:tabLst>
                      </a:pPr>
                      <a:r>
                        <a:rPr sz="2000" b="1" spc="40" dirty="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b="1" spc="35" dirty="0">
                          <a:latin typeface="Times New Roman"/>
                          <a:cs typeface="Times New Roman"/>
                        </a:rPr>
                        <a:t>Hierachy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(Program</a:t>
                      </a:r>
                      <a:r>
                        <a:rPr sz="2000" b="1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Structure)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73660" algn="just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1576070" algn="l"/>
                          <a:tab pos="2700655" algn="l"/>
                        </a:tabLst>
                      </a:pPr>
                      <a:r>
                        <a:rPr sz="2000" spc="35" dirty="0">
                          <a:latin typeface="Cambria"/>
                          <a:cs typeface="Cambria"/>
                        </a:rPr>
                        <a:t>Defines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4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how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program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components</a:t>
                      </a:r>
                      <a:r>
                        <a:rPr sz="2000" spc="30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(modules)</a:t>
                      </a:r>
                      <a:r>
                        <a:rPr sz="2000" spc="3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spc="-2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are </a:t>
                      </a:r>
                      <a:r>
                        <a:rPr sz="2000" spc="3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organized</a:t>
                      </a:r>
                      <a:r>
                        <a:rPr sz="2000" spc="35" dirty="0"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3345" marR="71755" algn="just">
                        <a:lnSpc>
                          <a:spcPct val="100000"/>
                        </a:lnSpc>
                      </a:pPr>
                      <a:r>
                        <a:rPr sz="2000" spc="50" dirty="0">
                          <a:latin typeface="Cambria"/>
                          <a:cs typeface="Cambria"/>
                        </a:rPr>
                        <a:t>Control</a:t>
                      </a:r>
                      <a:r>
                        <a:rPr sz="2000" spc="3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Hierarchy</a:t>
                      </a:r>
                      <a:r>
                        <a:rPr sz="2000" spc="3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refers</a:t>
                      </a:r>
                      <a:r>
                        <a:rPr sz="2000" spc="3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000" spc="3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organization</a:t>
                      </a:r>
                      <a:r>
                        <a:rPr sz="2000" spc="49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    </a:t>
                      </a:r>
                      <a:r>
                        <a:rPr sz="2000" spc="6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sz="2000" spc="484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    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control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structures</a:t>
                      </a:r>
                      <a:r>
                        <a:rPr sz="2000" spc="25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within</a:t>
                      </a:r>
                      <a:r>
                        <a:rPr sz="2000" spc="24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spc="24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system,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where</a:t>
                      </a:r>
                      <a:r>
                        <a:rPr sz="2000" spc="4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higher-level</a:t>
                      </a:r>
                      <a:r>
                        <a:rPr sz="2000" spc="39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components </a:t>
                      </a:r>
                      <a:r>
                        <a:rPr sz="2000" spc="5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manage</a:t>
                      </a:r>
                      <a:r>
                        <a:rPr sz="2000" spc="8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6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10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delegate</a:t>
                      </a:r>
                      <a:r>
                        <a:rPr sz="2000" spc="9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tasks</a:t>
                      </a:r>
                      <a:r>
                        <a:rPr sz="2000" spc="12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2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to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lower-level</a:t>
                      </a:r>
                      <a:r>
                        <a:rPr sz="2000" spc="33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components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3345" marR="81280" algn="just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2000" spc="27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defines</a:t>
                      </a:r>
                      <a:r>
                        <a:rPr sz="2000" spc="2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70" dirty="0">
                          <a:latin typeface="Cambria"/>
                          <a:cs typeface="Cambria"/>
                        </a:rPr>
                        <a:t>how</a:t>
                      </a:r>
                      <a:r>
                        <a:rPr sz="2000" spc="26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control</a:t>
                      </a:r>
                      <a:r>
                        <a:rPr sz="2000" spc="26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flows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from</a:t>
                      </a:r>
                      <a:r>
                        <a:rPr sz="20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one</a:t>
                      </a:r>
                      <a:r>
                        <a:rPr sz="20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20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0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another.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382270" marR="76200" indent="-286385">
                        <a:lnSpc>
                          <a:spcPct val="107700"/>
                        </a:lnSpc>
                        <a:spcBef>
                          <a:spcPts val="215"/>
                        </a:spcBef>
                        <a:buFont typeface="Wingdings"/>
                        <a:buChar char=""/>
                        <a:tabLst>
                          <a:tab pos="382270" algn="l"/>
                          <a:tab pos="1235075" algn="l"/>
                          <a:tab pos="1593215" algn="l"/>
                          <a:tab pos="2671445" algn="l"/>
                          <a:tab pos="3093720" algn="l"/>
                          <a:tab pos="4032250" algn="l"/>
                          <a:tab pos="4830445" algn="l"/>
                        </a:tabLst>
                      </a:pPr>
                      <a:r>
                        <a:rPr sz="1800" spc="4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Depth</a:t>
                      </a: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Number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control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levels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in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hierarchy.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82270" marR="77470" indent="-286385">
                        <a:lnSpc>
                          <a:spcPct val="111200"/>
                        </a:lnSpc>
                        <a:spcBef>
                          <a:spcPts val="5"/>
                        </a:spcBef>
                        <a:buFont typeface="Wingdings"/>
                        <a:buChar char=""/>
                        <a:tabLst>
                          <a:tab pos="382270" algn="l"/>
                        </a:tabLst>
                      </a:pPr>
                      <a:r>
                        <a:rPr sz="1800" spc="6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Width</a:t>
                      </a:r>
                      <a:r>
                        <a:rPr sz="1800" spc="3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800" spc="3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Overall</a:t>
                      </a:r>
                      <a:r>
                        <a:rPr sz="1800" spc="3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span</a:t>
                      </a:r>
                      <a:r>
                        <a:rPr sz="1800" spc="3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3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control</a:t>
                      </a:r>
                      <a:r>
                        <a:rPr sz="1800" spc="3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(how</a:t>
                      </a:r>
                      <a:r>
                        <a:rPr sz="1800" spc="3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many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modules</a:t>
                      </a:r>
                      <a:r>
                        <a:rPr sz="18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exist</a:t>
                      </a:r>
                      <a:r>
                        <a:rPr sz="18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at</a:t>
                      </a:r>
                      <a:r>
                        <a:rPr sz="18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each</a:t>
                      </a:r>
                      <a:r>
                        <a:rPr sz="18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level).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82270" marR="76835" indent="-286385">
                        <a:lnSpc>
                          <a:spcPts val="2410"/>
                        </a:lnSpc>
                        <a:spcBef>
                          <a:spcPts val="40"/>
                        </a:spcBef>
                        <a:buFont typeface="Wingdings"/>
                        <a:buChar char=""/>
                        <a:tabLst>
                          <a:tab pos="382270" algn="l"/>
                          <a:tab pos="1500505" algn="l"/>
                          <a:tab pos="2630170" algn="l"/>
                          <a:tab pos="3103880" algn="l"/>
                          <a:tab pos="4253865" algn="l"/>
                        </a:tabLst>
                      </a:pP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Fan-</a:t>
                      </a:r>
                      <a:r>
                        <a:rPr sz="1800" spc="-2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out:</a:t>
                      </a: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Number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modules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directly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controlled</a:t>
                      </a:r>
                      <a:r>
                        <a:rPr sz="18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by</a:t>
                      </a:r>
                      <a:r>
                        <a:rPr sz="1800" spc="2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another</a:t>
                      </a:r>
                      <a:r>
                        <a:rPr sz="18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module.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82270" indent="-285750">
                        <a:lnSpc>
                          <a:spcPct val="100000"/>
                        </a:lnSpc>
                        <a:spcBef>
                          <a:spcPts val="114"/>
                        </a:spcBef>
                        <a:buFont typeface="Wingdings"/>
                        <a:buChar char=""/>
                        <a:tabLst>
                          <a:tab pos="382270" algn="l"/>
                          <a:tab pos="1219200" algn="l"/>
                          <a:tab pos="2536190" algn="l"/>
                          <a:tab pos="3543935" algn="l"/>
                          <a:tab pos="4069715" algn="l"/>
                          <a:tab pos="4916170" algn="l"/>
                        </a:tabLst>
                      </a:pP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Fan-</a:t>
                      </a:r>
                      <a:r>
                        <a:rPr sz="1800" spc="-2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in:</a:t>
                      </a: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65" dirty="0">
                          <a:latin typeface="Cambria"/>
                          <a:cs typeface="Cambria"/>
                        </a:rPr>
                        <a:t>Number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modules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that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control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a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822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given</a:t>
                      </a:r>
                      <a:r>
                        <a:rPr sz="1800" spc="3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module.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82270" marR="78105" indent="-286385">
                        <a:lnSpc>
                          <a:spcPts val="2400"/>
                        </a:lnSpc>
                        <a:spcBef>
                          <a:spcPts val="50"/>
                        </a:spcBef>
                        <a:buFont typeface="Wingdings"/>
                        <a:buChar char=""/>
                        <a:tabLst>
                          <a:tab pos="382270" algn="l"/>
                          <a:tab pos="2133600" algn="l"/>
                          <a:tab pos="2553335" algn="l"/>
                          <a:tab pos="3576954" algn="l"/>
                          <a:tab pos="4215765" algn="l"/>
                        </a:tabLst>
                      </a:pPr>
                      <a:r>
                        <a:rPr sz="18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Superordinate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: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22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that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controls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another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module.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82270" marR="81280" indent="-286385">
                        <a:lnSpc>
                          <a:spcPts val="2330"/>
                        </a:lnSpc>
                        <a:spcBef>
                          <a:spcPts val="60"/>
                        </a:spcBef>
                        <a:buFont typeface="Wingdings"/>
                        <a:buChar char=""/>
                        <a:tabLst>
                          <a:tab pos="382270" algn="l"/>
                        </a:tabLst>
                      </a:pP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Subordinate:</a:t>
                      </a:r>
                      <a:r>
                        <a:rPr sz="1800" spc="39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27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3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00" spc="3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that</a:t>
                      </a:r>
                      <a:r>
                        <a:rPr sz="1800" spc="3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3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controlled</a:t>
                      </a:r>
                      <a:r>
                        <a:rPr sz="1800" spc="3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by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another.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95" dirty="0"/>
              <a:t>2.</a:t>
            </a:r>
            <a:r>
              <a:rPr sz="3200" spc="225" dirty="0"/>
              <a:t> </a:t>
            </a:r>
            <a:r>
              <a:rPr sz="3200" spc="130" dirty="0"/>
              <a:t>Architecture</a:t>
            </a:r>
            <a:r>
              <a:rPr sz="3200" spc="300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14" dirty="0"/>
              <a:t>Control</a:t>
            </a:r>
            <a:r>
              <a:rPr sz="3200" spc="290" dirty="0"/>
              <a:t> </a:t>
            </a:r>
            <a:r>
              <a:rPr sz="3200" spc="105" dirty="0"/>
              <a:t>Hierarchy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26223"/>
            <a:ext cx="5973445" cy="439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14604" indent="-227965" algn="just">
              <a:lnSpc>
                <a:spcPct val="133900"/>
              </a:lnSpc>
              <a:spcBef>
                <a:spcPts val="95"/>
              </a:spcBef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dirty="0">
                <a:latin typeface="Cambria"/>
                <a:cs typeface="Cambria"/>
              </a:rPr>
              <a:t>The</a:t>
            </a:r>
            <a:r>
              <a:rPr sz="2150" spc="490" dirty="0">
                <a:latin typeface="Cambria"/>
                <a:cs typeface="Cambria"/>
              </a:rPr>
              <a:t>  </a:t>
            </a:r>
            <a:r>
              <a:rPr sz="2150" spc="110" dirty="0">
                <a:latin typeface="Cambria"/>
                <a:cs typeface="Cambria"/>
              </a:rPr>
              <a:t>Main</a:t>
            </a:r>
            <a:r>
              <a:rPr sz="2150" spc="500" dirty="0">
                <a:latin typeface="Cambria"/>
                <a:cs typeface="Cambria"/>
              </a:rPr>
              <a:t>  </a:t>
            </a:r>
            <a:r>
              <a:rPr sz="2150" spc="75" dirty="0">
                <a:latin typeface="Cambria"/>
                <a:cs typeface="Cambria"/>
              </a:rPr>
              <a:t>Application</a:t>
            </a:r>
            <a:r>
              <a:rPr sz="2150" spc="50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is</a:t>
            </a:r>
            <a:r>
              <a:rPr sz="2150" spc="484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responsible</a:t>
            </a:r>
            <a:r>
              <a:rPr sz="2150" spc="490" dirty="0">
                <a:latin typeface="Cambria"/>
                <a:cs typeface="Cambria"/>
              </a:rPr>
              <a:t>  </a:t>
            </a:r>
            <a:r>
              <a:rPr sz="2150" spc="-25" dirty="0">
                <a:latin typeface="Cambria"/>
                <a:cs typeface="Cambria"/>
              </a:rPr>
              <a:t>for 	</a:t>
            </a:r>
            <a:r>
              <a:rPr sz="2150" dirty="0">
                <a:latin typeface="Cambria"/>
                <a:cs typeface="Cambria"/>
              </a:rPr>
              <a:t>orchestrating</a:t>
            </a:r>
            <a:r>
              <a:rPr sz="2150" spc="24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7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overall</a:t>
            </a:r>
            <a:r>
              <a:rPr sz="2150" spc="240" dirty="0">
                <a:latin typeface="Cambria"/>
                <a:cs typeface="Cambria"/>
              </a:rPr>
              <a:t> </a:t>
            </a:r>
            <a:r>
              <a:rPr sz="2150" spc="75" dirty="0">
                <a:latin typeface="Cambria"/>
                <a:cs typeface="Cambria"/>
              </a:rPr>
              <a:t>flow</a:t>
            </a:r>
            <a:r>
              <a:rPr sz="2150" spc="254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of</a:t>
            </a:r>
            <a:r>
              <a:rPr sz="2150" spc="21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65" dirty="0">
                <a:latin typeface="Cambria"/>
                <a:cs typeface="Cambria"/>
              </a:rPr>
              <a:t> </a:t>
            </a:r>
            <a:r>
              <a:rPr sz="2150" spc="40" dirty="0">
                <a:latin typeface="Cambria"/>
                <a:cs typeface="Cambria"/>
              </a:rPr>
              <a:t>system.</a:t>
            </a:r>
            <a:endParaRPr sz="2150">
              <a:latin typeface="Cambria"/>
              <a:cs typeface="Cambria"/>
            </a:endParaRPr>
          </a:p>
          <a:p>
            <a:pPr marL="240029" marR="14604" indent="-227965" algn="just">
              <a:lnSpc>
                <a:spcPct val="132400"/>
              </a:lnSpc>
              <a:spcBef>
                <a:spcPts val="35"/>
              </a:spcBef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dirty="0">
                <a:latin typeface="Cambria"/>
                <a:cs typeface="Cambria"/>
              </a:rPr>
              <a:t>It</a:t>
            </a:r>
            <a:r>
              <a:rPr sz="2150" spc="215" dirty="0">
                <a:latin typeface="Cambria"/>
                <a:cs typeface="Cambria"/>
              </a:rPr>
              <a:t>   </a:t>
            </a:r>
            <a:r>
              <a:rPr sz="2150" dirty="0">
                <a:latin typeface="Cambria"/>
                <a:cs typeface="Cambria"/>
              </a:rPr>
              <a:t>delegates</a:t>
            </a:r>
            <a:r>
              <a:rPr sz="2150" spc="229" dirty="0">
                <a:latin typeface="Cambria"/>
                <a:cs typeface="Cambria"/>
              </a:rPr>
              <a:t>   </a:t>
            </a:r>
            <a:r>
              <a:rPr sz="2150" dirty="0">
                <a:latin typeface="Cambria"/>
                <a:cs typeface="Cambria"/>
              </a:rPr>
              <a:t>specific</a:t>
            </a:r>
            <a:r>
              <a:rPr sz="2150" spc="220" dirty="0">
                <a:latin typeface="Cambria"/>
                <a:cs typeface="Cambria"/>
              </a:rPr>
              <a:t>   </a:t>
            </a:r>
            <a:r>
              <a:rPr sz="2150" dirty="0">
                <a:latin typeface="Cambria"/>
                <a:cs typeface="Cambria"/>
              </a:rPr>
              <a:t>tasks</a:t>
            </a:r>
            <a:r>
              <a:rPr sz="2150" spc="229" dirty="0">
                <a:latin typeface="Cambria"/>
                <a:cs typeface="Cambria"/>
              </a:rPr>
              <a:t>   </a:t>
            </a:r>
            <a:r>
              <a:rPr sz="2150" dirty="0">
                <a:latin typeface="Cambria"/>
                <a:cs typeface="Cambria"/>
              </a:rPr>
              <a:t>to</a:t>
            </a:r>
            <a:r>
              <a:rPr sz="2150" spc="204" dirty="0">
                <a:latin typeface="Cambria"/>
                <a:cs typeface="Cambria"/>
              </a:rPr>
              <a:t>   </a:t>
            </a:r>
            <a:r>
              <a:rPr sz="2150" dirty="0">
                <a:latin typeface="Cambria"/>
                <a:cs typeface="Cambria"/>
              </a:rPr>
              <a:t>lower-</a:t>
            </a:r>
            <a:r>
              <a:rPr sz="2150" spc="-10" dirty="0">
                <a:latin typeface="Cambria"/>
                <a:cs typeface="Cambria"/>
              </a:rPr>
              <a:t>level 	</a:t>
            </a:r>
            <a:r>
              <a:rPr sz="2150" spc="70" dirty="0">
                <a:latin typeface="Cambria"/>
                <a:cs typeface="Cambria"/>
              </a:rPr>
              <a:t>modules</a:t>
            </a:r>
            <a:r>
              <a:rPr sz="2150" spc="204" dirty="0">
                <a:latin typeface="Cambria"/>
                <a:cs typeface="Cambria"/>
              </a:rPr>
              <a:t>   </a:t>
            </a:r>
            <a:r>
              <a:rPr sz="2150" dirty="0">
                <a:latin typeface="Cambria"/>
                <a:cs typeface="Cambria"/>
              </a:rPr>
              <a:t>like</a:t>
            </a:r>
            <a:r>
              <a:rPr sz="2150" spc="220" dirty="0">
                <a:latin typeface="Cambria"/>
                <a:cs typeface="Cambria"/>
              </a:rPr>
              <a:t>   </a:t>
            </a:r>
            <a:r>
              <a:rPr sz="2150" spc="60" dirty="0">
                <a:latin typeface="Cambria"/>
                <a:cs typeface="Cambria"/>
              </a:rPr>
              <a:t>User</a:t>
            </a:r>
            <a:r>
              <a:rPr sz="2150" spc="225" dirty="0">
                <a:latin typeface="Cambria"/>
                <a:cs typeface="Cambria"/>
              </a:rPr>
              <a:t>   </a:t>
            </a:r>
            <a:r>
              <a:rPr sz="2150" spc="75" dirty="0">
                <a:latin typeface="Cambria"/>
                <a:cs typeface="Cambria"/>
              </a:rPr>
              <a:t>Management</a:t>
            </a:r>
            <a:r>
              <a:rPr sz="2150" spc="215" dirty="0">
                <a:latin typeface="Cambria"/>
                <a:cs typeface="Cambria"/>
              </a:rPr>
              <a:t>   </a:t>
            </a:r>
            <a:r>
              <a:rPr sz="2150" spc="105" dirty="0">
                <a:latin typeface="Cambria"/>
                <a:cs typeface="Cambria"/>
              </a:rPr>
              <a:t>,</a:t>
            </a:r>
            <a:r>
              <a:rPr sz="2150" spc="210" dirty="0">
                <a:latin typeface="Cambria"/>
                <a:cs typeface="Cambria"/>
              </a:rPr>
              <a:t>   </a:t>
            </a:r>
            <a:r>
              <a:rPr sz="2150" spc="30" dirty="0">
                <a:latin typeface="Cambria"/>
                <a:cs typeface="Cambria"/>
              </a:rPr>
              <a:t>Book 	</a:t>
            </a:r>
            <a:r>
              <a:rPr sz="2150" spc="50" dirty="0">
                <a:latin typeface="Cambria"/>
                <a:cs typeface="Cambria"/>
              </a:rPr>
              <a:t>Inventory</a:t>
            </a:r>
            <a:r>
              <a:rPr sz="2150" spc="155" dirty="0">
                <a:latin typeface="Cambria"/>
                <a:cs typeface="Cambria"/>
              </a:rPr>
              <a:t> </a:t>
            </a:r>
            <a:r>
              <a:rPr sz="2150" spc="105" dirty="0">
                <a:latin typeface="Cambria"/>
                <a:cs typeface="Cambria"/>
              </a:rPr>
              <a:t>,</a:t>
            </a:r>
            <a:r>
              <a:rPr sz="2150" spc="165" dirty="0">
                <a:latin typeface="Cambria"/>
                <a:cs typeface="Cambria"/>
              </a:rPr>
              <a:t> </a:t>
            </a:r>
            <a:r>
              <a:rPr sz="2150" spc="85" dirty="0">
                <a:latin typeface="Cambria"/>
                <a:cs typeface="Cambria"/>
              </a:rPr>
              <a:t>and</a:t>
            </a:r>
            <a:r>
              <a:rPr sz="2150" spc="15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Transaction</a:t>
            </a:r>
            <a:r>
              <a:rPr sz="2150" spc="145" dirty="0">
                <a:latin typeface="Cambria"/>
                <a:cs typeface="Cambria"/>
              </a:rPr>
              <a:t> </a:t>
            </a:r>
            <a:r>
              <a:rPr sz="2150" spc="75" dirty="0">
                <a:latin typeface="Cambria"/>
                <a:cs typeface="Cambria"/>
              </a:rPr>
              <a:t>Management</a:t>
            </a:r>
            <a:r>
              <a:rPr sz="2150" spc="175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.</a:t>
            </a:r>
            <a:endParaRPr sz="2150">
              <a:latin typeface="Cambria"/>
              <a:cs typeface="Cambria"/>
            </a:endParaRPr>
          </a:p>
          <a:p>
            <a:pPr marL="240029" marR="5080" indent="-227965" algn="just">
              <a:lnSpc>
                <a:spcPct val="133200"/>
              </a:lnSpc>
              <a:spcBef>
                <a:spcPts val="20"/>
              </a:spcBef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dirty="0">
                <a:latin typeface="Cambria"/>
                <a:cs typeface="Cambria"/>
              </a:rPr>
              <a:t>For</a:t>
            </a:r>
            <a:r>
              <a:rPr sz="2150" spc="385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example,</a:t>
            </a:r>
            <a:r>
              <a:rPr sz="2150" spc="360" dirty="0">
                <a:latin typeface="Cambria"/>
                <a:cs typeface="Cambria"/>
              </a:rPr>
              <a:t> </a:t>
            </a:r>
            <a:r>
              <a:rPr sz="2150" spc="80" dirty="0">
                <a:solidFill>
                  <a:srgbClr val="FF0000"/>
                </a:solidFill>
                <a:latin typeface="Cambria"/>
                <a:cs typeface="Cambria"/>
              </a:rPr>
              <a:t>when</a:t>
            </a:r>
            <a:r>
              <a:rPr sz="2150" spc="3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150" spc="3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user</a:t>
            </a:r>
            <a:r>
              <a:rPr sz="2150" spc="3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50" dirty="0">
                <a:solidFill>
                  <a:srgbClr val="FF0000"/>
                </a:solidFill>
                <a:latin typeface="Cambria"/>
                <a:cs typeface="Cambria"/>
              </a:rPr>
              <a:t>wants</a:t>
            </a:r>
            <a:r>
              <a:rPr sz="2150" spc="3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150" spc="3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borrow</a:t>
            </a:r>
            <a:r>
              <a:rPr sz="2150" spc="3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-50" dirty="0">
                <a:solidFill>
                  <a:srgbClr val="FF0000"/>
                </a:solidFill>
                <a:latin typeface="Cambria"/>
                <a:cs typeface="Cambria"/>
              </a:rPr>
              <a:t>a 	</a:t>
            </a:r>
            <a:r>
              <a:rPr sz="2150" spc="65" dirty="0">
                <a:solidFill>
                  <a:srgbClr val="FF0000"/>
                </a:solidFill>
                <a:latin typeface="Cambria"/>
                <a:cs typeface="Cambria"/>
              </a:rPr>
              <a:t>book</a:t>
            </a:r>
            <a:r>
              <a:rPr sz="2150" spc="65" dirty="0">
                <a:latin typeface="Cambria"/>
                <a:cs typeface="Cambria"/>
              </a:rPr>
              <a:t>,</a:t>
            </a:r>
            <a:r>
              <a:rPr sz="2150" spc="375" dirty="0">
                <a:latin typeface="Cambria"/>
                <a:cs typeface="Cambria"/>
              </a:rPr>
              <a:t>   </a:t>
            </a:r>
            <a:r>
              <a:rPr sz="2150" dirty="0">
                <a:solidFill>
                  <a:srgbClr val="C00000"/>
                </a:solidFill>
                <a:latin typeface="Cambria"/>
                <a:cs typeface="Cambria"/>
              </a:rPr>
              <a:t>the</a:t>
            </a:r>
            <a:r>
              <a:rPr sz="2150" spc="370" dirty="0">
                <a:solidFill>
                  <a:srgbClr val="C00000"/>
                </a:solidFill>
                <a:latin typeface="Cambria"/>
                <a:cs typeface="Cambria"/>
              </a:rPr>
              <a:t>   </a:t>
            </a:r>
            <a:r>
              <a:rPr sz="2150" spc="110" dirty="0">
                <a:solidFill>
                  <a:srgbClr val="C00000"/>
                </a:solidFill>
                <a:latin typeface="Cambria"/>
                <a:cs typeface="Cambria"/>
              </a:rPr>
              <a:t>Main</a:t>
            </a:r>
            <a:r>
              <a:rPr sz="2150" spc="380" dirty="0">
                <a:solidFill>
                  <a:srgbClr val="C00000"/>
                </a:solidFill>
                <a:latin typeface="Cambria"/>
                <a:cs typeface="Cambria"/>
              </a:rPr>
              <a:t>   </a:t>
            </a:r>
            <a:r>
              <a:rPr sz="2150" spc="80" dirty="0">
                <a:solidFill>
                  <a:srgbClr val="C00000"/>
                </a:solidFill>
                <a:latin typeface="Cambria"/>
                <a:cs typeface="Cambria"/>
              </a:rPr>
              <a:t>Application</a:t>
            </a:r>
            <a:r>
              <a:rPr sz="2150" spc="385" dirty="0">
                <a:solidFill>
                  <a:srgbClr val="C00000"/>
                </a:solidFill>
                <a:latin typeface="Cambria"/>
                <a:cs typeface="Cambria"/>
              </a:rPr>
              <a:t>   </a:t>
            </a:r>
            <a:r>
              <a:rPr sz="2150" dirty="0">
                <a:solidFill>
                  <a:srgbClr val="C00000"/>
                </a:solidFill>
                <a:latin typeface="Cambria"/>
                <a:cs typeface="Cambria"/>
              </a:rPr>
              <a:t>calls</a:t>
            </a:r>
            <a:r>
              <a:rPr sz="2150" spc="380" dirty="0">
                <a:solidFill>
                  <a:srgbClr val="C00000"/>
                </a:solidFill>
                <a:latin typeface="Cambria"/>
                <a:cs typeface="Cambria"/>
              </a:rPr>
              <a:t>   </a:t>
            </a:r>
            <a:r>
              <a:rPr sz="2150" spc="-25" dirty="0">
                <a:solidFill>
                  <a:srgbClr val="C00000"/>
                </a:solidFill>
                <a:latin typeface="Cambria"/>
                <a:cs typeface="Cambria"/>
              </a:rPr>
              <a:t>the 	</a:t>
            </a:r>
            <a:r>
              <a:rPr sz="2150" dirty="0">
                <a:solidFill>
                  <a:srgbClr val="C00000"/>
                </a:solidFill>
                <a:latin typeface="Cambria"/>
                <a:cs typeface="Cambria"/>
              </a:rPr>
              <a:t>Transaction</a:t>
            </a:r>
            <a:r>
              <a:rPr sz="2150" spc="5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50" spc="70" dirty="0">
                <a:solidFill>
                  <a:srgbClr val="C00000"/>
                </a:solidFill>
                <a:latin typeface="Cambria"/>
                <a:cs typeface="Cambria"/>
              </a:rPr>
              <a:t>Management</a:t>
            </a:r>
            <a:r>
              <a:rPr sz="2150" spc="40" dirty="0">
                <a:solidFill>
                  <a:srgbClr val="C00000"/>
                </a:solidFill>
                <a:latin typeface="Cambria"/>
                <a:cs typeface="Cambria"/>
              </a:rPr>
              <a:t>  </a:t>
            </a:r>
            <a:r>
              <a:rPr sz="2150" spc="114" dirty="0">
                <a:solidFill>
                  <a:srgbClr val="C00000"/>
                </a:solidFill>
                <a:latin typeface="Cambria"/>
                <a:cs typeface="Cambria"/>
              </a:rPr>
              <a:t>Module</a:t>
            </a:r>
            <a:r>
              <a:rPr sz="2150" spc="30" dirty="0">
                <a:solidFill>
                  <a:srgbClr val="C00000"/>
                </a:solidFill>
                <a:latin typeface="Cambria"/>
                <a:cs typeface="Cambria"/>
              </a:rPr>
              <a:t>  </a:t>
            </a:r>
            <a:r>
              <a:rPr sz="2150" spc="105" dirty="0">
                <a:latin typeface="Cambria"/>
                <a:cs typeface="Cambria"/>
              </a:rPr>
              <a:t>,</a:t>
            </a:r>
            <a:r>
              <a:rPr sz="2150" spc="535" dirty="0">
                <a:latin typeface="Cambria"/>
                <a:cs typeface="Cambria"/>
              </a:rPr>
              <a:t> </a:t>
            </a:r>
            <a:r>
              <a:rPr sz="2150" spc="70" dirty="0">
                <a:solidFill>
                  <a:srgbClr val="FF1C05"/>
                </a:solidFill>
                <a:latin typeface="Cambria"/>
                <a:cs typeface="Cambria"/>
              </a:rPr>
              <a:t>which</a:t>
            </a:r>
            <a:r>
              <a:rPr sz="2150" spc="3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150" spc="60" dirty="0">
                <a:solidFill>
                  <a:srgbClr val="FF1C05"/>
                </a:solidFill>
                <a:latin typeface="Cambria"/>
                <a:cs typeface="Cambria"/>
              </a:rPr>
              <a:t>in 	</a:t>
            </a:r>
            <a:r>
              <a:rPr sz="2150" dirty="0">
                <a:solidFill>
                  <a:srgbClr val="FF1C05"/>
                </a:solidFill>
                <a:latin typeface="Cambria"/>
                <a:cs typeface="Cambria"/>
              </a:rPr>
              <a:t>turn</a:t>
            </a:r>
            <a:r>
              <a:rPr sz="2150" spc="240" dirty="0">
                <a:solidFill>
                  <a:srgbClr val="FF1C05"/>
                </a:solidFill>
                <a:latin typeface="Cambria"/>
                <a:cs typeface="Cambria"/>
              </a:rPr>
              <a:t>   </a:t>
            </a:r>
            <a:r>
              <a:rPr sz="2150" dirty="0">
                <a:solidFill>
                  <a:srgbClr val="FF1C05"/>
                </a:solidFill>
                <a:latin typeface="Cambria"/>
                <a:cs typeface="Cambria"/>
              </a:rPr>
              <a:t>interacts</a:t>
            </a:r>
            <a:r>
              <a:rPr sz="2150" spc="250" dirty="0">
                <a:solidFill>
                  <a:srgbClr val="FF1C05"/>
                </a:solidFill>
                <a:latin typeface="Cambria"/>
                <a:cs typeface="Cambria"/>
              </a:rPr>
              <a:t>   </a:t>
            </a:r>
            <a:r>
              <a:rPr sz="2150" spc="70" dirty="0">
                <a:solidFill>
                  <a:srgbClr val="FF1C05"/>
                </a:solidFill>
                <a:latin typeface="Cambria"/>
                <a:cs typeface="Cambria"/>
              </a:rPr>
              <a:t>with</a:t>
            </a:r>
            <a:r>
              <a:rPr sz="2150" spc="235" dirty="0">
                <a:solidFill>
                  <a:srgbClr val="FF1C05"/>
                </a:solidFill>
                <a:latin typeface="Cambria"/>
                <a:cs typeface="Cambria"/>
              </a:rPr>
              <a:t>   </a:t>
            </a:r>
            <a:r>
              <a:rPr sz="2150" dirty="0">
                <a:solidFill>
                  <a:srgbClr val="FF1C05"/>
                </a:solidFill>
                <a:latin typeface="Cambria"/>
                <a:cs typeface="Cambria"/>
              </a:rPr>
              <a:t>the</a:t>
            </a:r>
            <a:r>
              <a:rPr sz="2150" spc="229" dirty="0">
                <a:solidFill>
                  <a:srgbClr val="FF1C05"/>
                </a:solidFill>
                <a:latin typeface="Cambria"/>
                <a:cs typeface="Cambria"/>
              </a:rPr>
              <a:t>   </a:t>
            </a:r>
            <a:r>
              <a:rPr sz="2150" spc="50" dirty="0">
                <a:solidFill>
                  <a:srgbClr val="FF1C05"/>
                </a:solidFill>
                <a:latin typeface="Cambria"/>
                <a:cs typeface="Cambria"/>
              </a:rPr>
              <a:t>Book</a:t>
            </a:r>
            <a:r>
              <a:rPr sz="2150" spc="250" dirty="0">
                <a:solidFill>
                  <a:srgbClr val="FF1C05"/>
                </a:solidFill>
                <a:latin typeface="Cambria"/>
                <a:cs typeface="Cambria"/>
              </a:rPr>
              <a:t>   </a:t>
            </a:r>
            <a:r>
              <a:rPr sz="2150" spc="35" dirty="0">
                <a:solidFill>
                  <a:srgbClr val="FF1C05"/>
                </a:solidFill>
                <a:latin typeface="Cambria"/>
                <a:cs typeface="Cambria"/>
              </a:rPr>
              <a:t>Inventory 	</a:t>
            </a:r>
            <a:r>
              <a:rPr sz="2150" spc="114" dirty="0">
                <a:solidFill>
                  <a:srgbClr val="FF1C05"/>
                </a:solidFill>
                <a:latin typeface="Cambria"/>
                <a:cs typeface="Cambria"/>
              </a:rPr>
              <a:t>Module</a:t>
            </a:r>
            <a:r>
              <a:rPr sz="2150" spc="16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1C05"/>
                </a:solidFill>
                <a:latin typeface="Cambria"/>
                <a:cs typeface="Cambria"/>
              </a:rPr>
              <a:t>to</a:t>
            </a:r>
            <a:r>
              <a:rPr sz="2150" spc="12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1C05"/>
                </a:solidFill>
                <a:latin typeface="Cambria"/>
                <a:cs typeface="Cambria"/>
              </a:rPr>
              <a:t>check</a:t>
            </a:r>
            <a:r>
              <a:rPr sz="2150" spc="17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150" spc="40" dirty="0">
                <a:solidFill>
                  <a:srgbClr val="FF1C05"/>
                </a:solidFill>
                <a:latin typeface="Cambria"/>
                <a:cs typeface="Cambria"/>
              </a:rPr>
              <a:t>availability.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9419" y="1598612"/>
            <a:ext cx="4674870" cy="360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latin typeface="Cambria"/>
                <a:cs typeface="Cambria"/>
              </a:rPr>
              <a:t>Control </a:t>
            </a:r>
            <a:r>
              <a:rPr sz="1800" spc="-10" dirty="0">
                <a:latin typeface="Cambria"/>
                <a:cs typeface="Cambria"/>
              </a:rPr>
              <a:t>Hierarchy: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20"/>
              </a:spcBef>
            </a:pPr>
            <a:r>
              <a:rPr sz="1800" spc="95" dirty="0">
                <a:latin typeface="Cambria"/>
                <a:cs typeface="Cambria"/>
              </a:rPr>
              <a:t>├──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Main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Application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(Top-Level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Control)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5"/>
              </a:spcBef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User</a:t>
            </a:r>
            <a:r>
              <a:rPr sz="1800" spc="2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Management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Module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ts val="2130"/>
              </a:lnSpc>
              <a:spcBef>
                <a:spcPts val="20"/>
              </a:spcBef>
              <a:tabLst>
                <a:tab pos="574675" algn="l"/>
                <a:tab pos="908050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Register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User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ts val="2130"/>
              </a:lnSpc>
              <a:tabLst>
                <a:tab pos="574675" algn="l"/>
                <a:tab pos="908050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Login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User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5"/>
              </a:spcBef>
              <a:tabLst>
                <a:tab pos="574675" algn="l"/>
                <a:tab pos="908050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└──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Update</a:t>
            </a:r>
            <a:r>
              <a:rPr sz="1800" spc="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Profile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20"/>
              </a:spcBef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Book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Inventory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Module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5"/>
              </a:spcBef>
              <a:tabLst>
                <a:tab pos="574675" algn="l"/>
                <a:tab pos="908050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145" dirty="0">
                <a:latin typeface="Cambria"/>
                <a:cs typeface="Cambria"/>
              </a:rPr>
              <a:t>Add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Book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ts val="2135"/>
              </a:lnSpc>
              <a:spcBef>
                <a:spcPts val="20"/>
              </a:spcBef>
              <a:tabLst>
                <a:tab pos="574675" algn="l"/>
                <a:tab pos="908050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Remove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Book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ts val="2135"/>
              </a:lnSpc>
              <a:tabLst>
                <a:tab pos="574675" algn="l"/>
                <a:tab pos="908050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└──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Check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Availability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5"/>
              </a:spcBef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└──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Transaction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Management</a:t>
            </a:r>
            <a:r>
              <a:rPr sz="1800" spc="24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Module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20"/>
              </a:spcBef>
              <a:tabLst>
                <a:tab pos="803910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Borrow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Book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5"/>
              </a:spcBef>
              <a:tabLst>
                <a:tab pos="803910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└──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Return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Book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95" dirty="0"/>
              <a:t>2.</a:t>
            </a:r>
            <a:r>
              <a:rPr sz="3200" spc="225" dirty="0"/>
              <a:t> </a:t>
            </a:r>
            <a:r>
              <a:rPr sz="3200" spc="130" dirty="0"/>
              <a:t>Architecture</a:t>
            </a:r>
            <a:r>
              <a:rPr sz="3200" spc="260" dirty="0"/>
              <a:t> </a:t>
            </a:r>
            <a:r>
              <a:rPr sz="3200" spc="170" dirty="0"/>
              <a:t>Concepts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3225" y="1044575"/>
          <a:ext cx="11385550" cy="53568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9169">
                <a:tc>
                  <a:txBody>
                    <a:bodyPr/>
                    <a:lstStyle/>
                    <a:p>
                      <a:pPr marL="769620" marR="515620" indent="-2381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Architecture </a:t>
                      </a:r>
                      <a:r>
                        <a:rPr sz="2000" b="1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Concept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Definition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8896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Merits</a:t>
                      </a:r>
                      <a:r>
                        <a:rPr sz="2000" b="1" spc="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Demerits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 gridSpan="3"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Structural</a:t>
                      </a:r>
                      <a:r>
                        <a:rPr sz="2000" b="1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45" dirty="0">
                          <a:latin typeface="Times New Roman"/>
                          <a:cs typeface="Times New Roman"/>
                        </a:rPr>
                        <a:t>Partitioning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0">
                <a:tc>
                  <a:txBody>
                    <a:bodyPr/>
                    <a:lstStyle/>
                    <a:p>
                      <a:pPr marL="91440" marR="1137285">
                        <a:lnSpc>
                          <a:spcPct val="100800"/>
                        </a:lnSpc>
                        <a:spcBef>
                          <a:spcPts val="220"/>
                        </a:spcBef>
                      </a:pPr>
                      <a:r>
                        <a:rPr sz="1800" b="1" spc="45" dirty="0">
                          <a:latin typeface="Times New Roman"/>
                          <a:cs typeface="Times New Roman"/>
                        </a:rPr>
                        <a:t>Horizontal </a:t>
                      </a:r>
                      <a:r>
                        <a:rPr sz="1800" b="1" spc="35" dirty="0">
                          <a:latin typeface="Times New Roman"/>
                          <a:cs typeface="Times New Roman"/>
                        </a:rPr>
                        <a:t>Partitioning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434975" marR="75565" indent="-342265" algn="just">
                        <a:lnSpc>
                          <a:spcPct val="100800"/>
                        </a:lnSpc>
                        <a:spcBef>
                          <a:spcPts val="220"/>
                        </a:spcBef>
                        <a:buFont typeface="Wingdings"/>
                        <a:buChar char=""/>
                        <a:tabLst>
                          <a:tab pos="436245" algn="l"/>
                        </a:tabLst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Splits</a:t>
                      </a:r>
                      <a:r>
                        <a:rPr sz="1800" spc="41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41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software</a:t>
                      </a:r>
                      <a:r>
                        <a:rPr sz="1800" spc="409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into</a:t>
                      </a:r>
                      <a:r>
                        <a:rPr sz="1800" spc="41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separate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functional</a:t>
                      </a:r>
                      <a:r>
                        <a:rPr sz="18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branches</a:t>
                      </a:r>
                      <a:r>
                        <a:rPr sz="18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18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hierarchy.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435609" indent="-342265" algn="just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Wingdings"/>
                        <a:buChar char=""/>
                        <a:tabLst>
                          <a:tab pos="435609" algn="l"/>
                        </a:tabLst>
                      </a:pPr>
                      <a:r>
                        <a:rPr sz="1800" spc="50" dirty="0">
                          <a:latin typeface="Cambria"/>
                          <a:cs typeface="Cambria"/>
                        </a:rPr>
                        <a:t>Divides</a:t>
                      </a:r>
                      <a:r>
                        <a:rPr sz="18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into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three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main</a:t>
                      </a:r>
                      <a:r>
                        <a:rPr sz="18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partitions: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892810" marR="78740" lvl="1" indent="-342265" algn="just">
                        <a:lnSpc>
                          <a:spcPts val="2100"/>
                        </a:lnSpc>
                        <a:spcBef>
                          <a:spcPts val="140"/>
                        </a:spcBef>
                        <a:buFont typeface="Wingdings"/>
                        <a:buChar char=""/>
                        <a:tabLst>
                          <a:tab pos="894080" algn="l"/>
                        </a:tabLst>
                      </a:pP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Input</a:t>
                      </a:r>
                      <a:r>
                        <a:rPr sz="1800" spc="42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(data</a:t>
                      </a:r>
                      <a:r>
                        <a:rPr sz="1800" spc="420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collection</a:t>
                      </a:r>
                      <a:r>
                        <a:rPr sz="1800" spc="425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1800" spc="10" dirty="0">
                          <a:latin typeface="Cambria"/>
                          <a:cs typeface="Cambria"/>
                        </a:rPr>
                        <a:t>&amp; 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preprocessing).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892810" lvl="1" indent="-342265" algn="just">
                        <a:lnSpc>
                          <a:spcPts val="2120"/>
                        </a:lnSpc>
                        <a:buFont typeface="Wingdings"/>
                        <a:buChar char=""/>
                        <a:tabLst>
                          <a:tab pos="892810" algn="l"/>
                        </a:tabLst>
                      </a:pP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Process</a:t>
                      </a:r>
                      <a:r>
                        <a:rPr sz="1800" spc="6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(core</a:t>
                      </a:r>
                      <a:r>
                        <a:rPr sz="18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computations</a:t>
                      </a:r>
                      <a:r>
                        <a:rPr sz="18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16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logic).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892810" marR="78740" lvl="1" indent="-342265" algn="just">
                        <a:lnSpc>
                          <a:spcPct val="100800"/>
                        </a:lnSpc>
                        <a:buFont typeface="Wingdings"/>
                        <a:buChar char=""/>
                        <a:tabLst>
                          <a:tab pos="894080" algn="l"/>
                        </a:tabLst>
                      </a:pPr>
                      <a:r>
                        <a:rPr sz="1800" spc="6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Output</a:t>
                      </a:r>
                      <a:r>
                        <a:rPr sz="1800" spc="3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(results</a:t>
                      </a:r>
                      <a:r>
                        <a:rPr sz="1800" spc="30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presentation</a:t>
                      </a:r>
                      <a:r>
                        <a:rPr sz="1800" spc="31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spc="110" dirty="0">
                          <a:latin typeface="Cambria"/>
                          <a:cs typeface="Cambria"/>
                        </a:rPr>
                        <a:t>&amp; 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response).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892810" marR="78105" lvl="1" indent="-342265" algn="just">
                        <a:lnSpc>
                          <a:spcPct val="100099"/>
                        </a:lnSpc>
                        <a:spcBef>
                          <a:spcPts val="15"/>
                        </a:spcBef>
                        <a:buFont typeface="Wingdings"/>
                        <a:buChar char=""/>
                        <a:tabLst>
                          <a:tab pos="894080" algn="l"/>
                        </a:tabLst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800" spc="3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involves</a:t>
                      </a:r>
                      <a:r>
                        <a:rPr sz="1800" spc="3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dividing</a:t>
                      </a:r>
                      <a:r>
                        <a:rPr sz="1800" spc="3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3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system</a:t>
                      </a:r>
                      <a:r>
                        <a:rPr sz="1800" spc="3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into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layers</a:t>
                      </a:r>
                      <a:r>
                        <a:rPr sz="1800" spc="41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1800" spc="41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tiers</a:t>
                      </a:r>
                      <a:r>
                        <a:rPr sz="1800" spc="40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based</a:t>
                      </a:r>
                      <a:r>
                        <a:rPr sz="1800" spc="409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on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functionality.</a:t>
                      </a:r>
                      <a:r>
                        <a:rPr sz="1800" spc="459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Each</a:t>
                      </a:r>
                      <a:r>
                        <a:rPr sz="1800" spc="47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layer</a:t>
                      </a:r>
                      <a:r>
                        <a:rPr sz="1800" spc="459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is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responsible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for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specific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aspect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of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27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system,</a:t>
                      </a:r>
                      <a:r>
                        <a:rPr sz="1800" spc="28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such</a:t>
                      </a:r>
                      <a:r>
                        <a:rPr sz="1800" spc="29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as</a:t>
                      </a:r>
                      <a:r>
                        <a:rPr sz="1800" spc="28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presentation,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business</a:t>
                      </a:r>
                      <a:r>
                        <a:rPr sz="18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logic,</a:t>
                      </a:r>
                      <a:r>
                        <a:rPr sz="18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1800" spc="1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18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storage.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382905" indent="-285750">
                        <a:lnSpc>
                          <a:spcPct val="100000"/>
                        </a:lnSpc>
                        <a:spcBef>
                          <a:spcPts val="240"/>
                        </a:spcBef>
                        <a:buFont typeface="Wingdings"/>
                        <a:buChar char=""/>
                        <a:tabLst>
                          <a:tab pos="382905" algn="l"/>
                        </a:tabLst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Merits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82905" indent="-285750">
                        <a:lnSpc>
                          <a:spcPct val="100000"/>
                        </a:lnSpc>
                        <a:spcBef>
                          <a:spcPts val="15"/>
                        </a:spcBef>
                        <a:buFont typeface="Wingdings"/>
                        <a:buChar char=""/>
                        <a:tabLst>
                          <a:tab pos="382905" algn="l"/>
                        </a:tabLst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Easier</a:t>
                      </a:r>
                      <a:r>
                        <a:rPr sz="18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test</a:t>
                      </a:r>
                      <a:r>
                        <a:rPr sz="1800" spc="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1800" spc="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debug.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82905" indent="-285750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Wingdings"/>
                        <a:buChar char=""/>
                        <a:tabLst>
                          <a:tab pos="382905" algn="l"/>
                        </a:tabLst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Easier</a:t>
                      </a:r>
                      <a:r>
                        <a:rPr sz="18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maintain</a:t>
                      </a:r>
                      <a:r>
                        <a:rPr sz="18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0" dirty="0">
                          <a:latin typeface="Cambria"/>
                          <a:cs typeface="Cambria"/>
                        </a:rPr>
                        <a:t>modify.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82905" indent="-285750">
                        <a:lnSpc>
                          <a:spcPts val="2130"/>
                        </a:lnSpc>
                        <a:spcBef>
                          <a:spcPts val="20"/>
                        </a:spcBef>
                        <a:buFont typeface="Wingdings"/>
                        <a:buChar char=""/>
                        <a:tabLst>
                          <a:tab pos="382905" algn="l"/>
                          <a:tab pos="1374140" algn="l"/>
                          <a:tab pos="1930400" algn="l"/>
                          <a:tab pos="2718435" algn="l"/>
                          <a:tab pos="3541395" algn="l"/>
                        </a:tabLst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Reduces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side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effects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(errors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don’t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82905">
                        <a:lnSpc>
                          <a:spcPts val="213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spread</a:t>
                      </a:r>
                      <a:r>
                        <a:rPr sz="18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easily).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82905" marR="73025" indent="-285750">
                        <a:lnSpc>
                          <a:spcPct val="100800"/>
                        </a:lnSpc>
                        <a:buFont typeface="Wingdings"/>
                        <a:buChar char=""/>
                        <a:tabLst>
                          <a:tab pos="382905" algn="l"/>
                        </a:tabLst>
                      </a:pPr>
                      <a:r>
                        <a:rPr sz="1800" spc="55" dirty="0">
                          <a:latin typeface="Cambria"/>
                          <a:cs typeface="Cambria"/>
                        </a:rPr>
                        <a:t>Makes</a:t>
                      </a:r>
                      <a:r>
                        <a:rPr sz="1800" spc="20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2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software</a:t>
                      </a:r>
                      <a:r>
                        <a:rPr sz="1800" spc="229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extensible</a:t>
                      </a:r>
                      <a:r>
                        <a:rPr sz="1800" spc="2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(easy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add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features).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Wingdings"/>
                        <a:buChar char=""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82905" indent="-285750">
                        <a:lnSpc>
                          <a:spcPts val="2135"/>
                        </a:lnSpc>
                        <a:spcBef>
                          <a:spcPts val="5"/>
                        </a:spcBef>
                        <a:buFont typeface="Wingdings"/>
                        <a:buChar char=""/>
                        <a:tabLst>
                          <a:tab pos="382905" algn="l"/>
                        </a:tabLst>
                      </a:pPr>
                      <a:r>
                        <a:rPr sz="1800" b="1" spc="65" dirty="0">
                          <a:latin typeface="Times New Roman"/>
                          <a:cs typeface="Times New Roman"/>
                        </a:rPr>
                        <a:t>Demerits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82905" marR="72390" indent="-285750">
                        <a:lnSpc>
                          <a:spcPts val="2180"/>
                        </a:lnSpc>
                        <a:spcBef>
                          <a:spcPts val="25"/>
                        </a:spcBef>
                        <a:buFont typeface="Wingdings"/>
                        <a:buChar char=""/>
                        <a:tabLst>
                          <a:tab pos="382905" algn="l"/>
                        </a:tabLst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More</a:t>
                      </a:r>
                      <a:r>
                        <a:rPr sz="1800" spc="3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1800" spc="3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must</a:t>
                      </a:r>
                      <a:r>
                        <a:rPr sz="1800" spc="3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be</a:t>
                      </a:r>
                      <a:r>
                        <a:rPr sz="1800" spc="3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passed</a:t>
                      </a:r>
                      <a:r>
                        <a:rPr sz="1800" spc="3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between </a:t>
                      </a:r>
                      <a:r>
                        <a:rPr sz="1800" spc="35" dirty="0">
                          <a:latin typeface="Cambria"/>
                          <a:cs typeface="Cambria"/>
                        </a:rPr>
                        <a:t>modules.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82905" indent="-285750">
                        <a:lnSpc>
                          <a:spcPts val="2100"/>
                        </a:lnSpc>
                        <a:buFont typeface="Wingdings"/>
                        <a:buChar char=""/>
                        <a:tabLst>
                          <a:tab pos="382905" algn="l"/>
                          <a:tab pos="1496060" algn="l"/>
                          <a:tab pos="2807970" algn="l"/>
                          <a:tab pos="3190240" algn="l"/>
                        </a:tabLst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Increases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complexity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program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829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50" dirty="0">
                          <a:latin typeface="Cambria"/>
                          <a:cs typeface="Cambria"/>
                        </a:rPr>
                        <a:t>flow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control.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0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50" dirty="0"/>
              <a:t>Design</a:t>
            </a:r>
            <a:r>
              <a:rPr sz="2750" spc="275" dirty="0"/>
              <a:t> </a:t>
            </a:r>
            <a:r>
              <a:rPr sz="2750" spc="170" dirty="0"/>
              <a:t>Concepts</a:t>
            </a:r>
            <a:r>
              <a:rPr sz="2750" spc="245" dirty="0"/>
              <a:t> </a:t>
            </a:r>
            <a:r>
              <a:rPr sz="2750" spc="-390" dirty="0"/>
              <a:t>–</a:t>
            </a:r>
            <a:r>
              <a:rPr sz="2750" spc="260" dirty="0"/>
              <a:t> </a:t>
            </a:r>
            <a:r>
              <a:rPr sz="2750" spc="155" dirty="0"/>
              <a:t>2.</a:t>
            </a:r>
            <a:r>
              <a:rPr sz="2750" spc="265" dirty="0"/>
              <a:t> </a:t>
            </a:r>
            <a:r>
              <a:rPr sz="2750" spc="135" dirty="0"/>
              <a:t>Architecture</a:t>
            </a:r>
            <a:r>
              <a:rPr sz="2750" spc="254" dirty="0"/>
              <a:t> </a:t>
            </a:r>
            <a:r>
              <a:rPr sz="2750" spc="-390" dirty="0"/>
              <a:t>–</a:t>
            </a:r>
            <a:r>
              <a:rPr sz="2750" spc="265" dirty="0"/>
              <a:t> </a:t>
            </a:r>
            <a:r>
              <a:rPr sz="2750" spc="95" dirty="0"/>
              <a:t>Horizontal</a:t>
            </a:r>
            <a:r>
              <a:rPr sz="2750" spc="240" dirty="0"/>
              <a:t> </a:t>
            </a:r>
            <a:r>
              <a:rPr sz="2750" spc="85" dirty="0"/>
              <a:t>Partitioning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488950" y="1047559"/>
            <a:ext cx="5730240" cy="5290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18415" indent="-227965" algn="just">
              <a:lnSpc>
                <a:spcPct val="131800"/>
              </a:lnSpc>
              <a:spcBef>
                <a:spcPts val="95"/>
              </a:spcBef>
              <a:buFont typeface="Wingdings"/>
              <a:buChar char=""/>
              <a:tabLst>
                <a:tab pos="241300" algn="l"/>
              </a:tabLst>
            </a:pPr>
            <a:r>
              <a:rPr sz="1850" dirty="0">
                <a:latin typeface="Cambria"/>
                <a:cs typeface="Cambria"/>
              </a:rPr>
              <a:t>The</a:t>
            </a:r>
            <a:r>
              <a:rPr sz="1850" spc="225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Presentation</a:t>
            </a:r>
            <a:r>
              <a:rPr sz="1850" spc="195" dirty="0">
                <a:latin typeface="Cambria"/>
                <a:cs typeface="Cambria"/>
              </a:rPr>
              <a:t>  </a:t>
            </a:r>
            <a:r>
              <a:rPr sz="1850" spc="65" dirty="0">
                <a:latin typeface="Cambria"/>
                <a:cs typeface="Cambria"/>
              </a:rPr>
              <a:t>Layer</a:t>
            </a:r>
            <a:r>
              <a:rPr sz="1850" spc="200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handles</a:t>
            </a:r>
            <a:r>
              <a:rPr sz="1850" spc="210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user</a:t>
            </a:r>
            <a:r>
              <a:rPr sz="1850" spc="225" dirty="0">
                <a:latin typeface="Cambria"/>
                <a:cs typeface="Cambria"/>
              </a:rPr>
              <a:t>  </a:t>
            </a:r>
            <a:r>
              <a:rPr sz="1850" spc="65" dirty="0">
                <a:latin typeface="Cambria"/>
                <a:cs typeface="Cambria"/>
              </a:rPr>
              <a:t>input</a:t>
            </a:r>
            <a:r>
              <a:rPr sz="1850" spc="200" dirty="0">
                <a:latin typeface="Cambria"/>
                <a:cs typeface="Cambria"/>
              </a:rPr>
              <a:t>  </a:t>
            </a:r>
            <a:r>
              <a:rPr sz="1850" spc="35" dirty="0">
                <a:latin typeface="Cambria"/>
                <a:cs typeface="Cambria"/>
              </a:rPr>
              <a:t>and 	</a:t>
            </a:r>
            <a:r>
              <a:rPr sz="1850" spc="55" dirty="0">
                <a:latin typeface="Cambria"/>
                <a:cs typeface="Cambria"/>
              </a:rPr>
              <a:t>displays</a:t>
            </a:r>
            <a:r>
              <a:rPr sz="1850" spc="180" dirty="0"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results</a:t>
            </a:r>
            <a:r>
              <a:rPr sz="1850" spc="175" dirty="0">
                <a:latin typeface="Cambria"/>
                <a:cs typeface="Cambria"/>
              </a:rPr>
              <a:t> </a:t>
            </a:r>
            <a:r>
              <a:rPr sz="1850" spc="55" dirty="0">
                <a:latin typeface="Cambria"/>
                <a:cs typeface="Cambria"/>
              </a:rPr>
              <a:t>(e.g.,</a:t>
            </a:r>
            <a:r>
              <a:rPr sz="1850" spc="180" dirty="0">
                <a:latin typeface="Cambria"/>
                <a:cs typeface="Cambria"/>
              </a:rPr>
              <a:t> </a:t>
            </a:r>
            <a:r>
              <a:rPr sz="1850" spc="60" dirty="0">
                <a:latin typeface="Cambria"/>
                <a:cs typeface="Cambria"/>
              </a:rPr>
              <a:t>showing</a:t>
            </a:r>
            <a:r>
              <a:rPr sz="1850" spc="225" dirty="0"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available</a:t>
            </a:r>
            <a:r>
              <a:rPr sz="1850" spc="240" dirty="0">
                <a:latin typeface="Cambria"/>
                <a:cs typeface="Cambria"/>
              </a:rPr>
              <a:t> </a:t>
            </a:r>
            <a:r>
              <a:rPr sz="1850" spc="-10" dirty="0">
                <a:latin typeface="Cambria"/>
                <a:cs typeface="Cambria"/>
              </a:rPr>
              <a:t>books).</a:t>
            </a:r>
            <a:endParaRPr sz="1850">
              <a:latin typeface="Cambria"/>
              <a:cs typeface="Cambria"/>
            </a:endParaRPr>
          </a:p>
          <a:p>
            <a:pPr marL="240029" marR="8890" indent="-227965" algn="just">
              <a:lnSpc>
                <a:spcPct val="133600"/>
              </a:lnSpc>
              <a:spcBef>
                <a:spcPts val="40"/>
              </a:spcBef>
              <a:buFont typeface="Wingdings"/>
              <a:buChar char=""/>
              <a:tabLst>
                <a:tab pos="241300" algn="l"/>
              </a:tabLst>
            </a:pPr>
            <a:r>
              <a:rPr sz="1850" dirty="0">
                <a:latin typeface="Cambria"/>
                <a:cs typeface="Cambria"/>
              </a:rPr>
              <a:t>The</a:t>
            </a:r>
            <a:r>
              <a:rPr sz="1850" spc="229" dirty="0"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Business</a:t>
            </a:r>
            <a:r>
              <a:rPr sz="1850" spc="240" dirty="0">
                <a:latin typeface="Cambria"/>
                <a:cs typeface="Cambria"/>
              </a:rPr>
              <a:t> </a:t>
            </a:r>
            <a:r>
              <a:rPr sz="1850" spc="80" dirty="0">
                <a:latin typeface="Cambria"/>
                <a:cs typeface="Cambria"/>
              </a:rPr>
              <a:t>Logic</a:t>
            </a:r>
            <a:r>
              <a:rPr sz="1850" spc="185" dirty="0">
                <a:latin typeface="Cambria"/>
                <a:cs typeface="Cambria"/>
              </a:rPr>
              <a:t> </a:t>
            </a:r>
            <a:r>
              <a:rPr sz="1850" spc="65" dirty="0">
                <a:latin typeface="Cambria"/>
                <a:cs typeface="Cambria"/>
              </a:rPr>
              <a:t>Layer</a:t>
            </a:r>
            <a:r>
              <a:rPr sz="1850" spc="180" dirty="0"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contains</a:t>
            </a:r>
            <a:r>
              <a:rPr sz="1850" spc="190" dirty="0"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the</a:t>
            </a:r>
            <a:r>
              <a:rPr sz="1850" spc="215" dirty="0"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core</a:t>
            </a:r>
            <a:r>
              <a:rPr sz="1850" spc="220" dirty="0">
                <a:latin typeface="Cambria"/>
                <a:cs typeface="Cambria"/>
              </a:rPr>
              <a:t> </a:t>
            </a:r>
            <a:r>
              <a:rPr sz="1850" spc="60" dirty="0">
                <a:latin typeface="Cambria"/>
                <a:cs typeface="Cambria"/>
              </a:rPr>
              <a:t>logic</a:t>
            </a:r>
            <a:r>
              <a:rPr sz="1850" spc="170" dirty="0">
                <a:latin typeface="Cambria"/>
                <a:cs typeface="Cambria"/>
              </a:rPr>
              <a:t> </a:t>
            </a:r>
            <a:r>
              <a:rPr sz="1850" spc="40" dirty="0">
                <a:latin typeface="Cambria"/>
                <a:cs typeface="Cambria"/>
              </a:rPr>
              <a:t>of 	</a:t>
            </a:r>
            <a:r>
              <a:rPr sz="1850" dirty="0">
                <a:latin typeface="Cambria"/>
                <a:cs typeface="Cambria"/>
              </a:rPr>
              <a:t>the</a:t>
            </a:r>
            <a:r>
              <a:rPr sz="1850" spc="125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system</a:t>
            </a:r>
            <a:r>
              <a:rPr sz="1850" spc="130" dirty="0">
                <a:latin typeface="Cambria"/>
                <a:cs typeface="Cambria"/>
              </a:rPr>
              <a:t>  </a:t>
            </a:r>
            <a:r>
              <a:rPr sz="1850" spc="55" dirty="0">
                <a:latin typeface="Cambria"/>
                <a:cs typeface="Cambria"/>
              </a:rPr>
              <a:t>(e.g.,</a:t>
            </a:r>
            <a:r>
              <a:rPr sz="1850" spc="125" dirty="0">
                <a:latin typeface="Cambria"/>
                <a:cs typeface="Cambria"/>
              </a:rPr>
              <a:t>  </a:t>
            </a:r>
            <a:r>
              <a:rPr sz="1850" spc="45" dirty="0">
                <a:latin typeface="Cambria"/>
                <a:cs typeface="Cambria"/>
              </a:rPr>
              <a:t>checking</a:t>
            </a:r>
            <a:r>
              <a:rPr sz="1850" spc="145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if</a:t>
            </a:r>
            <a:r>
              <a:rPr sz="1850" spc="140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a</a:t>
            </a:r>
            <a:r>
              <a:rPr sz="1850" spc="125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book</a:t>
            </a:r>
            <a:r>
              <a:rPr sz="1850" spc="120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is</a:t>
            </a:r>
            <a:r>
              <a:rPr sz="1850" spc="135" dirty="0">
                <a:latin typeface="Cambria"/>
                <a:cs typeface="Cambria"/>
              </a:rPr>
              <a:t>  </a:t>
            </a:r>
            <a:r>
              <a:rPr sz="1850" spc="-10" dirty="0">
                <a:latin typeface="Cambria"/>
                <a:cs typeface="Cambria"/>
              </a:rPr>
              <a:t>available 	</a:t>
            </a:r>
            <a:r>
              <a:rPr sz="1850" dirty="0">
                <a:latin typeface="Cambria"/>
                <a:cs typeface="Cambria"/>
              </a:rPr>
              <a:t>before</a:t>
            </a:r>
            <a:r>
              <a:rPr sz="1850" spc="85" dirty="0">
                <a:latin typeface="Cambria"/>
                <a:cs typeface="Cambria"/>
              </a:rPr>
              <a:t> </a:t>
            </a:r>
            <a:r>
              <a:rPr sz="1850" spc="60" dirty="0">
                <a:latin typeface="Cambria"/>
                <a:cs typeface="Cambria"/>
              </a:rPr>
              <a:t>allowing</a:t>
            </a:r>
            <a:r>
              <a:rPr sz="1850" spc="160" dirty="0"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it</a:t>
            </a:r>
            <a:r>
              <a:rPr sz="1850" spc="140" dirty="0"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to</a:t>
            </a:r>
            <a:r>
              <a:rPr sz="1850" spc="140" dirty="0"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be</a:t>
            </a:r>
            <a:r>
              <a:rPr sz="1850" spc="114" dirty="0">
                <a:latin typeface="Cambria"/>
                <a:cs typeface="Cambria"/>
              </a:rPr>
              <a:t> </a:t>
            </a:r>
            <a:r>
              <a:rPr sz="1850" spc="-10" dirty="0">
                <a:latin typeface="Cambria"/>
                <a:cs typeface="Cambria"/>
              </a:rPr>
              <a:t>borrowed).</a:t>
            </a:r>
            <a:endParaRPr sz="1850">
              <a:latin typeface="Cambria"/>
              <a:cs typeface="Cambria"/>
            </a:endParaRPr>
          </a:p>
          <a:p>
            <a:pPr marL="240029" marR="18415" indent="-227965" algn="just">
              <a:lnSpc>
                <a:spcPts val="3000"/>
              </a:lnSpc>
              <a:spcBef>
                <a:spcPts val="160"/>
              </a:spcBef>
              <a:buFont typeface="Wingdings"/>
              <a:buChar char=""/>
              <a:tabLst>
                <a:tab pos="241300" algn="l"/>
              </a:tabLst>
            </a:pPr>
            <a:r>
              <a:rPr sz="1850" dirty="0">
                <a:latin typeface="Cambria"/>
                <a:cs typeface="Cambria"/>
              </a:rPr>
              <a:t>The</a:t>
            </a:r>
            <a:r>
              <a:rPr sz="1850" spc="185" dirty="0">
                <a:latin typeface="Cambria"/>
                <a:cs typeface="Cambria"/>
              </a:rPr>
              <a:t>  </a:t>
            </a:r>
            <a:r>
              <a:rPr sz="1850" spc="80" dirty="0">
                <a:latin typeface="Cambria"/>
                <a:cs typeface="Cambria"/>
              </a:rPr>
              <a:t>Data</a:t>
            </a:r>
            <a:r>
              <a:rPr sz="1850" spc="170" dirty="0">
                <a:latin typeface="Cambria"/>
                <a:cs typeface="Cambria"/>
              </a:rPr>
              <a:t>  </a:t>
            </a:r>
            <a:r>
              <a:rPr sz="1850" spc="70" dirty="0">
                <a:latin typeface="Cambria"/>
                <a:cs typeface="Cambria"/>
              </a:rPr>
              <a:t>Layer</a:t>
            </a:r>
            <a:r>
              <a:rPr sz="1850" spc="160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stores</a:t>
            </a:r>
            <a:r>
              <a:rPr sz="1850" spc="180" dirty="0">
                <a:latin typeface="Cambria"/>
                <a:cs typeface="Cambria"/>
              </a:rPr>
              <a:t>  </a:t>
            </a:r>
            <a:r>
              <a:rPr sz="1850" spc="60" dirty="0">
                <a:latin typeface="Cambria"/>
                <a:cs typeface="Cambria"/>
              </a:rPr>
              <a:t>and</a:t>
            </a:r>
            <a:r>
              <a:rPr sz="1850" spc="195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retrieves</a:t>
            </a:r>
            <a:r>
              <a:rPr sz="1850" spc="165" dirty="0">
                <a:latin typeface="Cambria"/>
                <a:cs typeface="Cambria"/>
              </a:rPr>
              <a:t>  </a:t>
            </a:r>
            <a:r>
              <a:rPr sz="1850" spc="55" dirty="0">
                <a:latin typeface="Cambria"/>
                <a:cs typeface="Cambria"/>
              </a:rPr>
              <a:t>data</a:t>
            </a:r>
            <a:r>
              <a:rPr sz="1850" spc="160" dirty="0">
                <a:latin typeface="Cambria"/>
                <a:cs typeface="Cambria"/>
              </a:rPr>
              <a:t>  </a:t>
            </a:r>
            <a:r>
              <a:rPr sz="1850" spc="-20" dirty="0">
                <a:latin typeface="Cambria"/>
                <a:cs typeface="Cambria"/>
              </a:rPr>
              <a:t>from 	</a:t>
            </a:r>
            <a:r>
              <a:rPr sz="1850" dirty="0">
                <a:latin typeface="Cambria"/>
                <a:cs typeface="Cambria"/>
              </a:rPr>
              <a:t>databases</a:t>
            </a:r>
            <a:r>
              <a:rPr sz="1850" spc="210" dirty="0">
                <a:latin typeface="Cambria"/>
                <a:cs typeface="Cambria"/>
              </a:rPr>
              <a:t> </a:t>
            </a:r>
            <a:r>
              <a:rPr sz="1850" spc="60" dirty="0">
                <a:latin typeface="Cambria"/>
                <a:cs typeface="Cambria"/>
              </a:rPr>
              <a:t>(e.g.,</a:t>
            </a:r>
            <a:r>
              <a:rPr sz="1850" spc="215" dirty="0"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user</a:t>
            </a:r>
            <a:r>
              <a:rPr sz="1850" spc="245" dirty="0"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profiles,</a:t>
            </a:r>
            <a:r>
              <a:rPr sz="1850" spc="220" dirty="0">
                <a:latin typeface="Cambria"/>
                <a:cs typeface="Cambria"/>
              </a:rPr>
              <a:t> </a:t>
            </a:r>
            <a:r>
              <a:rPr sz="1850" spc="50" dirty="0">
                <a:latin typeface="Cambria"/>
                <a:cs typeface="Cambria"/>
              </a:rPr>
              <a:t>book</a:t>
            </a:r>
            <a:r>
              <a:rPr sz="1850" spc="204" dirty="0">
                <a:latin typeface="Cambria"/>
                <a:cs typeface="Cambria"/>
              </a:rPr>
              <a:t> </a:t>
            </a:r>
            <a:r>
              <a:rPr sz="1850" spc="-10" dirty="0">
                <a:latin typeface="Cambria"/>
                <a:cs typeface="Cambria"/>
              </a:rPr>
              <a:t>inventory).</a:t>
            </a:r>
            <a:endParaRPr sz="18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buFont typeface="Wingdings"/>
              <a:buChar char=""/>
            </a:pPr>
            <a:endParaRPr sz="1850">
              <a:latin typeface="Cambria"/>
              <a:cs typeface="Cambria"/>
            </a:endParaRPr>
          </a:p>
          <a:p>
            <a:pPr marL="240029" marR="5080" indent="-227965" algn="just">
              <a:lnSpc>
                <a:spcPct val="133300"/>
              </a:lnSpc>
              <a:buFont typeface="Wingdings"/>
              <a:buChar char=""/>
              <a:tabLst>
                <a:tab pos="241300" algn="l"/>
              </a:tabLst>
            </a:pPr>
            <a:r>
              <a:rPr sz="1850" spc="55" dirty="0">
                <a:latin typeface="Cambria"/>
                <a:cs typeface="Cambria"/>
              </a:rPr>
              <a:t>Horizontal</a:t>
            </a:r>
            <a:r>
              <a:rPr sz="1850" spc="285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Partitioning</a:t>
            </a:r>
            <a:r>
              <a:rPr sz="1850" spc="270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allows</a:t>
            </a:r>
            <a:r>
              <a:rPr sz="1850" spc="275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for</a:t>
            </a:r>
            <a:r>
              <a:rPr sz="1850" spc="280" dirty="0">
                <a:latin typeface="Cambria"/>
                <a:cs typeface="Cambria"/>
              </a:rPr>
              <a:t>  </a:t>
            </a:r>
            <a:r>
              <a:rPr sz="1850" dirty="0">
                <a:solidFill>
                  <a:srgbClr val="FF1C05"/>
                </a:solidFill>
                <a:latin typeface="Cambria"/>
                <a:cs typeface="Cambria"/>
              </a:rPr>
              <a:t>separation</a:t>
            </a:r>
            <a:r>
              <a:rPr sz="1850" spc="26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1850" spc="40" dirty="0">
                <a:solidFill>
                  <a:srgbClr val="FF1C05"/>
                </a:solidFill>
                <a:latin typeface="Cambria"/>
                <a:cs typeface="Cambria"/>
              </a:rPr>
              <a:t>of 	</a:t>
            </a:r>
            <a:r>
              <a:rPr sz="1850" dirty="0">
                <a:solidFill>
                  <a:srgbClr val="FF1C05"/>
                </a:solidFill>
                <a:latin typeface="Cambria"/>
                <a:cs typeface="Cambria"/>
              </a:rPr>
              <a:t>concern</a:t>
            </a:r>
            <a:r>
              <a:rPr sz="1850" dirty="0">
                <a:latin typeface="Cambria"/>
                <a:cs typeface="Cambria"/>
              </a:rPr>
              <a:t>s.</a:t>
            </a:r>
            <a:r>
              <a:rPr sz="1850" spc="80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Each</a:t>
            </a:r>
            <a:r>
              <a:rPr sz="1850" spc="95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layer</a:t>
            </a:r>
            <a:r>
              <a:rPr sz="1850" spc="105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has</a:t>
            </a:r>
            <a:r>
              <a:rPr sz="1850" spc="95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a</a:t>
            </a:r>
            <a:r>
              <a:rPr sz="1850" spc="85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specific</a:t>
            </a:r>
            <a:r>
              <a:rPr sz="1850" spc="95" dirty="0">
                <a:latin typeface="Cambria"/>
                <a:cs typeface="Cambria"/>
              </a:rPr>
              <a:t>  </a:t>
            </a:r>
            <a:r>
              <a:rPr sz="1850" spc="-10" dirty="0">
                <a:latin typeface="Cambria"/>
                <a:cs typeface="Cambria"/>
              </a:rPr>
              <a:t>responsibility, 	</a:t>
            </a:r>
            <a:r>
              <a:rPr sz="1850" spc="70" dirty="0">
                <a:latin typeface="Cambria"/>
                <a:cs typeface="Cambria"/>
              </a:rPr>
              <a:t>making</a:t>
            </a:r>
            <a:r>
              <a:rPr sz="1850" spc="130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the</a:t>
            </a:r>
            <a:r>
              <a:rPr sz="1850" spc="110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system</a:t>
            </a:r>
            <a:r>
              <a:rPr sz="1850" spc="120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more</a:t>
            </a:r>
            <a:r>
              <a:rPr sz="1850" spc="120" dirty="0">
                <a:latin typeface="Cambria"/>
                <a:cs typeface="Cambria"/>
              </a:rPr>
              <a:t>  </a:t>
            </a:r>
            <a:r>
              <a:rPr sz="1850" spc="70" dirty="0">
                <a:latin typeface="Cambria"/>
                <a:cs typeface="Cambria"/>
              </a:rPr>
              <a:t>modular</a:t>
            </a:r>
            <a:r>
              <a:rPr sz="1850" spc="114" dirty="0">
                <a:latin typeface="Cambria"/>
                <a:cs typeface="Cambria"/>
              </a:rPr>
              <a:t>  </a:t>
            </a:r>
            <a:r>
              <a:rPr sz="1850" spc="60" dirty="0">
                <a:latin typeface="Cambria"/>
                <a:cs typeface="Cambria"/>
              </a:rPr>
              <a:t>and</a:t>
            </a:r>
            <a:r>
              <a:rPr sz="1850" spc="130" dirty="0">
                <a:latin typeface="Cambria"/>
                <a:cs typeface="Cambria"/>
              </a:rPr>
              <a:t>  </a:t>
            </a:r>
            <a:r>
              <a:rPr sz="1850" dirty="0">
                <a:latin typeface="Cambria"/>
                <a:cs typeface="Cambria"/>
              </a:rPr>
              <a:t>easier</a:t>
            </a:r>
            <a:r>
              <a:rPr sz="1850" spc="110" dirty="0">
                <a:latin typeface="Cambria"/>
                <a:cs typeface="Cambria"/>
              </a:rPr>
              <a:t>  </a:t>
            </a:r>
            <a:r>
              <a:rPr sz="1850" spc="-25" dirty="0">
                <a:latin typeface="Cambria"/>
                <a:cs typeface="Cambria"/>
              </a:rPr>
              <a:t>to 	</a:t>
            </a:r>
            <a:r>
              <a:rPr sz="1850" spc="70" dirty="0">
                <a:latin typeface="Cambria"/>
                <a:cs typeface="Cambria"/>
              </a:rPr>
              <a:t>develop,</a:t>
            </a:r>
            <a:r>
              <a:rPr sz="1850" spc="155" dirty="0"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test,</a:t>
            </a:r>
            <a:r>
              <a:rPr sz="1850" spc="150" dirty="0">
                <a:latin typeface="Cambria"/>
                <a:cs typeface="Cambria"/>
              </a:rPr>
              <a:t> </a:t>
            </a:r>
            <a:r>
              <a:rPr sz="1850" spc="60" dirty="0">
                <a:latin typeface="Cambria"/>
                <a:cs typeface="Cambria"/>
              </a:rPr>
              <a:t>and</a:t>
            </a:r>
            <a:r>
              <a:rPr sz="1850" spc="235" dirty="0">
                <a:latin typeface="Cambria"/>
                <a:cs typeface="Cambria"/>
              </a:rPr>
              <a:t> </a:t>
            </a:r>
            <a:r>
              <a:rPr sz="1850" spc="50" dirty="0">
                <a:latin typeface="Cambria"/>
                <a:cs typeface="Cambria"/>
              </a:rPr>
              <a:t>maintain.</a:t>
            </a:r>
            <a:r>
              <a:rPr sz="1850" spc="190" dirty="0">
                <a:latin typeface="Cambria"/>
                <a:cs typeface="Cambria"/>
              </a:rPr>
              <a:t> </a:t>
            </a:r>
            <a:r>
              <a:rPr sz="1850" spc="120" dirty="0">
                <a:solidFill>
                  <a:srgbClr val="FF1C05"/>
                </a:solidFill>
                <a:latin typeface="Cambria"/>
                <a:cs typeface="Cambria"/>
              </a:rPr>
              <a:t>You</a:t>
            </a:r>
            <a:r>
              <a:rPr sz="1850" spc="18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1850" dirty="0">
                <a:solidFill>
                  <a:srgbClr val="FF1C05"/>
                </a:solidFill>
                <a:latin typeface="Cambria"/>
                <a:cs typeface="Cambria"/>
              </a:rPr>
              <a:t>can</a:t>
            </a:r>
            <a:r>
              <a:rPr sz="1850" spc="17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1850" dirty="0">
                <a:solidFill>
                  <a:srgbClr val="FF1C05"/>
                </a:solidFill>
                <a:latin typeface="Cambria"/>
                <a:cs typeface="Cambria"/>
              </a:rPr>
              <a:t>change</a:t>
            </a:r>
            <a:r>
              <a:rPr sz="1850" spc="23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1850" dirty="0">
                <a:solidFill>
                  <a:srgbClr val="FF1C05"/>
                </a:solidFill>
                <a:latin typeface="Cambria"/>
                <a:cs typeface="Cambria"/>
              </a:rPr>
              <a:t>the</a:t>
            </a:r>
            <a:r>
              <a:rPr sz="1850" spc="19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1850" spc="150" dirty="0">
                <a:solidFill>
                  <a:srgbClr val="FF1C05"/>
                </a:solidFill>
                <a:latin typeface="Cambria"/>
                <a:cs typeface="Cambria"/>
              </a:rPr>
              <a:t>UI 	</a:t>
            </a:r>
            <a:r>
              <a:rPr sz="1850" spc="50" dirty="0">
                <a:solidFill>
                  <a:srgbClr val="FF1C05"/>
                </a:solidFill>
                <a:latin typeface="Cambria"/>
                <a:cs typeface="Cambria"/>
              </a:rPr>
              <a:t>without</a:t>
            </a:r>
            <a:r>
              <a:rPr sz="1850" spc="46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1850" dirty="0">
                <a:solidFill>
                  <a:srgbClr val="FF1C05"/>
                </a:solidFill>
                <a:latin typeface="Cambria"/>
                <a:cs typeface="Cambria"/>
              </a:rPr>
              <a:t>affecting</a:t>
            </a:r>
            <a:r>
              <a:rPr sz="1850" spc="49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1850" dirty="0">
                <a:solidFill>
                  <a:srgbClr val="FF1C05"/>
                </a:solidFill>
                <a:latin typeface="Cambria"/>
                <a:cs typeface="Cambria"/>
              </a:rPr>
              <a:t>the</a:t>
            </a:r>
            <a:r>
              <a:rPr sz="1850" spc="48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1850" dirty="0">
                <a:solidFill>
                  <a:srgbClr val="FF1C05"/>
                </a:solidFill>
                <a:latin typeface="Cambria"/>
                <a:cs typeface="Cambria"/>
              </a:rPr>
              <a:t>business</a:t>
            </a:r>
            <a:r>
              <a:rPr sz="1850" spc="47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1850" spc="55" dirty="0">
                <a:solidFill>
                  <a:srgbClr val="FF1C05"/>
                </a:solidFill>
                <a:latin typeface="Cambria"/>
                <a:cs typeface="Cambria"/>
              </a:rPr>
              <a:t>logic</a:t>
            </a:r>
            <a:r>
              <a:rPr sz="1850" spc="459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1850" dirty="0">
                <a:solidFill>
                  <a:srgbClr val="FF1C05"/>
                </a:solidFill>
                <a:latin typeface="Cambria"/>
                <a:cs typeface="Cambria"/>
              </a:rPr>
              <a:t>or</a:t>
            </a:r>
            <a:r>
              <a:rPr sz="1850" spc="46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1850" spc="35" dirty="0">
                <a:solidFill>
                  <a:srgbClr val="FF1C05"/>
                </a:solidFill>
                <a:latin typeface="Cambria"/>
                <a:cs typeface="Cambria"/>
              </a:rPr>
              <a:t>data 	</a:t>
            </a:r>
            <a:r>
              <a:rPr sz="1850" spc="-10" dirty="0">
                <a:solidFill>
                  <a:srgbClr val="FF1C05"/>
                </a:solidFill>
                <a:latin typeface="Cambria"/>
                <a:cs typeface="Cambria"/>
              </a:rPr>
              <a:t>storage.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13219" y="1898078"/>
            <a:ext cx="4568190" cy="27076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60" dirty="0">
                <a:latin typeface="Cambria"/>
                <a:cs typeface="Cambria"/>
              </a:rPr>
              <a:t>Horizontal</a:t>
            </a:r>
            <a:r>
              <a:rPr sz="1550" spc="50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Partitioning:</a:t>
            </a:r>
            <a:endParaRPr sz="1550">
              <a:latin typeface="Cambria"/>
              <a:cs typeface="Cambria"/>
            </a:endParaRPr>
          </a:p>
          <a:p>
            <a:pPr marL="215900">
              <a:lnSpc>
                <a:spcPct val="100000"/>
              </a:lnSpc>
              <a:spcBef>
                <a:spcPts val="20"/>
              </a:spcBef>
            </a:pPr>
            <a:r>
              <a:rPr sz="1550" spc="110" dirty="0">
                <a:latin typeface="Cambria"/>
                <a:cs typeface="Cambria"/>
              </a:rPr>
              <a:t>├──</a:t>
            </a:r>
            <a:r>
              <a:rPr sz="1550" spc="22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Presentation</a:t>
            </a:r>
            <a:r>
              <a:rPr sz="1550" spc="110" dirty="0">
                <a:latin typeface="Cambria"/>
                <a:cs typeface="Cambria"/>
              </a:rPr>
              <a:t> </a:t>
            </a:r>
            <a:r>
              <a:rPr sz="1550" spc="55" dirty="0">
                <a:latin typeface="Cambria"/>
                <a:cs typeface="Cambria"/>
              </a:rPr>
              <a:t>Layer</a:t>
            </a:r>
            <a:r>
              <a:rPr sz="1550" spc="195" dirty="0">
                <a:latin typeface="Cambria"/>
                <a:cs typeface="Cambria"/>
              </a:rPr>
              <a:t> </a:t>
            </a:r>
            <a:r>
              <a:rPr sz="1550" spc="100" dirty="0">
                <a:latin typeface="Cambria"/>
                <a:cs typeface="Cambria"/>
              </a:rPr>
              <a:t>(UI/UX)</a:t>
            </a:r>
            <a:endParaRPr sz="1550">
              <a:latin typeface="Cambria"/>
              <a:cs typeface="Cambria"/>
            </a:endParaRPr>
          </a:p>
          <a:p>
            <a:pPr marL="215900">
              <a:lnSpc>
                <a:spcPct val="100000"/>
              </a:lnSpc>
              <a:spcBef>
                <a:spcPts val="95"/>
              </a:spcBef>
              <a:tabLst>
                <a:tab pos="511175" algn="l"/>
              </a:tabLst>
            </a:pPr>
            <a:r>
              <a:rPr sz="1550" spc="50" dirty="0">
                <a:latin typeface="Cambria"/>
                <a:cs typeface="Cambria"/>
              </a:rPr>
              <a:t>│</a:t>
            </a:r>
            <a:r>
              <a:rPr sz="1550" dirty="0">
                <a:latin typeface="Cambria"/>
                <a:cs typeface="Cambria"/>
              </a:rPr>
              <a:t>	</a:t>
            </a:r>
            <a:r>
              <a:rPr sz="1550" spc="125" dirty="0">
                <a:latin typeface="Cambria"/>
                <a:cs typeface="Cambria"/>
              </a:rPr>
              <a:t>├──</a:t>
            </a:r>
            <a:r>
              <a:rPr sz="1550" spc="85" dirty="0">
                <a:latin typeface="Cambria"/>
                <a:cs typeface="Cambria"/>
              </a:rPr>
              <a:t> </a:t>
            </a:r>
            <a:r>
              <a:rPr sz="1550" spc="75" dirty="0">
                <a:latin typeface="Cambria"/>
                <a:cs typeface="Cambria"/>
              </a:rPr>
              <a:t>Web</a:t>
            </a:r>
            <a:r>
              <a:rPr sz="1550" spc="114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Interface</a:t>
            </a:r>
            <a:r>
              <a:rPr sz="1550" spc="160" dirty="0">
                <a:latin typeface="Cambria"/>
                <a:cs typeface="Cambria"/>
              </a:rPr>
              <a:t> </a:t>
            </a:r>
            <a:r>
              <a:rPr sz="1550" spc="70" dirty="0">
                <a:latin typeface="Cambria"/>
                <a:cs typeface="Cambria"/>
              </a:rPr>
              <a:t>(HTML/CSS/JavaScript)</a:t>
            </a:r>
            <a:endParaRPr sz="1550">
              <a:latin typeface="Cambria"/>
              <a:cs typeface="Cambria"/>
            </a:endParaRPr>
          </a:p>
          <a:p>
            <a:pPr marL="215900">
              <a:lnSpc>
                <a:spcPct val="100000"/>
              </a:lnSpc>
              <a:spcBef>
                <a:spcPts val="90"/>
              </a:spcBef>
              <a:tabLst>
                <a:tab pos="511175" algn="l"/>
              </a:tabLst>
            </a:pPr>
            <a:r>
              <a:rPr sz="1550" spc="50" dirty="0">
                <a:latin typeface="Cambria"/>
                <a:cs typeface="Cambria"/>
              </a:rPr>
              <a:t>│</a:t>
            </a:r>
            <a:r>
              <a:rPr sz="1550" dirty="0">
                <a:latin typeface="Cambria"/>
                <a:cs typeface="Cambria"/>
              </a:rPr>
              <a:t>	</a:t>
            </a:r>
            <a:r>
              <a:rPr sz="1550" spc="125" dirty="0">
                <a:latin typeface="Cambria"/>
                <a:cs typeface="Cambria"/>
              </a:rPr>
              <a:t>└──</a:t>
            </a:r>
            <a:r>
              <a:rPr sz="1550" spc="60" dirty="0">
                <a:latin typeface="Cambria"/>
                <a:cs typeface="Cambria"/>
              </a:rPr>
              <a:t> Mobile</a:t>
            </a:r>
            <a:r>
              <a:rPr sz="1550" spc="135" dirty="0">
                <a:latin typeface="Cambria"/>
                <a:cs typeface="Cambria"/>
              </a:rPr>
              <a:t> App</a:t>
            </a:r>
            <a:r>
              <a:rPr sz="1550" spc="9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(React</a:t>
            </a:r>
            <a:r>
              <a:rPr sz="1550" spc="65" dirty="0">
                <a:latin typeface="Cambria"/>
                <a:cs typeface="Cambria"/>
              </a:rPr>
              <a:t> </a:t>
            </a:r>
            <a:r>
              <a:rPr sz="1550" spc="40" dirty="0">
                <a:latin typeface="Cambria"/>
                <a:cs typeface="Cambria"/>
              </a:rPr>
              <a:t>Native/Flutter)</a:t>
            </a:r>
            <a:endParaRPr sz="1550">
              <a:latin typeface="Cambria"/>
              <a:cs typeface="Cambria"/>
            </a:endParaRPr>
          </a:p>
          <a:p>
            <a:pPr marL="215900">
              <a:lnSpc>
                <a:spcPct val="100000"/>
              </a:lnSpc>
              <a:spcBef>
                <a:spcPts val="20"/>
              </a:spcBef>
            </a:pPr>
            <a:r>
              <a:rPr sz="1550" spc="100" dirty="0">
                <a:latin typeface="Cambria"/>
                <a:cs typeface="Cambria"/>
              </a:rPr>
              <a:t>├──</a:t>
            </a:r>
            <a:r>
              <a:rPr sz="1550" spc="22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Business</a:t>
            </a:r>
            <a:r>
              <a:rPr sz="1550" spc="130" dirty="0">
                <a:latin typeface="Cambria"/>
                <a:cs typeface="Cambria"/>
              </a:rPr>
              <a:t> </a:t>
            </a:r>
            <a:r>
              <a:rPr sz="1550" spc="65" dirty="0">
                <a:latin typeface="Cambria"/>
                <a:cs typeface="Cambria"/>
              </a:rPr>
              <a:t>Logic</a:t>
            </a:r>
            <a:r>
              <a:rPr sz="1550" spc="100" dirty="0">
                <a:latin typeface="Cambria"/>
                <a:cs typeface="Cambria"/>
              </a:rPr>
              <a:t> </a:t>
            </a:r>
            <a:r>
              <a:rPr sz="1550" spc="55" dirty="0">
                <a:latin typeface="Cambria"/>
                <a:cs typeface="Cambria"/>
              </a:rPr>
              <a:t>Layer</a:t>
            </a:r>
            <a:r>
              <a:rPr sz="1550" spc="18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(Core</a:t>
            </a:r>
            <a:r>
              <a:rPr sz="1550" spc="210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Functionality)</a:t>
            </a:r>
            <a:endParaRPr sz="1550">
              <a:latin typeface="Cambria"/>
              <a:cs typeface="Cambria"/>
            </a:endParaRPr>
          </a:p>
          <a:p>
            <a:pPr marL="215900">
              <a:lnSpc>
                <a:spcPct val="100000"/>
              </a:lnSpc>
              <a:spcBef>
                <a:spcPts val="90"/>
              </a:spcBef>
              <a:tabLst>
                <a:tab pos="511175" algn="l"/>
              </a:tabLst>
            </a:pPr>
            <a:r>
              <a:rPr sz="1550" spc="60" dirty="0">
                <a:latin typeface="Cambria"/>
                <a:cs typeface="Cambria"/>
              </a:rPr>
              <a:t>│</a:t>
            </a:r>
            <a:r>
              <a:rPr sz="1550" dirty="0">
                <a:latin typeface="Cambria"/>
                <a:cs typeface="Cambria"/>
              </a:rPr>
              <a:t>	</a:t>
            </a:r>
            <a:r>
              <a:rPr sz="1550" spc="130" dirty="0">
                <a:latin typeface="Cambria"/>
                <a:cs typeface="Cambria"/>
              </a:rPr>
              <a:t>├──</a:t>
            </a:r>
            <a:r>
              <a:rPr sz="1550" spc="35" dirty="0">
                <a:latin typeface="Cambria"/>
                <a:cs typeface="Cambria"/>
              </a:rPr>
              <a:t> </a:t>
            </a:r>
            <a:r>
              <a:rPr sz="1550" spc="60" dirty="0">
                <a:latin typeface="Cambria"/>
                <a:cs typeface="Cambria"/>
              </a:rPr>
              <a:t>User</a:t>
            </a:r>
            <a:r>
              <a:rPr sz="1550" spc="90" dirty="0">
                <a:latin typeface="Cambria"/>
                <a:cs typeface="Cambria"/>
              </a:rPr>
              <a:t> </a:t>
            </a:r>
            <a:r>
              <a:rPr sz="1550" spc="50" dirty="0">
                <a:latin typeface="Cambria"/>
                <a:cs typeface="Cambria"/>
              </a:rPr>
              <a:t>Management</a:t>
            </a:r>
            <a:endParaRPr sz="1550">
              <a:latin typeface="Cambria"/>
              <a:cs typeface="Cambria"/>
            </a:endParaRPr>
          </a:p>
          <a:p>
            <a:pPr marL="215900">
              <a:lnSpc>
                <a:spcPct val="100000"/>
              </a:lnSpc>
              <a:spcBef>
                <a:spcPts val="20"/>
              </a:spcBef>
              <a:tabLst>
                <a:tab pos="511175" algn="l"/>
              </a:tabLst>
            </a:pPr>
            <a:r>
              <a:rPr sz="1550" spc="60" dirty="0">
                <a:latin typeface="Cambria"/>
                <a:cs typeface="Cambria"/>
              </a:rPr>
              <a:t>│</a:t>
            </a:r>
            <a:r>
              <a:rPr sz="1550" dirty="0">
                <a:latin typeface="Cambria"/>
                <a:cs typeface="Cambria"/>
              </a:rPr>
              <a:t>	</a:t>
            </a:r>
            <a:r>
              <a:rPr sz="1550" spc="130" dirty="0">
                <a:latin typeface="Cambria"/>
                <a:cs typeface="Cambria"/>
              </a:rPr>
              <a:t>├──</a:t>
            </a:r>
            <a:r>
              <a:rPr sz="1550" spc="9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Book</a:t>
            </a:r>
            <a:r>
              <a:rPr sz="1550" spc="210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Inventory</a:t>
            </a:r>
            <a:endParaRPr sz="1550">
              <a:latin typeface="Cambria"/>
              <a:cs typeface="Cambria"/>
            </a:endParaRPr>
          </a:p>
          <a:p>
            <a:pPr marL="215900">
              <a:lnSpc>
                <a:spcPct val="100000"/>
              </a:lnSpc>
              <a:spcBef>
                <a:spcPts val="90"/>
              </a:spcBef>
              <a:tabLst>
                <a:tab pos="511175" algn="l"/>
              </a:tabLst>
            </a:pPr>
            <a:r>
              <a:rPr sz="1550" spc="60" dirty="0">
                <a:latin typeface="Cambria"/>
                <a:cs typeface="Cambria"/>
              </a:rPr>
              <a:t>│</a:t>
            </a:r>
            <a:r>
              <a:rPr sz="1550" dirty="0">
                <a:latin typeface="Cambria"/>
                <a:cs typeface="Cambria"/>
              </a:rPr>
              <a:t>	</a:t>
            </a:r>
            <a:r>
              <a:rPr sz="1550" spc="130" dirty="0">
                <a:latin typeface="Cambria"/>
                <a:cs typeface="Cambria"/>
              </a:rPr>
              <a:t>└──</a:t>
            </a:r>
            <a:r>
              <a:rPr sz="1550" spc="19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Transaction</a:t>
            </a:r>
            <a:r>
              <a:rPr sz="1550" spc="270" dirty="0">
                <a:latin typeface="Cambria"/>
                <a:cs typeface="Cambria"/>
              </a:rPr>
              <a:t> </a:t>
            </a:r>
            <a:r>
              <a:rPr sz="1550" spc="50" dirty="0">
                <a:latin typeface="Cambria"/>
                <a:cs typeface="Cambria"/>
              </a:rPr>
              <a:t>Management</a:t>
            </a:r>
            <a:endParaRPr sz="1550">
              <a:latin typeface="Cambria"/>
              <a:cs typeface="Cambria"/>
            </a:endParaRPr>
          </a:p>
          <a:p>
            <a:pPr marL="215900">
              <a:lnSpc>
                <a:spcPct val="100000"/>
              </a:lnSpc>
              <a:spcBef>
                <a:spcPts val="95"/>
              </a:spcBef>
            </a:pPr>
            <a:r>
              <a:rPr sz="1550" spc="110" dirty="0">
                <a:latin typeface="Cambria"/>
                <a:cs typeface="Cambria"/>
              </a:rPr>
              <a:t>└──</a:t>
            </a:r>
            <a:r>
              <a:rPr sz="1550" spc="105" dirty="0">
                <a:latin typeface="Cambria"/>
                <a:cs typeface="Cambria"/>
              </a:rPr>
              <a:t> </a:t>
            </a:r>
            <a:r>
              <a:rPr sz="1550" spc="60" dirty="0">
                <a:latin typeface="Cambria"/>
                <a:cs typeface="Cambria"/>
              </a:rPr>
              <a:t>Data</a:t>
            </a:r>
            <a:r>
              <a:rPr sz="1550" spc="65" dirty="0">
                <a:latin typeface="Cambria"/>
                <a:cs typeface="Cambria"/>
              </a:rPr>
              <a:t> </a:t>
            </a:r>
            <a:r>
              <a:rPr sz="1550" spc="55" dirty="0">
                <a:latin typeface="Cambria"/>
                <a:cs typeface="Cambria"/>
              </a:rPr>
              <a:t>Layer</a:t>
            </a:r>
            <a:r>
              <a:rPr sz="1550" spc="80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(Database)</a:t>
            </a:r>
            <a:endParaRPr sz="1550">
              <a:latin typeface="Cambria"/>
              <a:cs typeface="Cambria"/>
            </a:endParaRPr>
          </a:p>
          <a:p>
            <a:pPr marL="419100">
              <a:lnSpc>
                <a:spcPct val="100000"/>
              </a:lnSpc>
              <a:spcBef>
                <a:spcPts val="15"/>
              </a:spcBef>
            </a:pPr>
            <a:r>
              <a:rPr sz="1550" spc="110" dirty="0">
                <a:latin typeface="Cambria"/>
                <a:cs typeface="Cambria"/>
              </a:rPr>
              <a:t>├──</a:t>
            </a:r>
            <a:r>
              <a:rPr sz="1550" spc="120" dirty="0">
                <a:latin typeface="Cambria"/>
                <a:cs typeface="Cambria"/>
              </a:rPr>
              <a:t> </a:t>
            </a:r>
            <a:r>
              <a:rPr sz="1550" spc="60" dirty="0">
                <a:latin typeface="Cambria"/>
                <a:cs typeface="Cambria"/>
              </a:rPr>
              <a:t>User</a:t>
            </a:r>
            <a:r>
              <a:rPr sz="1550" spc="85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Database</a:t>
            </a:r>
            <a:endParaRPr sz="1550">
              <a:latin typeface="Cambria"/>
              <a:cs typeface="Cambria"/>
            </a:endParaRPr>
          </a:p>
          <a:p>
            <a:pPr marL="419100">
              <a:lnSpc>
                <a:spcPct val="100000"/>
              </a:lnSpc>
              <a:spcBef>
                <a:spcPts val="95"/>
              </a:spcBef>
            </a:pPr>
            <a:r>
              <a:rPr sz="1550" spc="110" dirty="0">
                <a:latin typeface="Cambria"/>
                <a:cs typeface="Cambria"/>
              </a:rPr>
              <a:t>└──</a:t>
            </a:r>
            <a:r>
              <a:rPr sz="1550" spc="18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Book</a:t>
            </a:r>
            <a:r>
              <a:rPr sz="1550" spc="125" dirty="0">
                <a:latin typeface="Cambria"/>
                <a:cs typeface="Cambria"/>
              </a:rPr>
              <a:t> </a:t>
            </a:r>
            <a:r>
              <a:rPr sz="1550" spc="35" dirty="0">
                <a:latin typeface="Cambria"/>
                <a:cs typeface="Cambria"/>
              </a:rPr>
              <a:t>Database</a:t>
            </a:r>
            <a:endParaRPr sz="15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95" dirty="0"/>
              <a:t>2.</a:t>
            </a:r>
            <a:r>
              <a:rPr sz="3200" spc="225" dirty="0"/>
              <a:t> </a:t>
            </a:r>
            <a:r>
              <a:rPr sz="3200" spc="130" dirty="0"/>
              <a:t>Architecture</a:t>
            </a:r>
            <a:r>
              <a:rPr sz="3200" spc="260" dirty="0"/>
              <a:t> </a:t>
            </a:r>
            <a:r>
              <a:rPr sz="3200" spc="170" dirty="0"/>
              <a:t>Concepts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217885"/>
              </p:ext>
            </p:extLst>
          </p:nvPr>
        </p:nvGraphicFramePr>
        <p:xfrm>
          <a:off x="403225" y="1044575"/>
          <a:ext cx="11385550" cy="395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9169">
                <a:tc>
                  <a:txBody>
                    <a:bodyPr/>
                    <a:lstStyle/>
                    <a:p>
                      <a:pPr marL="769620" marR="515620" indent="-2381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Architecture </a:t>
                      </a:r>
                      <a:r>
                        <a:rPr sz="2000" b="1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Concept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Definition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Effects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 gridSpan="3"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Structural</a:t>
                      </a:r>
                      <a:r>
                        <a:rPr sz="2000" b="1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45" dirty="0">
                          <a:latin typeface="Times New Roman"/>
                          <a:cs typeface="Times New Roman"/>
                        </a:rPr>
                        <a:t>Partitioning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840">
                <a:tc>
                  <a:txBody>
                    <a:bodyPr/>
                    <a:lstStyle/>
                    <a:p>
                      <a:pPr marL="91440" marR="9975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Vertical </a:t>
                      </a:r>
                      <a:r>
                        <a:rPr sz="2000" b="1" spc="45" dirty="0">
                          <a:latin typeface="Times New Roman"/>
                          <a:cs typeface="Times New Roman"/>
                        </a:rPr>
                        <a:t>Partitioning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(Factoring)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434975" marR="75565" indent="-342265" algn="just">
                        <a:lnSpc>
                          <a:spcPct val="100000"/>
                        </a:lnSpc>
                        <a:spcBef>
                          <a:spcPts val="265"/>
                        </a:spcBef>
                        <a:buFont typeface="Wingdings"/>
                        <a:buChar char=""/>
                        <a:tabLst>
                          <a:tab pos="436245" algn="l"/>
                        </a:tabLst>
                      </a:pP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Top-</a:t>
                      </a:r>
                      <a:r>
                        <a:rPr sz="2000" spc="7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down</a:t>
                      </a:r>
                      <a:r>
                        <a:rPr sz="2000" spc="41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structure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:</a:t>
                      </a:r>
                      <a:r>
                        <a:rPr sz="2000" spc="42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Control</a:t>
                      </a:r>
                      <a:r>
                        <a:rPr sz="2000" spc="409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and 	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decision-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making</a:t>
                      </a:r>
                      <a:r>
                        <a:rPr sz="2000" spc="3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2000" spc="3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done</a:t>
                      </a:r>
                      <a:r>
                        <a:rPr sz="2000" spc="3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at</a:t>
                      </a:r>
                      <a:r>
                        <a:rPr sz="2000" spc="3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3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top 	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levels.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4975" marR="79375" indent="-342265" algn="just">
                        <a:lnSpc>
                          <a:spcPct val="100000"/>
                        </a:lnSpc>
                        <a:spcBef>
                          <a:spcPts val="10"/>
                        </a:spcBef>
                        <a:buFont typeface="Wingdings"/>
                        <a:buChar char=""/>
                        <a:tabLst>
                          <a:tab pos="436245" algn="l"/>
                        </a:tabLst>
                      </a:pPr>
                      <a:r>
                        <a:rPr sz="2000" spc="9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High-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level</a:t>
                      </a:r>
                      <a:r>
                        <a:rPr sz="2000" spc="42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modules</a:t>
                      </a:r>
                      <a:r>
                        <a:rPr sz="2000" spc="43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350" dirty="0">
                          <a:latin typeface="Cambria"/>
                          <a:cs typeface="Cambria"/>
                        </a:rPr>
                        <a:t>→</a:t>
                      </a:r>
                      <a:r>
                        <a:rPr sz="2000" spc="42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65" dirty="0">
                          <a:latin typeface="Cambria"/>
                          <a:cs typeface="Cambria"/>
                        </a:rPr>
                        <a:t>Handle 	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control</a:t>
                      </a:r>
                      <a:r>
                        <a:rPr sz="20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functions</a:t>
                      </a:r>
                      <a:r>
                        <a:rPr sz="20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(decision</a:t>
                      </a:r>
                      <a:r>
                        <a:rPr sz="2000" spc="2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35" dirty="0">
                          <a:latin typeface="Cambria"/>
                          <a:cs typeface="Cambria"/>
                        </a:rPr>
                        <a:t>making).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4975" marR="79375" indent="-342265" algn="just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Wingdings"/>
                        <a:buChar char=""/>
                        <a:tabLst>
                          <a:tab pos="436245" algn="l"/>
                        </a:tabLst>
                      </a:pPr>
                      <a:r>
                        <a:rPr sz="2000" spc="6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Low-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level</a:t>
                      </a:r>
                      <a:r>
                        <a:rPr sz="2000" spc="48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modules</a:t>
                      </a:r>
                      <a:r>
                        <a:rPr sz="2000" spc="49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350" dirty="0">
                          <a:latin typeface="Cambria"/>
                          <a:cs typeface="Cambria"/>
                        </a:rPr>
                        <a:t>→</a:t>
                      </a:r>
                      <a:r>
                        <a:rPr sz="2000" spc="484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65" dirty="0">
                          <a:latin typeface="Cambria"/>
                          <a:cs typeface="Cambria"/>
                        </a:rPr>
                        <a:t>Handle 	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execution</a:t>
                      </a:r>
                      <a:r>
                        <a:rPr sz="2000" spc="45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(input,</a:t>
                      </a:r>
                      <a:r>
                        <a:rPr sz="2000" spc="45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computation, 	output).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382905" indent="-285750">
                        <a:lnSpc>
                          <a:spcPct val="100000"/>
                        </a:lnSpc>
                        <a:spcBef>
                          <a:spcPts val="240"/>
                        </a:spcBef>
                        <a:buFont typeface="Wingdings"/>
                        <a:buChar char=""/>
                        <a:tabLst>
                          <a:tab pos="382905" algn="l"/>
                          <a:tab pos="1343025" algn="l"/>
                          <a:tab pos="1718945" algn="l"/>
                          <a:tab pos="1992630" algn="l"/>
                          <a:tab pos="2889250" algn="l"/>
                          <a:tab pos="3849370" algn="l"/>
                        </a:tabLst>
                      </a:pPr>
                      <a:r>
                        <a:rPr sz="1800" b="1" spc="50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800" b="1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70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b="1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-50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-10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sz="1800" b="1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85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sz="1800" b="1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235" dirty="0">
                          <a:latin typeface="Cambria"/>
                          <a:cs typeface="Cambria"/>
                        </a:rPr>
                        <a:t>→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  <a:p>
                      <a:pPr marL="3829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spc="45" dirty="0">
                          <a:latin typeface="Cambria"/>
                          <a:cs typeface="Cambria"/>
                        </a:rPr>
                        <a:t>Affects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all</a:t>
                      </a:r>
                      <a:r>
                        <a:rPr sz="18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its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subordinate</a:t>
                      </a:r>
                      <a:r>
                        <a:rPr sz="18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modules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  <a:p>
                      <a:pPr marL="382905" marR="75565" indent="-285750">
                        <a:lnSpc>
                          <a:spcPts val="2100"/>
                        </a:lnSpc>
                        <a:spcBef>
                          <a:spcPts val="140"/>
                        </a:spcBef>
                        <a:buFont typeface="Wingdings"/>
                        <a:buChar char=""/>
                        <a:tabLst>
                          <a:tab pos="382905" algn="l"/>
                        </a:tabLst>
                      </a:pPr>
                      <a:r>
                        <a:rPr sz="1800" b="1" spc="60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800" b="1" spc="90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95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800" b="1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100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worker</a:t>
                      </a:r>
                      <a:r>
                        <a:rPr sz="1800" b="1" spc="130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90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sz="1800" b="1" spc="105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285" dirty="0">
                          <a:latin typeface="Cambria"/>
                          <a:cs typeface="Cambria"/>
                        </a:rPr>
                        <a:t>→</a:t>
                      </a:r>
                      <a:r>
                        <a:rPr sz="18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Has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minimal</a:t>
                      </a:r>
                      <a:r>
                        <a:rPr sz="1800" spc="2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impact</a:t>
                      </a:r>
                      <a:r>
                        <a:rPr sz="1800" spc="2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1800" spc="1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other</a:t>
                      </a:r>
                      <a:r>
                        <a:rPr sz="18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35" dirty="0">
                          <a:latin typeface="Cambria"/>
                          <a:cs typeface="Cambria"/>
                        </a:rPr>
                        <a:t>modules.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95" dirty="0"/>
              <a:t>2.</a:t>
            </a:r>
            <a:r>
              <a:rPr sz="3200" spc="225" dirty="0"/>
              <a:t> </a:t>
            </a:r>
            <a:r>
              <a:rPr sz="3200" spc="130" dirty="0"/>
              <a:t>Architecture</a:t>
            </a:r>
            <a:r>
              <a:rPr sz="3200" spc="260" dirty="0"/>
              <a:t> </a:t>
            </a:r>
            <a:r>
              <a:rPr sz="3200" spc="170" dirty="0"/>
              <a:t>Concepts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3225" y="1044575"/>
          <a:ext cx="11385550" cy="53568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9169"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Architecture</a:t>
                      </a:r>
                      <a:r>
                        <a:rPr sz="1800" b="1" spc="3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Concept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Definition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Effects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 gridSpan="3"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Structural</a:t>
                      </a:r>
                      <a:r>
                        <a:rPr sz="1800" b="1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35" dirty="0">
                          <a:latin typeface="Times New Roman"/>
                          <a:cs typeface="Times New Roman"/>
                        </a:rPr>
                        <a:t>Partitioning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0">
                <a:tc>
                  <a:txBody>
                    <a:bodyPr/>
                    <a:lstStyle/>
                    <a:p>
                      <a:pPr marL="91440" marR="252095">
                        <a:lnSpc>
                          <a:spcPct val="100800"/>
                        </a:lnSpc>
                        <a:spcBef>
                          <a:spcPts val="22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Vertical</a:t>
                      </a:r>
                      <a:r>
                        <a:rPr sz="1800" b="1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35" dirty="0">
                          <a:latin typeface="Times New Roman"/>
                          <a:cs typeface="Times New Roman"/>
                        </a:rPr>
                        <a:t>Partitioning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(Factoring)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434975" marR="78740" indent="-342265" algn="just">
                        <a:lnSpc>
                          <a:spcPct val="100800"/>
                        </a:lnSpc>
                        <a:spcBef>
                          <a:spcPts val="220"/>
                        </a:spcBef>
                        <a:buFont typeface="Wingdings"/>
                        <a:buChar char=""/>
                        <a:tabLst>
                          <a:tab pos="436245" algn="l"/>
                        </a:tabLst>
                      </a:pP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Top-</a:t>
                      </a:r>
                      <a:r>
                        <a:rPr sz="1800" spc="7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down</a:t>
                      </a:r>
                      <a:r>
                        <a:rPr sz="1800" spc="484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structure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:</a:t>
                      </a:r>
                      <a:r>
                        <a:rPr sz="1800" spc="484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Control</a:t>
                      </a:r>
                      <a:r>
                        <a:rPr sz="1800" spc="484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and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decision-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making</a:t>
                      </a:r>
                      <a:r>
                        <a:rPr sz="1800" spc="28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1800" spc="29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done</a:t>
                      </a:r>
                      <a:r>
                        <a:rPr sz="1800" spc="30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at</a:t>
                      </a:r>
                      <a:r>
                        <a:rPr sz="1800" spc="31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30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top 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levels.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436245" marR="83185" indent="-343535">
                        <a:lnSpc>
                          <a:spcPts val="2100"/>
                        </a:lnSpc>
                        <a:spcBef>
                          <a:spcPts val="140"/>
                        </a:spcBef>
                        <a:buFont typeface="Wingdings"/>
                        <a:buChar char=""/>
                        <a:tabLst>
                          <a:tab pos="436245" algn="l"/>
                          <a:tab pos="1648460" algn="l"/>
                          <a:tab pos="2663190" algn="l"/>
                          <a:tab pos="3028315" algn="l"/>
                          <a:tab pos="3919220" algn="l"/>
                        </a:tabLst>
                      </a:pPr>
                      <a:r>
                        <a:rPr sz="1800" spc="8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High-</a:t>
                      </a:r>
                      <a:r>
                        <a:rPr sz="18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level</a:t>
                      </a: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modules</a:t>
                      </a: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235" dirty="0">
                          <a:latin typeface="Cambria"/>
                          <a:cs typeface="Cambria"/>
                        </a:rPr>
                        <a:t>→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Handle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control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functions</a:t>
                      </a:r>
                      <a:r>
                        <a:rPr sz="1800" spc="2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(decision</a:t>
                      </a:r>
                      <a:r>
                        <a:rPr sz="1800" spc="2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making).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436245" marR="76200" indent="-343535">
                        <a:lnSpc>
                          <a:spcPts val="2180"/>
                        </a:lnSpc>
                        <a:spcBef>
                          <a:spcPts val="15"/>
                        </a:spcBef>
                        <a:buFont typeface="Wingdings"/>
                        <a:buChar char=""/>
                        <a:tabLst>
                          <a:tab pos="436245" algn="l"/>
                        </a:tabLst>
                      </a:pPr>
                      <a:r>
                        <a:rPr sz="1800" spc="6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Low-</a:t>
                      </a: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level</a:t>
                      </a:r>
                      <a:r>
                        <a:rPr sz="1800" spc="36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modules</a:t>
                      </a:r>
                      <a:r>
                        <a:rPr sz="1800" spc="40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285" dirty="0">
                          <a:latin typeface="Cambria"/>
                          <a:cs typeface="Cambria"/>
                        </a:rPr>
                        <a:t>→</a:t>
                      </a:r>
                      <a:r>
                        <a:rPr sz="1800" spc="4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Handle</a:t>
                      </a:r>
                      <a:r>
                        <a:rPr sz="1800" spc="3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execution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(input,</a:t>
                      </a:r>
                      <a:r>
                        <a:rPr sz="1800" spc="3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computation,</a:t>
                      </a:r>
                      <a:r>
                        <a:rPr sz="1800" spc="3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output).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436245" indent="-342900">
                        <a:lnSpc>
                          <a:spcPts val="2100"/>
                        </a:lnSpc>
                        <a:buFont typeface="Wingdings"/>
                        <a:buChar char=""/>
                        <a:tabLst>
                          <a:tab pos="436245" algn="l"/>
                          <a:tab pos="768350" algn="l"/>
                          <a:tab pos="1804035" algn="l"/>
                          <a:tab pos="2853055" algn="l"/>
                          <a:tab pos="3350260" algn="l"/>
                          <a:tab pos="4236720" algn="l"/>
                        </a:tabLst>
                      </a:pPr>
                      <a:r>
                        <a:rPr sz="1800" spc="-25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involves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5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dividing</a:t>
                      </a:r>
                      <a:r>
                        <a:rPr sz="18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system</a:t>
                      </a:r>
                      <a:r>
                        <a:rPr sz="18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into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436245" marR="81915">
                        <a:lnSpc>
                          <a:spcPts val="2110"/>
                        </a:lnSpc>
                        <a:spcBef>
                          <a:spcPts val="130"/>
                        </a:spcBef>
                        <a:tabLst>
                          <a:tab pos="2110105" algn="l"/>
                          <a:tab pos="3526154" algn="l"/>
                          <a:tab pos="4420870" algn="l"/>
                        </a:tabLst>
                      </a:pPr>
                      <a:r>
                        <a:rPr sz="1800" spc="-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independent</a:t>
                      </a:r>
                      <a:r>
                        <a:rPr sz="18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functional</a:t>
                      </a:r>
                      <a:r>
                        <a:rPr sz="18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units</a:t>
                      </a:r>
                      <a:r>
                        <a:rPr sz="18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or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subsystems.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434975" marR="80645" indent="-342265" algn="just">
                        <a:lnSpc>
                          <a:spcPts val="2180"/>
                        </a:lnSpc>
                        <a:spcBef>
                          <a:spcPts val="10"/>
                        </a:spcBef>
                        <a:buFont typeface="Wingdings"/>
                        <a:buChar char=""/>
                        <a:tabLst>
                          <a:tab pos="436245" algn="l"/>
                        </a:tabLst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Each</a:t>
                      </a:r>
                      <a:r>
                        <a:rPr sz="1800" spc="2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subsystem</a:t>
                      </a:r>
                      <a:r>
                        <a:rPr sz="18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handles</a:t>
                      </a:r>
                      <a:r>
                        <a:rPr sz="1800" spc="18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18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specific</a:t>
                      </a:r>
                      <a:r>
                        <a:rPr sz="1800" spc="17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part</a:t>
                      </a:r>
                      <a:r>
                        <a:rPr sz="1800" spc="18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of 	</a:t>
                      </a:r>
                      <a:r>
                        <a:rPr sz="18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9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system's</a:t>
                      </a:r>
                      <a:r>
                        <a:rPr sz="1800" spc="10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functionality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,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such</a:t>
                      </a:r>
                      <a:r>
                        <a:rPr sz="1800" spc="114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as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user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management,</a:t>
                      </a:r>
                      <a:r>
                        <a:rPr sz="1800" spc="36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book</a:t>
                      </a:r>
                      <a:r>
                        <a:rPr sz="1800" spc="36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inventory,</a:t>
                      </a:r>
                      <a:r>
                        <a:rPr sz="1800" spc="37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or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transaction</a:t>
                      </a:r>
                      <a:r>
                        <a:rPr sz="18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management.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382905" marR="74295" indent="-285750">
                        <a:lnSpc>
                          <a:spcPct val="100899"/>
                        </a:lnSpc>
                        <a:spcBef>
                          <a:spcPts val="320"/>
                        </a:spcBef>
                        <a:buFont typeface="Wingdings"/>
                        <a:buChar char=""/>
                        <a:tabLst>
                          <a:tab pos="382905" algn="l"/>
                        </a:tabLst>
                      </a:pPr>
                      <a:r>
                        <a:rPr sz="1550" b="1" spc="75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550" b="1" spc="250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b="1" spc="95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550" b="1" spc="275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b="1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550" b="1" spc="265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b="1" spc="55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sz="1550" b="1" spc="250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b="1" spc="105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sz="1550" b="1" spc="275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270" dirty="0">
                          <a:latin typeface="Cambria"/>
                          <a:cs typeface="Cambria"/>
                        </a:rPr>
                        <a:t>→</a:t>
                      </a:r>
                      <a:r>
                        <a:rPr sz="1550" spc="3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50" spc="50" dirty="0">
                          <a:latin typeface="Cambria"/>
                          <a:cs typeface="Cambria"/>
                        </a:rPr>
                        <a:t>Affects </a:t>
                      </a:r>
                      <a:r>
                        <a:rPr sz="1550" dirty="0">
                          <a:latin typeface="Cambria"/>
                          <a:cs typeface="Cambria"/>
                        </a:rPr>
                        <a:t>all</a:t>
                      </a:r>
                      <a:r>
                        <a:rPr sz="1550" spc="20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50" dirty="0">
                          <a:latin typeface="Cambria"/>
                          <a:cs typeface="Cambria"/>
                        </a:rPr>
                        <a:t>its</a:t>
                      </a:r>
                      <a:r>
                        <a:rPr sz="1550" spc="2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50" dirty="0">
                          <a:latin typeface="Cambria"/>
                          <a:cs typeface="Cambria"/>
                        </a:rPr>
                        <a:t>subordinate</a:t>
                      </a:r>
                      <a:r>
                        <a:rPr sz="1550" spc="2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50" spc="50" dirty="0">
                          <a:latin typeface="Cambria"/>
                          <a:cs typeface="Cambria"/>
                        </a:rPr>
                        <a:t>modules</a:t>
                      </a:r>
                      <a:endParaRPr sz="155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  <a:buClr>
                          <a:srgbClr val="E64722"/>
                        </a:buClr>
                        <a:buFont typeface="Wingdings"/>
                        <a:buChar char=""/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382905" marR="71755" indent="-285750">
                        <a:lnSpc>
                          <a:spcPct val="100899"/>
                        </a:lnSpc>
                        <a:buFont typeface="Wingdings"/>
                        <a:buChar char=""/>
                        <a:tabLst>
                          <a:tab pos="382905" algn="l"/>
                          <a:tab pos="1536065" algn="l"/>
                          <a:tab pos="3720465" algn="l"/>
                        </a:tabLst>
                      </a:pPr>
                      <a:r>
                        <a:rPr sz="1550" b="1" spc="75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550" b="1" spc="110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550" b="1" spc="65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550" b="1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	a</a:t>
                      </a:r>
                      <a:r>
                        <a:rPr sz="1550" b="1" spc="114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550" b="1" spc="65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worker</a:t>
                      </a:r>
                      <a:r>
                        <a:rPr sz="1550" b="1" spc="105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  module</a:t>
                      </a:r>
                      <a:r>
                        <a:rPr sz="1550" b="1" spc="114" dirty="0">
                          <a:solidFill>
                            <a:srgbClr val="E64722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550" spc="220" dirty="0">
                          <a:latin typeface="Cambria"/>
                          <a:cs typeface="Cambria"/>
                        </a:rPr>
                        <a:t>→</a:t>
                      </a:r>
                      <a:r>
                        <a:rPr sz="15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550" spc="85" dirty="0">
                          <a:latin typeface="Cambria"/>
                          <a:cs typeface="Cambria"/>
                        </a:rPr>
                        <a:t>Has </a:t>
                      </a:r>
                      <a:r>
                        <a:rPr sz="1550" spc="60" dirty="0">
                          <a:latin typeface="Cambria"/>
                          <a:cs typeface="Cambria"/>
                        </a:rPr>
                        <a:t>minimal</a:t>
                      </a:r>
                      <a:r>
                        <a:rPr sz="155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50" dirty="0">
                          <a:latin typeface="Cambria"/>
                          <a:cs typeface="Cambria"/>
                        </a:rPr>
                        <a:t>impact</a:t>
                      </a:r>
                      <a:r>
                        <a:rPr sz="155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50" spc="55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155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50" dirty="0">
                          <a:latin typeface="Cambria"/>
                          <a:cs typeface="Cambria"/>
                        </a:rPr>
                        <a:t>other</a:t>
                      </a:r>
                      <a:r>
                        <a:rPr sz="1550" spc="20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50" spc="50" dirty="0">
                          <a:latin typeface="Cambria"/>
                          <a:cs typeface="Cambria"/>
                        </a:rPr>
                        <a:t>modules.</a:t>
                      </a:r>
                      <a:endParaRPr sz="155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45" dirty="0"/>
              <a:t> </a:t>
            </a:r>
            <a:r>
              <a:rPr sz="3200" spc="195" dirty="0"/>
              <a:t>2.</a:t>
            </a:r>
            <a:r>
              <a:rPr sz="3200" spc="225" dirty="0"/>
              <a:t> </a:t>
            </a:r>
            <a:r>
              <a:rPr sz="3200" spc="130" dirty="0"/>
              <a:t>Architecture</a:t>
            </a:r>
            <a:r>
              <a:rPr sz="3200" spc="295" dirty="0"/>
              <a:t> </a:t>
            </a:r>
            <a:r>
              <a:rPr sz="3200" spc="-455" dirty="0"/>
              <a:t>–</a:t>
            </a:r>
            <a:r>
              <a:rPr sz="3200" spc="245" dirty="0"/>
              <a:t> </a:t>
            </a:r>
            <a:r>
              <a:rPr sz="3200" spc="110" dirty="0"/>
              <a:t>Vertical</a:t>
            </a:r>
            <a:r>
              <a:rPr sz="3200" spc="220" dirty="0"/>
              <a:t> </a:t>
            </a:r>
            <a:r>
              <a:rPr sz="3200" spc="90" dirty="0"/>
              <a:t>Partitioning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22413"/>
            <a:ext cx="6351270" cy="5271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31140" algn="just">
              <a:lnSpc>
                <a:spcPct val="130400"/>
              </a:lnSpc>
              <a:spcBef>
                <a:spcPts val="95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dirty="0">
                <a:latin typeface="Cambria"/>
                <a:cs typeface="Cambria"/>
              </a:rPr>
              <a:t>	Each</a:t>
            </a:r>
            <a:r>
              <a:rPr sz="2400" spc="4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subsystem</a:t>
            </a:r>
            <a:r>
              <a:rPr sz="2400" spc="5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5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independent</a:t>
            </a:r>
            <a:r>
              <a:rPr sz="2400" spc="46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4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focuses </a:t>
            </a:r>
            <a:r>
              <a:rPr sz="2400" spc="55" dirty="0">
                <a:latin typeface="Cambria"/>
                <a:cs typeface="Cambria"/>
              </a:rPr>
              <a:t>on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specific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aspect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of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system.</a:t>
            </a:r>
            <a:endParaRPr sz="2400">
              <a:latin typeface="Cambria"/>
              <a:cs typeface="Cambria"/>
            </a:endParaRPr>
          </a:p>
          <a:p>
            <a:pPr marL="241300" marR="6350" indent="-231140" algn="just">
              <a:lnSpc>
                <a:spcPct val="130400"/>
              </a:lnSpc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dirty="0">
                <a:latin typeface="Cambria"/>
                <a:cs typeface="Cambria"/>
              </a:rPr>
              <a:t>	For</a:t>
            </a:r>
            <a:r>
              <a:rPr sz="2400" spc="525" dirty="0">
                <a:latin typeface="Cambria"/>
                <a:cs typeface="Cambria"/>
              </a:rPr>
              <a:t>   </a:t>
            </a:r>
            <a:r>
              <a:rPr sz="2400" dirty="0">
                <a:latin typeface="Cambria"/>
                <a:cs typeface="Cambria"/>
              </a:rPr>
              <a:t>example,</a:t>
            </a:r>
            <a:r>
              <a:rPr sz="2400" spc="525" dirty="0">
                <a:latin typeface="Cambria"/>
                <a:cs typeface="Cambria"/>
              </a:rPr>
              <a:t> 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520" dirty="0">
                <a:latin typeface="Cambria"/>
                <a:cs typeface="Cambria"/>
              </a:rPr>
              <a:t>   </a:t>
            </a:r>
            <a:r>
              <a:rPr sz="2400" spc="55" dirty="0">
                <a:solidFill>
                  <a:srgbClr val="FF1C05"/>
                </a:solidFill>
                <a:latin typeface="Cambria"/>
                <a:cs typeface="Cambria"/>
              </a:rPr>
              <a:t>User</a:t>
            </a:r>
            <a:r>
              <a:rPr sz="2400" spc="509" dirty="0">
                <a:solidFill>
                  <a:srgbClr val="FF1C05"/>
                </a:solidFill>
                <a:latin typeface="Cambria"/>
                <a:cs typeface="Cambria"/>
              </a:rPr>
              <a:t>   </a:t>
            </a:r>
            <a:r>
              <a:rPr sz="2400" spc="50" dirty="0">
                <a:solidFill>
                  <a:srgbClr val="FF1C05"/>
                </a:solidFill>
                <a:latin typeface="Cambria"/>
                <a:cs typeface="Cambria"/>
              </a:rPr>
              <a:t>Management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Subsystem</a:t>
            </a:r>
            <a:r>
              <a:rPr sz="2400" spc="24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is</a:t>
            </a:r>
            <a:r>
              <a:rPr sz="2400" spc="26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responsible</a:t>
            </a:r>
            <a:r>
              <a:rPr sz="2400" spc="25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for</a:t>
            </a:r>
            <a:r>
              <a:rPr sz="2400" spc="26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400" spc="60" dirty="0">
                <a:solidFill>
                  <a:srgbClr val="FF1C05"/>
                </a:solidFill>
                <a:latin typeface="Cambria"/>
                <a:cs typeface="Cambria"/>
              </a:rPr>
              <a:t>handling</a:t>
            </a:r>
            <a:r>
              <a:rPr sz="2400" spc="26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400" spc="-25" dirty="0">
                <a:solidFill>
                  <a:srgbClr val="FF1C05"/>
                </a:solidFill>
                <a:latin typeface="Cambria"/>
                <a:cs typeface="Cambria"/>
              </a:rPr>
              <a:t>all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user-related</a:t>
            </a:r>
            <a:r>
              <a:rPr sz="2400" spc="37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tasks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while</a:t>
            </a:r>
            <a:r>
              <a:rPr sz="2400" spc="3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Book</a:t>
            </a:r>
            <a:r>
              <a:rPr sz="2400" spc="33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1C05"/>
                </a:solidFill>
                <a:latin typeface="Cambria"/>
                <a:cs typeface="Cambria"/>
              </a:rPr>
              <a:t>Inventory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Subsystem</a:t>
            </a:r>
            <a:r>
              <a:rPr sz="2400" spc="29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manages</a:t>
            </a:r>
            <a:r>
              <a:rPr sz="2400" spc="34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book-related</a:t>
            </a:r>
            <a:r>
              <a:rPr sz="2400" spc="33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1C05"/>
                </a:solidFill>
                <a:latin typeface="Cambria"/>
                <a:cs typeface="Cambria"/>
              </a:rPr>
              <a:t>tasks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241300" marR="6350" indent="-231140" algn="just">
              <a:lnSpc>
                <a:spcPct val="130400"/>
              </a:lnSpc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dirty="0">
                <a:latin typeface="Cambria"/>
                <a:cs typeface="Cambria"/>
              </a:rPr>
              <a:t>	These</a:t>
            </a:r>
            <a:r>
              <a:rPr sz="2400" spc="36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subsystems</a:t>
            </a:r>
            <a:r>
              <a:rPr sz="2400" spc="34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36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communicate</a:t>
            </a:r>
            <a:r>
              <a:rPr sz="2400" spc="375" dirty="0">
                <a:latin typeface="Cambria"/>
                <a:cs typeface="Cambria"/>
              </a:rPr>
              <a:t>  </a:t>
            </a:r>
            <a:r>
              <a:rPr sz="2400" spc="35" dirty="0">
                <a:latin typeface="Cambria"/>
                <a:cs typeface="Cambria"/>
              </a:rPr>
              <a:t>with </a:t>
            </a:r>
            <a:r>
              <a:rPr sz="2400" dirty="0">
                <a:latin typeface="Cambria"/>
                <a:cs typeface="Cambria"/>
              </a:rPr>
              <a:t>each</a:t>
            </a:r>
            <a:r>
              <a:rPr sz="2400" spc="6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other</a:t>
            </a:r>
            <a:r>
              <a:rPr sz="2400" spc="80" dirty="0">
                <a:latin typeface="Cambria"/>
                <a:cs typeface="Cambria"/>
              </a:rPr>
              <a:t>  </a:t>
            </a:r>
            <a:r>
              <a:rPr sz="2400" spc="50" dirty="0">
                <a:latin typeface="Cambria"/>
                <a:cs typeface="Cambria"/>
              </a:rPr>
              <a:t>through</a:t>
            </a:r>
            <a:r>
              <a:rPr sz="2400" spc="6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well-</a:t>
            </a:r>
            <a:r>
              <a:rPr sz="2400" spc="45" dirty="0">
                <a:latin typeface="Cambria"/>
                <a:cs typeface="Cambria"/>
              </a:rPr>
              <a:t>defined</a:t>
            </a:r>
            <a:r>
              <a:rPr sz="2400" spc="75" dirty="0">
                <a:latin typeface="Cambria"/>
                <a:cs typeface="Cambria"/>
              </a:rPr>
              <a:t>  </a:t>
            </a:r>
            <a:r>
              <a:rPr sz="2400" spc="-10" dirty="0">
                <a:latin typeface="Cambria"/>
                <a:cs typeface="Cambria"/>
              </a:rPr>
              <a:t>interfaces, </a:t>
            </a:r>
            <a:r>
              <a:rPr sz="2400" dirty="0">
                <a:latin typeface="Cambria"/>
                <a:cs typeface="Cambria"/>
              </a:rPr>
              <a:t>but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they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otherwise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decoupled.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20"/>
              </a:spcBef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marL="255270" indent="-244475">
              <a:lnSpc>
                <a:spcPct val="100000"/>
              </a:lnSpc>
              <a:buSzPct val="95833"/>
              <a:buFont typeface="Wingdings"/>
              <a:buChar char=""/>
              <a:tabLst>
                <a:tab pos="255270" algn="l"/>
              </a:tabLst>
            </a:pPr>
            <a:r>
              <a:rPr sz="2400" spc="95" dirty="0">
                <a:latin typeface="Cambria"/>
                <a:cs typeface="Cambria"/>
              </a:rPr>
              <a:t>Allows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better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scalability</a:t>
            </a:r>
            <a:r>
              <a:rPr sz="2400" spc="114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FF1C05"/>
                </a:solidFill>
                <a:latin typeface="Cambria"/>
                <a:cs typeface="Cambria"/>
              </a:rPr>
              <a:t>and</a:t>
            </a:r>
            <a:r>
              <a:rPr sz="2400" spc="6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FF1C05"/>
                </a:solidFill>
                <a:latin typeface="Cambria"/>
                <a:cs typeface="Cambria"/>
              </a:rPr>
              <a:t>modularity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6201" y="1737423"/>
            <a:ext cx="4531360" cy="3323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Vertical</a:t>
            </a:r>
            <a:r>
              <a:rPr sz="1800" spc="254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Partitioning: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20"/>
              </a:spcBef>
            </a:pPr>
            <a:r>
              <a:rPr sz="1800" spc="95" dirty="0">
                <a:latin typeface="Cambria"/>
                <a:cs typeface="Cambria"/>
              </a:rPr>
              <a:t>├──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User</a:t>
            </a:r>
            <a:r>
              <a:rPr sz="1800" spc="50" dirty="0">
                <a:latin typeface="Cambria"/>
                <a:cs typeface="Cambria"/>
              </a:rPr>
              <a:t> Management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Subsystem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5"/>
              </a:spcBef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Register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User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ts val="2130"/>
              </a:lnSpc>
              <a:spcBef>
                <a:spcPts val="20"/>
              </a:spcBef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Login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User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ts val="2130"/>
              </a:lnSpc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└──</a:t>
            </a:r>
            <a:r>
              <a:rPr sz="1800" spc="50" dirty="0">
                <a:latin typeface="Cambria"/>
                <a:cs typeface="Cambria"/>
              </a:rPr>
              <a:t> Update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Profile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20"/>
              </a:spcBef>
            </a:pPr>
            <a:r>
              <a:rPr sz="1800" spc="95" dirty="0">
                <a:latin typeface="Cambria"/>
                <a:cs typeface="Cambria"/>
              </a:rPr>
              <a:t>├──</a:t>
            </a:r>
            <a:r>
              <a:rPr sz="1800" spc="2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Book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Inventory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Subsystem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5"/>
              </a:spcBef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145" dirty="0">
                <a:latin typeface="Cambria"/>
                <a:cs typeface="Cambria"/>
              </a:rPr>
              <a:t>Add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Book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20"/>
              </a:spcBef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Remove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Book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ts val="2130"/>
              </a:lnSpc>
              <a:spcBef>
                <a:spcPts val="15"/>
              </a:spcBef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└──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Check</a:t>
            </a:r>
            <a:r>
              <a:rPr sz="1800" spc="3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Availability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ts val="2130"/>
              </a:lnSpc>
            </a:pPr>
            <a:r>
              <a:rPr sz="1800" spc="95" dirty="0">
                <a:latin typeface="Cambria"/>
                <a:cs typeface="Cambria"/>
              </a:rPr>
              <a:t>└──</a:t>
            </a:r>
            <a:r>
              <a:rPr sz="1800" spc="3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Transaction</a:t>
            </a:r>
            <a:r>
              <a:rPr sz="1800" spc="2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Management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Subsystem</a:t>
            </a:r>
            <a:endParaRPr sz="18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20"/>
              </a:spcBef>
            </a:pPr>
            <a:r>
              <a:rPr sz="1800" spc="95" dirty="0">
                <a:latin typeface="Cambria"/>
                <a:cs typeface="Cambria"/>
              </a:rPr>
              <a:t>├──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Borrow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Book</a:t>
            </a:r>
            <a:endParaRPr sz="18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20"/>
              </a:spcBef>
            </a:pPr>
            <a:r>
              <a:rPr sz="1800" spc="95" dirty="0">
                <a:latin typeface="Cambria"/>
                <a:cs typeface="Cambria"/>
              </a:rPr>
              <a:t>└──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Return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Book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95" dirty="0"/>
              <a:t>2.</a:t>
            </a:r>
            <a:r>
              <a:rPr sz="3200" spc="225" dirty="0"/>
              <a:t> </a:t>
            </a:r>
            <a:r>
              <a:rPr sz="3200" spc="130" dirty="0"/>
              <a:t>Architecture</a:t>
            </a:r>
            <a:r>
              <a:rPr sz="3200" spc="260" dirty="0"/>
              <a:t> </a:t>
            </a:r>
            <a:r>
              <a:rPr sz="3200" spc="170" dirty="0"/>
              <a:t>Concepts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3225" y="1044575"/>
          <a:ext cx="11385550" cy="4362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9169">
                <a:tc>
                  <a:txBody>
                    <a:bodyPr/>
                    <a:lstStyle/>
                    <a:p>
                      <a:pPr marL="769620" marR="515620" indent="-2381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Architecture </a:t>
                      </a:r>
                      <a:r>
                        <a:rPr sz="2000" b="1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Concept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Definition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Specifies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79">
                <a:tc>
                  <a:txBody>
                    <a:bodyPr/>
                    <a:lstStyle/>
                    <a:p>
                      <a:pPr marL="91440" marR="84455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1858010" algn="l"/>
                        </a:tabLst>
                      </a:pPr>
                      <a:r>
                        <a:rPr sz="2000" b="1" spc="35" dirty="0">
                          <a:latin typeface="Times New Roman"/>
                          <a:cs typeface="Times New Roman"/>
                        </a:rPr>
                        <a:t>Logical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2000" b="1" spc="50" dirty="0">
                          <a:latin typeface="Times New Roman"/>
                          <a:cs typeface="Times New Roman"/>
                        </a:rPr>
                        <a:t>Representation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434975" marR="79375" indent="-342265" algn="just">
                        <a:lnSpc>
                          <a:spcPct val="100000"/>
                        </a:lnSpc>
                        <a:spcBef>
                          <a:spcPts val="260"/>
                        </a:spcBef>
                        <a:buFont typeface="Wingdings"/>
                        <a:buChar char=""/>
                        <a:tabLst>
                          <a:tab pos="436245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Defines</a:t>
                      </a:r>
                      <a:r>
                        <a:rPr sz="2000" spc="229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7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how</a:t>
                      </a:r>
                      <a:r>
                        <a:rPr sz="2000" spc="229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data</a:t>
                      </a:r>
                      <a:r>
                        <a:rPr sz="2000" spc="25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elements 	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relate</a:t>
                      </a:r>
                      <a:r>
                        <a:rPr sz="2000" spc="7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sz="2000" spc="2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each</a:t>
                      </a:r>
                      <a:r>
                        <a:rPr sz="2000" spc="4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other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4975" marR="74930" indent="-342265" algn="just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Wingdings"/>
                        <a:buChar char=""/>
                        <a:tabLst>
                          <a:tab pos="436245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Refers</a:t>
                      </a:r>
                      <a:r>
                        <a:rPr sz="2000" spc="29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000" spc="28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spc="7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how</a:t>
                      </a:r>
                      <a:r>
                        <a:rPr sz="2000" spc="29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data</a:t>
                      </a:r>
                      <a:r>
                        <a:rPr sz="2000" spc="3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spc="-2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is 	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structured</a:t>
                      </a:r>
                      <a:r>
                        <a:rPr sz="2000" spc="4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spc="6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39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organized 	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within</a:t>
                      </a:r>
                      <a:r>
                        <a:rPr sz="20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2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system.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4975" marR="75565" indent="-342265" algn="just">
                        <a:lnSpc>
                          <a:spcPct val="100000"/>
                        </a:lnSpc>
                        <a:spcBef>
                          <a:spcPts val="10"/>
                        </a:spcBef>
                        <a:buFont typeface="Wingdings"/>
                        <a:buChar char=""/>
                        <a:tabLst>
                          <a:tab pos="436245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2000" spc="35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focuses</a:t>
                      </a:r>
                      <a:r>
                        <a:rPr sz="2000" spc="35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2000" spc="33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35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logical 	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relationships</a:t>
                      </a:r>
                      <a:r>
                        <a:rPr sz="2000" spc="484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between</a:t>
                      </a:r>
                      <a:r>
                        <a:rPr sz="2000" spc="484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-2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data 	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entities</a:t>
                      </a:r>
                      <a:r>
                        <a:rPr sz="2000" spc="15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rather</a:t>
                      </a:r>
                      <a:r>
                        <a:rPr sz="2000" spc="114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than</a:t>
                      </a:r>
                      <a:r>
                        <a:rPr sz="20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physical 	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storage</a:t>
                      </a:r>
                      <a:r>
                        <a:rPr sz="20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details.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382270" indent="-285750">
                        <a:lnSpc>
                          <a:spcPct val="100000"/>
                        </a:lnSpc>
                        <a:spcBef>
                          <a:spcPts val="235"/>
                        </a:spcBef>
                        <a:buFont typeface="Wingdings"/>
                        <a:buChar char=""/>
                        <a:tabLst>
                          <a:tab pos="382270" algn="l"/>
                        </a:tabLst>
                      </a:pPr>
                      <a:r>
                        <a:rPr sz="1800" b="1" spc="50" dirty="0">
                          <a:latin typeface="Times New Roman"/>
                          <a:cs typeface="Times New Roman"/>
                        </a:rPr>
                        <a:t>Specifies: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82270" marR="75565" indent="-286385">
                        <a:lnSpc>
                          <a:spcPts val="2180"/>
                        </a:lnSpc>
                        <a:spcBef>
                          <a:spcPts val="70"/>
                        </a:spcBef>
                        <a:buFont typeface="Wingdings"/>
                        <a:buChar char=""/>
                        <a:tabLst>
                          <a:tab pos="382270" algn="l"/>
                          <a:tab pos="1216660" algn="l"/>
                          <a:tab pos="2858135" algn="l"/>
                          <a:tab pos="3738879" algn="l"/>
                          <a:tab pos="4537075" algn="l"/>
                        </a:tabLst>
                      </a:pPr>
                      <a:r>
                        <a:rPr sz="1800" spc="-2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Data</a:t>
                      </a: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organization</a:t>
                      </a: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(how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is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structured).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82270" indent="-285750">
                        <a:lnSpc>
                          <a:spcPct val="100000"/>
                        </a:lnSpc>
                        <a:spcBef>
                          <a:spcPts val="2045"/>
                        </a:spcBef>
                        <a:buFont typeface="Wingdings"/>
                        <a:buChar char=""/>
                        <a:tabLst>
                          <a:tab pos="382270" algn="l"/>
                        </a:tabLst>
                      </a:pPr>
                      <a:r>
                        <a:rPr sz="1800" spc="4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Methods</a:t>
                      </a:r>
                      <a:r>
                        <a:rPr sz="1800" spc="1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114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access</a:t>
                      </a:r>
                      <a:r>
                        <a:rPr sz="1800" spc="105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(how</a:t>
                      </a:r>
                      <a:r>
                        <a:rPr sz="18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18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retrieved).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  <a:buFont typeface="Wingdings"/>
                        <a:buChar char=""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82270" marR="71120" indent="-286385">
                        <a:lnSpc>
                          <a:spcPct val="100800"/>
                        </a:lnSpc>
                        <a:buFont typeface="Wingdings"/>
                        <a:buChar char=""/>
                        <a:tabLst>
                          <a:tab pos="382270" algn="l"/>
                          <a:tab pos="1939925" algn="l"/>
                          <a:tab pos="2746375" algn="l"/>
                          <a:tab pos="3470275" algn="l"/>
                          <a:tab pos="4385945" algn="l"/>
                        </a:tabLst>
                      </a:pPr>
                      <a:r>
                        <a:rPr sz="1800" spc="-1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Associations</a:t>
                      </a: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(how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points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are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connected).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  <a:buFont typeface="Wingdings"/>
                        <a:buChar char=""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82270" marR="73025" indent="-286385">
                        <a:lnSpc>
                          <a:spcPct val="100800"/>
                        </a:lnSpc>
                        <a:buFont typeface="Wingdings"/>
                        <a:buChar char=""/>
                        <a:tabLst>
                          <a:tab pos="382270" algn="l"/>
                        </a:tabLst>
                      </a:pP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Processing</a:t>
                      </a:r>
                      <a:r>
                        <a:rPr sz="1800" spc="409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alternatives</a:t>
                      </a:r>
                      <a:r>
                        <a:rPr sz="1800" spc="420" dirty="0">
                          <a:solidFill>
                            <a:srgbClr val="E6472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(different</a:t>
                      </a:r>
                      <a:r>
                        <a:rPr sz="1800" spc="4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ways</a:t>
                      </a:r>
                      <a:r>
                        <a:rPr sz="1800" spc="4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to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handle</a:t>
                      </a:r>
                      <a:r>
                        <a:rPr sz="1800" spc="3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data).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0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50" dirty="0"/>
              <a:t>Design</a:t>
            </a:r>
            <a:r>
              <a:rPr sz="2750" spc="285" dirty="0"/>
              <a:t> </a:t>
            </a:r>
            <a:r>
              <a:rPr sz="2750" spc="170" dirty="0"/>
              <a:t>Concepts</a:t>
            </a:r>
            <a:r>
              <a:rPr sz="2750" spc="240" dirty="0"/>
              <a:t> </a:t>
            </a:r>
            <a:r>
              <a:rPr sz="2750" spc="-390" dirty="0"/>
              <a:t>–</a:t>
            </a:r>
            <a:r>
              <a:rPr sz="2750" spc="260" dirty="0"/>
              <a:t> </a:t>
            </a:r>
            <a:r>
              <a:rPr sz="2750" spc="155" dirty="0"/>
              <a:t>2.</a:t>
            </a:r>
            <a:r>
              <a:rPr sz="2750" spc="270" dirty="0"/>
              <a:t> </a:t>
            </a:r>
            <a:r>
              <a:rPr sz="2750" spc="135" dirty="0"/>
              <a:t>Architecture</a:t>
            </a:r>
            <a:r>
              <a:rPr sz="2750" spc="254" dirty="0"/>
              <a:t> </a:t>
            </a:r>
            <a:r>
              <a:rPr sz="2750" spc="80" dirty="0"/>
              <a:t>-</a:t>
            </a:r>
            <a:r>
              <a:rPr sz="2750" spc="265" dirty="0"/>
              <a:t> </a:t>
            </a:r>
            <a:r>
              <a:rPr sz="2750" spc="100" dirty="0"/>
              <a:t>Logical</a:t>
            </a:r>
            <a:r>
              <a:rPr sz="2750" spc="240" dirty="0"/>
              <a:t> </a:t>
            </a:r>
            <a:r>
              <a:rPr sz="2750" spc="165" dirty="0"/>
              <a:t>Data</a:t>
            </a:r>
            <a:r>
              <a:rPr sz="2750" spc="275" dirty="0"/>
              <a:t> </a:t>
            </a:r>
            <a:r>
              <a:rPr sz="2750" spc="125" dirty="0"/>
              <a:t>Representation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488950" y="1026223"/>
            <a:ext cx="6235065" cy="5271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965" algn="just">
              <a:lnSpc>
                <a:spcPct val="133900"/>
              </a:lnSpc>
              <a:spcBef>
                <a:spcPts val="95"/>
              </a:spcBef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dirty="0">
                <a:latin typeface="Cambria"/>
                <a:cs typeface="Cambria"/>
              </a:rPr>
              <a:t>The</a:t>
            </a:r>
            <a:r>
              <a:rPr sz="2150" spc="170" dirty="0">
                <a:latin typeface="Cambria"/>
                <a:cs typeface="Cambria"/>
              </a:rPr>
              <a:t>  </a:t>
            </a:r>
            <a:r>
              <a:rPr sz="2150" spc="80" dirty="0">
                <a:latin typeface="Cambria"/>
                <a:cs typeface="Cambria"/>
              </a:rPr>
              <a:t>Logical</a:t>
            </a:r>
            <a:r>
              <a:rPr sz="2150" spc="150" dirty="0">
                <a:latin typeface="Cambria"/>
                <a:cs typeface="Cambria"/>
              </a:rPr>
              <a:t>  </a:t>
            </a:r>
            <a:r>
              <a:rPr sz="2150" spc="80" dirty="0">
                <a:latin typeface="Cambria"/>
                <a:cs typeface="Cambria"/>
              </a:rPr>
              <a:t>Data</a:t>
            </a:r>
            <a:r>
              <a:rPr sz="2150" spc="17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Representation</a:t>
            </a:r>
            <a:r>
              <a:rPr sz="2150" spc="17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defines</a:t>
            </a:r>
            <a:r>
              <a:rPr sz="2150" spc="195" dirty="0">
                <a:latin typeface="Cambria"/>
                <a:cs typeface="Cambria"/>
              </a:rPr>
              <a:t>  </a:t>
            </a:r>
            <a:r>
              <a:rPr sz="2150" spc="65" dirty="0">
                <a:latin typeface="Cambria"/>
                <a:cs typeface="Cambria"/>
              </a:rPr>
              <a:t>how 	</a:t>
            </a:r>
            <a:r>
              <a:rPr sz="2150" dirty="0">
                <a:latin typeface="Cambria"/>
                <a:cs typeface="Cambria"/>
              </a:rPr>
              <a:t>data</a:t>
            </a:r>
            <a:r>
              <a:rPr sz="2150" spc="52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is</a:t>
            </a:r>
            <a:r>
              <a:rPr sz="2150" spc="50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structured</a:t>
            </a:r>
            <a:r>
              <a:rPr sz="2150" spc="200" dirty="0">
                <a:latin typeface="Cambria"/>
                <a:cs typeface="Cambria"/>
              </a:rPr>
              <a:t>   </a:t>
            </a:r>
            <a:r>
              <a:rPr sz="2150" spc="90" dirty="0">
                <a:latin typeface="Cambria"/>
                <a:cs typeface="Cambria"/>
              </a:rPr>
              <a:t>and</a:t>
            </a:r>
            <a:r>
              <a:rPr sz="2150" spc="51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related</a:t>
            </a:r>
            <a:r>
              <a:rPr sz="2150" spc="204" dirty="0">
                <a:latin typeface="Cambria"/>
                <a:cs typeface="Cambria"/>
              </a:rPr>
              <a:t>   </a:t>
            </a:r>
            <a:r>
              <a:rPr sz="2150" spc="55" dirty="0">
                <a:latin typeface="Cambria"/>
                <a:cs typeface="Cambria"/>
              </a:rPr>
              <a:t>within</a:t>
            </a:r>
            <a:r>
              <a:rPr sz="2150" spc="520" dirty="0">
                <a:latin typeface="Cambria"/>
                <a:cs typeface="Cambria"/>
              </a:rPr>
              <a:t>  </a:t>
            </a:r>
            <a:r>
              <a:rPr sz="2150" spc="-25" dirty="0">
                <a:latin typeface="Cambria"/>
                <a:cs typeface="Cambria"/>
              </a:rPr>
              <a:t>the 	</a:t>
            </a:r>
            <a:r>
              <a:rPr sz="2150" spc="40" dirty="0">
                <a:latin typeface="Cambria"/>
                <a:cs typeface="Cambria"/>
              </a:rPr>
              <a:t>system.</a:t>
            </a:r>
            <a:endParaRPr sz="2150">
              <a:latin typeface="Cambria"/>
              <a:cs typeface="Cambria"/>
            </a:endParaRPr>
          </a:p>
          <a:p>
            <a:pPr marL="241300" marR="9525" indent="-229235" algn="just">
              <a:lnSpc>
                <a:spcPct val="132500"/>
              </a:lnSpc>
              <a:spcBef>
                <a:spcPts val="30"/>
              </a:spcBef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dirty="0">
                <a:latin typeface="Cambria"/>
                <a:cs typeface="Cambria"/>
              </a:rPr>
              <a:t>For</a:t>
            </a:r>
            <a:r>
              <a:rPr sz="2150" spc="150" dirty="0">
                <a:latin typeface="Cambria"/>
                <a:cs typeface="Cambria"/>
              </a:rPr>
              <a:t>  </a:t>
            </a:r>
            <a:r>
              <a:rPr sz="2150" spc="65" dirty="0">
                <a:latin typeface="Cambria"/>
                <a:cs typeface="Cambria"/>
              </a:rPr>
              <a:t>example,</a:t>
            </a:r>
            <a:r>
              <a:rPr sz="2150" spc="13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14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Transaction</a:t>
            </a:r>
            <a:r>
              <a:rPr sz="2150" spc="13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links</a:t>
            </a:r>
            <a:r>
              <a:rPr sz="2150" spc="16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145" dirty="0">
                <a:latin typeface="Cambria"/>
                <a:cs typeface="Cambria"/>
              </a:rPr>
              <a:t>  </a:t>
            </a:r>
            <a:r>
              <a:rPr sz="2150" spc="65" dirty="0">
                <a:latin typeface="Cambria"/>
                <a:cs typeface="Cambria"/>
              </a:rPr>
              <a:t>User</a:t>
            </a:r>
            <a:r>
              <a:rPr sz="2150" spc="16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to</a:t>
            </a:r>
            <a:r>
              <a:rPr sz="2150" spc="125" dirty="0">
                <a:latin typeface="Cambria"/>
                <a:cs typeface="Cambria"/>
              </a:rPr>
              <a:t>  </a:t>
            </a:r>
            <a:r>
              <a:rPr sz="2150" spc="-50" dirty="0">
                <a:latin typeface="Cambria"/>
                <a:cs typeface="Cambria"/>
              </a:rPr>
              <a:t>a </a:t>
            </a:r>
            <a:r>
              <a:rPr sz="2150" spc="50" dirty="0">
                <a:latin typeface="Cambria"/>
                <a:cs typeface="Cambria"/>
              </a:rPr>
              <a:t>Book</a:t>
            </a:r>
            <a:r>
              <a:rPr sz="2150" spc="120" dirty="0">
                <a:latin typeface="Cambria"/>
                <a:cs typeface="Cambria"/>
              </a:rPr>
              <a:t>  </a:t>
            </a:r>
            <a:r>
              <a:rPr sz="2150" spc="105" dirty="0">
                <a:latin typeface="Cambria"/>
                <a:cs typeface="Cambria"/>
              </a:rPr>
              <a:t>,</a:t>
            </a:r>
            <a:r>
              <a:rPr sz="2150" spc="114" dirty="0">
                <a:latin typeface="Cambria"/>
                <a:cs typeface="Cambria"/>
              </a:rPr>
              <a:t>  </a:t>
            </a:r>
            <a:r>
              <a:rPr sz="2150" spc="55" dirty="0">
                <a:latin typeface="Cambria"/>
                <a:cs typeface="Cambria"/>
              </a:rPr>
              <a:t>indicating</a:t>
            </a:r>
            <a:r>
              <a:rPr sz="2150" spc="10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that</a:t>
            </a:r>
            <a:r>
              <a:rPr sz="2150" spc="12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114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user</a:t>
            </a:r>
            <a:r>
              <a:rPr sz="2150" spc="12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has</a:t>
            </a:r>
            <a:r>
              <a:rPr sz="2150" spc="10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borrowed</a:t>
            </a:r>
            <a:r>
              <a:rPr sz="2150" spc="130" dirty="0">
                <a:latin typeface="Cambria"/>
                <a:cs typeface="Cambria"/>
              </a:rPr>
              <a:t>  </a:t>
            </a:r>
            <a:r>
              <a:rPr sz="2150" spc="-50" dirty="0">
                <a:latin typeface="Cambria"/>
                <a:cs typeface="Cambria"/>
              </a:rPr>
              <a:t>a </a:t>
            </a:r>
            <a:r>
              <a:rPr sz="2150" dirty="0">
                <a:latin typeface="Cambria"/>
                <a:cs typeface="Cambria"/>
              </a:rPr>
              <a:t>specific</a:t>
            </a:r>
            <a:r>
              <a:rPr sz="2150" spc="365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book.</a:t>
            </a:r>
            <a:endParaRPr sz="2150">
              <a:latin typeface="Cambria"/>
              <a:cs typeface="Cambria"/>
            </a:endParaRPr>
          </a:p>
          <a:p>
            <a:pPr marL="240029" marR="8255" indent="-227965" algn="just">
              <a:lnSpc>
                <a:spcPct val="133000"/>
              </a:lnSpc>
              <a:spcBef>
                <a:spcPts val="25"/>
              </a:spcBef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dirty="0">
                <a:latin typeface="Cambria"/>
                <a:cs typeface="Cambria"/>
              </a:rPr>
              <a:t>This</a:t>
            </a:r>
            <a:r>
              <a:rPr sz="2150" spc="215" dirty="0">
                <a:latin typeface="Cambria"/>
                <a:cs typeface="Cambria"/>
              </a:rPr>
              <a:t>  </a:t>
            </a:r>
            <a:r>
              <a:rPr sz="2150" spc="50" dirty="0">
                <a:latin typeface="Cambria"/>
                <a:cs typeface="Cambria"/>
              </a:rPr>
              <a:t>logical</a:t>
            </a:r>
            <a:r>
              <a:rPr sz="2150" spc="24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representation</a:t>
            </a:r>
            <a:r>
              <a:rPr sz="2150" spc="24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is</a:t>
            </a:r>
            <a:r>
              <a:rPr sz="2150" spc="220" dirty="0">
                <a:latin typeface="Cambria"/>
                <a:cs typeface="Cambria"/>
              </a:rPr>
              <a:t>  </a:t>
            </a:r>
            <a:r>
              <a:rPr sz="2150" spc="50" dirty="0">
                <a:latin typeface="Cambria"/>
                <a:cs typeface="Cambria"/>
              </a:rPr>
              <a:t>independent</a:t>
            </a:r>
            <a:r>
              <a:rPr sz="2150" spc="254" dirty="0">
                <a:latin typeface="Cambria"/>
                <a:cs typeface="Cambria"/>
              </a:rPr>
              <a:t>  </a:t>
            </a:r>
            <a:r>
              <a:rPr sz="2150" spc="45" dirty="0">
                <a:latin typeface="Cambria"/>
                <a:cs typeface="Cambria"/>
              </a:rPr>
              <a:t>of 	</a:t>
            </a:r>
            <a:r>
              <a:rPr sz="2150" spc="90" dirty="0">
                <a:latin typeface="Cambria"/>
                <a:cs typeface="Cambria"/>
              </a:rPr>
              <a:t>how</a:t>
            </a:r>
            <a:r>
              <a:rPr sz="2150" spc="204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7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data</a:t>
            </a:r>
            <a:r>
              <a:rPr sz="2150" spc="20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is</a:t>
            </a:r>
            <a:r>
              <a:rPr sz="2150" spc="180" dirty="0">
                <a:latin typeface="Cambria"/>
                <a:cs typeface="Cambria"/>
              </a:rPr>
              <a:t>  </a:t>
            </a:r>
            <a:r>
              <a:rPr sz="2150" spc="65" dirty="0">
                <a:latin typeface="Cambria"/>
                <a:cs typeface="Cambria"/>
              </a:rPr>
              <a:t>physically</a:t>
            </a:r>
            <a:r>
              <a:rPr sz="2150" spc="18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stored</a:t>
            </a:r>
            <a:r>
              <a:rPr sz="2150" spc="195" dirty="0">
                <a:latin typeface="Cambria"/>
                <a:cs typeface="Cambria"/>
              </a:rPr>
              <a:t>  </a:t>
            </a:r>
            <a:r>
              <a:rPr sz="2150" spc="60" dirty="0">
                <a:latin typeface="Cambria"/>
                <a:cs typeface="Cambria"/>
              </a:rPr>
              <a:t>(e.g.,</a:t>
            </a:r>
            <a:r>
              <a:rPr sz="2150" spc="190" dirty="0">
                <a:latin typeface="Cambria"/>
                <a:cs typeface="Cambria"/>
              </a:rPr>
              <a:t>  </a:t>
            </a:r>
            <a:r>
              <a:rPr sz="2150" spc="65" dirty="0">
                <a:latin typeface="Cambria"/>
                <a:cs typeface="Cambria"/>
              </a:rPr>
              <a:t>in</a:t>
            </a:r>
            <a:r>
              <a:rPr sz="2150" spc="175" dirty="0">
                <a:latin typeface="Cambria"/>
                <a:cs typeface="Cambria"/>
              </a:rPr>
              <a:t>  </a:t>
            </a:r>
            <a:r>
              <a:rPr sz="2150" spc="-50" dirty="0">
                <a:latin typeface="Cambria"/>
                <a:cs typeface="Cambria"/>
              </a:rPr>
              <a:t>a 	</a:t>
            </a:r>
            <a:r>
              <a:rPr sz="2150" dirty="0">
                <a:latin typeface="Cambria"/>
                <a:cs typeface="Cambria"/>
              </a:rPr>
              <a:t>relational</a:t>
            </a:r>
            <a:r>
              <a:rPr sz="2150" spc="32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database,</a:t>
            </a:r>
            <a:r>
              <a:rPr sz="2150" spc="350" dirty="0">
                <a:latin typeface="Cambria"/>
                <a:cs typeface="Cambria"/>
              </a:rPr>
              <a:t>  </a:t>
            </a:r>
            <a:r>
              <a:rPr sz="2150" spc="200" dirty="0">
                <a:latin typeface="Cambria"/>
                <a:cs typeface="Cambria"/>
              </a:rPr>
              <a:t>NoSQL</a:t>
            </a:r>
            <a:r>
              <a:rPr sz="2150" spc="34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database,</a:t>
            </a:r>
            <a:r>
              <a:rPr sz="2150" spc="36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or</a:t>
            </a:r>
            <a:r>
              <a:rPr sz="2150" spc="350" dirty="0">
                <a:latin typeface="Cambria"/>
                <a:cs typeface="Cambria"/>
              </a:rPr>
              <a:t>  </a:t>
            </a:r>
            <a:r>
              <a:rPr sz="2150" spc="-20" dirty="0">
                <a:latin typeface="Cambria"/>
                <a:cs typeface="Cambria"/>
              </a:rPr>
              <a:t>flat 	</a:t>
            </a:r>
            <a:r>
              <a:rPr sz="2150" spc="-10" dirty="0">
                <a:latin typeface="Cambria"/>
                <a:cs typeface="Cambria"/>
              </a:rPr>
              <a:t>files).</a:t>
            </a:r>
            <a:endParaRPr sz="2150">
              <a:latin typeface="Cambria"/>
              <a:cs typeface="Cambria"/>
            </a:endParaRPr>
          </a:p>
          <a:p>
            <a:pPr marL="240029" marR="10160" indent="-227965" algn="just">
              <a:lnSpc>
                <a:spcPct val="133900"/>
              </a:lnSpc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dirty="0">
                <a:latin typeface="Cambria"/>
                <a:cs typeface="Cambria"/>
              </a:rPr>
              <a:t>helps</a:t>
            </a:r>
            <a:r>
              <a:rPr sz="2150" spc="29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ensure</a:t>
            </a:r>
            <a:r>
              <a:rPr sz="2150" spc="28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that</a:t>
            </a:r>
            <a:r>
              <a:rPr sz="2150" spc="28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26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system's</a:t>
            </a:r>
            <a:r>
              <a:rPr sz="2150" spc="280" dirty="0"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150" spc="29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is</a:t>
            </a:r>
            <a:r>
              <a:rPr sz="2150" spc="260" dirty="0">
                <a:latin typeface="Cambria"/>
                <a:cs typeface="Cambria"/>
              </a:rPr>
              <a:t>  </a:t>
            </a:r>
            <a:r>
              <a:rPr sz="2150" spc="40" dirty="0">
                <a:solidFill>
                  <a:srgbClr val="FF0000"/>
                </a:solidFill>
                <a:latin typeface="Cambria"/>
                <a:cs typeface="Cambria"/>
              </a:rPr>
              <a:t>well- 	</a:t>
            </a:r>
            <a:r>
              <a:rPr sz="2150" spc="60" dirty="0">
                <a:solidFill>
                  <a:srgbClr val="FF0000"/>
                </a:solidFill>
                <a:latin typeface="Cambria"/>
                <a:cs typeface="Cambria"/>
              </a:rPr>
              <a:t>organized</a:t>
            </a:r>
            <a:r>
              <a:rPr sz="215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8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15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consistent.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8990" y="1182306"/>
            <a:ext cx="2958465" cy="442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latin typeface="Cambria"/>
                <a:cs typeface="Cambria"/>
              </a:rPr>
              <a:t>Logical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Representation: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20"/>
              </a:spcBef>
            </a:pPr>
            <a:r>
              <a:rPr sz="1800" spc="95" dirty="0">
                <a:latin typeface="Cambria"/>
                <a:cs typeface="Cambria"/>
              </a:rPr>
              <a:t>├──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User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Entity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20"/>
              </a:spcBef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UserID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ts val="2130"/>
              </a:lnSpc>
              <a:spcBef>
                <a:spcPts val="15"/>
              </a:spcBef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Name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ts val="2130"/>
              </a:lnSpc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Email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20"/>
              </a:spcBef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└──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Password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5"/>
              </a:spcBef>
            </a:pPr>
            <a:r>
              <a:rPr sz="1800" spc="95" dirty="0">
                <a:latin typeface="Cambria"/>
                <a:cs typeface="Cambria"/>
              </a:rPr>
              <a:t>├──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Book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Entity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20"/>
              </a:spcBef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BookID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ts val="2130"/>
              </a:lnSpc>
              <a:spcBef>
                <a:spcPts val="20"/>
              </a:spcBef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Title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ts val="2130"/>
              </a:lnSpc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├──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Author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5"/>
              </a:spcBef>
              <a:tabLst>
                <a:tab pos="574675" algn="l"/>
              </a:tabLst>
            </a:pPr>
            <a:r>
              <a:rPr sz="1800" spc="55" dirty="0">
                <a:latin typeface="Cambria"/>
                <a:cs typeface="Cambria"/>
              </a:rPr>
              <a:t>│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20" dirty="0">
                <a:latin typeface="Cambria"/>
                <a:cs typeface="Cambria"/>
              </a:rPr>
              <a:t>└──</a:t>
            </a:r>
            <a:r>
              <a:rPr sz="1800" spc="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AvailabilityStatus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20"/>
              </a:spcBef>
            </a:pPr>
            <a:r>
              <a:rPr sz="1800" spc="95" dirty="0">
                <a:latin typeface="Cambria"/>
                <a:cs typeface="Cambria"/>
              </a:rPr>
              <a:t>└──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Transaction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Entity</a:t>
            </a:r>
            <a:endParaRPr sz="18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20"/>
              </a:spcBef>
            </a:pPr>
            <a:r>
              <a:rPr sz="1800" spc="95" dirty="0">
                <a:latin typeface="Cambria"/>
                <a:cs typeface="Cambria"/>
              </a:rPr>
              <a:t>├──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TransactionID</a:t>
            </a:r>
            <a:endParaRPr sz="1800">
              <a:latin typeface="Cambria"/>
              <a:cs typeface="Cambria"/>
            </a:endParaRPr>
          </a:p>
          <a:p>
            <a:pPr marL="469900">
              <a:lnSpc>
                <a:spcPts val="2130"/>
              </a:lnSpc>
              <a:spcBef>
                <a:spcPts val="15"/>
              </a:spcBef>
            </a:pPr>
            <a:r>
              <a:rPr sz="1800" spc="95" dirty="0">
                <a:latin typeface="Cambria"/>
                <a:cs typeface="Cambria"/>
              </a:rPr>
              <a:t>├──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UserID</a:t>
            </a:r>
            <a:endParaRPr sz="1800">
              <a:latin typeface="Cambria"/>
              <a:cs typeface="Cambria"/>
            </a:endParaRPr>
          </a:p>
          <a:p>
            <a:pPr marL="469900">
              <a:lnSpc>
                <a:spcPts val="2130"/>
              </a:lnSpc>
            </a:pPr>
            <a:r>
              <a:rPr sz="1800" spc="95" dirty="0">
                <a:latin typeface="Cambria"/>
                <a:cs typeface="Cambria"/>
              </a:rPr>
              <a:t>├──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BookID</a:t>
            </a:r>
            <a:endParaRPr sz="18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20"/>
              </a:spcBef>
            </a:pPr>
            <a:r>
              <a:rPr sz="1800" spc="95" dirty="0">
                <a:latin typeface="Cambria"/>
                <a:cs typeface="Cambria"/>
              </a:rPr>
              <a:t>└──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BorrowDate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00" dirty="0"/>
              <a:t>3.</a:t>
            </a:r>
            <a:r>
              <a:rPr sz="3200" spc="225" dirty="0"/>
              <a:t> </a:t>
            </a:r>
            <a:r>
              <a:rPr sz="3200" spc="135" dirty="0"/>
              <a:t>Design</a:t>
            </a:r>
            <a:r>
              <a:rPr sz="3200" spc="250" dirty="0"/>
              <a:t> </a:t>
            </a:r>
            <a:r>
              <a:rPr sz="3200" spc="135" dirty="0"/>
              <a:t>Patterns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8230" cy="48996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48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  <a:tab pos="755650" algn="l"/>
                <a:tab pos="1986280" algn="l"/>
                <a:tab pos="3310890" algn="l"/>
                <a:tab pos="3749040" algn="l"/>
                <a:tab pos="4110990" algn="l"/>
                <a:tab pos="5420995" algn="l"/>
                <a:tab pos="6887209" algn="l"/>
                <a:tab pos="7380605" algn="l"/>
                <a:tab pos="7742555" algn="l"/>
                <a:tab pos="9395460" algn="l"/>
                <a:tab pos="10912475" algn="l"/>
              </a:tabLst>
            </a:pPr>
            <a:r>
              <a:rPr sz="2750" spc="395" dirty="0">
                <a:latin typeface="Cambria"/>
                <a:cs typeface="Cambria"/>
              </a:rPr>
              <a:t>	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5" dirty="0">
                <a:latin typeface="Cambria"/>
                <a:cs typeface="Cambria"/>
              </a:rPr>
              <a:t>design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pattern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is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proven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0" dirty="0">
                <a:latin typeface="Cambria"/>
                <a:cs typeface="Cambria"/>
              </a:rPr>
              <a:t>solution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to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recurring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5" dirty="0">
                <a:latin typeface="Cambria"/>
                <a:cs typeface="Cambria"/>
              </a:rPr>
              <a:t>problem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5" dirty="0">
                <a:latin typeface="Cambria"/>
                <a:cs typeface="Cambria"/>
              </a:rPr>
              <a:t>in </a:t>
            </a:r>
            <a:r>
              <a:rPr sz="2750" dirty="0">
                <a:latin typeface="Cambria"/>
                <a:cs typeface="Cambria"/>
              </a:rPr>
              <a:t>software</a:t>
            </a:r>
            <a:r>
              <a:rPr sz="2750" spc="43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design.</a:t>
            </a:r>
            <a:endParaRPr sz="2750">
              <a:latin typeface="Cambria"/>
              <a:cs typeface="Cambria"/>
            </a:endParaRPr>
          </a:p>
          <a:p>
            <a:pPr marL="241300" marR="6350" indent="-229235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005" algn="l"/>
                <a:tab pos="699770" algn="l"/>
                <a:tab pos="2261235" algn="l"/>
                <a:tab pos="2609215" algn="l"/>
                <a:tab pos="3865245" algn="l"/>
                <a:tab pos="5454015" algn="l"/>
                <a:tab pos="6239510" algn="l"/>
                <a:tab pos="6951345" algn="l"/>
                <a:tab pos="7487920" algn="l"/>
                <a:tab pos="8720455" algn="l"/>
                <a:tab pos="9860915" algn="l"/>
              </a:tabLst>
            </a:pPr>
            <a:r>
              <a:rPr sz="2750" spc="-25" dirty="0">
                <a:latin typeface="Cambria"/>
                <a:cs typeface="Cambria"/>
              </a:rPr>
              <a:t>	It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5" dirty="0">
                <a:latin typeface="Cambria"/>
                <a:cs typeface="Cambria"/>
              </a:rPr>
              <a:t>provides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solidFill>
                  <a:srgbClr val="E64722"/>
                </a:solidFill>
                <a:latin typeface="Cambria"/>
                <a:cs typeface="Cambria"/>
              </a:rPr>
              <a:t>named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E64722"/>
                </a:solidFill>
                <a:latin typeface="Cambria"/>
                <a:cs typeface="Cambria"/>
              </a:rPr>
              <a:t>structure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-20" dirty="0">
                <a:latin typeface="Cambria"/>
                <a:cs typeface="Cambria"/>
              </a:rPr>
              <a:t>that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can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be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E64722"/>
                </a:solidFill>
                <a:latin typeface="Cambria"/>
                <a:cs typeface="Cambria"/>
              </a:rPr>
              <a:t>reused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E64722"/>
                </a:solidFill>
                <a:latin typeface="Cambria"/>
                <a:cs typeface="Cambria"/>
              </a:rPr>
              <a:t>across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35" dirty="0">
                <a:solidFill>
                  <a:srgbClr val="E64722"/>
                </a:solidFill>
                <a:latin typeface="Cambria"/>
                <a:cs typeface="Cambria"/>
              </a:rPr>
              <a:t>different </a:t>
            </a:r>
            <a:r>
              <a:rPr sz="2750" spc="-10" dirty="0">
                <a:solidFill>
                  <a:srgbClr val="E64722"/>
                </a:solidFill>
                <a:latin typeface="Cambria"/>
                <a:cs typeface="Cambria"/>
              </a:rPr>
              <a:t>projects</a:t>
            </a:r>
            <a:r>
              <a:rPr sz="2750" spc="-1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 marL="295275" indent="-282575">
              <a:lnSpc>
                <a:spcPct val="100000"/>
              </a:lnSpc>
              <a:spcBef>
                <a:spcPts val="1735"/>
              </a:spcBef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2750" dirty="0">
                <a:latin typeface="Cambria"/>
                <a:cs typeface="Cambria"/>
              </a:rPr>
              <a:t>Patterns</a:t>
            </a:r>
            <a:r>
              <a:rPr sz="2750" spc="260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help</a:t>
            </a:r>
            <a:r>
              <a:rPr sz="2750" spc="3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designers</a:t>
            </a:r>
            <a:r>
              <a:rPr sz="2750" spc="330" dirty="0">
                <a:latin typeface="Cambria"/>
                <a:cs typeface="Cambria"/>
              </a:rPr>
              <a:t> </a:t>
            </a:r>
            <a:r>
              <a:rPr sz="2750" spc="40" dirty="0">
                <a:latin typeface="Cambria"/>
                <a:cs typeface="Cambria"/>
              </a:rPr>
              <a:t>decide:</a:t>
            </a:r>
            <a:endParaRPr sz="275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55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Is</a:t>
            </a:r>
            <a:r>
              <a:rPr sz="2400" spc="7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the</a:t>
            </a:r>
            <a:r>
              <a:rPr sz="2400" spc="10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pattern</a:t>
            </a:r>
            <a:r>
              <a:rPr sz="2400" spc="12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suitable</a:t>
            </a:r>
            <a:r>
              <a:rPr sz="2400" spc="8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for</a:t>
            </a:r>
            <a:r>
              <a:rPr sz="2400" spc="11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the</a:t>
            </a:r>
            <a:r>
              <a:rPr sz="2400" spc="10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current</a:t>
            </a:r>
            <a:r>
              <a:rPr sz="2400" spc="10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E64722"/>
                </a:solidFill>
                <a:latin typeface="Cambria"/>
                <a:cs typeface="Cambria"/>
              </a:rPr>
              <a:t>problem?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145" dirty="0">
                <a:solidFill>
                  <a:srgbClr val="E64722"/>
                </a:solidFill>
                <a:latin typeface="Cambria"/>
                <a:cs typeface="Cambria"/>
              </a:rPr>
              <a:t>Can</a:t>
            </a:r>
            <a:r>
              <a:rPr sz="2400" spc="8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it</a:t>
            </a:r>
            <a:r>
              <a:rPr sz="2400" spc="13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be</a:t>
            </a:r>
            <a:r>
              <a:rPr sz="2400" spc="7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reused</a:t>
            </a:r>
            <a:r>
              <a:rPr sz="2400" spc="114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to</a:t>
            </a:r>
            <a:r>
              <a:rPr sz="2400" spc="6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save</a:t>
            </a:r>
            <a:r>
              <a:rPr sz="2400" spc="6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E64722"/>
                </a:solidFill>
                <a:latin typeface="Cambria"/>
                <a:cs typeface="Cambria"/>
              </a:rPr>
              <a:t>design</a:t>
            </a:r>
            <a:r>
              <a:rPr sz="2400" spc="8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E64722"/>
                </a:solidFill>
                <a:latin typeface="Cambria"/>
                <a:cs typeface="Cambria"/>
              </a:rPr>
              <a:t>effort?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0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145" dirty="0">
                <a:solidFill>
                  <a:srgbClr val="E64722"/>
                </a:solidFill>
                <a:latin typeface="Cambria"/>
                <a:cs typeface="Cambria"/>
              </a:rPr>
              <a:t>Can</a:t>
            </a:r>
            <a:r>
              <a:rPr sz="2400" spc="9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it</a:t>
            </a:r>
            <a:r>
              <a:rPr sz="2400" spc="15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E64722"/>
                </a:solidFill>
                <a:latin typeface="Cambria"/>
                <a:cs typeface="Cambria"/>
              </a:rPr>
              <a:t>guide</a:t>
            </a:r>
            <a:r>
              <a:rPr sz="2400" spc="114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the</a:t>
            </a:r>
            <a:r>
              <a:rPr sz="2400" spc="13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E64722"/>
                </a:solidFill>
                <a:latin typeface="Cambria"/>
                <a:cs typeface="Cambria"/>
              </a:rPr>
              <a:t>development</a:t>
            </a:r>
            <a:r>
              <a:rPr sz="2400" spc="8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E64722"/>
                </a:solidFill>
                <a:latin typeface="Cambria"/>
                <a:cs typeface="Cambria"/>
              </a:rPr>
              <a:t>of</a:t>
            </a:r>
            <a:r>
              <a:rPr sz="2400" spc="8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a</a:t>
            </a:r>
            <a:r>
              <a:rPr sz="2400" spc="114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similar</a:t>
            </a:r>
            <a:r>
              <a:rPr sz="2400" spc="10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but</a:t>
            </a:r>
            <a:r>
              <a:rPr sz="2400" spc="12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different</a:t>
            </a:r>
            <a:r>
              <a:rPr sz="2400" spc="15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E64722"/>
                </a:solidFill>
                <a:latin typeface="Cambria"/>
                <a:cs typeface="Cambria"/>
              </a:rPr>
              <a:t>pattern?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65" dirty="0"/>
              <a:t> </a:t>
            </a:r>
            <a:r>
              <a:rPr sz="3200" spc="180" dirty="0"/>
              <a:t>Concepts</a:t>
            </a:r>
            <a:r>
              <a:rPr sz="3200" spc="225" dirty="0"/>
              <a:t> </a:t>
            </a:r>
            <a:r>
              <a:rPr sz="3200" spc="-455" dirty="0"/>
              <a:t>–</a:t>
            </a:r>
            <a:r>
              <a:rPr sz="3200" spc="265" dirty="0"/>
              <a:t> </a:t>
            </a:r>
            <a:r>
              <a:rPr sz="3200" spc="180" dirty="0"/>
              <a:t>4.</a:t>
            </a:r>
            <a:r>
              <a:rPr sz="3200" spc="235" dirty="0"/>
              <a:t> </a:t>
            </a:r>
            <a:r>
              <a:rPr sz="3200" spc="145" dirty="0"/>
              <a:t>Separation</a:t>
            </a:r>
            <a:r>
              <a:rPr sz="3200" spc="254" dirty="0"/>
              <a:t> </a:t>
            </a:r>
            <a:r>
              <a:rPr sz="3200" dirty="0"/>
              <a:t>of</a:t>
            </a:r>
            <a:r>
              <a:rPr sz="3200" spc="229" dirty="0"/>
              <a:t> </a:t>
            </a:r>
            <a:r>
              <a:rPr sz="3200" spc="170" dirty="0"/>
              <a:t>Concerns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5055" cy="43561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48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  <a:tab pos="1856105" algn="l"/>
                <a:tab pos="2919730" algn="l"/>
                <a:tab pos="3246755" algn="l"/>
                <a:tab pos="4733290" algn="l"/>
                <a:tab pos="6214745" algn="l"/>
                <a:tab pos="6983095" algn="l"/>
                <a:tab pos="8380730" algn="l"/>
                <a:tab pos="10423525" algn="l"/>
              </a:tabLst>
            </a:pPr>
            <a:r>
              <a:rPr sz="2750" spc="40" dirty="0">
                <a:latin typeface="Cambria"/>
                <a:cs typeface="Cambria"/>
              </a:rPr>
              <a:t>	Breaking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100" dirty="0">
                <a:latin typeface="Cambria"/>
                <a:cs typeface="Cambria"/>
              </a:rPr>
              <a:t>down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5" dirty="0">
                <a:solidFill>
                  <a:srgbClr val="FF1C05"/>
                </a:solidFill>
                <a:latin typeface="Cambria"/>
                <a:cs typeface="Cambria"/>
              </a:rPr>
              <a:t>complex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45" dirty="0">
                <a:solidFill>
                  <a:srgbClr val="FF1C05"/>
                </a:solidFill>
                <a:latin typeface="Cambria"/>
                <a:cs typeface="Cambria"/>
              </a:rPr>
              <a:t>problem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20" dirty="0">
                <a:solidFill>
                  <a:srgbClr val="FF1C05"/>
                </a:solidFill>
                <a:latin typeface="Cambria"/>
                <a:cs typeface="Cambria"/>
              </a:rPr>
              <a:t>into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40" dirty="0">
                <a:solidFill>
                  <a:srgbClr val="FF1C05"/>
                </a:solidFill>
                <a:latin typeface="Cambria"/>
                <a:cs typeface="Cambria"/>
              </a:rPr>
              <a:t>smaller</a:t>
            </a:r>
            <a:r>
              <a:rPr sz="2750" spc="40" dirty="0">
                <a:latin typeface="Cambria"/>
                <a:cs typeface="Cambria"/>
              </a:rPr>
              <a:t>,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5" dirty="0">
                <a:solidFill>
                  <a:srgbClr val="FF1C05"/>
                </a:solidFill>
                <a:latin typeface="Cambria"/>
                <a:cs typeface="Cambria"/>
              </a:rPr>
              <a:t>manageable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1C05"/>
                </a:solidFill>
                <a:latin typeface="Cambria"/>
                <a:cs typeface="Cambria"/>
              </a:rPr>
              <a:t>parts </a:t>
            </a:r>
            <a:r>
              <a:rPr sz="2750" spc="55" dirty="0">
                <a:latin typeface="Cambria"/>
                <a:cs typeface="Cambria"/>
              </a:rPr>
              <a:t>makes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it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easier</a:t>
            </a:r>
            <a:r>
              <a:rPr sz="2750" spc="11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solve.</a:t>
            </a:r>
            <a:endParaRPr sz="2750">
              <a:latin typeface="Cambria"/>
              <a:cs typeface="Cambria"/>
            </a:endParaRPr>
          </a:p>
          <a:p>
            <a:pPr marL="384175" indent="-371475">
              <a:lnSpc>
                <a:spcPct val="100000"/>
              </a:lnSpc>
              <a:spcBef>
                <a:spcPts val="1735"/>
              </a:spcBef>
              <a:buSzPct val="96363"/>
              <a:buFont typeface="Wingdings"/>
              <a:buChar char=""/>
              <a:tabLst>
                <a:tab pos="384175" algn="l"/>
              </a:tabLst>
            </a:pPr>
            <a:r>
              <a:rPr sz="2750" spc="445" dirty="0">
                <a:latin typeface="Cambria"/>
                <a:cs typeface="Cambria"/>
              </a:rPr>
              <a:t>A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concern</a:t>
            </a:r>
            <a:r>
              <a:rPr sz="2750" spc="10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refers</a:t>
            </a:r>
            <a:r>
              <a:rPr sz="2750" spc="114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to</a:t>
            </a:r>
            <a:r>
              <a:rPr sz="2750" spc="16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a</a:t>
            </a:r>
            <a:r>
              <a:rPr sz="2750" spc="15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45" dirty="0">
                <a:solidFill>
                  <a:srgbClr val="FF1C05"/>
                </a:solidFill>
                <a:latin typeface="Cambria"/>
                <a:cs typeface="Cambria"/>
              </a:rPr>
              <a:t>specific</a:t>
            </a:r>
            <a:r>
              <a:rPr sz="2750" spc="13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feature</a:t>
            </a:r>
            <a:r>
              <a:rPr sz="2750" spc="17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or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spc="45" dirty="0">
                <a:solidFill>
                  <a:srgbClr val="FF1C05"/>
                </a:solidFill>
                <a:latin typeface="Cambria"/>
                <a:cs typeface="Cambria"/>
              </a:rPr>
              <a:t>behavior</a:t>
            </a:r>
            <a:r>
              <a:rPr sz="2750" spc="17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40" dirty="0">
                <a:latin typeface="Cambria"/>
                <a:cs typeface="Cambria"/>
              </a:rPr>
              <a:t>software.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15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95275" indent="-282575">
              <a:lnSpc>
                <a:spcPct val="100000"/>
              </a:lnSpc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2750" b="1" spc="120" dirty="0">
                <a:latin typeface="Times New Roman"/>
                <a:cs typeface="Times New Roman"/>
              </a:rPr>
              <a:t>Why</a:t>
            </a:r>
            <a:r>
              <a:rPr sz="2750" b="1" spc="45" dirty="0">
                <a:latin typeface="Times New Roman"/>
                <a:cs typeface="Times New Roman"/>
              </a:rPr>
              <a:t> </a:t>
            </a:r>
            <a:r>
              <a:rPr sz="2750" b="1" spc="180" dirty="0">
                <a:latin typeface="Times New Roman"/>
                <a:cs typeface="Times New Roman"/>
              </a:rPr>
              <a:t>is</a:t>
            </a:r>
            <a:r>
              <a:rPr sz="2750" b="1" spc="-15" dirty="0">
                <a:latin typeface="Times New Roman"/>
                <a:cs typeface="Times New Roman"/>
              </a:rPr>
              <a:t> </a:t>
            </a:r>
            <a:r>
              <a:rPr sz="2750" b="1" spc="105" dirty="0">
                <a:latin typeface="Times New Roman"/>
                <a:cs typeface="Times New Roman"/>
              </a:rPr>
              <a:t>it</a:t>
            </a:r>
            <a:r>
              <a:rPr sz="2750" b="1" spc="-5" dirty="0">
                <a:latin typeface="Times New Roman"/>
                <a:cs typeface="Times New Roman"/>
              </a:rPr>
              <a:t> </a:t>
            </a:r>
            <a:r>
              <a:rPr sz="2750" b="1" spc="110" dirty="0">
                <a:latin typeface="Times New Roman"/>
                <a:cs typeface="Times New Roman"/>
              </a:rPr>
              <a:t>useful?</a:t>
            </a:r>
            <a:endParaRPr sz="2750">
              <a:latin typeface="Times New Roman"/>
              <a:cs typeface="Times New Roman"/>
            </a:endParaRPr>
          </a:p>
          <a:p>
            <a:pPr marL="788670" lvl="1" indent="-318770">
              <a:lnSpc>
                <a:spcPct val="100000"/>
              </a:lnSpc>
              <a:spcBef>
                <a:spcPts val="1555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spc="75" dirty="0">
                <a:latin typeface="Cambria"/>
                <a:cs typeface="Cambria"/>
              </a:rPr>
              <a:t>Solving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big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problem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harder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than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solving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many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smaller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problems.</a:t>
            </a:r>
            <a:endParaRPr sz="2400">
              <a:latin typeface="Cambria"/>
              <a:cs typeface="Cambria"/>
            </a:endParaRPr>
          </a:p>
          <a:p>
            <a:pPr marL="788670" lvl="1" indent="-318770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spc="90" dirty="0">
                <a:latin typeface="Cambria"/>
                <a:cs typeface="Cambria"/>
              </a:rPr>
              <a:t>Divide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and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conquer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approach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helps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software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modularity.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45" dirty="0"/>
              <a:t> </a:t>
            </a:r>
            <a:r>
              <a:rPr sz="3200" spc="240" dirty="0"/>
              <a:t>5.</a:t>
            </a:r>
            <a:r>
              <a:rPr sz="3200" spc="225" dirty="0"/>
              <a:t> </a:t>
            </a:r>
            <a:r>
              <a:rPr sz="3200" spc="105" dirty="0"/>
              <a:t>Modularity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42675" cy="3240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12700" indent="-229235">
              <a:lnSpc>
                <a:spcPct val="1548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  <a:tab pos="2234565" algn="l"/>
                <a:tab pos="2626360" algn="l"/>
                <a:tab pos="3256279" algn="l"/>
                <a:tab pos="4629785" algn="l"/>
                <a:tab pos="5080635" algn="l"/>
                <a:tab pos="6609715" algn="l"/>
                <a:tab pos="7662545" algn="l"/>
                <a:tab pos="7978140" algn="l"/>
                <a:tab pos="9216390" algn="l"/>
                <a:tab pos="9973310" algn="l"/>
              </a:tabLst>
            </a:pPr>
            <a:r>
              <a:rPr sz="2750" spc="90" dirty="0">
                <a:latin typeface="Cambria"/>
                <a:cs typeface="Cambria"/>
              </a:rPr>
              <a:t>	Modularity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is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the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practice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0" dirty="0">
                <a:latin typeface="Cambria"/>
                <a:cs typeface="Cambria"/>
              </a:rPr>
              <a:t>of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0" dirty="0">
                <a:solidFill>
                  <a:srgbClr val="FF1C05"/>
                </a:solidFill>
                <a:latin typeface="Cambria"/>
                <a:cs typeface="Cambria"/>
              </a:rPr>
              <a:t>breaking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100" dirty="0">
                <a:solidFill>
                  <a:srgbClr val="FF1C05"/>
                </a:solidFill>
                <a:latin typeface="Cambria"/>
                <a:cs typeface="Cambria"/>
              </a:rPr>
              <a:t>down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50" dirty="0">
                <a:solidFill>
                  <a:srgbClr val="FF1C05"/>
                </a:solidFill>
                <a:latin typeface="Cambria"/>
                <a:cs typeface="Cambria"/>
              </a:rPr>
              <a:t>a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40" dirty="0">
                <a:solidFill>
                  <a:srgbClr val="FF1C05"/>
                </a:solidFill>
                <a:latin typeface="Cambria"/>
                <a:cs typeface="Cambria"/>
              </a:rPr>
              <a:t>system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20" dirty="0">
                <a:solidFill>
                  <a:srgbClr val="FF1C05"/>
                </a:solidFill>
                <a:latin typeface="Cambria"/>
                <a:cs typeface="Cambria"/>
              </a:rPr>
              <a:t>into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40" dirty="0">
                <a:solidFill>
                  <a:srgbClr val="FF1C05"/>
                </a:solidFill>
                <a:latin typeface="Cambria"/>
                <a:cs typeface="Cambria"/>
              </a:rPr>
              <a:t>smaller</a:t>
            </a:r>
            <a:r>
              <a:rPr sz="2750" spc="40" dirty="0">
                <a:latin typeface="Cambria"/>
                <a:cs typeface="Cambria"/>
              </a:rPr>
              <a:t>, 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manageable,</a:t>
            </a:r>
            <a:r>
              <a:rPr sz="2750" spc="114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85" dirty="0">
                <a:solidFill>
                  <a:srgbClr val="FF1C05"/>
                </a:solidFill>
                <a:latin typeface="Cambria"/>
                <a:cs typeface="Cambria"/>
              </a:rPr>
              <a:t>and</a:t>
            </a:r>
            <a:r>
              <a:rPr sz="2750" spc="16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independent</a:t>
            </a:r>
            <a:r>
              <a:rPr sz="2750" spc="10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FF1C05"/>
                </a:solidFill>
                <a:latin typeface="Cambria"/>
                <a:cs typeface="Cambria"/>
              </a:rPr>
              <a:t>components</a:t>
            </a:r>
            <a:r>
              <a:rPr sz="2750" spc="13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40" dirty="0">
                <a:latin typeface="Cambria"/>
                <a:cs typeface="Cambria"/>
              </a:rPr>
              <a:t>(modules).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10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41300" marR="5080" indent="-229235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640" algn="l"/>
                <a:tab pos="1416050" algn="l"/>
                <a:tab pos="2985770" algn="l"/>
                <a:tab pos="3679190" algn="l"/>
                <a:tab pos="5319395" algn="l"/>
                <a:tab pos="5834380" algn="l"/>
                <a:tab pos="6869430" algn="l"/>
                <a:tab pos="9375140" algn="l"/>
                <a:tab pos="10107930" algn="l"/>
                <a:tab pos="10855325" algn="l"/>
              </a:tabLst>
            </a:pPr>
            <a:r>
              <a:rPr sz="2750" spc="-10" dirty="0">
                <a:latin typeface="Cambria"/>
                <a:cs typeface="Cambria"/>
              </a:rPr>
              <a:t>	These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latin typeface="Cambria"/>
                <a:cs typeface="Cambria"/>
              </a:rPr>
              <a:t>modules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are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latin typeface="Cambria"/>
                <a:cs typeface="Cambria"/>
              </a:rPr>
              <a:t>designed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to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5" dirty="0">
                <a:solidFill>
                  <a:srgbClr val="FF1C05"/>
                </a:solidFill>
                <a:latin typeface="Cambria"/>
                <a:cs typeface="Cambria"/>
              </a:rPr>
              <a:t>work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65" dirty="0">
                <a:solidFill>
                  <a:srgbClr val="FF1C05"/>
                </a:solidFill>
                <a:latin typeface="Cambria"/>
                <a:cs typeface="Cambria"/>
              </a:rPr>
              <a:t>independently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25" dirty="0">
                <a:latin typeface="Cambria"/>
                <a:cs typeface="Cambria"/>
              </a:rPr>
              <a:t>but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can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be 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combined</a:t>
            </a:r>
            <a:r>
              <a:rPr sz="2750" spc="21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to</a:t>
            </a:r>
            <a:r>
              <a:rPr sz="2750" spc="21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form</a:t>
            </a:r>
            <a:r>
              <a:rPr sz="2750" spc="18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a</a:t>
            </a:r>
            <a:r>
              <a:rPr sz="2750" spc="19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complete</a:t>
            </a:r>
            <a:r>
              <a:rPr sz="2750" spc="22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FF1C05"/>
                </a:solidFill>
                <a:latin typeface="Cambria"/>
                <a:cs typeface="Cambria"/>
              </a:rPr>
              <a:t>system</a:t>
            </a:r>
            <a:r>
              <a:rPr sz="2750" spc="5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6000" y="4953000"/>
            <a:ext cx="922909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01545" algn="l"/>
                <a:tab pos="3124835" algn="l"/>
                <a:tab pos="4493260" algn="l"/>
                <a:tab pos="6106160" algn="l"/>
                <a:tab pos="7437755" algn="l"/>
              </a:tabLst>
            </a:pPr>
            <a:r>
              <a:rPr sz="2750" spc="-10" dirty="0">
                <a:solidFill>
                  <a:srgbClr val="FF1C05"/>
                </a:solidFill>
                <a:latin typeface="Cambria"/>
                <a:cs typeface="Cambria"/>
              </a:rPr>
              <a:t>architecture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60" dirty="0">
                <a:solidFill>
                  <a:srgbClr val="FF1C05"/>
                </a:solidFill>
                <a:latin typeface="Cambria"/>
                <a:cs typeface="Cambria"/>
              </a:rPr>
              <a:t>and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65" dirty="0">
                <a:solidFill>
                  <a:srgbClr val="FF1C05"/>
                </a:solidFill>
                <a:latin typeface="Cambria"/>
                <a:cs typeface="Cambria"/>
              </a:rPr>
              <a:t>design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1C05"/>
                </a:solidFill>
                <a:latin typeface="Cambria"/>
                <a:cs typeface="Cambria"/>
              </a:rPr>
              <a:t>patterns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70" dirty="0">
                <a:latin typeface="Cambria"/>
                <a:cs typeface="Cambria"/>
              </a:rPr>
              <a:t>follow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latin typeface="Cambria"/>
                <a:cs typeface="Cambria"/>
              </a:rPr>
              <a:t>modularity</a:t>
            </a:r>
            <a:endParaRPr sz="275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8950" y="4846954"/>
            <a:ext cx="1906270" cy="1304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52500"/>
              </a:lnSpc>
              <a:spcBef>
                <a:spcPts val="95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40" dirty="0">
                <a:solidFill>
                  <a:srgbClr val="FF1C05"/>
                </a:solidFill>
                <a:latin typeface="Cambria"/>
                <a:cs typeface="Cambria"/>
              </a:rPr>
              <a:t>	Software </a:t>
            </a:r>
            <a:r>
              <a:rPr sz="2750" spc="45" dirty="0">
                <a:latin typeface="Cambria"/>
                <a:cs typeface="Cambria"/>
              </a:rPr>
              <a:t>principles.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40" dirty="0"/>
              <a:t>5.</a:t>
            </a:r>
            <a:r>
              <a:rPr sz="3200" spc="225" dirty="0"/>
              <a:t> </a:t>
            </a:r>
            <a:r>
              <a:rPr sz="3200" spc="114" dirty="0"/>
              <a:t>Modularity</a:t>
            </a:r>
            <a:r>
              <a:rPr sz="3200" spc="26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65" dirty="0"/>
              <a:t>Calculator</a:t>
            </a:r>
            <a:r>
              <a:rPr sz="3200" spc="280" dirty="0"/>
              <a:t> </a:t>
            </a:r>
            <a:r>
              <a:rPr sz="3200" spc="140" dirty="0"/>
              <a:t>Example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75753"/>
            <a:ext cx="2541905" cy="1532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25"/>
              </a:spcBef>
            </a:pPr>
            <a:r>
              <a:rPr sz="1100" dirty="0">
                <a:latin typeface="Cambria"/>
                <a:cs typeface="Cambria"/>
              </a:rPr>
              <a:t>def</a:t>
            </a:r>
            <a:r>
              <a:rPr sz="1100" spc="13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main():</a:t>
            </a:r>
            <a:endParaRPr sz="1100">
              <a:latin typeface="Cambria"/>
              <a:cs typeface="Cambria"/>
            </a:endParaRPr>
          </a:p>
          <a:p>
            <a:pPr marL="152400">
              <a:lnSpc>
                <a:spcPts val="1300"/>
              </a:lnSpc>
            </a:pPr>
            <a:r>
              <a:rPr sz="1100" dirty="0">
                <a:latin typeface="Cambria"/>
                <a:cs typeface="Cambria"/>
              </a:rPr>
              <a:t>while</a:t>
            </a:r>
            <a:r>
              <a:rPr sz="1100" spc="13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True:</a:t>
            </a:r>
            <a:endParaRPr sz="1100">
              <a:latin typeface="Cambria"/>
              <a:cs typeface="Cambria"/>
            </a:endParaRPr>
          </a:p>
          <a:p>
            <a:pPr marL="292100" marR="1052195">
              <a:lnSpc>
                <a:spcPct val="99600"/>
              </a:lnSpc>
              <a:spcBef>
                <a:spcPts val="35"/>
              </a:spcBef>
            </a:pPr>
            <a:r>
              <a:rPr sz="1100" dirty="0">
                <a:latin typeface="Cambria"/>
                <a:cs typeface="Cambria"/>
              </a:rPr>
              <a:t>print("\n1.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Add") </a:t>
            </a:r>
            <a:r>
              <a:rPr sz="1100" dirty="0">
                <a:latin typeface="Cambria"/>
                <a:cs typeface="Cambria"/>
              </a:rPr>
              <a:t>print("2.</a:t>
            </a:r>
            <a:r>
              <a:rPr sz="1100" spc="-4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Subtract") print("3.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Multiply") print("4.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Divide") </a:t>
            </a:r>
            <a:r>
              <a:rPr sz="1100" dirty="0">
                <a:latin typeface="Cambria"/>
                <a:cs typeface="Cambria"/>
              </a:rPr>
              <a:t>print("5.</a:t>
            </a:r>
            <a:r>
              <a:rPr sz="1100" spc="-4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Exit")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Cambria"/>
              <a:cs typeface="Cambria"/>
            </a:endParaRPr>
          </a:p>
          <a:p>
            <a:pPr marL="292100">
              <a:lnSpc>
                <a:spcPct val="100000"/>
              </a:lnSpc>
            </a:pPr>
            <a:r>
              <a:rPr sz="1100" dirty="0">
                <a:latin typeface="Cambria"/>
                <a:cs typeface="Cambria"/>
              </a:rPr>
              <a:t>choice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spc="65" dirty="0">
                <a:latin typeface="Cambria"/>
                <a:cs typeface="Cambria"/>
              </a:rPr>
              <a:t>=</a:t>
            </a:r>
            <a:r>
              <a:rPr sz="1100" dirty="0">
                <a:latin typeface="Cambria"/>
                <a:cs typeface="Cambria"/>
              </a:rPr>
              <a:t> input("Enter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your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choice: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")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8667" y="2754312"/>
            <a:ext cx="1225550" cy="531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2400" marR="5080" indent="-139700">
              <a:lnSpc>
                <a:spcPct val="99600"/>
              </a:lnSpc>
              <a:spcBef>
                <a:spcPts val="130"/>
              </a:spcBef>
            </a:pPr>
            <a:r>
              <a:rPr sz="1100" dirty="0">
                <a:latin typeface="Cambria"/>
                <a:cs typeface="Cambria"/>
              </a:rPr>
              <a:t>if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choice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60" dirty="0">
                <a:latin typeface="Cambria"/>
                <a:cs typeface="Cambria"/>
              </a:rPr>
              <a:t>==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'5': </a:t>
            </a:r>
            <a:r>
              <a:rPr sz="1100" spc="-10" dirty="0">
                <a:latin typeface="Cambria"/>
                <a:cs typeface="Cambria"/>
              </a:rPr>
              <a:t>print("Exiting...") break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8667" y="3422078"/>
            <a:ext cx="2834640" cy="368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sz="1100" dirty="0">
                <a:latin typeface="Cambria"/>
                <a:cs typeface="Cambria"/>
              </a:rPr>
              <a:t>num1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spc="65" dirty="0">
                <a:latin typeface="Cambria"/>
                <a:cs typeface="Cambria"/>
              </a:rPr>
              <a:t>=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float(input("Enter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first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number: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")) </a:t>
            </a:r>
            <a:r>
              <a:rPr sz="1100" dirty="0">
                <a:latin typeface="Cambria"/>
                <a:cs typeface="Cambria"/>
              </a:rPr>
              <a:t>num2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65" dirty="0">
                <a:latin typeface="Cambria"/>
                <a:cs typeface="Cambria"/>
              </a:rPr>
              <a:t>=</a:t>
            </a:r>
            <a:r>
              <a:rPr sz="1100" spc="10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float(input("Enter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second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number: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"))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8667" y="3927411"/>
            <a:ext cx="2631440" cy="2381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25"/>
              </a:spcBef>
            </a:pPr>
            <a:r>
              <a:rPr sz="1100" dirty="0">
                <a:latin typeface="Cambria"/>
                <a:cs typeface="Cambria"/>
              </a:rPr>
              <a:t>if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choice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60" dirty="0">
                <a:latin typeface="Cambria"/>
                <a:cs typeface="Cambria"/>
              </a:rPr>
              <a:t>==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'1':</a:t>
            </a:r>
            <a:endParaRPr sz="1100">
              <a:latin typeface="Cambria"/>
              <a:cs typeface="Cambria"/>
            </a:endParaRPr>
          </a:p>
          <a:p>
            <a:pPr marL="152400">
              <a:lnSpc>
                <a:spcPts val="1300"/>
              </a:lnSpc>
            </a:pPr>
            <a:r>
              <a:rPr sz="1100" dirty="0">
                <a:latin typeface="Cambria"/>
                <a:cs typeface="Cambria"/>
              </a:rPr>
              <a:t>result</a:t>
            </a:r>
            <a:r>
              <a:rPr sz="1100" spc="140" dirty="0">
                <a:latin typeface="Cambria"/>
                <a:cs typeface="Cambria"/>
              </a:rPr>
              <a:t> </a:t>
            </a:r>
            <a:r>
              <a:rPr sz="1100" spc="65" dirty="0">
                <a:latin typeface="Cambria"/>
                <a:cs typeface="Cambria"/>
              </a:rPr>
              <a:t>=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add(num1,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num2)</a:t>
            </a:r>
            <a:endParaRPr sz="1100">
              <a:latin typeface="Cambria"/>
              <a:cs typeface="Cambria"/>
            </a:endParaRPr>
          </a:p>
          <a:p>
            <a:pPr marL="12700" marR="1005840" indent="139700">
              <a:lnSpc>
                <a:spcPct val="102499"/>
              </a:lnSpc>
            </a:pPr>
            <a:r>
              <a:rPr sz="1100" dirty="0">
                <a:latin typeface="Cambria"/>
                <a:cs typeface="Cambria"/>
              </a:rPr>
              <a:t>print(f"Result: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{result}") </a:t>
            </a:r>
            <a:r>
              <a:rPr sz="1100" dirty="0">
                <a:latin typeface="Cambria"/>
                <a:cs typeface="Cambria"/>
              </a:rPr>
              <a:t>elif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choice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==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'2':</a:t>
            </a:r>
            <a:endParaRPr sz="1100">
              <a:latin typeface="Cambria"/>
              <a:cs typeface="Cambria"/>
            </a:endParaRPr>
          </a:p>
          <a:p>
            <a:pPr marL="152400">
              <a:lnSpc>
                <a:spcPts val="1275"/>
              </a:lnSpc>
            </a:pPr>
            <a:r>
              <a:rPr sz="1100" dirty="0">
                <a:latin typeface="Cambria"/>
                <a:cs typeface="Cambria"/>
              </a:rPr>
              <a:t>result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spc="65" dirty="0">
                <a:latin typeface="Cambria"/>
                <a:cs typeface="Cambria"/>
              </a:rPr>
              <a:t>=</a:t>
            </a:r>
            <a:r>
              <a:rPr sz="1100" spc="-1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subtract(num1,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num2)</a:t>
            </a:r>
            <a:endParaRPr sz="1100">
              <a:latin typeface="Cambria"/>
              <a:cs typeface="Cambria"/>
            </a:endParaRPr>
          </a:p>
          <a:p>
            <a:pPr marL="152400">
              <a:lnSpc>
                <a:spcPts val="1300"/>
              </a:lnSpc>
              <a:spcBef>
                <a:spcPts val="30"/>
              </a:spcBef>
            </a:pPr>
            <a:r>
              <a:rPr sz="1100" dirty="0">
                <a:latin typeface="Cambria"/>
                <a:cs typeface="Cambria"/>
              </a:rPr>
              <a:t>print(f"Result: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{result}")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ts val="1300"/>
              </a:lnSpc>
            </a:pPr>
            <a:r>
              <a:rPr sz="1100" dirty="0">
                <a:latin typeface="Cambria"/>
                <a:cs typeface="Cambria"/>
              </a:rPr>
              <a:t>elif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choice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==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'3':</a:t>
            </a:r>
            <a:endParaRPr sz="1100">
              <a:latin typeface="Cambria"/>
              <a:cs typeface="Cambria"/>
            </a:endParaRPr>
          </a:p>
          <a:p>
            <a:pPr marL="152400" marR="540385">
              <a:lnSpc>
                <a:spcPts val="1350"/>
              </a:lnSpc>
              <a:spcBef>
                <a:spcPts val="50"/>
              </a:spcBef>
            </a:pPr>
            <a:r>
              <a:rPr sz="1100" dirty="0">
                <a:latin typeface="Cambria"/>
                <a:cs typeface="Cambria"/>
              </a:rPr>
              <a:t>result</a:t>
            </a:r>
            <a:r>
              <a:rPr sz="1100" spc="175" dirty="0">
                <a:latin typeface="Cambria"/>
                <a:cs typeface="Cambria"/>
              </a:rPr>
              <a:t> </a:t>
            </a:r>
            <a:r>
              <a:rPr sz="1100" spc="65" dirty="0">
                <a:latin typeface="Cambria"/>
                <a:cs typeface="Cambria"/>
              </a:rPr>
              <a:t>=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multiply(num1,</a:t>
            </a:r>
            <a:r>
              <a:rPr sz="1100" spc="185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num2) </a:t>
            </a:r>
            <a:r>
              <a:rPr sz="1100" dirty="0">
                <a:latin typeface="Cambria"/>
                <a:cs typeface="Cambria"/>
              </a:rPr>
              <a:t>print(f"Result: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{result}")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ts val="1230"/>
              </a:lnSpc>
            </a:pPr>
            <a:r>
              <a:rPr sz="1100" dirty="0">
                <a:latin typeface="Cambria"/>
                <a:cs typeface="Cambria"/>
              </a:rPr>
              <a:t>elif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choice</a:t>
            </a:r>
            <a:r>
              <a:rPr sz="1100" spc="1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==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'4':</a:t>
            </a:r>
            <a:endParaRPr sz="1100">
              <a:latin typeface="Cambria"/>
              <a:cs typeface="Cambria"/>
            </a:endParaRPr>
          </a:p>
          <a:p>
            <a:pPr marL="152400">
              <a:lnSpc>
                <a:spcPts val="1295"/>
              </a:lnSpc>
              <a:spcBef>
                <a:spcPts val="35"/>
              </a:spcBef>
            </a:pPr>
            <a:r>
              <a:rPr sz="1100" spc="10" dirty="0">
                <a:latin typeface="Cambria"/>
                <a:cs typeface="Cambria"/>
              </a:rPr>
              <a:t>result</a:t>
            </a:r>
            <a:r>
              <a:rPr sz="1100" spc="120" dirty="0">
                <a:latin typeface="Cambria"/>
                <a:cs typeface="Cambria"/>
              </a:rPr>
              <a:t> </a:t>
            </a:r>
            <a:r>
              <a:rPr sz="1100" spc="65" dirty="0">
                <a:latin typeface="Cambria"/>
                <a:cs typeface="Cambria"/>
              </a:rPr>
              <a:t>=</a:t>
            </a:r>
            <a:r>
              <a:rPr sz="1100" spc="10" dirty="0">
                <a:latin typeface="Cambria"/>
                <a:cs typeface="Cambria"/>
              </a:rPr>
              <a:t> divide(num1,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num2)</a:t>
            </a:r>
            <a:endParaRPr sz="1100">
              <a:latin typeface="Cambria"/>
              <a:cs typeface="Cambria"/>
            </a:endParaRPr>
          </a:p>
          <a:p>
            <a:pPr marL="152400">
              <a:lnSpc>
                <a:spcPts val="1300"/>
              </a:lnSpc>
            </a:pPr>
            <a:r>
              <a:rPr sz="1100" dirty="0">
                <a:latin typeface="Cambria"/>
                <a:cs typeface="Cambria"/>
              </a:rPr>
              <a:t>print(f"Result: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{result}")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100" spc="-10" dirty="0">
                <a:latin typeface="Cambria"/>
                <a:cs typeface="Cambria"/>
              </a:rPr>
              <a:t>else:</a:t>
            </a:r>
            <a:endParaRPr sz="1100">
              <a:latin typeface="Cambria"/>
              <a:cs typeface="Cambria"/>
            </a:endParaRPr>
          </a:p>
          <a:p>
            <a:pPr marL="152400">
              <a:lnSpc>
                <a:spcPct val="100000"/>
              </a:lnSpc>
              <a:spcBef>
                <a:spcPts val="35"/>
              </a:spcBef>
            </a:pPr>
            <a:r>
              <a:rPr sz="1100" spc="10" dirty="0">
                <a:latin typeface="Cambria"/>
                <a:cs typeface="Cambria"/>
              </a:rPr>
              <a:t>print("Invalid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10" dirty="0">
                <a:latin typeface="Cambria"/>
                <a:cs typeface="Cambria"/>
              </a:rPr>
              <a:t>choice.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spc="10" dirty="0">
                <a:latin typeface="Cambria"/>
                <a:cs typeface="Cambria"/>
              </a:rPr>
              <a:t>Please</a:t>
            </a:r>
            <a:r>
              <a:rPr sz="1100" spc="70" dirty="0">
                <a:latin typeface="Cambria"/>
                <a:cs typeface="Cambria"/>
              </a:rPr>
              <a:t> </a:t>
            </a:r>
            <a:r>
              <a:rPr sz="1100" spc="10" dirty="0">
                <a:latin typeface="Cambria"/>
                <a:cs typeface="Cambria"/>
              </a:rPr>
              <a:t>try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again.")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4815" y="1514411"/>
            <a:ext cx="7476490" cy="17938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lnSpc>
                <a:spcPts val="2390"/>
              </a:lnSpc>
              <a:spcBef>
                <a:spcPts val="125"/>
              </a:spcBef>
            </a:pPr>
            <a:r>
              <a:rPr sz="2000" b="1" spc="85" dirty="0">
                <a:solidFill>
                  <a:srgbClr val="FF0000"/>
                </a:solidFill>
                <a:latin typeface="Times New Roman"/>
                <a:cs typeface="Times New Roman"/>
              </a:rPr>
              <a:t>Main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Module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99100"/>
              </a:lnSpc>
              <a:spcBef>
                <a:spcPts val="15"/>
              </a:spcBef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290" dirty="0">
                <a:latin typeface="Cambria"/>
                <a:cs typeface="Cambria"/>
              </a:rPr>
              <a:t>  </a:t>
            </a:r>
            <a:r>
              <a:rPr sz="2400" b="1" spc="85" dirty="0">
                <a:latin typeface="Times New Roman"/>
                <a:cs typeface="Times New Roman"/>
              </a:rPr>
              <a:t>main</a:t>
            </a:r>
            <a:r>
              <a:rPr sz="2400" b="1" spc="215" dirty="0">
                <a:latin typeface="Times New Roman"/>
                <a:cs typeface="Times New Roman"/>
              </a:rPr>
              <a:t>  </a:t>
            </a:r>
            <a:r>
              <a:rPr sz="2400" b="1" spc="120" dirty="0">
                <a:latin typeface="Times New Roman"/>
                <a:cs typeface="Times New Roman"/>
              </a:rPr>
              <a:t>module</a:t>
            </a:r>
            <a:r>
              <a:rPr sz="2400" b="1" spc="2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Cambria"/>
                <a:cs typeface="Cambria"/>
              </a:rPr>
              <a:t>acts</a:t>
            </a:r>
            <a:r>
              <a:rPr sz="2400" spc="26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27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9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entry</a:t>
            </a:r>
            <a:r>
              <a:rPr sz="2400" spc="29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point</a:t>
            </a:r>
            <a:r>
              <a:rPr sz="2400" spc="270" dirty="0">
                <a:latin typeface="Cambria"/>
                <a:cs typeface="Cambria"/>
              </a:rPr>
              <a:t>  </a:t>
            </a:r>
            <a:r>
              <a:rPr sz="2400" spc="65" dirty="0">
                <a:latin typeface="Cambria"/>
                <a:cs typeface="Cambria"/>
              </a:rPr>
              <a:t>of</a:t>
            </a:r>
            <a:r>
              <a:rPr sz="2400" spc="254" dirty="0">
                <a:latin typeface="Cambria"/>
                <a:cs typeface="Cambria"/>
              </a:rPr>
              <a:t>  </a:t>
            </a:r>
            <a:r>
              <a:rPr sz="2400" spc="-25" dirty="0">
                <a:latin typeface="Cambria"/>
                <a:cs typeface="Cambria"/>
              </a:rPr>
              <a:t>the </a:t>
            </a:r>
            <a:r>
              <a:rPr sz="2400" spc="50" dirty="0">
                <a:latin typeface="Cambria"/>
                <a:cs typeface="Cambria"/>
              </a:rPr>
              <a:t>program.</a:t>
            </a:r>
            <a:r>
              <a:rPr sz="2400" spc="13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12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coordinates</a:t>
            </a:r>
            <a:r>
              <a:rPr sz="2400" spc="13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interaction</a:t>
            </a:r>
            <a:r>
              <a:rPr sz="2400" spc="1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between</a:t>
            </a:r>
            <a:r>
              <a:rPr sz="2400" spc="130" dirty="0">
                <a:latin typeface="Cambria"/>
                <a:cs typeface="Cambria"/>
              </a:rPr>
              <a:t>  </a:t>
            </a:r>
            <a:r>
              <a:rPr sz="2400" spc="-25" dirty="0">
                <a:latin typeface="Cambria"/>
                <a:cs typeface="Cambria"/>
              </a:rPr>
              <a:t>the </a:t>
            </a:r>
            <a:r>
              <a:rPr sz="2400" dirty="0">
                <a:latin typeface="Cambria"/>
                <a:cs typeface="Cambria"/>
              </a:rPr>
              <a:t>user</a:t>
            </a:r>
            <a:r>
              <a:rPr sz="2400" spc="275" dirty="0">
                <a:latin typeface="Cambria"/>
                <a:cs typeface="Cambria"/>
              </a:rPr>
              <a:t> 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26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8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calculator's</a:t>
            </a:r>
            <a:r>
              <a:rPr sz="2400" spc="26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functionality.</a:t>
            </a:r>
            <a:r>
              <a:rPr sz="2400" spc="28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270" dirty="0">
                <a:latin typeface="Cambria"/>
                <a:cs typeface="Cambria"/>
              </a:rPr>
              <a:t>  </a:t>
            </a:r>
            <a:r>
              <a:rPr sz="2400" spc="-10" dirty="0">
                <a:latin typeface="Cambria"/>
                <a:cs typeface="Cambria"/>
              </a:rPr>
              <a:t>delegates</a:t>
            </a:r>
            <a:endParaRPr sz="240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  <a:spcBef>
                <a:spcPts val="50"/>
              </a:spcBef>
            </a:pPr>
            <a:r>
              <a:rPr sz="2400" dirty="0">
                <a:latin typeface="Cambria"/>
                <a:cs typeface="Cambria"/>
              </a:rPr>
              <a:t>tasks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other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modules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based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on </a:t>
            </a:r>
            <a:r>
              <a:rPr sz="2400" dirty="0">
                <a:latin typeface="Cambria"/>
                <a:cs typeface="Cambria"/>
              </a:rPr>
              <a:t>user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input.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34815" y="3650615"/>
            <a:ext cx="684657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main()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function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serves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control</a:t>
            </a: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center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34815" y="4013517"/>
            <a:ext cx="747140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880110" algn="l"/>
                <a:tab pos="2170430" algn="l"/>
                <a:tab pos="3490595" algn="l"/>
                <a:tab pos="4236085" algn="l"/>
                <a:tab pos="5207000" algn="l"/>
                <a:tab pos="5917565" algn="l"/>
              </a:tabLst>
            </a:pPr>
            <a:r>
              <a:rPr sz="2400" spc="-25" dirty="0">
                <a:latin typeface="Cambria"/>
                <a:cs typeface="Cambria"/>
              </a:rPr>
              <a:t>It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doesn't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contain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logic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for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performing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77969" y="4375530"/>
            <a:ext cx="713613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Cambria"/>
                <a:cs typeface="Cambria"/>
              </a:rPr>
              <a:t>calculations;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instead,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it</a:t>
            </a:r>
            <a:r>
              <a:rPr sz="2400" spc="2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calls</a:t>
            </a:r>
            <a:r>
              <a:rPr sz="24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separate</a:t>
            </a:r>
            <a:r>
              <a:rPr sz="2400" spc="2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functions</a:t>
            </a:r>
            <a:r>
              <a:rPr sz="2400" spc="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(add,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34815" y="4747831"/>
            <a:ext cx="7475220" cy="1126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ts val="2870"/>
              </a:lnSpc>
              <a:spcBef>
                <a:spcPts val="100"/>
              </a:spcBef>
            </a:pPr>
            <a:r>
              <a:rPr sz="2400" dirty="0">
                <a:latin typeface="Cambria"/>
                <a:cs typeface="Cambria"/>
              </a:rPr>
              <a:t>subtract,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etc.)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handle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those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tasks.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ts val="2870"/>
              </a:lnSpc>
              <a:buFont typeface="Wingdings"/>
              <a:buChar char=""/>
              <a:tabLst>
                <a:tab pos="354965" algn="l"/>
                <a:tab pos="1170305" algn="l"/>
                <a:tab pos="2818765" algn="l"/>
                <a:tab pos="4082415" algn="l"/>
                <a:tab pos="4845050" algn="l"/>
                <a:tab pos="5500370" algn="l"/>
                <a:tab pos="6421120" algn="l"/>
              </a:tabLst>
            </a:pPr>
            <a:r>
              <a:rPr sz="2400" spc="-20" dirty="0">
                <a:latin typeface="Cambria"/>
                <a:cs typeface="Cambria"/>
              </a:rPr>
              <a:t>This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separation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ensures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that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0" dirty="0">
                <a:latin typeface="Cambria"/>
                <a:cs typeface="Cambria"/>
              </a:rPr>
              <a:t>main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50" dirty="0">
                <a:latin typeface="Cambria"/>
                <a:cs typeface="Cambria"/>
              </a:rPr>
              <a:t>module</a:t>
            </a:r>
            <a:endParaRPr sz="2400">
              <a:latin typeface="Cambria"/>
              <a:cs typeface="Cambria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2400" dirty="0">
                <a:latin typeface="Cambria"/>
                <a:cs typeface="Cambria"/>
              </a:rPr>
              <a:t>remains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focused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managing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user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interaction.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19475" y="1047750"/>
            <a:ext cx="733425" cy="5362575"/>
          </a:xfrm>
          <a:custGeom>
            <a:avLst/>
            <a:gdLst/>
            <a:ahLst/>
            <a:cxnLst/>
            <a:rect l="l" t="t" r="r" b="b"/>
            <a:pathLst>
              <a:path w="733425" h="5362575">
                <a:moveTo>
                  <a:pt x="0" y="0"/>
                </a:moveTo>
                <a:lnTo>
                  <a:pt x="73918" y="1239"/>
                </a:lnTo>
                <a:lnTo>
                  <a:pt x="142765" y="4794"/>
                </a:lnTo>
                <a:lnTo>
                  <a:pt x="205068" y="10420"/>
                </a:lnTo>
                <a:lnTo>
                  <a:pt x="259349" y="17875"/>
                </a:lnTo>
                <a:lnTo>
                  <a:pt x="304136" y="26913"/>
                </a:lnTo>
                <a:lnTo>
                  <a:pt x="359324" y="48763"/>
                </a:lnTo>
                <a:lnTo>
                  <a:pt x="366775" y="61087"/>
                </a:lnTo>
                <a:lnTo>
                  <a:pt x="366775" y="2620137"/>
                </a:lnTo>
                <a:lnTo>
                  <a:pt x="374222" y="2632460"/>
                </a:lnTo>
                <a:lnTo>
                  <a:pt x="429375" y="2654310"/>
                </a:lnTo>
                <a:lnTo>
                  <a:pt x="474138" y="2663348"/>
                </a:lnTo>
                <a:lnTo>
                  <a:pt x="528397" y="2670803"/>
                </a:lnTo>
                <a:lnTo>
                  <a:pt x="590678" y="2676429"/>
                </a:lnTo>
                <a:lnTo>
                  <a:pt x="659512" y="2679984"/>
                </a:lnTo>
                <a:lnTo>
                  <a:pt x="733425" y="2681224"/>
                </a:lnTo>
                <a:lnTo>
                  <a:pt x="659512" y="2682468"/>
                </a:lnTo>
                <a:lnTo>
                  <a:pt x="590678" y="2686038"/>
                </a:lnTo>
                <a:lnTo>
                  <a:pt x="528397" y="2691685"/>
                </a:lnTo>
                <a:lnTo>
                  <a:pt x="474138" y="2699162"/>
                </a:lnTo>
                <a:lnTo>
                  <a:pt x="429375" y="2708223"/>
                </a:lnTo>
                <a:lnTo>
                  <a:pt x="374222" y="2730108"/>
                </a:lnTo>
                <a:lnTo>
                  <a:pt x="366775" y="2742438"/>
                </a:lnTo>
                <a:lnTo>
                  <a:pt x="366775" y="5301462"/>
                </a:lnTo>
                <a:lnTo>
                  <a:pt x="359324" y="5313776"/>
                </a:lnTo>
                <a:lnTo>
                  <a:pt x="304136" y="5335627"/>
                </a:lnTo>
                <a:lnTo>
                  <a:pt x="259349" y="5344672"/>
                </a:lnTo>
                <a:lnTo>
                  <a:pt x="205068" y="5352135"/>
                </a:lnTo>
                <a:lnTo>
                  <a:pt x="142765" y="5357771"/>
                </a:lnTo>
                <a:lnTo>
                  <a:pt x="73918" y="5361333"/>
                </a:lnTo>
                <a:lnTo>
                  <a:pt x="0" y="5362575"/>
                </a:lnTo>
              </a:path>
            </a:pathLst>
          </a:custGeom>
          <a:ln w="19050">
            <a:solidFill>
              <a:srgbClr val="FFC9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40" dirty="0"/>
              <a:t>5.</a:t>
            </a:r>
            <a:r>
              <a:rPr sz="3200" spc="225" dirty="0"/>
              <a:t> </a:t>
            </a:r>
            <a:r>
              <a:rPr sz="3200" spc="114" dirty="0"/>
              <a:t>Modularity</a:t>
            </a:r>
            <a:r>
              <a:rPr sz="3200" spc="26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65" dirty="0"/>
              <a:t>Calculator</a:t>
            </a:r>
            <a:r>
              <a:rPr sz="3200" spc="280" dirty="0"/>
              <a:t> </a:t>
            </a:r>
            <a:r>
              <a:rPr sz="3200" spc="140" dirty="0"/>
              <a:t>Example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87350" y="1160716"/>
            <a:ext cx="18167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def</a:t>
            </a:r>
            <a:r>
              <a:rPr sz="2400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add(a,</a:t>
            </a:r>
            <a:r>
              <a:rPr sz="2400" spc="1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mbria"/>
                <a:cs typeface="Cambria"/>
              </a:rPr>
              <a:t>b):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467" y="1484630"/>
            <a:ext cx="161290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Cambria"/>
                <a:cs typeface="Cambria"/>
              </a:rPr>
              <a:t>return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+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b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7079" y="966406"/>
            <a:ext cx="840867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add()</a:t>
            </a:r>
            <a:r>
              <a:rPr sz="2000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function</a:t>
            </a:r>
            <a:r>
              <a:rPr sz="200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20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000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standalone</a:t>
            </a:r>
            <a:r>
              <a:rPr sz="200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module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that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performs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addition.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It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takes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07079" y="1271587"/>
            <a:ext cx="8409305" cy="9448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"/>
                <a:cs typeface="Cambria"/>
              </a:rPr>
              <a:t>two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numbers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as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input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and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returns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their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sum.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This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module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independent </a:t>
            </a:r>
            <a:r>
              <a:rPr sz="2000" spc="60" dirty="0">
                <a:latin typeface="Cambria"/>
                <a:cs typeface="Cambria"/>
              </a:rPr>
              <a:t>and</a:t>
            </a:r>
            <a:r>
              <a:rPr sz="2000" spc="18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can</a:t>
            </a:r>
            <a:r>
              <a:rPr sz="2000" spc="19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be</a:t>
            </a:r>
            <a:r>
              <a:rPr sz="2000" spc="18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reused</a:t>
            </a:r>
            <a:r>
              <a:rPr sz="2000" spc="17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170" dirty="0">
                <a:latin typeface="Cambria"/>
                <a:cs typeface="Cambria"/>
              </a:rPr>
              <a:t>  </a:t>
            </a:r>
            <a:r>
              <a:rPr sz="2000" spc="55" dirty="0">
                <a:latin typeface="Cambria"/>
                <a:cs typeface="Cambria"/>
              </a:rPr>
              <a:t>modified</a:t>
            </a:r>
            <a:r>
              <a:rPr sz="2000" spc="18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without</a:t>
            </a:r>
            <a:r>
              <a:rPr sz="2000" spc="17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affecting</a:t>
            </a:r>
            <a:r>
              <a:rPr sz="2000" spc="18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other</a:t>
            </a:r>
            <a:r>
              <a:rPr sz="2000" spc="17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parts</a:t>
            </a:r>
            <a:r>
              <a:rPr sz="2000" spc="170" dirty="0">
                <a:latin typeface="Cambria"/>
                <a:cs typeface="Cambria"/>
              </a:rPr>
              <a:t>  </a:t>
            </a:r>
            <a:r>
              <a:rPr sz="2000" spc="65" dirty="0">
                <a:latin typeface="Cambria"/>
                <a:cs typeface="Cambria"/>
              </a:rPr>
              <a:t>of</a:t>
            </a:r>
            <a:r>
              <a:rPr sz="2000" spc="165" dirty="0">
                <a:latin typeface="Cambria"/>
                <a:cs typeface="Cambria"/>
              </a:rPr>
              <a:t>  </a:t>
            </a:r>
            <a:r>
              <a:rPr sz="2000" spc="-25" dirty="0">
                <a:latin typeface="Cambria"/>
                <a:cs typeface="Cambria"/>
              </a:rPr>
              <a:t>the </a:t>
            </a:r>
            <a:r>
              <a:rPr sz="2000" spc="-10" dirty="0">
                <a:latin typeface="Cambria"/>
                <a:cs typeface="Cambria"/>
              </a:rPr>
              <a:t>program.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90775" y="1000125"/>
            <a:ext cx="733425" cy="971550"/>
          </a:xfrm>
          <a:custGeom>
            <a:avLst/>
            <a:gdLst/>
            <a:ahLst/>
            <a:cxnLst/>
            <a:rect l="l" t="t" r="r" b="b"/>
            <a:pathLst>
              <a:path w="733425" h="971550">
                <a:moveTo>
                  <a:pt x="0" y="0"/>
                </a:moveTo>
                <a:lnTo>
                  <a:pt x="73918" y="1239"/>
                </a:lnTo>
                <a:lnTo>
                  <a:pt x="142765" y="4794"/>
                </a:lnTo>
                <a:lnTo>
                  <a:pt x="205068" y="10420"/>
                </a:lnTo>
                <a:lnTo>
                  <a:pt x="259349" y="17875"/>
                </a:lnTo>
                <a:lnTo>
                  <a:pt x="304136" y="26913"/>
                </a:lnTo>
                <a:lnTo>
                  <a:pt x="359324" y="48763"/>
                </a:lnTo>
                <a:lnTo>
                  <a:pt x="366775" y="61087"/>
                </a:lnTo>
                <a:lnTo>
                  <a:pt x="366775" y="424688"/>
                </a:lnTo>
                <a:lnTo>
                  <a:pt x="374222" y="437011"/>
                </a:lnTo>
                <a:lnTo>
                  <a:pt x="429375" y="458861"/>
                </a:lnTo>
                <a:lnTo>
                  <a:pt x="474138" y="467899"/>
                </a:lnTo>
                <a:lnTo>
                  <a:pt x="528397" y="475354"/>
                </a:lnTo>
                <a:lnTo>
                  <a:pt x="590678" y="480980"/>
                </a:lnTo>
                <a:lnTo>
                  <a:pt x="659512" y="484535"/>
                </a:lnTo>
                <a:lnTo>
                  <a:pt x="733425" y="485775"/>
                </a:lnTo>
                <a:lnTo>
                  <a:pt x="659512" y="487014"/>
                </a:lnTo>
                <a:lnTo>
                  <a:pt x="590678" y="490569"/>
                </a:lnTo>
                <a:lnTo>
                  <a:pt x="528397" y="496195"/>
                </a:lnTo>
                <a:lnTo>
                  <a:pt x="474138" y="503650"/>
                </a:lnTo>
                <a:lnTo>
                  <a:pt x="429375" y="512688"/>
                </a:lnTo>
                <a:lnTo>
                  <a:pt x="374222" y="534538"/>
                </a:lnTo>
                <a:lnTo>
                  <a:pt x="366775" y="546862"/>
                </a:lnTo>
                <a:lnTo>
                  <a:pt x="366775" y="910463"/>
                </a:lnTo>
                <a:lnTo>
                  <a:pt x="359324" y="922786"/>
                </a:lnTo>
                <a:lnTo>
                  <a:pt x="304136" y="944636"/>
                </a:lnTo>
                <a:lnTo>
                  <a:pt x="259349" y="953674"/>
                </a:lnTo>
                <a:lnTo>
                  <a:pt x="205068" y="961129"/>
                </a:lnTo>
                <a:lnTo>
                  <a:pt x="142765" y="966755"/>
                </a:lnTo>
                <a:lnTo>
                  <a:pt x="73918" y="970310"/>
                </a:lnTo>
                <a:lnTo>
                  <a:pt x="0" y="971550"/>
                </a:lnTo>
              </a:path>
            </a:pathLst>
          </a:custGeom>
          <a:ln w="19050">
            <a:solidFill>
              <a:srgbClr val="FFC9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88950" y="2491105"/>
            <a:ext cx="2381885" cy="716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715"/>
              </a:lnSpc>
              <a:spcBef>
                <a:spcPts val="105"/>
              </a:spcBef>
            </a:pPr>
            <a:r>
              <a:rPr sz="2400" spc="55" dirty="0">
                <a:solidFill>
                  <a:srgbClr val="FF0000"/>
                </a:solidFill>
                <a:latin typeface="Cambria"/>
                <a:cs typeface="Cambria"/>
              </a:rPr>
              <a:t>def</a:t>
            </a:r>
            <a:r>
              <a:rPr sz="24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subtract(a,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mbria"/>
                <a:cs typeface="Cambria"/>
              </a:rPr>
              <a:t>b):</a:t>
            </a:r>
            <a:endParaRPr sz="2400">
              <a:latin typeface="Cambria"/>
              <a:cs typeface="Cambria"/>
            </a:endParaRPr>
          </a:p>
          <a:p>
            <a:pPr marL="317500">
              <a:lnSpc>
                <a:spcPts val="2715"/>
              </a:lnSpc>
            </a:pPr>
            <a:r>
              <a:rPr sz="2400" dirty="0">
                <a:latin typeface="Cambria"/>
                <a:cs typeface="Cambria"/>
              </a:rPr>
              <a:t>return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b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8950" y="3784282"/>
            <a:ext cx="2466975" cy="71564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17500" marR="5080" indent="-305435">
              <a:lnSpc>
                <a:spcPts val="2550"/>
              </a:lnSpc>
              <a:spcBef>
                <a:spcPts val="459"/>
              </a:spcBef>
            </a:pP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def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FF0000"/>
                </a:solidFill>
                <a:latin typeface="Cambria"/>
                <a:cs typeface="Cambria"/>
              </a:rPr>
              <a:t>multiply(a,</a:t>
            </a: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mbria"/>
                <a:cs typeface="Cambria"/>
              </a:rPr>
              <a:t>b): </a:t>
            </a:r>
            <a:r>
              <a:rPr sz="2400" dirty="0">
                <a:latin typeface="Cambria"/>
                <a:cs typeface="Cambria"/>
              </a:rPr>
              <a:t>return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*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b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8150" y="5206047"/>
            <a:ext cx="2928620" cy="12465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54000" marR="1217295" indent="-241935">
              <a:lnSpc>
                <a:spcPts val="1880"/>
              </a:lnSpc>
              <a:spcBef>
                <a:spcPts val="470"/>
              </a:spcBef>
            </a:pPr>
            <a:r>
              <a:rPr sz="1850" spc="70" dirty="0">
                <a:solidFill>
                  <a:srgbClr val="FF0000"/>
                </a:solidFill>
                <a:latin typeface="Cambria"/>
                <a:cs typeface="Cambria"/>
              </a:rPr>
              <a:t>def</a:t>
            </a:r>
            <a:r>
              <a:rPr sz="185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50" spc="55" dirty="0">
                <a:solidFill>
                  <a:srgbClr val="FF0000"/>
                </a:solidFill>
                <a:latin typeface="Cambria"/>
                <a:cs typeface="Cambria"/>
              </a:rPr>
              <a:t>divide(a,</a:t>
            </a:r>
            <a:r>
              <a:rPr sz="185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50" spc="-25" dirty="0">
                <a:solidFill>
                  <a:srgbClr val="FF0000"/>
                </a:solidFill>
                <a:latin typeface="Cambria"/>
                <a:cs typeface="Cambria"/>
              </a:rPr>
              <a:t>b): </a:t>
            </a:r>
            <a:r>
              <a:rPr sz="1850" dirty="0">
                <a:latin typeface="Cambria"/>
                <a:cs typeface="Cambria"/>
              </a:rPr>
              <a:t>if</a:t>
            </a:r>
            <a:r>
              <a:rPr sz="1850" spc="114" dirty="0"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b</a:t>
            </a:r>
            <a:r>
              <a:rPr sz="1850" spc="155" dirty="0">
                <a:latin typeface="Cambria"/>
                <a:cs typeface="Cambria"/>
              </a:rPr>
              <a:t> </a:t>
            </a:r>
            <a:r>
              <a:rPr sz="1850" spc="95" dirty="0">
                <a:latin typeface="Cambria"/>
                <a:cs typeface="Cambria"/>
              </a:rPr>
              <a:t>==</a:t>
            </a:r>
            <a:r>
              <a:rPr sz="1850" spc="130" dirty="0">
                <a:latin typeface="Cambria"/>
                <a:cs typeface="Cambria"/>
              </a:rPr>
              <a:t> </a:t>
            </a:r>
            <a:r>
              <a:rPr sz="1850" spc="-25" dirty="0">
                <a:latin typeface="Cambria"/>
                <a:cs typeface="Cambria"/>
              </a:rPr>
              <a:t>0:</a:t>
            </a:r>
            <a:endParaRPr sz="1850">
              <a:latin typeface="Cambria"/>
              <a:cs typeface="Cambria"/>
            </a:endParaRPr>
          </a:p>
          <a:p>
            <a:pPr marL="495300">
              <a:lnSpc>
                <a:spcPts val="1585"/>
              </a:lnSpc>
            </a:pPr>
            <a:r>
              <a:rPr sz="1850" dirty="0">
                <a:latin typeface="Cambria"/>
                <a:cs typeface="Cambria"/>
              </a:rPr>
              <a:t>return</a:t>
            </a:r>
            <a:r>
              <a:rPr sz="1850" spc="180" dirty="0"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"Error:</a:t>
            </a:r>
            <a:r>
              <a:rPr sz="1850" spc="125" dirty="0">
                <a:latin typeface="Cambria"/>
                <a:cs typeface="Cambria"/>
              </a:rPr>
              <a:t> </a:t>
            </a:r>
            <a:r>
              <a:rPr sz="1850" spc="65" dirty="0">
                <a:latin typeface="Cambria"/>
                <a:cs typeface="Cambria"/>
              </a:rPr>
              <a:t>Division</a:t>
            </a:r>
            <a:endParaRPr sz="1850">
              <a:latin typeface="Cambria"/>
              <a:cs typeface="Cambria"/>
            </a:endParaRPr>
          </a:p>
          <a:p>
            <a:pPr marL="254000" marR="1411605" indent="-241935">
              <a:lnSpc>
                <a:spcPts val="1880"/>
              </a:lnSpc>
              <a:spcBef>
                <a:spcPts val="140"/>
              </a:spcBef>
            </a:pPr>
            <a:r>
              <a:rPr sz="1850" spc="65" dirty="0">
                <a:latin typeface="Cambria"/>
                <a:cs typeface="Cambria"/>
              </a:rPr>
              <a:t>by</a:t>
            </a:r>
            <a:r>
              <a:rPr sz="1850" spc="120" dirty="0">
                <a:latin typeface="Cambria"/>
                <a:cs typeface="Cambria"/>
              </a:rPr>
              <a:t> </a:t>
            </a:r>
            <a:r>
              <a:rPr sz="1850" spc="-10" dirty="0">
                <a:latin typeface="Cambria"/>
                <a:cs typeface="Cambria"/>
              </a:rPr>
              <a:t>zero" </a:t>
            </a:r>
            <a:r>
              <a:rPr sz="1850" dirty="0">
                <a:latin typeface="Cambria"/>
                <a:cs typeface="Cambria"/>
              </a:rPr>
              <a:t>return</a:t>
            </a:r>
            <a:r>
              <a:rPr sz="1850" spc="130" dirty="0">
                <a:latin typeface="Cambria"/>
                <a:cs typeface="Cambria"/>
              </a:rPr>
              <a:t> </a:t>
            </a:r>
            <a:r>
              <a:rPr sz="1850" dirty="0">
                <a:latin typeface="Cambria"/>
                <a:cs typeface="Cambria"/>
              </a:rPr>
              <a:t>a</a:t>
            </a:r>
            <a:r>
              <a:rPr sz="1850" spc="135" dirty="0">
                <a:latin typeface="Cambria"/>
                <a:cs typeface="Cambria"/>
              </a:rPr>
              <a:t> </a:t>
            </a:r>
            <a:r>
              <a:rPr sz="1850" spc="215" dirty="0">
                <a:latin typeface="Cambria"/>
                <a:cs typeface="Cambria"/>
              </a:rPr>
              <a:t>/</a:t>
            </a:r>
            <a:r>
              <a:rPr sz="1850" spc="165" dirty="0">
                <a:latin typeface="Cambria"/>
                <a:cs typeface="Cambria"/>
              </a:rPr>
              <a:t> </a:t>
            </a:r>
            <a:r>
              <a:rPr sz="1850" spc="-50" dirty="0">
                <a:latin typeface="Cambria"/>
                <a:cs typeface="Cambria"/>
              </a:rPr>
              <a:t>b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5479" y="2518727"/>
            <a:ext cx="8402955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  <a:tabLst>
                <a:tab pos="622300" algn="l"/>
                <a:tab pos="1882139" algn="l"/>
                <a:tab pos="3007360" algn="l"/>
                <a:tab pos="3373754" algn="l"/>
                <a:tab pos="4424045" algn="l"/>
                <a:tab pos="6040120" algn="l"/>
                <a:tab pos="7155180" algn="l"/>
                <a:tab pos="7507605" algn="l"/>
              </a:tabLst>
            </a:pPr>
            <a:r>
              <a:rPr sz="2000" spc="-25" dirty="0">
                <a:latin typeface="Cambria"/>
                <a:cs typeface="Cambria"/>
              </a:rPr>
              <a:t>The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subtract()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function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5" dirty="0">
                <a:latin typeface="Cambria"/>
                <a:cs typeface="Cambria"/>
              </a:rPr>
              <a:t>is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another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independent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50" dirty="0">
                <a:latin typeface="Cambria"/>
                <a:cs typeface="Cambria"/>
              </a:rPr>
              <a:t>module.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5" dirty="0">
                <a:latin typeface="Cambria"/>
                <a:cs typeface="Cambria"/>
              </a:rPr>
              <a:t>It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handles </a:t>
            </a:r>
            <a:r>
              <a:rPr sz="2000" dirty="0">
                <a:latin typeface="Cambria"/>
                <a:cs typeface="Cambria"/>
              </a:rPr>
              <a:t>subtraction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and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called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by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main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module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when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needed.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52700" y="2400300"/>
            <a:ext cx="733425" cy="971550"/>
          </a:xfrm>
          <a:custGeom>
            <a:avLst/>
            <a:gdLst/>
            <a:ahLst/>
            <a:cxnLst/>
            <a:rect l="l" t="t" r="r" b="b"/>
            <a:pathLst>
              <a:path w="733425" h="971550">
                <a:moveTo>
                  <a:pt x="0" y="0"/>
                </a:moveTo>
                <a:lnTo>
                  <a:pt x="73918" y="1239"/>
                </a:lnTo>
                <a:lnTo>
                  <a:pt x="142765" y="4794"/>
                </a:lnTo>
                <a:lnTo>
                  <a:pt x="205068" y="10420"/>
                </a:lnTo>
                <a:lnTo>
                  <a:pt x="259349" y="17875"/>
                </a:lnTo>
                <a:lnTo>
                  <a:pt x="304136" y="26913"/>
                </a:lnTo>
                <a:lnTo>
                  <a:pt x="359324" y="48763"/>
                </a:lnTo>
                <a:lnTo>
                  <a:pt x="366775" y="61087"/>
                </a:lnTo>
                <a:lnTo>
                  <a:pt x="366775" y="424688"/>
                </a:lnTo>
                <a:lnTo>
                  <a:pt x="374222" y="437011"/>
                </a:lnTo>
                <a:lnTo>
                  <a:pt x="429375" y="458861"/>
                </a:lnTo>
                <a:lnTo>
                  <a:pt x="474138" y="467899"/>
                </a:lnTo>
                <a:lnTo>
                  <a:pt x="528397" y="475354"/>
                </a:lnTo>
                <a:lnTo>
                  <a:pt x="590678" y="480980"/>
                </a:lnTo>
                <a:lnTo>
                  <a:pt x="659512" y="484535"/>
                </a:lnTo>
                <a:lnTo>
                  <a:pt x="733425" y="485775"/>
                </a:lnTo>
                <a:lnTo>
                  <a:pt x="659512" y="487014"/>
                </a:lnTo>
                <a:lnTo>
                  <a:pt x="590678" y="490569"/>
                </a:lnTo>
                <a:lnTo>
                  <a:pt x="528397" y="496195"/>
                </a:lnTo>
                <a:lnTo>
                  <a:pt x="474138" y="503650"/>
                </a:lnTo>
                <a:lnTo>
                  <a:pt x="429375" y="512688"/>
                </a:lnTo>
                <a:lnTo>
                  <a:pt x="374222" y="534538"/>
                </a:lnTo>
                <a:lnTo>
                  <a:pt x="366775" y="546862"/>
                </a:lnTo>
                <a:lnTo>
                  <a:pt x="366775" y="910463"/>
                </a:lnTo>
                <a:lnTo>
                  <a:pt x="359324" y="922786"/>
                </a:lnTo>
                <a:lnTo>
                  <a:pt x="304136" y="944636"/>
                </a:lnTo>
                <a:lnTo>
                  <a:pt x="259349" y="953674"/>
                </a:lnTo>
                <a:lnTo>
                  <a:pt x="205068" y="961129"/>
                </a:lnTo>
                <a:lnTo>
                  <a:pt x="142765" y="966755"/>
                </a:lnTo>
                <a:lnTo>
                  <a:pt x="73918" y="970310"/>
                </a:lnTo>
                <a:lnTo>
                  <a:pt x="0" y="971550"/>
                </a:lnTo>
              </a:path>
            </a:pathLst>
          </a:custGeom>
          <a:ln w="19050">
            <a:solidFill>
              <a:srgbClr val="FFC9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205479" y="3773741"/>
            <a:ext cx="8402955" cy="9448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345" dirty="0"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multiply()</a:t>
            </a:r>
            <a:r>
              <a:rPr sz="2000" spc="37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function</a:t>
            </a:r>
            <a:r>
              <a:rPr sz="2000" spc="35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35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35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self-contained</a:t>
            </a:r>
            <a:r>
              <a:rPr sz="2000" spc="360" dirty="0">
                <a:latin typeface="Cambria"/>
                <a:cs typeface="Cambria"/>
              </a:rPr>
              <a:t>  </a:t>
            </a:r>
            <a:r>
              <a:rPr sz="2000" spc="50" dirty="0">
                <a:latin typeface="Cambria"/>
                <a:cs typeface="Cambria"/>
              </a:rPr>
              <a:t>module</a:t>
            </a:r>
            <a:r>
              <a:rPr sz="2000" spc="37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responsible</a:t>
            </a:r>
            <a:r>
              <a:rPr sz="2000" spc="340" dirty="0">
                <a:latin typeface="Cambria"/>
                <a:cs typeface="Cambria"/>
              </a:rPr>
              <a:t>  </a:t>
            </a:r>
            <a:r>
              <a:rPr sz="2000" spc="-25" dirty="0">
                <a:latin typeface="Cambria"/>
                <a:cs typeface="Cambria"/>
              </a:rPr>
              <a:t>for </a:t>
            </a:r>
            <a:r>
              <a:rPr sz="2000" dirty="0">
                <a:latin typeface="Cambria"/>
                <a:cs typeface="Cambria"/>
              </a:rPr>
              <a:t>multiplication.</a:t>
            </a:r>
            <a:r>
              <a:rPr sz="2000" spc="48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Like</a:t>
            </a:r>
            <a:r>
              <a:rPr sz="2000" spc="4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4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other</a:t>
            </a:r>
            <a:r>
              <a:rPr sz="2000" spc="44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modules,</a:t>
            </a:r>
            <a:r>
              <a:rPr sz="2000" spc="3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it</a:t>
            </a:r>
            <a:r>
              <a:rPr sz="2000" spc="4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4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reusable</a:t>
            </a:r>
            <a:r>
              <a:rPr sz="2000" spc="46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and</a:t>
            </a:r>
            <a:r>
              <a:rPr sz="2000" spc="459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can</a:t>
            </a:r>
            <a:r>
              <a:rPr sz="2000" spc="4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be</a:t>
            </a:r>
            <a:r>
              <a:rPr sz="2000" spc="47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tested independently.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57475" y="3676650"/>
            <a:ext cx="733425" cy="962025"/>
          </a:xfrm>
          <a:custGeom>
            <a:avLst/>
            <a:gdLst/>
            <a:ahLst/>
            <a:cxnLst/>
            <a:rect l="l" t="t" r="r" b="b"/>
            <a:pathLst>
              <a:path w="733425" h="962025">
                <a:moveTo>
                  <a:pt x="0" y="0"/>
                </a:moveTo>
                <a:lnTo>
                  <a:pt x="73918" y="1239"/>
                </a:lnTo>
                <a:lnTo>
                  <a:pt x="142765" y="4794"/>
                </a:lnTo>
                <a:lnTo>
                  <a:pt x="205068" y="10420"/>
                </a:lnTo>
                <a:lnTo>
                  <a:pt x="259349" y="17875"/>
                </a:lnTo>
                <a:lnTo>
                  <a:pt x="304136" y="26913"/>
                </a:lnTo>
                <a:lnTo>
                  <a:pt x="359324" y="48763"/>
                </a:lnTo>
                <a:lnTo>
                  <a:pt x="366775" y="61087"/>
                </a:lnTo>
                <a:lnTo>
                  <a:pt x="366775" y="419862"/>
                </a:lnTo>
                <a:lnTo>
                  <a:pt x="374222" y="432185"/>
                </a:lnTo>
                <a:lnTo>
                  <a:pt x="429375" y="454035"/>
                </a:lnTo>
                <a:lnTo>
                  <a:pt x="474138" y="463073"/>
                </a:lnTo>
                <a:lnTo>
                  <a:pt x="528397" y="470528"/>
                </a:lnTo>
                <a:lnTo>
                  <a:pt x="590678" y="476154"/>
                </a:lnTo>
                <a:lnTo>
                  <a:pt x="659512" y="479709"/>
                </a:lnTo>
                <a:lnTo>
                  <a:pt x="733425" y="480949"/>
                </a:lnTo>
                <a:lnTo>
                  <a:pt x="659512" y="482193"/>
                </a:lnTo>
                <a:lnTo>
                  <a:pt x="590678" y="485763"/>
                </a:lnTo>
                <a:lnTo>
                  <a:pt x="528397" y="491410"/>
                </a:lnTo>
                <a:lnTo>
                  <a:pt x="474138" y="498887"/>
                </a:lnTo>
                <a:lnTo>
                  <a:pt x="429375" y="507948"/>
                </a:lnTo>
                <a:lnTo>
                  <a:pt x="374222" y="529833"/>
                </a:lnTo>
                <a:lnTo>
                  <a:pt x="366775" y="542163"/>
                </a:lnTo>
                <a:lnTo>
                  <a:pt x="366775" y="900938"/>
                </a:lnTo>
                <a:lnTo>
                  <a:pt x="359324" y="913261"/>
                </a:lnTo>
                <a:lnTo>
                  <a:pt x="304136" y="935111"/>
                </a:lnTo>
                <a:lnTo>
                  <a:pt x="259349" y="944149"/>
                </a:lnTo>
                <a:lnTo>
                  <a:pt x="205068" y="951604"/>
                </a:lnTo>
                <a:lnTo>
                  <a:pt x="142765" y="957230"/>
                </a:lnTo>
                <a:lnTo>
                  <a:pt x="73918" y="960785"/>
                </a:lnTo>
                <a:lnTo>
                  <a:pt x="0" y="962025"/>
                </a:lnTo>
              </a:path>
            </a:pathLst>
          </a:custGeom>
          <a:ln w="19050">
            <a:solidFill>
              <a:srgbClr val="FFC9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624579" y="5172011"/>
            <a:ext cx="8087995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254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divide()</a:t>
            </a:r>
            <a:r>
              <a:rPr sz="2000" spc="2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function</a:t>
            </a:r>
            <a:r>
              <a:rPr sz="2000" spc="2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2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26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modular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component</a:t>
            </a:r>
            <a:r>
              <a:rPr sz="2000" spc="2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that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handles</a:t>
            </a:r>
            <a:r>
              <a:rPr sz="2000" spc="30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division.</a:t>
            </a:r>
            <a:r>
              <a:rPr sz="2000" spc="27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It </a:t>
            </a:r>
            <a:r>
              <a:rPr sz="2000" dirty="0">
                <a:latin typeface="Cambria"/>
                <a:cs typeface="Cambria"/>
              </a:rPr>
              <a:t>includes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additional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logic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prevent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errors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when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dividing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by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zero.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57525" y="5181600"/>
            <a:ext cx="733425" cy="1343025"/>
          </a:xfrm>
          <a:custGeom>
            <a:avLst/>
            <a:gdLst/>
            <a:ahLst/>
            <a:cxnLst/>
            <a:rect l="l" t="t" r="r" b="b"/>
            <a:pathLst>
              <a:path w="733425" h="1343025">
                <a:moveTo>
                  <a:pt x="0" y="0"/>
                </a:moveTo>
                <a:lnTo>
                  <a:pt x="73918" y="1239"/>
                </a:lnTo>
                <a:lnTo>
                  <a:pt x="142765" y="4794"/>
                </a:lnTo>
                <a:lnTo>
                  <a:pt x="205068" y="10420"/>
                </a:lnTo>
                <a:lnTo>
                  <a:pt x="259349" y="17875"/>
                </a:lnTo>
                <a:lnTo>
                  <a:pt x="304136" y="26913"/>
                </a:lnTo>
                <a:lnTo>
                  <a:pt x="359324" y="48763"/>
                </a:lnTo>
                <a:lnTo>
                  <a:pt x="366775" y="61087"/>
                </a:lnTo>
                <a:lnTo>
                  <a:pt x="366775" y="610400"/>
                </a:lnTo>
                <a:lnTo>
                  <a:pt x="374222" y="622714"/>
                </a:lnTo>
                <a:lnTo>
                  <a:pt x="429375" y="644565"/>
                </a:lnTo>
                <a:lnTo>
                  <a:pt x="474138" y="653610"/>
                </a:lnTo>
                <a:lnTo>
                  <a:pt x="528397" y="661073"/>
                </a:lnTo>
                <a:lnTo>
                  <a:pt x="590678" y="666708"/>
                </a:lnTo>
                <a:lnTo>
                  <a:pt x="659512" y="670270"/>
                </a:lnTo>
                <a:lnTo>
                  <a:pt x="733425" y="671512"/>
                </a:lnTo>
                <a:lnTo>
                  <a:pt x="659512" y="672754"/>
                </a:lnTo>
                <a:lnTo>
                  <a:pt x="590678" y="676316"/>
                </a:lnTo>
                <a:lnTo>
                  <a:pt x="528397" y="681951"/>
                </a:lnTo>
                <a:lnTo>
                  <a:pt x="474138" y="689414"/>
                </a:lnTo>
                <a:lnTo>
                  <a:pt x="429375" y="698459"/>
                </a:lnTo>
                <a:lnTo>
                  <a:pt x="374222" y="720310"/>
                </a:lnTo>
                <a:lnTo>
                  <a:pt x="366775" y="732624"/>
                </a:lnTo>
                <a:lnTo>
                  <a:pt x="366775" y="1281912"/>
                </a:lnTo>
                <a:lnTo>
                  <a:pt x="359324" y="1294226"/>
                </a:lnTo>
                <a:lnTo>
                  <a:pt x="304136" y="1316077"/>
                </a:lnTo>
                <a:lnTo>
                  <a:pt x="259349" y="1325122"/>
                </a:lnTo>
                <a:lnTo>
                  <a:pt x="205068" y="1332585"/>
                </a:lnTo>
                <a:lnTo>
                  <a:pt x="142765" y="1338221"/>
                </a:lnTo>
                <a:lnTo>
                  <a:pt x="73918" y="1341783"/>
                </a:lnTo>
                <a:lnTo>
                  <a:pt x="0" y="1343025"/>
                </a:lnTo>
              </a:path>
            </a:pathLst>
          </a:custGeom>
          <a:ln w="19050">
            <a:solidFill>
              <a:srgbClr val="FFC9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40" dirty="0"/>
              <a:t>5.</a:t>
            </a:r>
            <a:r>
              <a:rPr sz="3200" spc="225" dirty="0"/>
              <a:t> </a:t>
            </a:r>
            <a:r>
              <a:rPr sz="3200" spc="114" dirty="0"/>
              <a:t>Modularity</a:t>
            </a:r>
            <a:r>
              <a:rPr sz="3200" spc="26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65" dirty="0"/>
              <a:t>Calculator</a:t>
            </a:r>
            <a:r>
              <a:rPr sz="3200" spc="280" dirty="0"/>
              <a:t> </a:t>
            </a:r>
            <a:r>
              <a:rPr sz="3200" spc="140" dirty="0"/>
              <a:t>Example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6567" y="904144"/>
            <a:ext cx="11238230" cy="541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marR="7620" indent="-228600" algn="just">
              <a:lnSpc>
                <a:spcPct val="142200"/>
              </a:lnSpc>
              <a:spcBef>
                <a:spcPts val="125"/>
              </a:spcBef>
              <a:buSzPct val="96363"/>
              <a:buFont typeface="Wingdings"/>
              <a:buChar char=""/>
              <a:tabLst>
                <a:tab pos="241300" algn="l"/>
                <a:tab pos="295275" algn="l"/>
              </a:tabLst>
            </a:pP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Separation</a:t>
            </a:r>
            <a:r>
              <a:rPr sz="2750" spc="41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6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750" spc="409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70" dirty="0">
                <a:solidFill>
                  <a:srgbClr val="FF0000"/>
                </a:solidFill>
                <a:latin typeface="Cambria"/>
                <a:cs typeface="Cambria"/>
              </a:rPr>
              <a:t>Concerns</a:t>
            </a:r>
            <a:r>
              <a:rPr sz="2750" spc="41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r>
              <a:rPr sz="2750" spc="39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65" dirty="0">
                <a:latin typeface="Cambria"/>
                <a:cs typeface="Cambria"/>
              </a:rPr>
              <a:t>Each</a:t>
            </a:r>
            <a:r>
              <a:rPr sz="2750" spc="39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operation</a:t>
            </a:r>
            <a:r>
              <a:rPr sz="2750" spc="415" dirty="0">
                <a:latin typeface="Cambria"/>
                <a:cs typeface="Cambria"/>
              </a:rPr>
              <a:t>  </a:t>
            </a:r>
            <a:r>
              <a:rPr sz="2750" spc="60" dirty="0">
                <a:latin typeface="Cambria"/>
                <a:cs typeface="Cambria"/>
              </a:rPr>
              <a:t>(addition,</a:t>
            </a:r>
            <a:r>
              <a:rPr sz="2750" spc="385" dirty="0">
                <a:latin typeface="Cambria"/>
                <a:cs typeface="Cambria"/>
              </a:rPr>
              <a:t>  </a:t>
            </a:r>
            <a:r>
              <a:rPr sz="2750" spc="-10" dirty="0">
                <a:latin typeface="Cambria"/>
                <a:cs typeface="Cambria"/>
              </a:rPr>
              <a:t>subtraction, </a:t>
            </a:r>
            <a:r>
              <a:rPr sz="2750" spc="70" dirty="0">
                <a:latin typeface="Cambria"/>
                <a:cs typeface="Cambria"/>
              </a:rPr>
              <a:t>multiplication,</a:t>
            </a:r>
            <a:r>
              <a:rPr sz="2750" spc="160" dirty="0">
                <a:latin typeface="Cambria"/>
                <a:cs typeface="Cambria"/>
              </a:rPr>
              <a:t>  </a:t>
            </a:r>
            <a:r>
              <a:rPr sz="2750" spc="50" dirty="0">
                <a:latin typeface="Cambria"/>
                <a:cs typeface="Cambria"/>
              </a:rPr>
              <a:t>division)</a:t>
            </a:r>
            <a:r>
              <a:rPr sz="2750" spc="18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160" dirty="0">
                <a:latin typeface="Cambria"/>
                <a:cs typeface="Cambria"/>
              </a:rPr>
              <a:t>  </a:t>
            </a:r>
            <a:r>
              <a:rPr sz="2750" spc="75" dirty="0">
                <a:latin typeface="Cambria"/>
                <a:cs typeface="Cambria"/>
              </a:rPr>
              <a:t>implemented</a:t>
            </a:r>
            <a:r>
              <a:rPr sz="2750" spc="155" dirty="0">
                <a:latin typeface="Cambria"/>
                <a:cs typeface="Cambria"/>
              </a:rPr>
              <a:t> 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16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its</a:t>
            </a:r>
            <a:r>
              <a:rPr sz="2750" spc="170" dirty="0">
                <a:latin typeface="Cambria"/>
                <a:cs typeface="Cambria"/>
              </a:rPr>
              <a:t>  </a:t>
            </a:r>
            <a:r>
              <a:rPr sz="2750" spc="120" dirty="0">
                <a:latin typeface="Cambria"/>
                <a:cs typeface="Cambria"/>
              </a:rPr>
              <a:t>own</a:t>
            </a:r>
            <a:r>
              <a:rPr sz="2750" spc="150" dirty="0">
                <a:latin typeface="Cambria"/>
                <a:cs typeface="Cambria"/>
              </a:rPr>
              <a:t>  </a:t>
            </a:r>
            <a:r>
              <a:rPr sz="2750" spc="105" dirty="0">
                <a:latin typeface="Cambria"/>
                <a:cs typeface="Cambria"/>
              </a:rPr>
              <a:t>module.</a:t>
            </a:r>
            <a:r>
              <a:rPr sz="2750" spc="165" dirty="0">
                <a:latin typeface="Cambria"/>
                <a:cs typeface="Cambria"/>
              </a:rPr>
              <a:t>  </a:t>
            </a:r>
            <a:r>
              <a:rPr sz="2750" spc="-20" dirty="0">
                <a:latin typeface="Cambria"/>
                <a:cs typeface="Cambria"/>
              </a:rPr>
              <a:t>This </a:t>
            </a:r>
            <a:r>
              <a:rPr sz="2750" dirty="0">
                <a:latin typeface="Cambria"/>
                <a:cs typeface="Cambria"/>
              </a:rPr>
              <a:t>ensures</a:t>
            </a:r>
            <a:r>
              <a:rPr sz="2750" spc="21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that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each</a:t>
            </a:r>
            <a:r>
              <a:rPr sz="2750" spc="185" dirty="0">
                <a:latin typeface="Cambria"/>
                <a:cs typeface="Cambria"/>
              </a:rPr>
              <a:t> </a:t>
            </a:r>
            <a:r>
              <a:rPr sz="2750" spc="105" dirty="0">
                <a:latin typeface="Cambria"/>
                <a:cs typeface="Cambria"/>
              </a:rPr>
              <a:t>module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has</a:t>
            </a:r>
            <a:r>
              <a:rPr sz="2750" spc="2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18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single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spc="35" dirty="0">
                <a:latin typeface="Cambria"/>
                <a:cs typeface="Cambria"/>
              </a:rPr>
              <a:t>responsibility.</a:t>
            </a:r>
            <a:endParaRPr sz="2750">
              <a:latin typeface="Cambria"/>
              <a:cs typeface="Cambria"/>
            </a:endParaRPr>
          </a:p>
          <a:p>
            <a:pPr marL="241300" marR="6985" indent="-228600" algn="just">
              <a:lnSpc>
                <a:spcPct val="143300"/>
              </a:lnSpc>
              <a:spcBef>
                <a:spcPts val="5"/>
              </a:spcBef>
              <a:buSzPct val="96363"/>
              <a:buFont typeface="Wingdings"/>
              <a:buChar char=""/>
              <a:tabLst>
                <a:tab pos="241300" algn="l"/>
                <a:tab pos="295275" algn="l"/>
              </a:tabLst>
            </a:pP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	Reusability</a:t>
            </a:r>
            <a:r>
              <a:rPr sz="2750" spc="29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r>
              <a:rPr sz="2750" spc="28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65" dirty="0">
                <a:latin typeface="Cambria"/>
                <a:cs typeface="Cambria"/>
              </a:rPr>
              <a:t>Each</a:t>
            </a:r>
            <a:r>
              <a:rPr sz="2750" spc="280" dirty="0">
                <a:latin typeface="Cambria"/>
                <a:cs typeface="Cambria"/>
              </a:rPr>
              <a:t>  </a:t>
            </a:r>
            <a:r>
              <a:rPr sz="2750" spc="105" dirty="0">
                <a:latin typeface="Cambria"/>
                <a:cs typeface="Cambria"/>
              </a:rPr>
              <a:t>module</a:t>
            </a:r>
            <a:r>
              <a:rPr sz="2750" spc="26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can</a:t>
            </a:r>
            <a:r>
              <a:rPr sz="2750" spc="29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be</a:t>
            </a:r>
            <a:r>
              <a:rPr sz="2750" spc="26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reused</a:t>
            </a:r>
            <a:r>
              <a:rPr sz="2750" spc="270" dirty="0">
                <a:latin typeface="Cambria"/>
                <a:cs typeface="Cambria"/>
              </a:rPr>
              <a:t> 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27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other</a:t>
            </a:r>
            <a:r>
              <a:rPr sz="2750" spc="28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parts</a:t>
            </a:r>
            <a:r>
              <a:rPr sz="2750" spc="275" dirty="0">
                <a:latin typeface="Cambria"/>
                <a:cs typeface="Cambria"/>
              </a:rPr>
              <a:t> 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295" dirty="0">
                <a:latin typeface="Cambria"/>
                <a:cs typeface="Cambria"/>
              </a:rPr>
              <a:t>  </a:t>
            </a:r>
            <a:r>
              <a:rPr sz="2750" spc="-25" dirty="0">
                <a:latin typeface="Cambria"/>
                <a:cs typeface="Cambria"/>
              </a:rPr>
              <a:t>the </a:t>
            </a:r>
            <a:r>
              <a:rPr sz="2750" spc="75" dirty="0">
                <a:latin typeface="Cambria"/>
                <a:cs typeface="Cambria"/>
              </a:rPr>
              <a:t>program</a:t>
            </a:r>
            <a:r>
              <a:rPr sz="2750" spc="10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or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even</a:t>
            </a:r>
            <a:r>
              <a:rPr sz="2750" spc="10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100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different</a:t>
            </a:r>
            <a:r>
              <a:rPr sz="2750" spc="95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projects.</a:t>
            </a:r>
            <a:endParaRPr sz="275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142600"/>
              </a:lnSpc>
              <a:spcBef>
                <a:spcPts val="30"/>
              </a:spcBef>
              <a:buSzPct val="96363"/>
              <a:buFont typeface="Wingdings"/>
              <a:buChar char=""/>
              <a:tabLst>
                <a:tab pos="241300" algn="l"/>
                <a:tab pos="295275" algn="l"/>
              </a:tabLst>
            </a:pPr>
            <a:r>
              <a:rPr sz="2750" spc="70" dirty="0">
                <a:solidFill>
                  <a:srgbClr val="FF0000"/>
                </a:solidFill>
                <a:latin typeface="Cambria"/>
                <a:cs typeface="Cambria"/>
              </a:rPr>
              <a:t>	Maintainability</a:t>
            </a:r>
            <a:r>
              <a:rPr sz="2750" spc="50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r>
              <a:rPr sz="2750" spc="4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If</a:t>
            </a:r>
            <a:r>
              <a:rPr sz="2750" spc="445" dirty="0">
                <a:latin typeface="Cambria"/>
                <a:cs typeface="Cambria"/>
              </a:rPr>
              <a:t> </a:t>
            </a:r>
            <a:r>
              <a:rPr sz="2750" spc="114" dirty="0">
                <a:latin typeface="Cambria"/>
                <a:cs typeface="Cambria"/>
              </a:rPr>
              <a:t>you</a:t>
            </a:r>
            <a:r>
              <a:rPr sz="2750" spc="50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need</a:t>
            </a:r>
            <a:r>
              <a:rPr sz="2750" spc="51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49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fix</a:t>
            </a:r>
            <a:r>
              <a:rPr sz="2750" spc="51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or</a:t>
            </a:r>
            <a:r>
              <a:rPr sz="2750" spc="495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improve</a:t>
            </a:r>
            <a:r>
              <a:rPr sz="2750" spc="4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48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specific</a:t>
            </a:r>
            <a:r>
              <a:rPr sz="2750" spc="480" dirty="0">
                <a:latin typeface="Cambria"/>
                <a:cs typeface="Cambria"/>
              </a:rPr>
              <a:t> </a:t>
            </a:r>
            <a:r>
              <a:rPr sz="2750" spc="35" dirty="0">
                <a:latin typeface="Cambria"/>
                <a:cs typeface="Cambria"/>
              </a:rPr>
              <a:t>operation, </a:t>
            </a:r>
            <a:r>
              <a:rPr sz="2750" spc="114" dirty="0">
                <a:latin typeface="Cambria"/>
                <a:cs typeface="Cambria"/>
              </a:rPr>
              <a:t>you</a:t>
            </a:r>
            <a:r>
              <a:rPr sz="2750" spc="375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only</a:t>
            </a:r>
            <a:r>
              <a:rPr sz="2750" spc="35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need</a:t>
            </a:r>
            <a:r>
              <a:rPr sz="2750" spc="39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365" dirty="0">
                <a:latin typeface="Cambria"/>
                <a:cs typeface="Cambria"/>
              </a:rPr>
              <a:t> </a:t>
            </a:r>
            <a:r>
              <a:rPr sz="2750" spc="120" dirty="0">
                <a:latin typeface="Cambria"/>
                <a:cs typeface="Cambria"/>
              </a:rPr>
              <a:t>modify</a:t>
            </a:r>
            <a:r>
              <a:rPr sz="2750" spc="3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34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corresponding</a:t>
            </a:r>
            <a:r>
              <a:rPr sz="2750" spc="360" dirty="0">
                <a:latin typeface="Cambria"/>
                <a:cs typeface="Cambria"/>
              </a:rPr>
              <a:t> </a:t>
            </a:r>
            <a:r>
              <a:rPr sz="2750" spc="105" dirty="0">
                <a:latin typeface="Cambria"/>
                <a:cs typeface="Cambria"/>
              </a:rPr>
              <a:t>module.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For</a:t>
            </a:r>
            <a:r>
              <a:rPr sz="2750" spc="36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example,</a:t>
            </a:r>
            <a:r>
              <a:rPr sz="2750" spc="36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if </a:t>
            </a:r>
            <a:r>
              <a:rPr sz="2750" spc="114" dirty="0">
                <a:latin typeface="Cambria"/>
                <a:cs typeface="Cambria"/>
              </a:rPr>
              <a:t>you</a:t>
            </a:r>
            <a:r>
              <a:rPr sz="2750" spc="620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want</a:t>
            </a:r>
            <a:r>
              <a:rPr sz="2750" spc="5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615" dirty="0">
                <a:latin typeface="Cambria"/>
                <a:cs typeface="Cambria"/>
              </a:rPr>
              <a:t> </a:t>
            </a:r>
            <a:r>
              <a:rPr sz="2750" spc="140" dirty="0">
                <a:latin typeface="Cambria"/>
                <a:cs typeface="Cambria"/>
              </a:rPr>
              <a:t>add</a:t>
            </a:r>
            <a:r>
              <a:rPr sz="2750" spc="5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more</a:t>
            </a:r>
            <a:r>
              <a:rPr sz="2750" spc="60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robust</a:t>
            </a:r>
            <a:r>
              <a:rPr sz="2750" spc="60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error</a:t>
            </a:r>
            <a:r>
              <a:rPr sz="2750" spc="555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handling</a:t>
            </a:r>
            <a:r>
              <a:rPr sz="2750" spc="6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61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division,</a:t>
            </a:r>
            <a:r>
              <a:rPr sz="2750" spc="635" dirty="0">
                <a:latin typeface="Cambria"/>
                <a:cs typeface="Cambria"/>
              </a:rPr>
              <a:t> </a:t>
            </a:r>
            <a:r>
              <a:rPr sz="2750" spc="114" dirty="0">
                <a:latin typeface="Cambria"/>
                <a:cs typeface="Cambria"/>
              </a:rPr>
              <a:t>you</a:t>
            </a:r>
            <a:r>
              <a:rPr sz="2750" spc="62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only </a:t>
            </a:r>
            <a:r>
              <a:rPr sz="2750" spc="50" dirty="0">
                <a:latin typeface="Cambria"/>
                <a:cs typeface="Cambria"/>
              </a:rPr>
              <a:t>need</a:t>
            </a:r>
            <a:r>
              <a:rPr sz="2750" spc="16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update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divide()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function.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40" dirty="0"/>
              <a:t>5.</a:t>
            </a:r>
            <a:r>
              <a:rPr sz="3200" spc="225" dirty="0"/>
              <a:t> </a:t>
            </a:r>
            <a:r>
              <a:rPr sz="3200" spc="114" dirty="0"/>
              <a:t>Modularity</a:t>
            </a:r>
            <a:r>
              <a:rPr sz="3200" spc="26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65" dirty="0"/>
              <a:t>Calculator</a:t>
            </a:r>
            <a:r>
              <a:rPr sz="3200" spc="280" dirty="0"/>
              <a:t> </a:t>
            </a:r>
            <a:r>
              <a:rPr sz="3200" spc="140" dirty="0"/>
              <a:t>Example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8865" cy="45275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41300" marR="5080" indent="-229235" algn="just">
              <a:lnSpc>
                <a:spcPct val="153300"/>
              </a:lnSpc>
              <a:spcBef>
                <a:spcPts val="14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	Scalability</a:t>
            </a:r>
            <a:r>
              <a:rPr sz="2750" spc="4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r>
              <a:rPr sz="2750" spc="4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185" dirty="0">
                <a:latin typeface="Cambria"/>
                <a:cs typeface="Cambria"/>
              </a:rPr>
              <a:t>Adding</a:t>
            </a:r>
            <a:r>
              <a:rPr sz="2750" spc="515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new</a:t>
            </a:r>
            <a:r>
              <a:rPr sz="2750" spc="45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features</a:t>
            </a:r>
            <a:r>
              <a:rPr sz="2750" spc="49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(e.g.,</a:t>
            </a:r>
            <a:r>
              <a:rPr sz="2750" spc="48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exponentiation,</a:t>
            </a:r>
            <a:r>
              <a:rPr sz="2750" spc="48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square</a:t>
            </a:r>
            <a:r>
              <a:rPr sz="2750" spc="45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root)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31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easy</a:t>
            </a:r>
            <a:r>
              <a:rPr sz="2750" spc="34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because</a:t>
            </a:r>
            <a:r>
              <a:rPr sz="2750" spc="325" dirty="0">
                <a:latin typeface="Cambria"/>
                <a:cs typeface="Cambria"/>
              </a:rPr>
              <a:t>  </a:t>
            </a:r>
            <a:r>
              <a:rPr sz="2750" spc="114" dirty="0">
                <a:latin typeface="Cambria"/>
                <a:cs typeface="Cambria"/>
              </a:rPr>
              <a:t>you</a:t>
            </a:r>
            <a:r>
              <a:rPr sz="2750" spc="34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can</a:t>
            </a:r>
            <a:r>
              <a:rPr sz="2750" spc="33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create</a:t>
            </a:r>
            <a:r>
              <a:rPr sz="2750" spc="325" dirty="0">
                <a:latin typeface="Cambria"/>
                <a:cs typeface="Cambria"/>
              </a:rPr>
              <a:t>  </a:t>
            </a:r>
            <a:r>
              <a:rPr sz="2750" spc="95" dirty="0">
                <a:latin typeface="Cambria"/>
                <a:cs typeface="Cambria"/>
              </a:rPr>
              <a:t>new</a:t>
            </a:r>
            <a:r>
              <a:rPr sz="2750" spc="315" dirty="0">
                <a:latin typeface="Cambria"/>
                <a:cs typeface="Cambria"/>
              </a:rPr>
              <a:t>  </a:t>
            </a:r>
            <a:r>
              <a:rPr sz="2750" spc="80" dirty="0">
                <a:latin typeface="Cambria"/>
                <a:cs typeface="Cambria"/>
              </a:rPr>
              <a:t>modules</a:t>
            </a:r>
            <a:r>
              <a:rPr sz="2750" spc="345" dirty="0">
                <a:latin typeface="Cambria"/>
                <a:cs typeface="Cambria"/>
              </a:rPr>
              <a:t>  </a:t>
            </a:r>
            <a:r>
              <a:rPr sz="2750" spc="75" dirty="0">
                <a:latin typeface="Cambria"/>
                <a:cs typeface="Cambria"/>
              </a:rPr>
              <a:t>without</a:t>
            </a:r>
            <a:r>
              <a:rPr sz="2750" spc="320" dirty="0">
                <a:latin typeface="Cambria"/>
                <a:cs typeface="Cambria"/>
              </a:rPr>
              <a:t>  </a:t>
            </a:r>
            <a:r>
              <a:rPr sz="2750" spc="50" dirty="0">
                <a:latin typeface="Cambria"/>
                <a:cs typeface="Cambria"/>
              </a:rPr>
              <a:t>affecting </a:t>
            </a:r>
            <a:r>
              <a:rPr sz="2750" spc="55" dirty="0">
                <a:latin typeface="Cambria"/>
                <a:cs typeface="Cambria"/>
              </a:rPr>
              <a:t>existing</a:t>
            </a:r>
            <a:r>
              <a:rPr sz="2750" spc="54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ones.</a:t>
            </a:r>
            <a:r>
              <a:rPr sz="2750" spc="5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For</a:t>
            </a:r>
            <a:r>
              <a:rPr sz="2750" spc="580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example,</a:t>
            </a:r>
            <a:r>
              <a:rPr sz="2750" spc="565" dirty="0">
                <a:latin typeface="Cambria"/>
                <a:cs typeface="Cambria"/>
              </a:rPr>
              <a:t> </a:t>
            </a:r>
            <a:r>
              <a:rPr sz="2750" spc="114" dirty="0">
                <a:latin typeface="Cambria"/>
                <a:cs typeface="Cambria"/>
              </a:rPr>
              <a:t>you</a:t>
            </a:r>
            <a:r>
              <a:rPr sz="2750" spc="58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could</a:t>
            </a:r>
            <a:r>
              <a:rPr sz="2750" spc="595" dirty="0">
                <a:latin typeface="Cambria"/>
                <a:cs typeface="Cambria"/>
              </a:rPr>
              <a:t> </a:t>
            </a:r>
            <a:r>
              <a:rPr sz="2750" spc="140" dirty="0">
                <a:latin typeface="Cambria"/>
                <a:cs typeface="Cambria"/>
              </a:rPr>
              <a:t>add</a:t>
            </a:r>
            <a:r>
              <a:rPr sz="2750" spc="5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575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new</a:t>
            </a:r>
            <a:r>
              <a:rPr sz="2750" spc="5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power()</a:t>
            </a:r>
            <a:r>
              <a:rPr sz="2750" spc="57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function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25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integrate</a:t>
            </a:r>
            <a:r>
              <a:rPr sz="2750" spc="21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it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into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main()</a:t>
            </a:r>
            <a:r>
              <a:rPr sz="2750" spc="215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module.</a:t>
            </a:r>
            <a:endParaRPr sz="2750">
              <a:latin typeface="Cambria"/>
              <a:cs typeface="Cambria"/>
            </a:endParaRPr>
          </a:p>
          <a:p>
            <a:pPr marL="241300" marR="10795" indent="-229235" algn="just">
              <a:lnSpc>
                <a:spcPct val="152400"/>
              </a:lnSpc>
              <a:spcBef>
                <a:spcPts val="5"/>
              </a:spcBef>
              <a:buSzPct val="96363"/>
              <a:buFont typeface="Wingdings"/>
              <a:buChar char=""/>
              <a:tabLst>
                <a:tab pos="241300" algn="l"/>
                <a:tab pos="382905" algn="l"/>
              </a:tabLst>
            </a:pP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Testability</a:t>
            </a:r>
            <a:r>
              <a:rPr sz="2750" spc="2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:</a:t>
            </a:r>
            <a:r>
              <a:rPr sz="2750" spc="3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Each</a:t>
            </a:r>
            <a:r>
              <a:rPr sz="2750" spc="310" dirty="0">
                <a:latin typeface="Cambria"/>
                <a:cs typeface="Cambria"/>
              </a:rPr>
              <a:t> </a:t>
            </a:r>
            <a:r>
              <a:rPr sz="2750" spc="105" dirty="0">
                <a:latin typeface="Cambria"/>
                <a:cs typeface="Cambria"/>
              </a:rPr>
              <a:t>module</a:t>
            </a:r>
            <a:r>
              <a:rPr sz="2750" spc="27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can</a:t>
            </a:r>
            <a:r>
              <a:rPr sz="2750" spc="3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be</a:t>
            </a:r>
            <a:r>
              <a:rPr sz="2750" spc="2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tested</a:t>
            </a:r>
            <a:r>
              <a:rPr sz="2750" spc="29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independently.</a:t>
            </a:r>
            <a:r>
              <a:rPr sz="2750" spc="30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For</a:t>
            </a:r>
            <a:r>
              <a:rPr sz="2750" spc="32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example, </a:t>
            </a:r>
            <a:r>
              <a:rPr sz="2750" spc="114" dirty="0">
                <a:latin typeface="Cambria"/>
                <a:cs typeface="Cambria"/>
              </a:rPr>
              <a:t>you</a:t>
            </a:r>
            <a:r>
              <a:rPr sz="2750" spc="229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can</a:t>
            </a:r>
            <a:r>
              <a:rPr sz="2750" spc="2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write</a:t>
            </a:r>
            <a:r>
              <a:rPr sz="2750" spc="20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unit</a:t>
            </a:r>
            <a:r>
              <a:rPr sz="2750" spc="2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tests</a:t>
            </a:r>
            <a:r>
              <a:rPr sz="2750" spc="2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for</a:t>
            </a:r>
            <a:r>
              <a:rPr sz="2750" spc="20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add()</a:t>
            </a:r>
            <a:r>
              <a:rPr sz="2750" spc="22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function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without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needing</a:t>
            </a:r>
            <a:r>
              <a:rPr sz="2750" spc="21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225" dirty="0">
                <a:latin typeface="Cambria"/>
                <a:cs typeface="Cambria"/>
              </a:rPr>
              <a:t> </a:t>
            </a:r>
            <a:r>
              <a:rPr sz="2750" spc="30" dirty="0">
                <a:latin typeface="Cambria"/>
                <a:cs typeface="Cambria"/>
              </a:rPr>
              <a:t>run</a:t>
            </a:r>
            <a:endParaRPr sz="2750">
              <a:latin typeface="Cambria"/>
              <a:cs typeface="Cambria"/>
            </a:endParaRPr>
          </a:p>
          <a:p>
            <a:pPr marL="241300" algn="just">
              <a:lnSpc>
                <a:spcPct val="100000"/>
              </a:lnSpc>
              <a:spcBef>
                <a:spcPts val="1805"/>
              </a:spcBef>
            </a:pPr>
            <a:r>
              <a:rPr sz="2750" dirty="0">
                <a:latin typeface="Cambria"/>
                <a:cs typeface="Cambria"/>
              </a:rPr>
              <a:t>the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entire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program.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0" dirty="0"/>
              <a:t> </a:t>
            </a:r>
            <a:r>
              <a:rPr sz="3200" spc="-455" dirty="0"/>
              <a:t>–</a:t>
            </a:r>
            <a:r>
              <a:rPr sz="3200" spc="245" dirty="0"/>
              <a:t> </a:t>
            </a:r>
            <a:r>
              <a:rPr sz="3200" spc="240" dirty="0"/>
              <a:t>5.</a:t>
            </a:r>
            <a:r>
              <a:rPr sz="3200" spc="225" dirty="0"/>
              <a:t> </a:t>
            </a:r>
            <a:r>
              <a:rPr sz="3200" spc="114" dirty="0"/>
              <a:t>Modularity</a:t>
            </a:r>
            <a:r>
              <a:rPr sz="3200" spc="260" dirty="0"/>
              <a:t> </a:t>
            </a:r>
            <a:r>
              <a:rPr sz="3200" spc="-455" dirty="0"/>
              <a:t>–</a:t>
            </a:r>
            <a:r>
              <a:rPr sz="3200" spc="245" dirty="0"/>
              <a:t> </a:t>
            </a:r>
            <a:r>
              <a:rPr sz="3200" spc="114" dirty="0"/>
              <a:t>Key</a:t>
            </a:r>
            <a:r>
              <a:rPr sz="3200" spc="265" dirty="0"/>
              <a:t> </a:t>
            </a:r>
            <a:r>
              <a:rPr sz="3200" spc="110" dirty="0"/>
              <a:t>benefits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17823"/>
            <a:ext cx="11241405" cy="5024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12700" indent="-232410">
              <a:lnSpc>
                <a:spcPct val="139700"/>
              </a:lnSpc>
              <a:spcBef>
                <a:spcPts val="95"/>
              </a:spcBef>
              <a:buSzPct val="96153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	Easier</a:t>
            </a:r>
            <a:r>
              <a:rPr sz="2600" spc="21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to</a:t>
            </a:r>
            <a:r>
              <a:rPr sz="2600" spc="24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understand</a:t>
            </a:r>
            <a:r>
              <a:rPr sz="2600" spc="22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–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Breaking</a:t>
            </a:r>
            <a:r>
              <a:rPr sz="2600" spc="160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down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system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into</a:t>
            </a:r>
            <a:r>
              <a:rPr sz="2600" spc="18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smaller</a:t>
            </a:r>
            <a:r>
              <a:rPr sz="2600" spc="19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parts</a:t>
            </a:r>
            <a:r>
              <a:rPr sz="2600" spc="229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makes</a:t>
            </a:r>
            <a:r>
              <a:rPr sz="2600" spc="210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it </a:t>
            </a:r>
            <a:r>
              <a:rPr sz="2600" dirty="0">
                <a:latin typeface="Cambria"/>
                <a:cs typeface="Cambria"/>
              </a:rPr>
              <a:t>more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spc="35" dirty="0">
                <a:latin typeface="Cambria"/>
                <a:cs typeface="Cambria"/>
              </a:rPr>
              <a:t>manageable.</a:t>
            </a:r>
            <a:endParaRPr sz="2600">
              <a:latin typeface="Cambria"/>
              <a:cs typeface="Cambria"/>
            </a:endParaRPr>
          </a:p>
          <a:p>
            <a:pPr marL="274320" indent="-265430">
              <a:lnSpc>
                <a:spcPct val="100000"/>
              </a:lnSpc>
              <a:spcBef>
                <a:spcPts val="12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Improves</a:t>
            </a:r>
            <a:r>
              <a:rPr sz="2600" spc="229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reusability</a:t>
            </a:r>
            <a:r>
              <a:rPr sz="2600" spc="25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–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spc="95" dirty="0">
                <a:latin typeface="Cambria"/>
                <a:cs typeface="Cambria"/>
              </a:rPr>
              <a:t>Modules</a:t>
            </a:r>
            <a:r>
              <a:rPr sz="2600" spc="16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can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be</a:t>
            </a:r>
            <a:r>
              <a:rPr sz="2600" spc="229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reused</a:t>
            </a:r>
            <a:r>
              <a:rPr sz="2600" spc="1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22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different</a:t>
            </a:r>
            <a:r>
              <a:rPr sz="2600" spc="17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projects.</a:t>
            </a:r>
            <a:endParaRPr sz="2600">
              <a:latin typeface="Cambria"/>
              <a:cs typeface="Cambria"/>
            </a:endParaRPr>
          </a:p>
          <a:p>
            <a:pPr marL="241300" marR="5080" indent="-232410">
              <a:lnSpc>
                <a:spcPts val="4430"/>
              </a:lnSpc>
              <a:spcBef>
                <a:spcPts val="290"/>
              </a:spcBef>
              <a:buSzPct val="96153"/>
              <a:buFont typeface="Wingdings"/>
              <a:buChar char=""/>
              <a:tabLst>
                <a:tab pos="241300" algn="l"/>
                <a:tab pos="273685" algn="l"/>
                <a:tab pos="1976755" algn="l"/>
                <a:tab pos="3803015" algn="l"/>
                <a:tab pos="4302760" algn="l"/>
                <a:tab pos="6413500" algn="l"/>
                <a:tab pos="6821170" algn="l"/>
                <a:tab pos="7951470" algn="l"/>
                <a:tab pos="8697595" algn="l"/>
                <a:tab pos="9281795" algn="l"/>
                <a:tab pos="10260965" algn="l"/>
              </a:tabLst>
            </a:pPr>
            <a:r>
              <a:rPr sz="2600" spc="40" dirty="0">
                <a:solidFill>
                  <a:srgbClr val="FF1C05"/>
                </a:solidFill>
                <a:latin typeface="Cambria"/>
                <a:cs typeface="Cambria"/>
              </a:rPr>
              <a:t>	Simplifies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600" spc="75" dirty="0">
                <a:solidFill>
                  <a:srgbClr val="FF1C05"/>
                </a:solidFill>
                <a:latin typeface="Cambria"/>
                <a:cs typeface="Cambria"/>
              </a:rPr>
              <a:t>debugging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600" spc="200" dirty="0">
                <a:solidFill>
                  <a:srgbClr val="FF1C05"/>
                </a:solidFill>
                <a:latin typeface="Cambria"/>
                <a:cs typeface="Cambria"/>
              </a:rPr>
              <a:t>&amp;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600" spc="-10" dirty="0">
                <a:solidFill>
                  <a:srgbClr val="FF1C05"/>
                </a:solidFill>
                <a:latin typeface="Cambria"/>
                <a:cs typeface="Cambria"/>
              </a:rPr>
              <a:t>maintenance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600" spc="-50" dirty="0">
                <a:latin typeface="Cambria"/>
                <a:cs typeface="Cambria"/>
              </a:rPr>
              <a:t>–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Issues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can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be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35" dirty="0">
                <a:latin typeface="Cambria"/>
                <a:cs typeface="Cambria"/>
              </a:rPr>
              <a:t>fixed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0" dirty="0">
                <a:latin typeface="Cambria"/>
                <a:cs typeface="Cambria"/>
              </a:rPr>
              <a:t>within </a:t>
            </a:r>
            <a:r>
              <a:rPr sz="2600" spc="75" dirty="0">
                <a:latin typeface="Cambria"/>
                <a:cs typeface="Cambria"/>
              </a:rPr>
              <a:t>individual</a:t>
            </a:r>
            <a:r>
              <a:rPr sz="2600" spc="200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modules</a:t>
            </a:r>
            <a:r>
              <a:rPr sz="2600" spc="1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without</a:t>
            </a:r>
            <a:r>
              <a:rPr sz="2600" spc="22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affecting</a:t>
            </a:r>
            <a:r>
              <a:rPr sz="2600" spc="19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entire</a:t>
            </a:r>
            <a:r>
              <a:rPr sz="2600" spc="20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system.</a:t>
            </a:r>
            <a:endParaRPr sz="2600">
              <a:latin typeface="Cambria"/>
              <a:cs typeface="Cambria"/>
            </a:endParaRPr>
          </a:p>
          <a:p>
            <a:pPr marL="274320" indent="-264795">
              <a:lnSpc>
                <a:spcPct val="100000"/>
              </a:lnSpc>
              <a:spcBef>
                <a:spcPts val="875"/>
              </a:spcBef>
              <a:buSzPct val="96153"/>
              <a:buFont typeface="Wingdings"/>
              <a:buChar char=""/>
              <a:tabLst>
                <a:tab pos="274320" algn="l"/>
                <a:tab pos="1820545" algn="l"/>
                <a:tab pos="3457575" algn="l"/>
                <a:tab pos="3780154" algn="l"/>
                <a:tab pos="5072380" algn="l"/>
                <a:tab pos="5855970" algn="l"/>
                <a:tab pos="7182484" algn="l"/>
                <a:tab pos="7576820" algn="l"/>
                <a:tab pos="8584565" algn="l"/>
                <a:tab pos="9559925" algn="l"/>
                <a:tab pos="10985500" algn="l"/>
              </a:tabLst>
            </a:pPr>
            <a:r>
              <a:rPr sz="2600" spc="-10" dirty="0">
                <a:solidFill>
                  <a:srgbClr val="FF1C05"/>
                </a:solidFill>
                <a:latin typeface="Cambria"/>
                <a:cs typeface="Cambria"/>
              </a:rPr>
              <a:t>Enhances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600" spc="-10" dirty="0">
                <a:solidFill>
                  <a:srgbClr val="FF1C05"/>
                </a:solidFill>
                <a:latin typeface="Cambria"/>
                <a:cs typeface="Cambria"/>
              </a:rPr>
              <a:t>scalability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600" spc="-50" dirty="0">
                <a:latin typeface="Cambria"/>
                <a:cs typeface="Cambria"/>
              </a:rPr>
              <a:t>–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145" dirty="0">
                <a:latin typeface="Cambria"/>
                <a:cs typeface="Cambria"/>
              </a:rPr>
              <a:t>Adding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0" dirty="0">
                <a:latin typeface="Cambria"/>
                <a:cs typeface="Cambria"/>
              </a:rPr>
              <a:t>new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features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is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easier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5" dirty="0">
                <a:latin typeface="Cambria"/>
                <a:cs typeface="Cambria"/>
              </a:rPr>
              <a:t>when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software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is</a:t>
            </a:r>
            <a:endParaRPr sz="26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35"/>
              </a:spcBef>
            </a:pPr>
            <a:r>
              <a:rPr sz="2600" spc="60" dirty="0">
                <a:latin typeface="Cambria"/>
                <a:cs typeface="Cambria"/>
              </a:rPr>
              <a:t>modular.</a:t>
            </a:r>
            <a:endParaRPr sz="2600">
              <a:latin typeface="Cambria"/>
              <a:cs typeface="Cambria"/>
            </a:endParaRPr>
          </a:p>
          <a:p>
            <a:pPr marL="241300" marR="5080" indent="-233045">
              <a:lnSpc>
                <a:spcPts val="4430"/>
              </a:lnSpc>
              <a:spcBef>
                <a:spcPts val="90"/>
              </a:spcBef>
              <a:buSzPct val="96153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	Encourages</a:t>
            </a:r>
            <a:r>
              <a:rPr sz="2600" spc="34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parallel</a:t>
            </a:r>
            <a:r>
              <a:rPr sz="2600" spc="41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spc="55" dirty="0">
                <a:solidFill>
                  <a:srgbClr val="FF1C05"/>
                </a:solidFill>
                <a:latin typeface="Cambria"/>
                <a:cs typeface="Cambria"/>
              </a:rPr>
              <a:t>development</a:t>
            </a:r>
            <a:r>
              <a:rPr sz="2600" spc="35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–</a:t>
            </a:r>
            <a:r>
              <a:rPr sz="2600" spc="3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Different</a:t>
            </a:r>
            <a:r>
              <a:rPr sz="2600" spc="39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teams</a:t>
            </a:r>
            <a:r>
              <a:rPr sz="2600" spc="38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can</a:t>
            </a:r>
            <a:r>
              <a:rPr sz="2600" spc="340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work</a:t>
            </a:r>
            <a:r>
              <a:rPr sz="2600" spc="340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on</a:t>
            </a:r>
            <a:r>
              <a:rPr sz="2600" spc="37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different </a:t>
            </a:r>
            <a:r>
              <a:rPr sz="2600" spc="65" dirty="0">
                <a:latin typeface="Cambria"/>
                <a:cs typeface="Cambria"/>
              </a:rPr>
              <a:t>modules</a:t>
            </a:r>
            <a:r>
              <a:rPr sz="2600" spc="50" dirty="0">
                <a:latin typeface="Cambria"/>
                <a:cs typeface="Cambria"/>
              </a:rPr>
              <a:t> </a:t>
            </a:r>
            <a:r>
              <a:rPr sz="2600" spc="40" dirty="0">
                <a:latin typeface="Cambria"/>
                <a:cs typeface="Cambria"/>
              </a:rPr>
              <a:t>simultaneously.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0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40" dirty="0"/>
              <a:t>5.</a:t>
            </a:r>
            <a:r>
              <a:rPr sz="3200" spc="220" dirty="0"/>
              <a:t> </a:t>
            </a:r>
            <a:r>
              <a:rPr sz="3200" spc="114" dirty="0"/>
              <a:t>Modularity</a:t>
            </a:r>
            <a:r>
              <a:rPr sz="3200" spc="260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14" dirty="0"/>
              <a:t>Criteria's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3225" y="1044575"/>
          <a:ext cx="11071225" cy="5234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140">
                <a:tc>
                  <a:txBody>
                    <a:bodyPr/>
                    <a:lstStyle/>
                    <a:p>
                      <a:pPr marL="1242060" marR="589280" indent="-6419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Criteria</a:t>
                      </a:r>
                      <a:r>
                        <a:rPr sz="2000" b="1" spc="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000" b="1" spc="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Evaluating </a:t>
                      </a:r>
                      <a:r>
                        <a:rPr sz="20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Modularity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64722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Explanation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64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95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50" dirty="0">
                          <a:latin typeface="Times New Roman"/>
                          <a:cs typeface="Times New Roman"/>
                        </a:rPr>
                        <a:t>Modular</a:t>
                      </a:r>
                      <a:r>
                        <a:rPr sz="20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80" dirty="0">
                          <a:latin typeface="Times New Roman"/>
                          <a:cs typeface="Times New Roman"/>
                        </a:rPr>
                        <a:t>Decomposability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tc>
                  <a:txBody>
                    <a:bodyPr/>
                    <a:lstStyle/>
                    <a:p>
                      <a:pPr marL="437515" indent="-343535">
                        <a:lnSpc>
                          <a:spcPct val="100000"/>
                        </a:lnSpc>
                        <a:spcBef>
                          <a:spcPts val="254"/>
                        </a:spcBef>
                        <a:buFont typeface="Wingdings"/>
                        <a:buChar char=""/>
                        <a:tabLst>
                          <a:tab pos="437515" algn="l"/>
                          <a:tab pos="1123950" algn="l"/>
                          <a:tab pos="2170430" algn="l"/>
                          <a:tab pos="3208020" algn="l"/>
                          <a:tab pos="3732529" algn="l"/>
                          <a:tab pos="5594350" algn="l"/>
                          <a:tab pos="6736715" algn="l"/>
                        </a:tabLst>
                      </a:pPr>
                      <a:r>
                        <a:rPr sz="2000" spc="-2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system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should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be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systematically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5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divided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2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into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7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subproblems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7515" marR="71755" indent="-343535" algn="just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Wingdings"/>
                        <a:buChar char=""/>
                        <a:tabLst>
                          <a:tab pos="437515" algn="l"/>
                        </a:tabLst>
                      </a:pPr>
                      <a:r>
                        <a:rPr sz="2000" spc="75" dirty="0">
                          <a:latin typeface="Cambria"/>
                          <a:cs typeface="Cambria"/>
                        </a:rPr>
                        <a:t>Helps</a:t>
                      </a:r>
                      <a:r>
                        <a:rPr sz="2000" spc="2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2000" spc="2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problem-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solving</a:t>
                      </a:r>
                      <a:r>
                        <a:rPr sz="2000" spc="2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by</a:t>
                      </a:r>
                      <a:r>
                        <a:rPr sz="2000" spc="2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breaking</a:t>
                      </a:r>
                      <a:r>
                        <a:rPr sz="2000" spc="2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2000" spc="2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into</a:t>
                      </a:r>
                      <a:r>
                        <a:rPr sz="2000" spc="25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smaller,</a:t>
                      </a:r>
                      <a:r>
                        <a:rPr sz="2000" spc="2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more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manageable</a:t>
                      </a:r>
                      <a:r>
                        <a:rPr sz="2000" spc="3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tasks.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6245" marR="73025" indent="-342265" algn="just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Wingdings"/>
                        <a:buChar char=""/>
                        <a:tabLst>
                          <a:tab pos="437515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Example:</a:t>
                      </a:r>
                      <a:r>
                        <a:rPr sz="2000" spc="4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32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spc="4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banking</a:t>
                      </a:r>
                      <a:r>
                        <a:rPr sz="2000" spc="43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system</a:t>
                      </a:r>
                      <a:r>
                        <a:rPr sz="2000" spc="42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can</a:t>
                      </a:r>
                      <a:r>
                        <a:rPr sz="2000" spc="4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be</a:t>
                      </a:r>
                      <a:r>
                        <a:rPr sz="2000" spc="4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divided</a:t>
                      </a:r>
                      <a:r>
                        <a:rPr sz="2000" spc="4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into</a:t>
                      </a:r>
                      <a:r>
                        <a:rPr sz="2000" spc="43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modules 	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like</a:t>
                      </a:r>
                      <a:r>
                        <a:rPr sz="2000" spc="40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5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Account</a:t>
                      </a:r>
                      <a:r>
                        <a:rPr sz="2000" spc="42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5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Management,</a:t>
                      </a:r>
                      <a:r>
                        <a:rPr sz="2000" spc="40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5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Loan</a:t>
                      </a:r>
                      <a:r>
                        <a:rPr sz="2000" spc="41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Processing,</a:t>
                      </a:r>
                      <a:r>
                        <a:rPr sz="2000" spc="40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 </a:t>
                      </a:r>
                      <a:r>
                        <a:rPr sz="2000" spc="3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and 	</a:t>
                      </a:r>
                      <a:r>
                        <a:rPr sz="2000" spc="-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Transactions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50" dirty="0">
                          <a:latin typeface="Times New Roman"/>
                          <a:cs typeface="Times New Roman"/>
                        </a:rPr>
                        <a:t>Modular</a:t>
                      </a:r>
                      <a:r>
                        <a:rPr sz="20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70" dirty="0">
                          <a:latin typeface="Times New Roman"/>
                          <a:cs typeface="Times New Roman"/>
                        </a:rPr>
                        <a:t>Composability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tc>
                  <a:txBody>
                    <a:bodyPr/>
                    <a:lstStyle/>
                    <a:p>
                      <a:pPr marL="437515" indent="-343535">
                        <a:lnSpc>
                          <a:spcPct val="100000"/>
                        </a:lnSpc>
                        <a:spcBef>
                          <a:spcPts val="285"/>
                        </a:spcBef>
                        <a:buFont typeface="Wingdings"/>
                        <a:buChar char=""/>
                        <a:tabLst>
                          <a:tab pos="437515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Existing</a:t>
                      </a:r>
                      <a:r>
                        <a:rPr sz="2000" spc="1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modules</a:t>
                      </a:r>
                      <a:r>
                        <a:rPr sz="2000" spc="19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should</a:t>
                      </a:r>
                      <a:r>
                        <a:rPr sz="2000" spc="18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be</a:t>
                      </a:r>
                      <a:r>
                        <a:rPr sz="2000" spc="15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reusable</a:t>
                      </a:r>
                      <a:r>
                        <a:rPr sz="2000" spc="15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20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20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systems.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7515" indent="-34353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Wingdings"/>
                        <a:buChar char=""/>
                        <a:tabLst>
                          <a:tab pos="437515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Reduces</a:t>
                      </a:r>
                      <a:r>
                        <a:rPr sz="2000" spc="2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development</a:t>
                      </a:r>
                      <a:r>
                        <a:rPr sz="2000" spc="2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time</a:t>
                      </a:r>
                      <a:r>
                        <a:rPr sz="2000" spc="25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2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improves</a:t>
                      </a:r>
                      <a:r>
                        <a:rPr sz="2000" spc="2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efficiency.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7515" marR="71755" indent="-34353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Wingdings"/>
                        <a:buChar char=""/>
                        <a:tabLst>
                          <a:tab pos="437515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Example:</a:t>
                      </a:r>
                      <a:r>
                        <a:rPr sz="2000" spc="11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32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spc="9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payment</a:t>
                      </a:r>
                      <a:r>
                        <a:rPr sz="2000" spc="114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gateway</a:t>
                      </a:r>
                      <a:r>
                        <a:rPr sz="2000" spc="114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2000" spc="12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(e.g.,</a:t>
                      </a:r>
                      <a:r>
                        <a:rPr sz="2000" spc="11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PayPal</a:t>
                      </a:r>
                      <a:r>
                        <a:rPr sz="2000" spc="11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API)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can</a:t>
                      </a:r>
                      <a:r>
                        <a:rPr sz="20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be</a:t>
                      </a:r>
                      <a:r>
                        <a:rPr sz="20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reused</a:t>
                      </a:r>
                      <a:r>
                        <a:rPr sz="20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across</a:t>
                      </a:r>
                      <a:r>
                        <a:rPr sz="20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4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multiple</a:t>
                      </a:r>
                      <a:r>
                        <a:rPr sz="2000" spc="9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e-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commerce</a:t>
                      </a:r>
                      <a:r>
                        <a:rPr sz="2000" spc="8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platforms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0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40" dirty="0"/>
              <a:t>5.</a:t>
            </a:r>
            <a:r>
              <a:rPr sz="3200" spc="220" dirty="0"/>
              <a:t> </a:t>
            </a:r>
            <a:r>
              <a:rPr sz="3200" spc="114" dirty="0"/>
              <a:t>Modularity</a:t>
            </a:r>
            <a:r>
              <a:rPr sz="3200" spc="260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30" dirty="0"/>
              <a:t>Criterias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3225" y="1044575"/>
          <a:ext cx="11071225" cy="5046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140">
                <a:tc>
                  <a:txBody>
                    <a:bodyPr/>
                    <a:lstStyle/>
                    <a:p>
                      <a:pPr marL="1242060" marR="589280" indent="-6419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Criteria</a:t>
                      </a:r>
                      <a:r>
                        <a:rPr sz="2000" b="1" spc="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000" b="1" spc="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Evaluating </a:t>
                      </a:r>
                      <a:r>
                        <a:rPr sz="20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Modularity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64722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Explanation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64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0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50" dirty="0">
                          <a:latin typeface="Times New Roman"/>
                          <a:cs typeface="Times New Roman"/>
                        </a:rPr>
                        <a:t>Modular</a:t>
                      </a:r>
                      <a:r>
                        <a:rPr sz="20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55" dirty="0">
                          <a:latin typeface="Times New Roman"/>
                          <a:cs typeface="Times New Roman"/>
                        </a:rPr>
                        <a:t>Understandability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tc>
                  <a:txBody>
                    <a:bodyPr/>
                    <a:lstStyle/>
                    <a:p>
                      <a:pPr marL="436880" indent="-342900" algn="just">
                        <a:lnSpc>
                          <a:spcPct val="100000"/>
                        </a:lnSpc>
                        <a:spcBef>
                          <a:spcPts val="254"/>
                        </a:spcBef>
                        <a:buFont typeface="Wingdings"/>
                        <a:buChar char=""/>
                        <a:tabLst>
                          <a:tab pos="436880" algn="l"/>
                        </a:tabLst>
                      </a:pP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Each</a:t>
                      </a:r>
                      <a:r>
                        <a:rPr sz="2000" spc="8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5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module</a:t>
                      </a:r>
                      <a:r>
                        <a:rPr sz="2000" spc="12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should</a:t>
                      </a:r>
                      <a:r>
                        <a:rPr sz="2000" spc="12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be</a:t>
                      </a:r>
                      <a:r>
                        <a:rPr sz="2000" spc="11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understandable</a:t>
                      </a:r>
                      <a:r>
                        <a:rPr sz="2000" spc="13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as</a:t>
                      </a:r>
                      <a:r>
                        <a:rPr sz="2000" spc="12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spc="114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standalone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7515" algn="just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unit</a:t>
                      </a:r>
                      <a:r>
                        <a:rPr sz="2000" spc="19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without</a:t>
                      </a:r>
                      <a:r>
                        <a:rPr sz="20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referring</a:t>
                      </a:r>
                      <a:r>
                        <a:rPr sz="2000" spc="20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0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other</a:t>
                      </a:r>
                      <a:r>
                        <a:rPr sz="20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modules.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6880" indent="-342900" algn="just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Wingdings"/>
                        <a:buChar char=""/>
                        <a:tabLst>
                          <a:tab pos="436880" algn="l"/>
                        </a:tabLst>
                      </a:pPr>
                      <a:r>
                        <a:rPr sz="2000" spc="55" dirty="0">
                          <a:latin typeface="Cambria"/>
                          <a:cs typeface="Cambria"/>
                        </a:rPr>
                        <a:t>Makes</a:t>
                      </a:r>
                      <a:r>
                        <a:rPr sz="20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70" dirty="0">
                          <a:latin typeface="Cambria"/>
                          <a:cs typeface="Cambria"/>
                        </a:rPr>
                        <a:t>debugging</a:t>
                      </a:r>
                      <a:r>
                        <a:rPr sz="20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65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testing</a:t>
                      </a:r>
                      <a:r>
                        <a:rPr sz="20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easier.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7515" marR="73025" indent="-343535" algn="just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437515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Example:</a:t>
                      </a:r>
                      <a:r>
                        <a:rPr sz="2000" spc="114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32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spc="10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User</a:t>
                      </a:r>
                      <a:r>
                        <a:rPr sz="2000" spc="1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Authentication</a:t>
                      </a:r>
                      <a:r>
                        <a:rPr sz="2000" spc="9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8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Module</a:t>
                      </a:r>
                      <a:r>
                        <a:rPr sz="2000" spc="114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(Login,</a:t>
                      </a:r>
                      <a:r>
                        <a:rPr sz="2000" spc="10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55" dirty="0">
                          <a:latin typeface="Cambria"/>
                          <a:cs typeface="Cambria"/>
                        </a:rPr>
                        <a:t>Logout,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Password</a:t>
                      </a:r>
                      <a:r>
                        <a:rPr sz="2000" spc="30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Reset)</a:t>
                      </a:r>
                      <a:r>
                        <a:rPr sz="2000" spc="27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should</a:t>
                      </a:r>
                      <a:r>
                        <a:rPr sz="2000" spc="30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function</a:t>
                      </a:r>
                      <a:r>
                        <a:rPr sz="2000" spc="30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independently</a:t>
                      </a:r>
                      <a:r>
                        <a:rPr sz="2000" spc="29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65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2000" spc="28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2000" spc="6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Shopping</a:t>
                      </a:r>
                      <a:r>
                        <a:rPr sz="2000" spc="1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6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Cart</a:t>
                      </a:r>
                      <a:r>
                        <a:rPr sz="2000" spc="7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8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Module</a:t>
                      </a:r>
                      <a:r>
                        <a:rPr sz="2000" spc="8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20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an</a:t>
                      </a:r>
                      <a:r>
                        <a:rPr sz="20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e-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commerce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45" dirty="0">
                          <a:latin typeface="Cambria"/>
                          <a:cs typeface="Cambria"/>
                        </a:rPr>
                        <a:t>app.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b="1" spc="55" dirty="0">
                          <a:latin typeface="Times New Roman"/>
                          <a:cs typeface="Times New Roman"/>
                        </a:rPr>
                        <a:t>Modular</a:t>
                      </a:r>
                      <a:r>
                        <a:rPr sz="20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65" dirty="0">
                          <a:latin typeface="Times New Roman"/>
                          <a:cs typeface="Times New Roman"/>
                        </a:rPr>
                        <a:t>Continuity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tc>
                  <a:txBody>
                    <a:bodyPr/>
                    <a:lstStyle/>
                    <a:p>
                      <a:pPr marL="436245" indent="-342265" algn="just">
                        <a:lnSpc>
                          <a:spcPct val="100000"/>
                        </a:lnSpc>
                        <a:spcBef>
                          <a:spcPts val="280"/>
                        </a:spcBef>
                        <a:buFont typeface="Wingdings"/>
                        <a:buChar char=""/>
                        <a:tabLst>
                          <a:tab pos="436245" algn="l"/>
                        </a:tabLst>
                      </a:pPr>
                      <a:r>
                        <a:rPr sz="2000" spc="5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Small</a:t>
                      </a:r>
                      <a:r>
                        <a:rPr sz="2000" spc="484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changes</a:t>
                      </a:r>
                      <a:r>
                        <a:rPr sz="2000" spc="3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5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sz="2000" spc="49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system</a:t>
                      </a:r>
                      <a:r>
                        <a:rPr sz="2000" spc="484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requirements</a:t>
                      </a:r>
                      <a:r>
                        <a:rPr sz="2000" spc="4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5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should</a:t>
                      </a:r>
                      <a:r>
                        <a:rPr sz="2000" spc="4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5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only</a:t>
                      </a:r>
                      <a:r>
                        <a:rPr sz="2000" spc="3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affect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7515" algn="just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6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individual </a:t>
                      </a:r>
                      <a:r>
                        <a:rPr sz="2000" spc="5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modules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,</a:t>
                      </a:r>
                      <a:r>
                        <a:rPr sz="2000" spc="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not</a:t>
                      </a:r>
                      <a:r>
                        <a:rPr sz="2000" spc="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entire</a:t>
                      </a:r>
                      <a:r>
                        <a:rPr sz="20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system.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6880" indent="-342900" algn="just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Wingdings"/>
                        <a:buChar char=""/>
                        <a:tabLst>
                          <a:tab pos="436880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Enhances</a:t>
                      </a:r>
                      <a:r>
                        <a:rPr sz="2000" spc="2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flexibility</a:t>
                      </a:r>
                      <a:r>
                        <a:rPr sz="2000" spc="3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2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makes</a:t>
                      </a:r>
                      <a:r>
                        <a:rPr sz="2000" spc="2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modification</a:t>
                      </a:r>
                      <a:r>
                        <a:rPr sz="2000" spc="3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easier.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6245" marR="74295" indent="-342265" algn="just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437515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Example:</a:t>
                      </a:r>
                      <a:r>
                        <a:rPr sz="2000" spc="2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2000" spc="2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3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tax</a:t>
                      </a:r>
                      <a:r>
                        <a:rPr sz="2000" spc="27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calculation</a:t>
                      </a:r>
                      <a:r>
                        <a:rPr sz="2000" spc="254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rules</a:t>
                      </a:r>
                      <a:r>
                        <a:rPr sz="2000" spc="30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change</a:t>
                      </a:r>
                      <a:r>
                        <a:rPr sz="2000" spc="28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2000" spc="25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an</a:t>
                      </a:r>
                      <a:r>
                        <a:rPr sz="2000" spc="3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35" dirty="0">
                          <a:latin typeface="Cambria"/>
                          <a:cs typeface="Cambria"/>
                        </a:rPr>
                        <a:t>invoicing 	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system,</a:t>
                      </a:r>
                      <a:r>
                        <a:rPr sz="2000" spc="2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3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update</a:t>
                      </a:r>
                      <a:r>
                        <a:rPr sz="2000" spc="33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should</a:t>
                      </a:r>
                      <a:r>
                        <a:rPr sz="2000" spc="31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only</a:t>
                      </a:r>
                      <a:r>
                        <a:rPr sz="2000" spc="29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affect</a:t>
                      </a:r>
                      <a:r>
                        <a:rPr sz="2000" spc="28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31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Tax</a:t>
                      </a:r>
                      <a:r>
                        <a:rPr sz="2000" spc="27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8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Module</a:t>
                      </a:r>
                      <a:r>
                        <a:rPr sz="2000" spc="80" dirty="0">
                          <a:latin typeface="Cambria"/>
                          <a:cs typeface="Cambria"/>
                        </a:rPr>
                        <a:t>,</a:t>
                      </a:r>
                      <a:r>
                        <a:rPr sz="2000" spc="3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not 	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entire</a:t>
                      </a:r>
                      <a:r>
                        <a:rPr sz="2000" spc="6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billing</a:t>
                      </a:r>
                      <a:r>
                        <a:rPr sz="2000" spc="2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system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0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40" dirty="0"/>
              <a:t>5.</a:t>
            </a:r>
            <a:r>
              <a:rPr sz="3200" spc="220" dirty="0"/>
              <a:t> </a:t>
            </a:r>
            <a:r>
              <a:rPr sz="3200" spc="114" dirty="0"/>
              <a:t>Modularity</a:t>
            </a:r>
            <a:r>
              <a:rPr sz="3200" spc="260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30" dirty="0"/>
              <a:t>Criterias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3225" y="1044575"/>
          <a:ext cx="11071225" cy="2758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140">
                <a:tc>
                  <a:txBody>
                    <a:bodyPr/>
                    <a:lstStyle/>
                    <a:p>
                      <a:pPr marL="1242060" marR="589280" indent="-6419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Criteria</a:t>
                      </a:r>
                      <a:r>
                        <a:rPr sz="2000" b="1" spc="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000" b="1" spc="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Evaluating </a:t>
                      </a:r>
                      <a:r>
                        <a:rPr sz="20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Modularity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64722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Explanation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64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b="1" spc="50" dirty="0">
                          <a:latin typeface="Times New Roman"/>
                          <a:cs typeface="Times New Roman"/>
                        </a:rPr>
                        <a:t>Modular</a:t>
                      </a:r>
                      <a:r>
                        <a:rPr sz="20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Protection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tc>
                  <a:txBody>
                    <a:bodyPr/>
                    <a:lstStyle/>
                    <a:p>
                      <a:pPr marL="437515" indent="-343535">
                        <a:lnSpc>
                          <a:spcPct val="100000"/>
                        </a:lnSpc>
                        <a:spcBef>
                          <a:spcPts val="254"/>
                        </a:spcBef>
                        <a:buFont typeface="Wingdings"/>
                        <a:buChar char=""/>
                        <a:tabLst>
                          <a:tab pos="437515" algn="l"/>
                          <a:tab pos="737235" algn="l"/>
                          <a:tab pos="1141730" algn="l"/>
                          <a:tab pos="2573655" algn="l"/>
                          <a:tab pos="3263900" algn="l"/>
                          <a:tab pos="5008245" algn="l"/>
                          <a:tab pos="6068695" algn="l"/>
                        </a:tabLst>
                      </a:pPr>
                      <a:r>
                        <a:rPr sz="2000" spc="-25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an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unexpected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2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error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	occurs</a:t>
                      </a:r>
                      <a:r>
                        <a:rPr sz="2000" spc="6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2000" spc="7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one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45" dirty="0">
                          <a:latin typeface="Cambria"/>
                          <a:cs typeface="Cambria"/>
                        </a:rPr>
                        <a:t>module,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its</a:t>
                      </a:r>
                      <a:r>
                        <a:rPr sz="2000" spc="5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effects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7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5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should</a:t>
                      </a:r>
                      <a:r>
                        <a:rPr sz="2000" spc="14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not</a:t>
                      </a:r>
                      <a:r>
                        <a:rPr sz="2000" spc="13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impact</a:t>
                      </a:r>
                      <a:r>
                        <a:rPr sz="2000" spc="8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other</a:t>
                      </a:r>
                      <a:r>
                        <a:rPr sz="2000" spc="9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4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modules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7515" indent="-34353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Wingdings"/>
                        <a:buChar char=""/>
                        <a:tabLst>
                          <a:tab pos="437515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Improves</a:t>
                      </a:r>
                      <a:r>
                        <a:rPr sz="20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system</a:t>
                      </a:r>
                      <a:r>
                        <a:rPr sz="20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stability</a:t>
                      </a:r>
                      <a:r>
                        <a:rPr sz="2000" spc="2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65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security.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7515" indent="-343535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437515" algn="l"/>
                        </a:tabLst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Example:</a:t>
                      </a:r>
                      <a:r>
                        <a:rPr sz="2000" spc="4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2000" spc="4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spc="4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flight</a:t>
                      </a:r>
                      <a:r>
                        <a:rPr sz="2000" spc="49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4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booking</a:t>
                      </a:r>
                      <a:r>
                        <a:rPr sz="2000" spc="49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system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,</a:t>
                      </a:r>
                      <a:r>
                        <a:rPr sz="2000" spc="3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2000" spc="4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3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seat</a:t>
                      </a:r>
                      <a:r>
                        <a:rPr sz="2000" spc="46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selection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437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50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20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crashes,</a:t>
                      </a:r>
                      <a:r>
                        <a:rPr sz="20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20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should</a:t>
                      </a:r>
                      <a:r>
                        <a:rPr sz="20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not</a:t>
                      </a:r>
                      <a:r>
                        <a:rPr sz="2000" spc="12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affect</a:t>
                      </a:r>
                      <a:r>
                        <a:rPr sz="2000" spc="9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14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payment</a:t>
                      </a:r>
                      <a:r>
                        <a:rPr sz="2000" spc="13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module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40" dirty="0"/>
              <a:t>5.</a:t>
            </a:r>
            <a:r>
              <a:rPr sz="3200" spc="225" dirty="0"/>
              <a:t> </a:t>
            </a:r>
            <a:r>
              <a:rPr sz="3200" spc="114" dirty="0"/>
              <a:t>Modularity</a:t>
            </a:r>
            <a:r>
              <a:rPr sz="3200" spc="26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65" dirty="0"/>
              <a:t>Balancing</a:t>
            </a:r>
            <a:r>
              <a:rPr sz="3200" spc="265" dirty="0"/>
              <a:t> </a:t>
            </a:r>
            <a:r>
              <a:rPr sz="3200" spc="85" dirty="0"/>
              <a:t>Act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9500" cy="45275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5080" indent="-229235" algn="just">
              <a:lnSpc>
                <a:spcPct val="1536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b="1" spc="110" dirty="0">
                <a:latin typeface="Times New Roman"/>
                <a:cs typeface="Times New Roman"/>
              </a:rPr>
              <a:t>	Undermodularity</a:t>
            </a:r>
            <a:r>
              <a:rPr sz="2750" b="1" spc="400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Cambria"/>
                <a:cs typeface="Cambria"/>
              </a:rPr>
              <a:t>–</a:t>
            </a:r>
            <a:r>
              <a:rPr sz="2750" spc="465" dirty="0">
                <a:latin typeface="Cambria"/>
                <a:cs typeface="Cambria"/>
              </a:rPr>
              <a:t>  </a:t>
            </a:r>
            <a:r>
              <a:rPr sz="2750" spc="50" dirty="0">
                <a:latin typeface="Cambria"/>
                <a:cs typeface="Cambria"/>
              </a:rPr>
              <a:t>Too</a:t>
            </a:r>
            <a:r>
              <a:rPr sz="2750" spc="475" dirty="0">
                <a:latin typeface="Cambria"/>
                <a:cs typeface="Cambria"/>
              </a:rPr>
              <a:t>  </a:t>
            </a:r>
            <a:r>
              <a:rPr sz="2750" spc="80" dirty="0">
                <a:latin typeface="Cambria"/>
                <a:cs typeface="Cambria"/>
              </a:rPr>
              <a:t>few</a:t>
            </a:r>
            <a:r>
              <a:rPr sz="2750" spc="484" dirty="0">
                <a:latin typeface="Cambria"/>
                <a:cs typeface="Cambria"/>
              </a:rPr>
              <a:t>  </a:t>
            </a:r>
            <a:r>
              <a:rPr sz="2750" spc="80" dirty="0">
                <a:latin typeface="Cambria"/>
                <a:cs typeface="Cambria"/>
              </a:rPr>
              <a:t>modules</a:t>
            </a:r>
            <a:r>
              <a:rPr sz="2750" spc="480" dirty="0">
                <a:latin typeface="Cambria"/>
                <a:cs typeface="Cambria"/>
              </a:rPr>
              <a:t>  </a:t>
            </a:r>
            <a:r>
              <a:rPr sz="2750" spc="90" dirty="0">
                <a:latin typeface="Cambria"/>
                <a:cs typeface="Cambria"/>
              </a:rPr>
              <a:t>make</a:t>
            </a:r>
            <a:r>
              <a:rPr sz="2750" spc="44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459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software</a:t>
            </a:r>
            <a:r>
              <a:rPr sz="2750" spc="480" dirty="0">
                <a:latin typeface="Cambria"/>
                <a:cs typeface="Cambria"/>
              </a:rPr>
              <a:t>  </a:t>
            </a:r>
            <a:r>
              <a:rPr sz="2750" spc="-25" dirty="0">
                <a:latin typeface="Cambria"/>
                <a:cs typeface="Cambria"/>
              </a:rPr>
              <a:t>too </a:t>
            </a:r>
            <a:r>
              <a:rPr sz="2750" spc="75" dirty="0">
                <a:latin typeface="Cambria"/>
                <a:cs typeface="Cambria"/>
              </a:rPr>
              <a:t>complex</a:t>
            </a:r>
            <a:r>
              <a:rPr sz="2750" spc="265" dirty="0">
                <a:latin typeface="Cambria"/>
                <a:cs typeface="Cambria"/>
              </a:rPr>
              <a:t> 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285" dirty="0">
                <a:latin typeface="Cambria"/>
                <a:cs typeface="Cambria"/>
              </a:rPr>
              <a:t>  </a:t>
            </a:r>
            <a:r>
              <a:rPr sz="2750" spc="70" dirty="0">
                <a:latin typeface="Cambria"/>
                <a:cs typeface="Cambria"/>
              </a:rPr>
              <a:t>difficult</a:t>
            </a:r>
            <a:r>
              <a:rPr sz="2750" spc="27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275" dirty="0">
                <a:latin typeface="Cambria"/>
                <a:cs typeface="Cambria"/>
              </a:rPr>
              <a:t>  </a:t>
            </a:r>
            <a:r>
              <a:rPr sz="2750" spc="90" dirty="0">
                <a:latin typeface="Cambria"/>
                <a:cs typeface="Cambria"/>
              </a:rPr>
              <a:t>manage</a:t>
            </a:r>
            <a:r>
              <a:rPr sz="2750" spc="26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(like</a:t>
            </a:r>
            <a:r>
              <a:rPr sz="2750" spc="27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270" dirty="0">
                <a:latin typeface="Cambria"/>
                <a:cs typeface="Cambria"/>
              </a:rPr>
              <a:t>  </a:t>
            </a:r>
            <a:r>
              <a:rPr sz="2750" spc="55" dirty="0">
                <a:latin typeface="Cambria"/>
                <a:cs typeface="Cambria"/>
              </a:rPr>
              <a:t>single</a:t>
            </a:r>
            <a:r>
              <a:rPr sz="2750" spc="27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large</a:t>
            </a:r>
            <a:r>
              <a:rPr sz="2750" spc="270" dirty="0">
                <a:latin typeface="Cambria"/>
                <a:cs typeface="Cambria"/>
              </a:rPr>
              <a:t>  </a:t>
            </a:r>
            <a:r>
              <a:rPr sz="2750" spc="50" dirty="0">
                <a:latin typeface="Cambria"/>
                <a:cs typeface="Cambria"/>
              </a:rPr>
              <a:t>monolithic program).</a:t>
            </a:r>
            <a:endParaRPr sz="2750">
              <a:latin typeface="Cambria"/>
              <a:cs typeface="Cambria"/>
            </a:endParaRPr>
          </a:p>
          <a:p>
            <a:pPr marL="241300" marR="9525" indent="-229235" algn="just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640" algn="l"/>
              </a:tabLst>
            </a:pPr>
            <a:r>
              <a:rPr sz="2750" b="1" spc="110" dirty="0">
                <a:latin typeface="Times New Roman"/>
                <a:cs typeface="Times New Roman"/>
              </a:rPr>
              <a:t>	Overmodularity</a:t>
            </a:r>
            <a:r>
              <a:rPr sz="2750" b="1" spc="95" dirty="0">
                <a:latin typeface="Times New Roman"/>
                <a:cs typeface="Times New Roman"/>
              </a:rPr>
              <a:t>  </a:t>
            </a:r>
            <a:r>
              <a:rPr sz="2750" dirty="0">
                <a:latin typeface="Cambria"/>
                <a:cs typeface="Cambria"/>
              </a:rPr>
              <a:t>–</a:t>
            </a:r>
            <a:r>
              <a:rPr sz="2750" spc="195" dirty="0">
                <a:latin typeface="Cambria"/>
                <a:cs typeface="Cambria"/>
              </a:rPr>
              <a:t>  </a:t>
            </a:r>
            <a:r>
              <a:rPr sz="2750" spc="50" dirty="0">
                <a:latin typeface="Cambria"/>
                <a:cs typeface="Cambria"/>
              </a:rPr>
              <a:t>Too</a:t>
            </a:r>
            <a:r>
              <a:rPr sz="2750" spc="195" dirty="0">
                <a:latin typeface="Cambria"/>
                <a:cs typeface="Cambria"/>
              </a:rPr>
              <a:t>  </a:t>
            </a:r>
            <a:r>
              <a:rPr sz="2750" spc="105" dirty="0">
                <a:latin typeface="Cambria"/>
                <a:cs typeface="Cambria"/>
              </a:rPr>
              <a:t>many</a:t>
            </a:r>
            <a:r>
              <a:rPr sz="2750" spc="210" dirty="0">
                <a:latin typeface="Cambria"/>
                <a:cs typeface="Cambria"/>
              </a:rPr>
              <a:t>  </a:t>
            </a:r>
            <a:r>
              <a:rPr sz="2750" spc="60" dirty="0">
                <a:latin typeface="Cambria"/>
                <a:cs typeface="Cambria"/>
              </a:rPr>
              <a:t>small</a:t>
            </a:r>
            <a:r>
              <a:rPr sz="2750" spc="200" dirty="0">
                <a:latin typeface="Cambria"/>
                <a:cs typeface="Cambria"/>
              </a:rPr>
              <a:t>  </a:t>
            </a:r>
            <a:r>
              <a:rPr sz="2750" spc="80" dirty="0">
                <a:latin typeface="Cambria"/>
                <a:cs typeface="Cambria"/>
              </a:rPr>
              <a:t>modules</a:t>
            </a:r>
            <a:r>
              <a:rPr sz="2750" spc="21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increase</a:t>
            </a:r>
            <a:r>
              <a:rPr sz="2750" spc="200" dirty="0">
                <a:latin typeface="Cambria"/>
                <a:cs typeface="Cambria"/>
              </a:rPr>
              <a:t>  </a:t>
            </a:r>
            <a:r>
              <a:rPr sz="2750" spc="-10" dirty="0">
                <a:latin typeface="Cambria"/>
                <a:cs typeface="Cambria"/>
              </a:rPr>
              <a:t>integration </a:t>
            </a:r>
            <a:r>
              <a:rPr sz="2750" spc="65" dirty="0">
                <a:latin typeface="Cambria"/>
                <a:cs typeface="Cambria"/>
              </a:rPr>
              <a:t>complexity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and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-20" dirty="0">
                <a:latin typeface="Cambria"/>
                <a:cs typeface="Cambria"/>
              </a:rPr>
              <a:t>cost.</a:t>
            </a:r>
            <a:endParaRPr sz="2750">
              <a:latin typeface="Cambria"/>
              <a:cs typeface="Cambria"/>
            </a:endParaRPr>
          </a:p>
          <a:p>
            <a:pPr marL="241300" marR="8890" indent="-229235" algn="just">
              <a:lnSpc>
                <a:spcPts val="5110"/>
              </a:lnSpc>
              <a:spcBef>
                <a:spcPts val="195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dirty="0">
                <a:latin typeface="Cambria"/>
                <a:cs typeface="Cambria"/>
              </a:rPr>
              <a:t>	There</a:t>
            </a:r>
            <a:r>
              <a:rPr sz="2750" spc="59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590" dirty="0">
                <a:latin typeface="Cambria"/>
                <a:cs typeface="Cambria"/>
              </a:rPr>
              <a:t>  </a:t>
            </a:r>
            <a:r>
              <a:rPr sz="2750" spc="70" dirty="0">
                <a:latin typeface="Cambria"/>
                <a:cs typeface="Cambria"/>
              </a:rPr>
              <a:t>an</a:t>
            </a:r>
            <a:r>
              <a:rPr sz="2750" spc="580" dirty="0">
                <a:latin typeface="Cambria"/>
                <a:cs typeface="Cambria"/>
              </a:rPr>
              <a:t>  </a:t>
            </a:r>
            <a:r>
              <a:rPr sz="2750" spc="75" dirty="0">
                <a:latin typeface="Cambria"/>
                <a:cs typeface="Cambria"/>
              </a:rPr>
              <a:t>optimal</a:t>
            </a:r>
            <a:r>
              <a:rPr sz="2750" spc="580" dirty="0">
                <a:latin typeface="Cambria"/>
                <a:cs typeface="Cambria"/>
              </a:rPr>
              <a:t>  </a:t>
            </a:r>
            <a:r>
              <a:rPr sz="2750" spc="70" dirty="0">
                <a:latin typeface="Cambria"/>
                <a:cs typeface="Cambria"/>
              </a:rPr>
              <a:t>number</a:t>
            </a:r>
            <a:r>
              <a:rPr sz="2750" spc="585" dirty="0">
                <a:latin typeface="Cambria"/>
                <a:cs typeface="Cambria"/>
              </a:rPr>
              <a:t>  </a:t>
            </a:r>
            <a:r>
              <a:rPr sz="2750" spc="60" dirty="0">
                <a:latin typeface="Cambria"/>
                <a:cs typeface="Cambria"/>
              </a:rPr>
              <a:t>(M)</a:t>
            </a:r>
            <a:r>
              <a:rPr sz="2750" spc="590" dirty="0">
                <a:latin typeface="Cambria"/>
                <a:cs typeface="Cambria"/>
              </a:rPr>
              <a:t> 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610" dirty="0">
                <a:latin typeface="Cambria"/>
                <a:cs typeface="Cambria"/>
              </a:rPr>
              <a:t>  </a:t>
            </a:r>
            <a:r>
              <a:rPr sz="2750" spc="80" dirty="0">
                <a:latin typeface="Cambria"/>
                <a:cs typeface="Cambria"/>
              </a:rPr>
              <a:t>modules</a:t>
            </a:r>
            <a:r>
              <a:rPr sz="2750" spc="61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that</a:t>
            </a:r>
            <a:r>
              <a:rPr sz="2750" spc="575" dirty="0">
                <a:latin typeface="Cambria"/>
                <a:cs typeface="Cambria"/>
              </a:rPr>
              <a:t>  </a:t>
            </a:r>
            <a:r>
              <a:rPr sz="2750" spc="-10" dirty="0">
                <a:latin typeface="Cambria"/>
                <a:cs typeface="Cambria"/>
              </a:rPr>
              <a:t>balances </a:t>
            </a:r>
            <a:r>
              <a:rPr sz="2750" spc="75" dirty="0">
                <a:latin typeface="Cambria"/>
                <a:cs typeface="Cambria"/>
              </a:rPr>
              <a:t>development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cost</a:t>
            </a:r>
            <a:r>
              <a:rPr sz="2750" spc="100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system</a:t>
            </a:r>
            <a:r>
              <a:rPr sz="2750" spc="114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manageability.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80" dirty="0"/>
              <a:t>6.</a:t>
            </a:r>
            <a:r>
              <a:rPr sz="3200" spc="220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50" dirty="0"/>
              <a:t>Cohesion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8230" cy="51669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37490">
              <a:lnSpc>
                <a:spcPct val="1548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85" dirty="0">
                <a:latin typeface="Cambria"/>
                <a:cs typeface="Cambria"/>
              </a:rPr>
              <a:t>Cohesion</a:t>
            </a:r>
            <a:r>
              <a:rPr sz="2750" spc="3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refers</a:t>
            </a:r>
            <a:r>
              <a:rPr sz="2750" spc="2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3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300" dirty="0"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degree</a:t>
            </a:r>
            <a:r>
              <a:rPr sz="2750" spc="32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to</a:t>
            </a:r>
            <a:r>
              <a:rPr sz="2750" spc="33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85" dirty="0">
                <a:solidFill>
                  <a:srgbClr val="FF1C05"/>
                </a:solidFill>
                <a:latin typeface="Cambria"/>
                <a:cs typeface="Cambria"/>
              </a:rPr>
              <a:t>which</a:t>
            </a:r>
            <a:r>
              <a:rPr sz="2750" spc="33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the</a:t>
            </a:r>
            <a:r>
              <a:rPr sz="2750" spc="30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elements</a:t>
            </a:r>
            <a:r>
              <a:rPr sz="2750" spc="33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FF1C05"/>
                </a:solidFill>
                <a:latin typeface="Cambria"/>
                <a:cs typeface="Cambria"/>
              </a:rPr>
              <a:t>inside</a:t>
            </a:r>
            <a:r>
              <a:rPr sz="2750" spc="32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a</a:t>
            </a:r>
            <a:r>
              <a:rPr sz="2750" spc="32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95" dirty="0">
                <a:solidFill>
                  <a:srgbClr val="FF1C05"/>
                </a:solidFill>
                <a:latin typeface="Cambria"/>
                <a:cs typeface="Cambria"/>
              </a:rPr>
              <a:t>module </a:t>
            </a:r>
            <a:r>
              <a:rPr sz="2750" spc="60" dirty="0">
                <a:solidFill>
                  <a:srgbClr val="FF1C05"/>
                </a:solidFill>
                <a:latin typeface="Cambria"/>
                <a:cs typeface="Cambria"/>
              </a:rPr>
              <a:t>belong</a:t>
            </a:r>
            <a:r>
              <a:rPr sz="2750" spc="15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FF1C05"/>
                </a:solidFill>
                <a:latin typeface="Cambria"/>
                <a:cs typeface="Cambria"/>
              </a:rPr>
              <a:t>together</a:t>
            </a:r>
            <a:r>
              <a:rPr sz="2750" spc="-1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 marL="241300" marR="9525" indent="-237490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445" dirty="0">
                <a:latin typeface="Cambria"/>
                <a:cs typeface="Cambria"/>
              </a:rPr>
              <a:t>A</a:t>
            </a:r>
            <a:r>
              <a:rPr sz="2750" spc="400" dirty="0">
                <a:latin typeface="Cambria"/>
                <a:cs typeface="Cambria"/>
              </a:rPr>
              <a:t> </a:t>
            </a:r>
            <a:r>
              <a:rPr sz="2750" spc="105" dirty="0">
                <a:latin typeface="Cambria"/>
                <a:cs typeface="Cambria"/>
              </a:rPr>
              <a:t>highly</a:t>
            </a:r>
            <a:r>
              <a:rPr sz="2750" spc="40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cohesive</a:t>
            </a:r>
            <a:r>
              <a:rPr sz="2750" spc="425" dirty="0">
                <a:latin typeface="Cambria"/>
                <a:cs typeface="Cambria"/>
              </a:rPr>
              <a:t> </a:t>
            </a:r>
            <a:r>
              <a:rPr sz="2750" spc="105" dirty="0">
                <a:latin typeface="Cambria"/>
                <a:cs typeface="Cambria"/>
              </a:rPr>
              <a:t>module</a:t>
            </a:r>
            <a:r>
              <a:rPr sz="2750" spc="370" dirty="0">
                <a:latin typeface="Cambria"/>
                <a:cs typeface="Cambria"/>
              </a:rPr>
              <a:t> </a:t>
            </a:r>
            <a:r>
              <a:rPr sz="2750" spc="45" dirty="0">
                <a:solidFill>
                  <a:srgbClr val="FF1C05"/>
                </a:solidFill>
                <a:latin typeface="Cambria"/>
                <a:cs typeface="Cambria"/>
              </a:rPr>
              <a:t>performs</a:t>
            </a:r>
            <a:r>
              <a:rPr sz="2750" spc="37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a</a:t>
            </a:r>
            <a:r>
              <a:rPr sz="2750" spc="39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single,</a:t>
            </a:r>
            <a:r>
              <a:rPr sz="2750" spc="38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65" dirty="0">
                <a:solidFill>
                  <a:srgbClr val="FF1C05"/>
                </a:solidFill>
                <a:latin typeface="Cambria"/>
                <a:cs typeface="Cambria"/>
              </a:rPr>
              <a:t>well-</a:t>
            </a:r>
            <a:r>
              <a:rPr sz="2750" spc="80" dirty="0">
                <a:solidFill>
                  <a:srgbClr val="FF1C05"/>
                </a:solidFill>
                <a:latin typeface="Cambria"/>
                <a:cs typeface="Cambria"/>
              </a:rPr>
              <a:t>defined</a:t>
            </a:r>
            <a:r>
              <a:rPr sz="2750" spc="36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task</a:t>
            </a:r>
            <a:r>
              <a:rPr sz="2750" spc="38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with </a:t>
            </a:r>
            <a:r>
              <a:rPr sz="2750" spc="90" dirty="0">
                <a:solidFill>
                  <a:srgbClr val="FF1C05"/>
                </a:solidFill>
                <a:latin typeface="Cambria"/>
                <a:cs typeface="Cambria"/>
              </a:rPr>
              <a:t>minimal</a:t>
            </a:r>
            <a:r>
              <a:rPr sz="2750" spc="13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85" dirty="0">
                <a:solidFill>
                  <a:srgbClr val="FF1C05"/>
                </a:solidFill>
                <a:latin typeface="Cambria"/>
                <a:cs typeface="Cambria"/>
              </a:rPr>
              <a:t>dependency</a:t>
            </a:r>
            <a:r>
              <a:rPr sz="2750" spc="10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FF1C05"/>
                </a:solidFill>
                <a:latin typeface="Cambria"/>
                <a:cs typeface="Cambria"/>
              </a:rPr>
              <a:t>on</a:t>
            </a:r>
            <a:r>
              <a:rPr sz="2750" spc="15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other</a:t>
            </a:r>
            <a:r>
              <a:rPr sz="2750" spc="114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80" dirty="0">
                <a:solidFill>
                  <a:srgbClr val="FF1C05"/>
                </a:solidFill>
                <a:latin typeface="Cambria"/>
                <a:cs typeface="Cambria"/>
              </a:rPr>
              <a:t>modules</a:t>
            </a:r>
            <a:r>
              <a:rPr sz="2750" spc="8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 marL="241300" marR="10795" indent="-237490">
              <a:lnSpc>
                <a:spcPct val="152400"/>
              </a:lnSpc>
              <a:spcBef>
                <a:spcPts val="5"/>
              </a:spcBef>
              <a:buSzPct val="96363"/>
              <a:buFont typeface="Wingdings"/>
              <a:buChar char=""/>
              <a:tabLst>
                <a:tab pos="241300" algn="l"/>
                <a:tab pos="294640" algn="l"/>
                <a:tab pos="1597025" algn="l"/>
                <a:tab pos="3167380" algn="l"/>
                <a:tab pos="3609340" algn="l"/>
                <a:tab pos="5227320" algn="l"/>
                <a:tab pos="6652895" algn="l"/>
                <a:tab pos="7059930" algn="l"/>
                <a:tab pos="8260080" algn="l"/>
                <a:tab pos="9812655" algn="l"/>
                <a:tab pos="10912475" algn="l"/>
              </a:tabLst>
            </a:pPr>
            <a:r>
              <a:rPr sz="2750" spc="105" dirty="0">
                <a:solidFill>
                  <a:srgbClr val="FF1C05"/>
                </a:solidFill>
                <a:latin typeface="Cambria"/>
                <a:cs typeface="Cambria"/>
              </a:rPr>
              <a:t>Higher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1C05"/>
                </a:solidFill>
                <a:latin typeface="Cambria"/>
                <a:cs typeface="Cambria"/>
              </a:rPr>
              <a:t>cohesion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25" dirty="0">
                <a:solidFill>
                  <a:srgbClr val="FF1C05"/>
                </a:solidFill>
                <a:latin typeface="Cambria"/>
                <a:cs typeface="Cambria"/>
              </a:rPr>
              <a:t>is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1C05"/>
                </a:solidFill>
                <a:latin typeface="Cambria"/>
                <a:cs typeface="Cambria"/>
              </a:rPr>
              <a:t>desirable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because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it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5" dirty="0">
                <a:latin typeface="Cambria"/>
                <a:cs typeface="Cambria"/>
              </a:rPr>
              <a:t>makes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software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easier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to </a:t>
            </a:r>
            <a:r>
              <a:rPr sz="2750" spc="75" dirty="0">
                <a:latin typeface="Cambria"/>
                <a:cs typeface="Cambria"/>
              </a:rPr>
              <a:t>maintain,</a:t>
            </a:r>
            <a:r>
              <a:rPr sz="2750" spc="9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test,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extend.</a:t>
            </a:r>
            <a:endParaRPr sz="2750">
              <a:latin typeface="Cambria"/>
              <a:cs typeface="Cambria"/>
            </a:endParaRPr>
          </a:p>
          <a:p>
            <a:pPr marL="241300" marR="10795" indent="-237490">
              <a:lnSpc>
                <a:spcPct val="152500"/>
              </a:lnSpc>
              <a:spcBef>
                <a:spcPts val="75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80" dirty="0">
                <a:latin typeface="Cambria"/>
                <a:cs typeface="Cambria"/>
              </a:rPr>
              <a:t>Lower</a:t>
            </a:r>
            <a:r>
              <a:rPr sz="2750" spc="43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cohesion</a:t>
            </a:r>
            <a:r>
              <a:rPr sz="2750" spc="47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indicates</a:t>
            </a:r>
            <a:r>
              <a:rPr sz="2750" spc="470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randomly</a:t>
            </a:r>
            <a:r>
              <a:rPr sz="2750" spc="450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grouped</a:t>
            </a:r>
            <a:r>
              <a:rPr sz="2750" spc="420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functionalities,</a:t>
            </a:r>
            <a:r>
              <a:rPr sz="2750" spc="440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making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system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harder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understand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spc="110" dirty="0">
                <a:latin typeface="Cambria"/>
                <a:cs typeface="Cambria"/>
              </a:rPr>
              <a:t>modify.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80" dirty="0"/>
              <a:t>6.</a:t>
            </a:r>
            <a:r>
              <a:rPr sz="3200" spc="220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50" dirty="0"/>
              <a:t>Cohesion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2515" cy="5166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5080" indent="-229235" algn="just">
              <a:lnSpc>
                <a:spcPct val="1536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85" dirty="0">
                <a:latin typeface="Cambria"/>
                <a:cs typeface="Cambria"/>
              </a:rPr>
              <a:t>	Cohesion</a:t>
            </a:r>
            <a:r>
              <a:rPr sz="2750" spc="49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4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459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fundamental</a:t>
            </a:r>
            <a:r>
              <a:rPr sz="2750" spc="4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concept</a:t>
            </a:r>
            <a:r>
              <a:rPr sz="2750" spc="47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4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software</a:t>
            </a:r>
            <a:r>
              <a:rPr sz="2750" spc="49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design</a:t>
            </a:r>
            <a:r>
              <a:rPr sz="2750" spc="4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that</a:t>
            </a:r>
            <a:r>
              <a:rPr sz="2750" spc="41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refers</a:t>
            </a:r>
            <a:r>
              <a:rPr sz="2750" spc="430" dirty="0">
                <a:latin typeface="Cambria"/>
                <a:cs typeface="Cambria"/>
              </a:rPr>
              <a:t> </a:t>
            </a:r>
            <a:r>
              <a:rPr sz="2750" spc="-25" dirty="0">
                <a:latin typeface="Cambria"/>
                <a:cs typeface="Cambria"/>
              </a:rPr>
              <a:t>to </a:t>
            </a:r>
            <a:r>
              <a:rPr sz="2750" spc="110" dirty="0">
                <a:solidFill>
                  <a:srgbClr val="FF0000"/>
                </a:solidFill>
                <a:latin typeface="Cambria"/>
                <a:cs typeface="Cambria"/>
              </a:rPr>
              <a:t>how</a:t>
            </a:r>
            <a:r>
              <a:rPr sz="2750" spc="4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closely</a:t>
            </a:r>
            <a:r>
              <a:rPr sz="2750" spc="5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750" spc="4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elements</a:t>
            </a:r>
            <a:r>
              <a:rPr sz="2750" spc="50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45" dirty="0">
                <a:solidFill>
                  <a:srgbClr val="FF0000"/>
                </a:solidFill>
                <a:latin typeface="Cambria"/>
                <a:cs typeface="Cambria"/>
              </a:rPr>
              <a:t>(functions,</a:t>
            </a:r>
            <a:r>
              <a:rPr sz="2750" spc="4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70" dirty="0">
                <a:solidFill>
                  <a:srgbClr val="FF0000"/>
                </a:solidFill>
                <a:latin typeface="Cambria"/>
                <a:cs typeface="Cambria"/>
              </a:rPr>
              <a:t>data,</a:t>
            </a:r>
            <a:r>
              <a:rPr sz="2750" spc="5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etc.)</a:t>
            </a:r>
            <a:r>
              <a:rPr sz="2750" spc="4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75" dirty="0">
                <a:solidFill>
                  <a:srgbClr val="FF0000"/>
                </a:solidFill>
                <a:latin typeface="Cambria"/>
                <a:cs typeface="Cambria"/>
              </a:rPr>
              <a:t>within</a:t>
            </a:r>
            <a:r>
              <a:rPr sz="2750" spc="4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750" spc="4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105" dirty="0">
                <a:solidFill>
                  <a:srgbClr val="FF0000"/>
                </a:solidFill>
                <a:latin typeface="Cambria"/>
                <a:cs typeface="Cambria"/>
              </a:rPr>
              <a:t>module</a:t>
            </a:r>
            <a:r>
              <a:rPr sz="2750" spc="45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25" dirty="0">
                <a:solidFill>
                  <a:srgbClr val="FF0000"/>
                </a:solidFill>
                <a:latin typeface="Cambria"/>
                <a:cs typeface="Cambria"/>
              </a:rPr>
              <a:t>are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related</a:t>
            </a:r>
            <a:r>
              <a:rPr sz="2750" spc="2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750" spc="2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each</a:t>
            </a:r>
            <a:r>
              <a:rPr sz="2750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other</a:t>
            </a:r>
            <a:r>
              <a:rPr sz="2750" spc="-1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 marL="241300" marR="6985" indent="-229235" algn="just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640" algn="l"/>
              </a:tabLst>
            </a:pPr>
            <a:r>
              <a:rPr sz="2750" spc="190" dirty="0">
                <a:latin typeface="Cambria"/>
                <a:cs typeface="Cambria"/>
              </a:rPr>
              <a:t>	High</a:t>
            </a:r>
            <a:r>
              <a:rPr sz="2750" spc="31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cohesion</a:t>
            </a:r>
            <a:r>
              <a:rPr sz="2750" spc="37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means</a:t>
            </a:r>
            <a:r>
              <a:rPr sz="2750" spc="36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that</a:t>
            </a:r>
            <a:r>
              <a:rPr sz="2750" spc="29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310" dirty="0"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elements</a:t>
            </a:r>
            <a:r>
              <a:rPr sz="2750" spc="3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inside</a:t>
            </a:r>
            <a:r>
              <a:rPr sz="2750" spc="3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750" spc="3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105" dirty="0">
                <a:solidFill>
                  <a:srgbClr val="FF0000"/>
                </a:solidFill>
                <a:latin typeface="Cambria"/>
                <a:cs typeface="Cambria"/>
              </a:rPr>
              <a:t>module</a:t>
            </a:r>
            <a:r>
              <a:rPr sz="2750" spc="2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are</a:t>
            </a:r>
            <a:r>
              <a:rPr sz="2750" spc="3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45" dirty="0">
                <a:solidFill>
                  <a:srgbClr val="FF0000"/>
                </a:solidFill>
                <a:latin typeface="Cambria"/>
                <a:cs typeface="Cambria"/>
              </a:rPr>
              <a:t>strongly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related</a:t>
            </a:r>
            <a:r>
              <a:rPr sz="2750" spc="1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8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750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75" dirty="0">
                <a:solidFill>
                  <a:srgbClr val="FF0000"/>
                </a:solidFill>
                <a:latin typeface="Cambria"/>
                <a:cs typeface="Cambria"/>
              </a:rPr>
              <a:t>work</a:t>
            </a:r>
            <a:r>
              <a:rPr sz="2750" spc="1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together</a:t>
            </a:r>
            <a:r>
              <a:rPr sz="2750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75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achieve</a:t>
            </a:r>
            <a:r>
              <a:rPr sz="275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750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65" dirty="0">
                <a:solidFill>
                  <a:srgbClr val="FF0000"/>
                </a:solidFill>
                <a:latin typeface="Cambria"/>
                <a:cs typeface="Cambria"/>
              </a:rPr>
              <a:t>single,</a:t>
            </a:r>
            <a:r>
              <a:rPr sz="2750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65" dirty="0">
                <a:solidFill>
                  <a:srgbClr val="FF0000"/>
                </a:solidFill>
                <a:latin typeface="Cambria"/>
                <a:cs typeface="Cambria"/>
              </a:rPr>
              <a:t>well-</a:t>
            </a:r>
            <a:r>
              <a:rPr sz="2750" spc="80" dirty="0">
                <a:solidFill>
                  <a:srgbClr val="FF0000"/>
                </a:solidFill>
                <a:latin typeface="Cambria"/>
                <a:cs typeface="Cambria"/>
              </a:rPr>
              <a:t>defined</a:t>
            </a:r>
            <a:r>
              <a:rPr sz="2750" spc="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35" dirty="0">
                <a:solidFill>
                  <a:srgbClr val="FF0000"/>
                </a:solidFill>
                <a:latin typeface="Cambria"/>
                <a:cs typeface="Cambria"/>
              </a:rPr>
              <a:t>task</a:t>
            </a:r>
            <a:r>
              <a:rPr sz="2750" spc="35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 marL="294005" indent="-281940" algn="just">
              <a:lnSpc>
                <a:spcPct val="100000"/>
              </a:lnSpc>
              <a:spcBef>
                <a:spcPts val="173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150" dirty="0">
                <a:latin typeface="Cambria"/>
                <a:cs typeface="Cambria"/>
              </a:rPr>
              <a:t>Low</a:t>
            </a:r>
            <a:r>
              <a:rPr sz="2750" spc="140" dirty="0">
                <a:latin typeface="Cambria"/>
                <a:cs typeface="Cambria"/>
              </a:rPr>
              <a:t>  </a:t>
            </a:r>
            <a:r>
              <a:rPr sz="2750" spc="45" dirty="0">
                <a:latin typeface="Cambria"/>
                <a:cs typeface="Cambria"/>
              </a:rPr>
              <a:t>cohesion,</a:t>
            </a:r>
            <a:r>
              <a:rPr sz="2750" spc="135" dirty="0">
                <a:latin typeface="Cambria"/>
                <a:cs typeface="Cambria"/>
              </a:rPr>
              <a:t>  </a:t>
            </a:r>
            <a:r>
              <a:rPr sz="2750" spc="50" dirty="0">
                <a:latin typeface="Cambria"/>
                <a:cs typeface="Cambria"/>
              </a:rPr>
              <a:t>on</a:t>
            </a:r>
            <a:r>
              <a:rPr sz="2750" spc="14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2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other</a:t>
            </a:r>
            <a:r>
              <a:rPr sz="2750" spc="130" dirty="0">
                <a:latin typeface="Cambria"/>
                <a:cs typeface="Cambria"/>
              </a:rPr>
              <a:t>  </a:t>
            </a:r>
            <a:r>
              <a:rPr sz="2750" spc="110" dirty="0">
                <a:latin typeface="Cambria"/>
                <a:cs typeface="Cambria"/>
              </a:rPr>
              <a:t>hand,</a:t>
            </a:r>
            <a:r>
              <a:rPr sz="2750" spc="12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indicates</a:t>
            </a:r>
            <a:r>
              <a:rPr sz="2750" spc="15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that</a:t>
            </a:r>
            <a:r>
              <a:rPr sz="2750" spc="11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2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elements</a:t>
            </a:r>
            <a:r>
              <a:rPr sz="2750" spc="135" dirty="0">
                <a:latin typeface="Cambria"/>
                <a:cs typeface="Cambria"/>
              </a:rPr>
              <a:t>  </a:t>
            </a:r>
            <a:r>
              <a:rPr sz="2750" spc="-25" dirty="0">
                <a:latin typeface="Cambria"/>
                <a:cs typeface="Cambria"/>
              </a:rPr>
              <a:t>are</a:t>
            </a:r>
            <a:endParaRPr sz="2750">
              <a:latin typeface="Cambria"/>
              <a:cs typeface="Cambria"/>
            </a:endParaRPr>
          </a:p>
          <a:p>
            <a:pPr marL="241300" marR="5080" algn="just">
              <a:lnSpc>
                <a:spcPct val="152500"/>
              </a:lnSpc>
              <a:spcBef>
                <a:spcPts val="75"/>
              </a:spcBef>
            </a:pPr>
            <a:r>
              <a:rPr sz="2750" spc="45" dirty="0">
                <a:latin typeface="Cambria"/>
                <a:cs typeface="Cambria"/>
              </a:rPr>
              <a:t>loosely</a:t>
            </a:r>
            <a:r>
              <a:rPr sz="2750" spc="265" dirty="0">
                <a:latin typeface="Cambria"/>
                <a:cs typeface="Cambria"/>
              </a:rPr>
              <a:t>   </a:t>
            </a:r>
            <a:r>
              <a:rPr sz="2750" dirty="0">
                <a:latin typeface="Cambria"/>
                <a:cs typeface="Cambria"/>
              </a:rPr>
              <a:t>related</a:t>
            </a:r>
            <a:r>
              <a:rPr sz="2750" spc="265" dirty="0">
                <a:latin typeface="Cambria"/>
                <a:cs typeface="Cambria"/>
              </a:rPr>
              <a:t>   </a:t>
            </a:r>
            <a:r>
              <a:rPr sz="2750" dirty="0">
                <a:latin typeface="Cambria"/>
                <a:cs typeface="Cambria"/>
              </a:rPr>
              <a:t>or</a:t>
            </a:r>
            <a:r>
              <a:rPr sz="2750" spc="265" dirty="0">
                <a:latin typeface="Cambria"/>
                <a:cs typeface="Cambria"/>
              </a:rPr>
              <a:t>   </a:t>
            </a:r>
            <a:r>
              <a:rPr sz="2750" spc="55" dirty="0">
                <a:latin typeface="Cambria"/>
                <a:cs typeface="Cambria"/>
              </a:rPr>
              <a:t>unrelated,</a:t>
            </a:r>
            <a:r>
              <a:rPr sz="2750" spc="260" dirty="0">
                <a:latin typeface="Cambria"/>
                <a:cs typeface="Cambria"/>
              </a:rPr>
              <a:t>   </a:t>
            </a:r>
            <a:r>
              <a:rPr sz="2750" spc="105" dirty="0">
                <a:latin typeface="Cambria"/>
                <a:cs typeface="Cambria"/>
              </a:rPr>
              <a:t>making</a:t>
            </a:r>
            <a:r>
              <a:rPr sz="2750" spc="265" dirty="0">
                <a:latin typeface="Cambria"/>
                <a:cs typeface="Cambria"/>
              </a:rPr>
              <a:t>  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685" dirty="0">
                <a:latin typeface="Cambria"/>
                <a:cs typeface="Cambria"/>
              </a:rPr>
              <a:t>  </a:t>
            </a:r>
            <a:r>
              <a:rPr sz="2750" spc="105" dirty="0">
                <a:latin typeface="Cambria"/>
                <a:cs typeface="Cambria"/>
              </a:rPr>
              <a:t>module</a:t>
            </a:r>
            <a:r>
              <a:rPr sz="2750" spc="67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harder</a:t>
            </a:r>
            <a:r>
              <a:rPr sz="2750" spc="675" dirty="0">
                <a:latin typeface="Cambria"/>
                <a:cs typeface="Cambria"/>
              </a:rPr>
              <a:t>  </a:t>
            </a:r>
            <a:r>
              <a:rPr sz="2750" spc="-25" dirty="0">
                <a:latin typeface="Cambria"/>
                <a:cs typeface="Cambria"/>
              </a:rPr>
              <a:t>to </a:t>
            </a:r>
            <a:r>
              <a:rPr sz="2750" spc="70" dirty="0">
                <a:latin typeface="Cambria"/>
                <a:cs typeface="Cambria"/>
              </a:rPr>
              <a:t>understand,</a:t>
            </a:r>
            <a:r>
              <a:rPr sz="2750" spc="10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maintain,</a:t>
            </a:r>
            <a:r>
              <a:rPr sz="2750" spc="100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extend.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80" dirty="0"/>
              <a:t>6.</a:t>
            </a:r>
            <a:r>
              <a:rPr sz="3200" spc="220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50" dirty="0"/>
              <a:t>Cohesion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867211"/>
              </p:ext>
            </p:extLst>
          </p:nvPr>
        </p:nvGraphicFramePr>
        <p:xfrm>
          <a:off x="403225" y="1044575"/>
          <a:ext cx="11384280" cy="4393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6330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Cohesion</a:t>
                      </a:r>
                      <a:r>
                        <a:rPr sz="1800" b="1" spc="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Type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10610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Explanation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7143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Example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Problem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1764030" algn="l"/>
                        </a:tabLst>
                      </a:pPr>
                      <a:r>
                        <a:rPr sz="1800" b="1" spc="50" dirty="0">
                          <a:latin typeface="Times New Roman"/>
                          <a:cs typeface="Times New Roman"/>
                        </a:rPr>
                        <a:t>Coincidental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70" dirty="0">
                          <a:latin typeface="Times New Roman"/>
                          <a:cs typeface="Times New Roman"/>
                        </a:rPr>
                        <a:t>Cohesion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(Lowest,</a:t>
                      </a:r>
                      <a:r>
                        <a:rPr sz="1800" spc="2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Undesirable)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378460" marR="74295" indent="-285115" algn="just">
                        <a:lnSpc>
                          <a:spcPct val="100899"/>
                        </a:lnSpc>
                        <a:spcBef>
                          <a:spcPts val="204"/>
                        </a:spcBef>
                        <a:buFont typeface="Wingdings"/>
                        <a:buChar char=""/>
                        <a:tabLst>
                          <a:tab pos="379730" algn="l"/>
                        </a:tabLst>
                      </a:pP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Unrelated</a:t>
                      </a:r>
                      <a:r>
                        <a:rPr sz="1800" b="1" spc="285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functions</a:t>
                      </a:r>
                      <a:r>
                        <a:rPr sz="1800" b="1" spc="29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b="1" spc="-25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are 	</a:t>
                      </a:r>
                      <a:r>
                        <a:rPr sz="1800" b="1" spc="5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grouped</a:t>
                      </a:r>
                      <a:r>
                        <a:rPr sz="1800" b="1" spc="345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together</a:t>
                      </a:r>
                      <a:r>
                        <a:rPr sz="1800" b="1" spc="40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randomly 	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sz="1800" b="1" spc="9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a</a:t>
                      </a:r>
                      <a:r>
                        <a:rPr sz="1800" b="1" spc="10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4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  <a:p>
                      <a:pPr marL="378460" marR="76835" indent="-285115" algn="just">
                        <a:lnSpc>
                          <a:spcPts val="2100"/>
                        </a:lnSpc>
                        <a:spcBef>
                          <a:spcPts val="140"/>
                        </a:spcBef>
                        <a:buFont typeface="Wingdings"/>
                        <a:buChar char=""/>
                        <a:tabLst>
                          <a:tab pos="379730" algn="l"/>
                        </a:tabLst>
                      </a:pPr>
                      <a:r>
                        <a:rPr sz="1800" spc="65" dirty="0">
                          <a:latin typeface="Cambria"/>
                          <a:cs typeface="Cambria"/>
                        </a:rPr>
                        <a:t>Happens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0" dirty="0">
                          <a:latin typeface="Cambria"/>
                          <a:cs typeface="Cambria"/>
                        </a:rPr>
                        <a:t>due</a:t>
                      </a:r>
                      <a:r>
                        <a:rPr sz="18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poor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design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without</a:t>
                      </a:r>
                      <a:r>
                        <a:rPr sz="18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proper</a:t>
                      </a:r>
                      <a:r>
                        <a:rPr sz="1800" spc="2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planning.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4295" algn="just">
                        <a:lnSpc>
                          <a:spcPct val="100099"/>
                        </a:lnSpc>
                        <a:spcBef>
                          <a:spcPts val="225"/>
                        </a:spcBef>
                      </a:pPr>
                      <a:r>
                        <a:rPr sz="1800" spc="27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that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prints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1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report,</a:t>
                      </a:r>
                      <a:r>
                        <a:rPr sz="1800" spc="19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clears</a:t>
                      </a:r>
                      <a:r>
                        <a:rPr sz="1800" spc="18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screen,</a:t>
                      </a:r>
                      <a:r>
                        <a:rPr sz="1800" spc="27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1800" spc="27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plays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music—these</a:t>
                      </a:r>
                      <a:r>
                        <a:rPr sz="1800" spc="35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tasks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have</a:t>
                      </a:r>
                      <a:r>
                        <a:rPr sz="1800" spc="8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no</a:t>
                      </a:r>
                      <a:r>
                        <a:rPr sz="1800" spc="114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35" dirty="0">
                          <a:latin typeface="Cambria"/>
                          <a:cs typeface="Cambria"/>
                        </a:rPr>
                        <a:t>meaningful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connection.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75565" algn="just">
                        <a:lnSpc>
                          <a:spcPct val="100899"/>
                        </a:lnSpc>
                        <a:spcBef>
                          <a:spcPts val="204"/>
                        </a:spcBef>
                      </a:pPr>
                      <a:r>
                        <a:rPr sz="1800" spc="45" dirty="0">
                          <a:latin typeface="Cambria"/>
                          <a:cs typeface="Cambria"/>
                        </a:rPr>
                        <a:t>Difficult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maintain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30" dirty="0">
                          <a:latin typeface="Cambria"/>
                          <a:cs typeface="Cambria"/>
                        </a:rPr>
                        <a:t>and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modify,</a:t>
                      </a:r>
                      <a:r>
                        <a:rPr sz="1800" spc="3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as</a:t>
                      </a:r>
                      <a:r>
                        <a:rPr sz="1800" spc="3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800" spc="3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lacks</a:t>
                      </a:r>
                      <a:r>
                        <a:rPr sz="1800" spc="3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logical 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grouping.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Logical</a:t>
                      </a:r>
                      <a:r>
                        <a:rPr sz="1800" b="1" spc="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70" dirty="0">
                          <a:latin typeface="Times New Roman"/>
                          <a:cs typeface="Times New Roman"/>
                        </a:rPr>
                        <a:t>Cohesion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378460" marR="76835" indent="-285115" algn="just">
                        <a:lnSpc>
                          <a:spcPct val="100099"/>
                        </a:lnSpc>
                        <a:spcBef>
                          <a:spcPts val="245"/>
                        </a:spcBef>
                        <a:buFont typeface="Wingdings"/>
                        <a:buChar char=""/>
                        <a:tabLst>
                          <a:tab pos="379730" algn="l"/>
                        </a:tabLst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Functions</a:t>
                      </a:r>
                      <a:r>
                        <a:rPr sz="1800" spc="30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that</a:t>
                      </a:r>
                      <a:r>
                        <a:rPr sz="1800" spc="30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perform 	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logically</a:t>
                      </a:r>
                      <a:r>
                        <a:rPr sz="1800" b="1" spc="229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similar</a:t>
                      </a:r>
                      <a:r>
                        <a:rPr sz="1800" b="1" spc="24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b="1" spc="-1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operations 	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are</a:t>
                      </a:r>
                      <a:r>
                        <a:rPr sz="1800" b="1" spc="315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5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grouped</a:t>
                      </a:r>
                      <a:r>
                        <a:rPr sz="1800" b="1" spc="325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into</a:t>
                      </a:r>
                      <a:r>
                        <a:rPr sz="1800" b="1" spc="35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a</a:t>
                      </a:r>
                      <a:r>
                        <a:rPr sz="1800" b="1" spc="36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4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,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but</a:t>
                      </a:r>
                      <a:r>
                        <a:rPr sz="1800" spc="38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39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exact</a:t>
                      </a:r>
                      <a:r>
                        <a:rPr sz="1800" spc="38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function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executed</a:t>
                      </a:r>
                      <a:r>
                        <a:rPr sz="1800" spc="335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depends</a:t>
                      </a:r>
                      <a:r>
                        <a:rPr sz="1800" spc="335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on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external</a:t>
                      </a:r>
                      <a:r>
                        <a:rPr sz="18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control.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4295" algn="just">
                        <a:lnSpc>
                          <a:spcPct val="100800"/>
                        </a:lnSpc>
                        <a:spcBef>
                          <a:spcPts val="229"/>
                        </a:spcBef>
                        <a:tabLst>
                          <a:tab pos="1892935" algn="l"/>
                        </a:tabLst>
                      </a:pPr>
                      <a:r>
                        <a:rPr sz="1800" spc="27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37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00" spc="36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that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handles</a:t>
                      </a:r>
                      <a:r>
                        <a:rPr sz="1800" spc="47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all</a:t>
                      </a:r>
                      <a:r>
                        <a:rPr sz="1800" spc="47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output operations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but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96520" marR="74930" algn="just">
                        <a:lnSpc>
                          <a:spcPct val="100000"/>
                        </a:lnSpc>
                        <a:spcBef>
                          <a:spcPts val="15"/>
                        </a:spcBef>
                        <a:tabLst>
                          <a:tab pos="2044064" algn="l"/>
                        </a:tabLst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determines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at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runtime</a:t>
                      </a:r>
                      <a:r>
                        <a:rPr sz="1800" spc="204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whether</a:t>
                      </a:r>
                      <a:r>
                        <a:rPr sz="1800" spc="21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to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print</a:t>
                      </a:r>
                      <a:r>
                        <a:rPr sz="1800" spc="36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1800" spc="38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37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screen,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send</a:t>
                      </a:r>
                      <a:r>
                        <a:rPr sz="1800" spc="3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3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3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printer,</a:t>
                      </a:r>
                      <a:r>
                        <a:rPr sz="1800" spc="3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or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write</a:t>
                      </a:r>
                      <a:r>
                        <a:rPr sz="18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file.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72390" algn="just">
                        <a:lnSpc>
                          <a:spcPct val="100800"/>
                        </a:lnSpc>
                        <a:spcBef>
                          <a:spcPts val="229"/>
                        </a:spcBef>
                        <a:tabLst>
                          <a:tab pos="1463040" algn="l"/>
                        </a:tabLst>
                      </a:pPr>
                      <a:r>
                        <a:rPr sz="1800" spc="85" dirty="0">
                          <a:latin typeface="Cambria"/>
                          <a:cs typeface="Cambria"/>
                        </a:rPr>
                        <a:t>Not</a:t>
                      </a:r>
                      <a:r>
                        <a:rPr sz="1800" spc="31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optimal</a:t>
                      </a:r>
                      <a:r>
                        <a:rPr sz="1800" spc="31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because 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functionality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depends</a:t>
                      </a:r>
                      <a:r>
                        <a:rPr sz="1800" spc="35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1800" spc="36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external conditions.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80" dirty="0"/>
              <a:t>6.</a:t>
            </a:r>
            <a:r>
              <a:rPr sz="3200" spc="220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50" dirty="0"/>
              <a:t>Cohesion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050133"/>
              </p:ext>
            </p:extLst>
          </p:nvPr>
        </p:nvGraphicFramePr>
        <p:xfrm>
          <a:off x="354629" y="885446"/>
          <a:ext cx="11384280" cy="56718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465">
                <a:tc>
                  <a:txBody>
                    <a:bodyPr/>
                    <a:lstStyle/>
                    <a:p>
                      <a:pPr marL="6330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Cohesion</a:t>
                      </a:r>
                      <a:r>
                        <a:rPr sz="1800" b="1" spc="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Type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10610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Explanation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7143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Example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Problem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6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Temporal</a:t>
                      </a:r>
                      <a:r>
                        <a:rPr sz="1800" b="1" spc="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65" dirty="0">
                          <a:latin typeface="Times New Roman"/>
                          <a:cs typeface="Times New Roman"/>
                        </a:rPr>
                        <a:t>Cohesion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378460" marR="75565" indent="-285115" algn="just">
                        <a:lnSpc>
                          <a:spcPct val="99900"/>
                        </a:lnSpc>
                        <a:spcBef>
                          <a:spcPts val="229"/>
                        </a:spcBef>
                        <a:buFont typeface="Wingdings"/>
                        <a:buChar char=""/>
                        <a:tabLst>
                          <a:tab pos="379730" algn="l"/>
                        </a:tabLst>
                      </a:pP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Functions</a:t>
                      </a:r>
                      <a:r>
                        <a:rPr sz="1800" b="1" spc="34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are</a:t>
                      </a:r>
                      <a:r>
                        <a:rPr sz="1800" b="1" spc="345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b="1" spc="4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grouped 	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together</a:t>
                      </a:r>
                      <a:r>
                        <a:rPr sz="1800" b="1" spc="425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because</a:t>
                      </a:r>
                      <a:r>
                        <a:rPr sz="1800" b="1" spc="42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b="1" spc="-2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they 	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execute</a:t>
                      </a:r>
                      <a:r>
                        <a:rPr sz="1800" b="1" spc="22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r>
                        <a:rPr sz="1800" b="1" spc="204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b="1" spc="20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same</a:t>
                      </a:r>
                      <a:r>
                        <a:rPr sz="1800" b="1" spc="22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b="1" spc="-2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time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,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not</a:t>
                      </a:r>
                      <a:r>
                        <a:rPr sz="1800" spc="2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because</a:t>
                      </a:r>
                      <a:r>
                        <a:rPr sz="1800" spc="25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they</a:t>
                      </a:r>
                      <a:r>
                        <a:rPr sz="1800" spc="2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1800" spc="2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related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18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function.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6835" algn="just">
                        <a:lnSpc>
                          <a:spcPct val="99900"/>
                        </a:lnSpc>
                        <a:spcBef>
                          <a:spcPts val="229"/>
                        </a:spcBef>
                      </a:pPr>
                      <a:r>
                        <a:rPr sz="1800" spc="27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37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00" spc="113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that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initializes</a:t>
                      </a:r>
                      <a:r>
                        <a:rPr sz="1800" spc="43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variables,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opens</a:t>
                      </a:r>
                      <a:r>
                        <a:rPr sz="1800" spc="30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files,</a:t>
                      </a:r>
                      <a:r>
                        <a:rPr sz="1800" spc="10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and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clears</a:t>
                      </a:r>
                      <a:r>
                        <a:rPr sz="1800" spc="11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12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screen</a:t>
                      </a:r>
                      <a:r>
                        <a:rPr sz="1800" spc="14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at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program</a:t>
                      </a:r>
                      <a:r>
                        <a:rPr sz="1800" spc="2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startup.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73025" algn="just">
                        <a:lnSpc>
                          <a:spcPct val="100800"/>
                        </a:lnSpc>
                        <a:spcBef>
                          <a:spcPts val="210"/>
                        </a:spcBef>
                        <a:tabLst>
                          <a:tab pos="1855470" algn="l"/>
                        </a:tabLst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800" spc="37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one</a:t>
                      </a:r>
                      <a:r>
                        <a:rPr sz="1800" spc="37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task</a:t>
                      </a:r>
                      <a:r>
                        <a:rPr sz="1800" spc="37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changes,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unrelated</a:t>
                      </a:r>
                      <a:r>
                        <a:rPr sz="1800" spc="27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tasks</a:t>
                      </a:r>
                      <a:r>
                        <a:rPr sz="1800" spc="2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may</a:t>
                      </a:r>
                      <a:r>
                        <a:rPr sz="1800" spc="28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be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affected,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reducing maintainability.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1514">
                <a:tc>
                  <a:txBody>
                    <a:bodyPr/>
                    <a:lstStyle/>
                    <a:p>
                      <a:pPr marL="91440" marR="1052830">
                        <a:lnSpc>
                          <a:spcPct val="101000"/>
                        </a:lnSpc>
                        <a:spcBef>
                          <a:spcPts val="220"/>
                        </a:spcBef>
                      </a:pPr>
                      <a:r>
                        <a:rPr sz="1800" b="1" spc="55" dirty="0">
                          <a:latin typeface="Times New Roman"/>
                          <a:cs typeface="Times New Roman"/>
                        </a:rPr>
                        <a:t>Communication </a:t>
                      </a:r>
                      <a:r>
                        <a:rPr sz="1800" b="1" spc="70" dirty="0">
                          <a:latin typeface="Times New Roman"/>
                          <a:cs typeface="Times New Roman"/>
                        </a:rPr>
                        <a:t>Cohesion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378460" marR="76200" indent="-285115" algn="just">
                        <a:lnSpc>
                          <a:spcPct val="100899"/>
                        </a:lnSpc>
                        <a:spcBef>
                          <a:spcPts val="225"/>
                        </a:spcBef>
                        <a:buFont typeface="Wingdings"/>
                        <a:buChar char=""/>
                        <a:tabLst>
                          <a:tab pos="379730" algn="l"/>
                        </a:tabLst>
                      </a:pP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Functions</a:t>
                      </a:r>
                      <a:r>
                        <a:rPr sz="1800" b="1" spc="40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operate</a:t>
                      </a:r>
                      <a:r>
                        <a:rPr sz="1800" b="1" spc="39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r>
                        <a:rPr sz="1800" b="1" spc="43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b="1" spc="-25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the 	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same</a:t>
                      </a:r>
                      <a:r>
                        <a:rPr sz="1800" b="1" spc="40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data</a:t>
                      </a:r>
                      <a:r>
                        <a:rPr sz="1800" b="1" spc="34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1800" spc="3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1800" spc="3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grouped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into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module.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3660">
                        <a:lnSpc>
                          <a:spcPct val="100099"/>
                        </a:lnSpc>
                        <a:spcBef>
                          <a:spcPts val="240"/>
                        </a:spcBef>
                        <a:tabLst>
                          <a:tab pos="664210" algn="l"/>
                          <a:tab pos="1133475" algn="l"/>
                          <a:tab pos="1465580" algn="l"/>
                          <a:tab pos="1732280" algn="l"/>
                          <a:tab pos="1835785" algn="l"/>
                          <a:tab pos="1915160" algn="l"/>
                        </a:tabLst>
                      </a:pPr>
                      <a:r>
                        <a:rPr sz="1800" spc="22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		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that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retrieves</a:t>
                      </a:r>
                      <a:r>
                        <a:rPr sz="1800" spc="5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temperature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	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data,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logs</a:t>
                      </a:r>
                      <a:r>
                        <a:rPr sz="1800" spc="43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800" spc="4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4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4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file,</a:t>
                      </a:r>
                      <a:r>
                        <a:rPr sz="1800" spc="4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30" dirty="0">
                          <a:latin typeface="Cambria"/>
                          <a:cs typeface="Cambria"/>
                        </a:rPr>
                        <a:t>and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displays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		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screen.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74295" algn="just">
                        <a:lnSpc>
                          <a:spcPct val="1008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Improves</a:t>
                      </a:r>
                      <a:r>
                        <a:rPr sz="1800" spc="16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modularity</a:t>
                      </a:r>
                      <a:r>
                        <a:rPr sz="1800" spc="16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but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still</a:t>
                      </a:r>
                      <a:r>
                        <a:rPr sz="1800" spc="385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ties</a:t>
                      </a:r>
                      <a:r>
                        <a:rPr sz="1800" spc="395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functions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together</a:t>
                      </a:r>
                      <a:r>
                        <a:rPr sz="1800" spc="36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due</a:t>
                      </a:r>
                      <a:r>
                        <a:rPr sz="1800" spc="36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35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shared data.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2390">
                <a:tc>
                  <a:txBody>
                    <a:bodyPr/>
                    <a:lstStyle/>
                    <a:p>
                      <a:pPr marL="91440" marR="82550" algn="just">
                        <a:lnSpc>
                          <a:spcPct val="100899"/>
                        </a:lnSpc>
                        <a:spcBef>
                          <a:spcPts val="245"/>
                        </a:spcBef>
                        <a:tabLst>
                          <a:tab pos="2221865" algn="l"/>
                        </a:tabLst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Functional</a:t>
                      </a:r>
                      <a:r>
                        <a:rPr sz="1800" b="1" spc="355" dirty="0">
                          <a:latin typeface="Times New Roman"/>
                          <a:cs typeface="Times New Roman"/>
                        </a:rPr>
                        <a:t>      </a:t>
                      </a:r>
                      <a:r>
                        <a:rPr sz="1800" b="1" spc="70" dirty="0">
                          <a:latin typeface="Times New Roman"/>
                          <a:cs typeface="Times New Roman"/>
                        </a:rPr>
                        <a:t>Cohesion </a:t>
                      </a:r>
                      <a:r>
                        <a:rPr sz="1800" b="1" spc="50" dirty="0">
                          <a:latin typeface="Times New Roman"/>
                          <a:cs typeface="Times New Roman"/>
                        </a:rPr>
                        <a:t>(Highest,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45" dirty="0">
                          <a:latin typeface="Times New Roman"/>
                          <a:cs typeface="Times New Roman"/>
                        </a:rPr>
                        <a:t>Most </a:t>
                      </a:r>
                      <a:r>
                        <a:rPr sz="1800" b="1" spc="55" dirty="0">
                          <a:latin typeface="Times New Roman"/>
                          <a:cs typeface="Times New Roman"/>
                        </a:rPr>
                        <a:t>Desirable)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379730" marR="79375" indent="-286385">
                        <a:lnSpc>
                          <a:spcPct val="100800"/>
                        </a:lnSpc>
                        <a:spcBef>
                          <a:spcPts val="250"/>
                        </a:spcBef>
                        <a:buFont typeface="Wingdings"/>
                        <a:buChar char=""/>
                        <a:tabLst>
                          <a:tab pos="379730" algn="l"/>
                          <a:tab pos="995044" algn="l"/>
                          <a:tab pos="2009139" algn="l"/>
                          <a:tab pos="3171190" algn="l"/>
                        </a:tabLst>
                      </a:pPr>
                      <a:r>
                        <a:rPr sz="1800" spc="-2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b="1" spc="45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b="1" spc="-1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performs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800" b="1" spc="-5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a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single,</a:t>
                      </a:r>
                      <a:r>
                        <a:rPr sz="1800" b="1" spc="395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well-defined</a:t>
                      </a:r>
                      <a:r>
                        <a:rPr sz="1800" b="1" spc="35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task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6835" algn="just">
                        <a:lnSpc>
                          <a:spcPct val="100800"/>
                        </a:lnSpc>
                        <a:spcBef>
                          <a:spcPts val="250"/>
                        </a:spcBef>
                        <a:tabLst>
                          <a:tab pos="1915160" algn="l"/>
                        </a:tabLst>
                      </a:pPr>
                      <a:r>
                        <a:rPr sz="1800" spc="27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37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00" spc="113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that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calculates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average</a:t>
                      </a:r>
                      <a:r>
                        <a:rPr sz="1800" spc="13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15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15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list</a:t>
                      </a:r>
                      <a:r>
                        <a:rPr sz="1800" spc="15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of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numbers.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76200" algn="just">
                        <a:lnSpc>
                          <a:spcPct val="100800"/>
                        </a:lnSpc>
                        <a:spcBef>
                          <a:spcPts val="250"/>
                        </a:spcBef>
                        <a:tabLst>
                          <a:tab pos="1489075" algn="l"/>
                          <a:tab pos="2393950" algn="l"/>
                        </a:tabLst>
                      </a:pPr>
                      <a:r>
                        <a:rPr sz="1800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Benefit:</a:t>
                      </a:r>
                      <a:r>
                        <a:rPr sz="1800" spc="335" dirty="0">
                          <a:solidFill>
                            <a:srgbClr val="FF1C05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Easy</a:t>
                      </a:r>
                      <a:r>
                        <a:rPr sz="1800" spc="3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3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maintain,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test,</a:t>
                      </a:r>
                      <a:r>
                        <a:rPr sz="1800" spc="3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1800" spc="38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extend,</a:t>
                      </a:r>
                      <a:r>
                        <a:rPr sz="1800" spc="37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as</a:t>
                      </a:r>
                      <a:r>
                        <a:rPr sz="1800" spc="38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it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focuses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one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responsibility.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80" dirty="0"/>
              <a:t>6.</a:t>
            </a:r>
            <a:r>
              <a:rPr sz="3200" spc="220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50" dirty="0"/>
              <a:t>Cohesion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46467" y="2516187"/>
            <a:ext cx="63976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241300" algn="l"/>
                <a:tab pos="657860" algn="l"/>
                <a:tab pos="1744980" algn="l"/>
                <a:tab pos="2404745" algn="l"/>
                <a:tab pos="3653790" algn="l"/>
                <a:tab pos="4448175" algn="l"/>
                <a:tab pos="5752465" algn="l"/>
              </a:tabLst>
            </a:pPr>
            <a:r>
              <a:rPr sz="2000" spc="275" dirty="0">
                <a:latin typeface="Cambria"/>
                <a:cs typeface="Cambria"/>
              </a:rPr>
              <a:t>A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45" dirty="0">
                <a:latin typeface="Cambria"/>
                <a:cs typeface="Cambria"/>
              </a:rPr>
              <a:t>module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0" dirty="0">
                <a:latin typeface="Cambria"/>
                <a:cs typeface="Cambria"/>
              </a:rPr>
              <a:t>that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performs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three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unrelated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tasks: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6467" y="2825897"/>
            <a:ext cx="6401435" cy="259080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65"/>
              </a:spcBef>
              <a:tabLst>
                <a:tab pos="1307465" algn="l"/>
                <a:tab pos="1579880" algn="l"/>
                <a:tab pos="2484120" algn="l"/>
                <a:tab pos="3529329" algn="l"/>
                <a:tab pos="4027170" algn="l"/>
                <a:tab pos="4948555" algn="l"/>
                <a:tab pos="5523865" algn="l"/>
              </a:tabLst>
            </a:pPr>
            <a:r>
              <a:rPr sz="2000" spc="-10" dirty="0">
                <a:latin typeface="Cambria"/>
                <a:cs typeface="Cambria"/>
              </a:rPr>
              <a:t>printing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50" dirty="0">
                <a:latin typeface="Cambria"/>
                <a:cs typeface="Cambria"/>
              </a:rPr>
              <a:t>a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report,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clearing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5" dirty="0">
                <a:latin typeface="Cambria"/>
                <a:cs typeface="Cambria"/>
              </a:rPr>
              <a:t>the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screen,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35" dirty="0">
                <a:latin typeface="Cambria"/>
                <a:cs typeface="Cambria"/>
              </a:rPr>
              <a:t>and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45" dirty="0">
                <a:latin typeface="Cambria"/>
                <a:cs typeface="Cambria"/>
              </a:rPr>
              <a:t>playing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980"/>
              </a:spcBef>
            </a:pPr>
            <a:r>
              <a:rPr sz="2000" spc="-10" dirty="0">
                <a:latin typeface="Cambria"/>
                <a:cs typeface="Cambria"/>
              </a:rPr>
              <a:t>music</a:t>
            </a:r>
            <a:endParaRPr sz="2000">
              <a:latin typeface="Cambria"/>
              <a:cs typeface="Cambria"/>
            </a:endParaRPr>
          </a:p>
          <a:p>
            <a:pPr marL="241300" marR="5080" indent="-229235" algn="just">
              <a:lnSpc>
                <a:spcPts val="3379"/>
              </a:lnSpc>
              <a:spcBef>
                <a:spcPts val="2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Cambria"/>
                <a:cs typeface="Cambria"/>
              </a:rPr>
              <a:t>Issue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These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tasks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have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no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logical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connection,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making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240" dirty="0"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FF0000"/>
                </a:solidFill>
                <a:latin typeface="Cambria"/>
                <a:cs typeface="Cambria"/>
              </a:rPr>
              <a:t>module</a:t>
            </a:r>
            <a:r>
              <a:rPr sz="20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hard</a:t>
            </a:r>
            <a:r>
              <a:rPr sz="2000" spc="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000" spc="1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maintain</a:t>
            </a:r>
            <a:r>
              <a:rPr sz="2000" spc="22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000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modify</a:t>
            </a:r>
            <a:r>
              <a:rPr sz="2000" spc="65" dirty="0">
                <a:latin typeface="Cambria"/>
                <a:cs typeface="Cambria"/>
              </a:rPr>
              <a:t>.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If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you</a:t>
            </a:r>
            <a:r>
              <a:rPr sz="2000" spc="24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need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29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change</a:t>
            </a:r>
            <a:r>
              <a:rPr sz="2000" spc="315" dirty="0">
                <a:latin typeface="Cambria"/>
                <a:cs typeface="Cambria"/>
              </a:rPr>
              <a:t>  </a:t>
            </a:r>
            <a:r>
              <a:rPr sz="2000" spc="70" dirty="0">
                <a:latin typeface="Cambria"/>
                <a:cs typeface="Cambria"/>
              </a:rPr>
              <a:t>how</a:t>
            </a:r>
            <a:r>
              <a:rPr sz="2000" spc="30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32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music</a:t>
            </a:r>
            <a:r>
              <a:rPr sz="2000" spc="30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305" dirty="0">
                <a:latin typeface="Cambria"/>
                <a:cs typeface="Cambria"/>
              </a:rPr>
              <a:t>  </a:t>
            </a:r>
            <a:r>
              <a:rPr sz="2000" spc="55" dirty="0">
                <a:latin typeface="Cambria"/>
                <a:cs typeface="Cambria"/>
              </a:rPr>
              <a:t>played,</a:t>
            </a:r>
            <a:r>
              <a:rPr sz="2000" spc="325" dirty="0">
                <a:latin typeface="Cambria"/>
                <a:cs typeface="Cambria"/>
              </a:rPr>
              <a:t>  </a:t>
            </a:r>
            <a:r>
              <a:rPr sz="2000" spc="65" dirty="0">
                <a:latin typeface="Cambria"/>
                <a:cs typeface="Cambria"/>
              </a:rPr>
              <a:t>you</a:t>
            </a:r>
            <a:r>
              <a:rPr sz="2000" spc="320" dirty="0">
                <a:latin typeface="Cambria"/>
                <a:cs typeface="Cambria"/>
              </a:rPr>
              <a:t>  </a:t>
            </a:r>
            <a:r>
              <a:rPr sz="2000" spc="50" dirty="0">
                <a:latin typeface="Cambria"/>
                <a:cs typeface="Cambria"/>
              </a:rPr>
              <a:t>might</a:t>
            </a:r>
            <a:endParaRPr sz="2000">
              <a:latin typeface="Cambria"/>
              <a:cs typeface="Cambria"/>
            </a:endParaRPr>
          </a:p>
          <a:p>
            <a:pPr marL="241300" algn="just">
              <a:lnSpc>
                <a:spcPct val="100000"/>
              </a:lnSpc>
              <a:spcBef>
                <a:spcPts val="705"/>
              </a:spcBef>
            </a:pPr>
            <a:r>
              <a:rPr sz="2000" dirty="0">
                <a:latin typeface="Cambria"/>
                <a:cs typeface="Cambria"/>
              </a:rPr>
              <a:t>accidentally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affect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report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printing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logic.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8950" y="1007932"/>
            <a:ext cx="9067800" cy="172783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255270" indent="-244475">
              <a:lnSpc>
                <a:spcPct val="100000"/>
              </a:lnSpc>
              <a:spcBef>
                <a:spcPts val="1310"/>
              </a:spcBef>
              <a:buSzPct val="95833"/>
              <a:buFont typeface="Wingdings"/>
              <a:buChar char=""/>
              <a:tabLst>
                <a:tab pos="255270" algn="l"/>
              </a:tabLst>
            </a:pPr>
            <a:r>
              <a:rPr sz="2400" b="1" spc="80" dirty="0">
                <a:solidFill>
                  <a:srgbClr val="FF0000"/>
                </a:solidFill>
                <a:latin typeface="Times New Roman"/>
                <a:cs typeface="Times New Roman"/>
              </a:rPr>
              <a:t>Coincidental</a:t>
            </a:r>
            <a:r>
              <a:rPr sz="24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05" dirty="0">
                <a:solidFill>
                  <a:srgbClr val="FF0000"/>
                </a:solidFill>
                <a:latin typeface="Times New Roman"/>
                <a:cs typeface="Times New Roman"/>
              </a:rPr>
              <a:t>Cohesion</a:t>
            </a:r>
            <a:r>
              <a:rPr sz="24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60" dirty="0">
                <a:solidFill>
                  <a:srgbClr val="FF0000"/>
                </a:solidFill>
                <a:latin typeface="Times New Roman"/>
                <a:cs typeface="Times New Roman"/>
              </a:rPr>
              <a:t>(Lowest,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65" dirty="0">
                <a:solidFill>
                  <a:srgbClr val="FF0000"/>
                </a:solidFill>
                <a:latin typeface="Times New Roman"/>
                <a:cs typeface="Times New Roman"/>
              </a:rPr>
              <a:t>Undesirable)</a:t>
            </a:r>
            <a:endParaRPr sz="2400">
              <a:latin typeface="Times New Roman"/>
              <a:cs typeface="Times New Roman"/>
            </a:endParaRPr>
          </a:p>
          <a:p>
            <a:pPr marL="699135" marR="2212340" lvl="1" indent="-229235">
              <a:lnSpc>
                <a:spcPct val="140800"/>
              </a:lnSpc>
              <a:spcBef>
                <a:spcPts val="75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dirty="0">
                <a:latin typeface="Cambria"/>
                <a:cs typeface="Cambria"/>
              </a:rPr>
              <a:t>Functions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elements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FF0000"/>
                </a:solidFill>
                <a:latin typeface="Cambria"/>
                <a:cs typeface="Cambria"/>
              </a:rPr>
              <a:t>grouped</a:t>
            </a:r>
            <a:r>
              <a:rPr sz="2000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together</a:t>
            </a:r>
            <a:r>
              <a:rPr sz="2000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FF0000"/>
                </a:solidFill>
                <a:latin typeface="Cambria"/>
                <a:cs typeface="Cambria"/>
              </a:rPr>
              <a:t>randomly </a:t>
            </a:r>
            <a:r>
              <a:rPr sz="2000" dirty="0">
                <a:latin typeface="Cambria"/>
                <a:cs typeface="Cambria"/>
              </a:rPr>
              <a:t>without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FF0000"/>
                </a:solidFill>
                <a:latin typeface="Cambria"/>
                <a:cs typeface="Cambria"/>
              </a:rPr>
              <a:t>any</a:t>
            </a:r>
            <a:r>
              <a:rPr sz="2000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FF0000"/>
                </a:solidFill>
                <a:latin typeface="Cambria"/>
                <a:cs typeface="Cambria"/>
              </a:rPr>
              <a:t>meaningful</a:t>
            </a:r>
            <a:r>
              <a:rPr sz="200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relationship</a:t>
            </a:r>
            <a:endParaRPr sz="20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90"/>
              </a:spcBef>
            </a:pPr>
            <a:r>
              <a:rPr sz="1400" dirty="0">
                <a:latin typeface="Cambria"/>
                <a:cs typeface="Cambria"/>
              </a:rPr>
              <a:t>def</a:t>
            </a:r>
            <a:r>
              <a:rPr sz="1400" spc="12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random_module():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33690" y="2712084"/>
            <a:ext cx="3198495" cy="6718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114"/>
              </a:spcBef>
              <a:tabLst>
                <a:tab pos="1214120" algn="l"/>
              </a:tabLst>
            </a:pPr>
            <a:r>
              <a:rPr sz="1400" dirty="0">
                <a:latin typeface="Cambria"/>
                <a:cs typeface="Cambria"/>
              </a:rPr>
              <a:t>print_report()</a:t>
            </a:r>
            <a:r>
              <a:rPr sz="1400" spc="434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#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Task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1:</a:t>
            </a:r>
            <a:r>
              <a:rPr sz="1400" spc="2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Print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report </a:t>
            </a:r>
            <a:r>
              <a:rPr sz="1400" dirty="0">
                <a:latin typeface="Cambria"/>
                <a:cs typeface="Cambria"/>
              </a:rPr>
              <a:t>clear_screen()</a:t>
            </a:r>
            <a:r>
              <a:rPr sz="1400" spc="4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#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Task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2:</a:t>
            </a:r>
            <a:r>
              <a:rPr sz="1400" spc="2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Clear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the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screen play_music()</a:t>
            </a:r>
            <a:r>
              <a:rPr sz="1400" dirty="0">
                <a:latin typeface="Cambria"/>
                <a:cs typeface="Cambria"/>
              </a:rPr>
              <a:t>	#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Task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-45" dirty="0">
                <a:latin typeface="Cambria"/>
                <a:cs typeface="Cambria"/>
              </a:rPr>
              <a:t>3:</a:t>
            </a:r>
            <a:r>
              <a:rPr sz="1400" spc="20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Play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music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80" dirty="0"/>
              <a:t>6.</a:t>
            </a:r>
            <a:r>
              <a:rPr sz="3200" spc="220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50" dirty="0"/>
              <a:t>Cohesion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46467" y="2395918"/>
            <a:ext cx="6406515" cy="3449954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241300" algn="just">
              <a:lnSpc>
                <a:spcPct val="100000"/>
              </a:lnSpc>
              <a:spcBef>
                <a:spcPts val="1075"/>
              </a:spcBef>
            </a:pP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external</a:t>
            </a:r>
            <a:r>
              <a:rPr sz="200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control</a:t>
            </a:r>
            <a:r>
              <a:rPr sz="200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(e.g.,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parameters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flags).</a:t>
            </a:r>
            <a:endParaRPr sz="2000">
              <a:latin typeface="Cambria"/>
              <a:cs typeface="Cambria"/>
            </a:endParaRPr>
          </a:p>
          <a:p>
            <a:pPr marL="241300" marR="8890" indent="-229235" algn="just">
              <a:lnSpc>
                <a:spcPct val="139200"/>
              </a:lnSpc>
              <a:spcBef>
                <a:spcPts val="3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325" dirty="0">
                <a:latin typeface="Cambria"/>
                <a:cs typeface="Cambria"/>
              </a:rPr>
              <a:t>A </a:t>
            </a:r>
            <a:r>
              <a:rPr sz="2000" spc="55" dirty="0">
                <a:latin typeface="Cambria"/>
                <a:cs typeface="Cambria"/>
              </a:rPr>
              <a:t>module</a:t>
            </a:r>
            <a:r>
              <a:rPr sz="2000" spc="3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that</a:t>
            </a:r>
            <a:r>
              <a:rPr sz="2000" spc="315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handles</a:t>
            </a:r>
            <a:r>
              <a:rPr sz="2000" spc="3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all</a:t>
            </a:r>
            <a:r>
              <a:rPr sz="2000" spc="3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output</a:t>
            </a:r>
            <a:r>
              <a:rPr sz="2000" spc="3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operations</a:t>
            </a:r>
            <a:r>
              <a:rPr sz="2000" dirty="0">
                <a:latin typeface="Cambria"/>
                <a:cs typeface="Cambria"/>
              </a:rPr>
              <a:t>,</a:t>
            </a:r>
            <a:r>
              <a:rPr sz="2000" spc="3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such</a:t>
            </a:r>
            <a:r>
              <a:rPr sz="2000" spc="35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as </a:t>
            </a:r>
            <a:r>
              <a:rPr sz="2000" dirty="0">
                <a:latin typeface="Cambria"/>
                <a:cs typeface="Cambria"/>
              </a:rPr>
              <a:t>printing</a:t>
            </a:r>
            <a:r>
              <a:rPr sz="2000" spc="2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2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screen,</a:t>
            </a:r>
            <a:r>
              <a:rPr sz="2000" spc="2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sending</a:t>
            </a:r>
            <a:r>
              <a:rPr sz="2000" spc="2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2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printer,</a:t>
            </a:r>
            <a:r>
              <a:rPr sz="2000" spc="2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writing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file.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specific</a:t>
            </a:r>
            <a:r>
              <a:rPr sz="20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action</a:t>
            </a:r>
            <a:r>
              <a:rPr sz="2000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depends</a:t>
            </a:r>
            <a:r>
              <a:rPr sz="2000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FF0000"/>
                </a:solidFill>
                <a:latin typeface="Cambria"/>
                <a:cs typeface="Cambria"/>
              </a:rPr>
              <a:t>on</a:t>
            </a:r>
            <a:r>
              <a:rPr sz="20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00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FF0000"/>
                </a:solidFill>
                <a:latin typeface="Cambria"/>
                <a:cs typeface="Cambria"/>
              </a:rPr>
              <a:t>input</a:t>
            </a:r>
            <a:r>
              <a:rPr sz="2000" spc="40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241300" marR="5080" indent="-229235" algn="just">
              <a:lnSpc>
                <a:spcPct val="140800"/>
              </a:lnSpc>
              <a:spcBef>
                <a:spcPts val="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Cambria"/>
                <a:cs typeface="Cambria"/>
              </a:rPr>
              <a:t>Issue</a:t>
            </a:r>
            <a:r>
              <a:rPr sz="2000" spc="7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80" dirty="0">
                <a:latin typeface="Cambria"/>
                <a:cs typeface="Cambria"/>
              </a:rPr>
              <a:t>  </a:t>
            </a:r>
            <a:r>
              <a:rPr sz="2000" spc="55" dirty="0">
                <a:latin typeface="Cambria"/>
                <a:cs typeface="Cambria"/>
              </a:rPr>
              <a:t>While</a:t>
            </a:r>
            <a:r>
              <a:rPr sz="2000" spc="7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9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functions</a:t>
            </a:r>
            <a:r>
              <a:rPr sz="2000" spc="7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are</a:t>
            </a:r>
            <a:r>
              <a:rPr sz="2000" spc="7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logically</a:t>
            </a:r>
            <a:r>
              <a:rPr sz="2000" spc="8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similar</a:t>
            </a:r>
            <a:r>
              <a:rPr sz="2000" spc="70" dirty="0">
                <a:latin typeface="Cambria"/>
                <a:cs typeface="Cambria"/>
              </a:rPr>
              <a:t>  </a:t>
            </a:r>
            <a:r>
              <a:rPr sz="2000" spc="-20" dirty="0">
                <a:latin typeface="Cambria"/>
                <a:cs typeface="Cambria"/>
              </a:rPr>
              <a:t>(all </a:t>
            </a:r>
            <a:r>
              <a:rPr sz="2000" dirty="0">
                <a:latin typeface="Cambria"/>
                <a:cs typeface="Cambria"/>
              </a:rPr>
              <a:t>related</a:t>
            </a:r>
            <a:r>
              <a:rPr sz="2000" spc="3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3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output),</a:t>
            </a:r>
            <a:r>
              <a:rPr sz="2000" spc="3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395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module's</a:t>
            </a:r>
            <a:r>
              <a:rPr sz="2000" spc="3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behavior</a:t>
            </a:r>
            <a:r>
              <a:rPr sz="2000" spc="3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depends</a:t>
            </a:r>
            <a:r>
              <a:rPr sz="2000" spc="3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FF0000"/>
                </a:solidFill>
                <a:latin typeface="Cambria"/>
                <a:cs typeface="Cambria"/>
              </a:rPr>
              <a:t>on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external</a:t>
            </a:r>
            <a:r>
              <a:rPr sz="2000" spc="40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conditions</a:t>
            </a:r>
            <a:r>
              <a:rPr sz="2000" dirty="0">
                <a:latin typeface="Cambria"/>
                <a:cs typeface="Cambria"/>
              </a:rPr>
              <a:t>,</a:t>
            </a:r>
            <a:r>
              <a:rPr sz="2000" spc="4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which</a:t>
            </a:r>
            <a:r>
              <a:rPr sz="2000" spc="4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can</a:t>
            </a:r>
            <a:r>
              <a:rPr sz="2000" spc="4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make</a:t>
            </a:r>
            <a:r>
              <a:rPr sz="2000" spc="4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it</a:t>
            </a:r>
            <a:r>
              <a:rPr sz="2000" spc="415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harder</a:t>
            </a:r>
            <a:r>
              <a:rPr sz="2000" spc="3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000" spc="3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Cambria"/>
                <a:cs typeface="Cambria"/>
              </a:rPr>
              <a:t>test </a:t>
            </a:r>
            <a:r>
              <a:rPr sz="2000" spc="6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000" spc="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maintain</a:t>
            </a:r>
            <a:r>
              <a:rPr sz="2000" spc="-10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950" y="1007932"/>
            <a:ext cx="10840085" cy="176022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255270" indent="-244475">
              <a:lnSpc>
                <a:spcPct val="100000"/>
              </a:lnSpc>
              <a:spcBef>
                <a:spcPts val="1310"/>
              </a:spcBef>
              <a:buSzPct val="95833"/>
              <a:buFont typeface="Wingdings"/>
              <a:buChar char=""/>
              <a:tabLst>
                <a:tab pos="255270" algn="l"/>
              </a:tabLst>
            </a:pPr>
            <a:r>
              <a:rPr sz="240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Logical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Cohesion</a:t>
            </a:r>
            <a:endParaRPr sz="2400">
              <a:latin typeface="Times New Roman"/>
              <a:cs typeface="Times New Roman"/>
            </a:endParaRPr>
          </a:p>
          <a:p>
            <a:pPr marL="699135" marR="3980815" lvl="1" indent="-229235">
              <a:lnSpc>
                <a:spcPct val="140800"/>
              </a:lnSpc>
              <a:spcBef>
                <a:spcPts val="75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dirty="0">
                <a:latin typeface="Cambria"/>
                <a:cs typeface="Cambria"/>
              </a:rPr>
              <a:t>Functions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that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perform</a:t>
            </a:r>
            <a:r>
              <a:rPr sz="200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similar</a:t>
            </a:r>
            <a:r>
              <a:rPr sz="20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operations</a:t>
            </a:r>
            <a:r>
              <a:rPr sz="200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are</a:t>
            </a:r>
            <a:r>
              <a:rPr sz="2000" spc="1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FF0000"/>
                </a:solidFill>
                <a:latin typeface="Cambria"/>
                <a:cs typeface="Cambria"/>
              </a:rPr>
              <a:t>grouped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together</a:t>
            </a:r>
            <a:r>
              <a:rPr sz="2000" dirty="0">
                <a:latin typeface="Cambria"/>
                <a:cs typeface="Cambria"/>
              </a:rPr>
              <a:t>,</a:t>
            </a:r>
            <a:r>
              <a:rPr sz="2000" spc="409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but</a:t>
            </a:r>
            <a:r>
              <a:rPr sz="2000" spc="3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425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exact</a:t>
            </a:r>
            <a:r>
              <a:rPr sz="2000" spc="3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function</a:t>
            </a:r>
            <a:r>
              <a:rPr sz="2000" spc="4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executed</a:t>
            </a:r>
            <a:r>
              <a:rPr sz="2000" spc="4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depends</a:t>
            </a:r>
            <a:r>
              <a:rPr sz="2000" spc="4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FF0000"/>
                </a:solidFill>
                <a:latin typeface="Cambria"/>
                <a:cs typeface="Cambria"/>
              </a:rPr>
              <a:t>on</a:t>
            </a:r>
            <a:endParaRPr sz="20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865"/>
              </a:spcBef>
            </a:pPr>
            <a:r>
              <a:rPr sz="1550" spc="50" dirty="0">
                <a:latin typeface="Cambria"/>
                <a:cs typeface="Cambria"/>
              </a:rPr>
              <a:t>def</a:t>
            </a:r>
            <a:r>
              <a:rPr sz="1550" spc="95" dirty="0">
                <a:latin typeface="Cambria"/>
                <a:cs typeface="Cambria"/>
              </a:rPr>
              <a:t> </a:t>
            </a:r>
            <a:r>
              <a:rPr sz="1550" spc="60" dirty="0">
                <a:latin typeface="Cambria"/>
                <a:cs typeface="Cambria"/>
              </a:rPr>
              <a:t>output_handler(output_type,</a:t>
            </a:r>
            <a:r>
              <a:rPr sz="1550" spc="110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data):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9090" y="2740342"/>
            <a:ext cx="2651125" cy="148653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215900" marR="221615" indent="-203200">
              <a:lnSpc>
                <a:spcPct val="105000"/>
              </a:lnSpc>
              <a:spcBef>
                <a:spcPts val="35"/>
              </a:spcBef>
            </a:pPr>
            <a:r>
              <a:rPr sz="1550" dirty="0">
                <a:latin typeface="Cambria"/>
                <a:cs typeface="Cambria"/>
              </a:rPr>
              <a:t>if</a:t>
            </a:r>
            <a:r>
              <a:rPr sz="1550" spc="110" dirty="0">
                <a:latin typeface="Cambria"/>
                <a:cs typeface="Cambria"/>
              </a:rPr>
              <a:t> </a:t>
            </a:r>
            <a:r>
              <a:rPr sz="1550" spc="70" dirty="0">
                <a:latin typeface="Cambria"/>
                <a:cs typeface="Cambria"/>
              </a:rPr>
              <a:t>output_type</a:t>
            </a:r>
            <a:r>
              <a:rPr sz="1550" spc="65" dirty="0">
                <a:latin typeface="Cambria"/>
                <a:cs typeface="Cambria"/>
              </a:rPr>
              <a:t> </a:t>
            </a:r>
            <a:r>
              <a:rPr sz="1550" spc="90" dirty="0">
                <a:latin typeface="Cambria"/>
                <a:cs typeface="Cambria"/>
              </a:rPr>
              <a:t>==</a:t>
            </a:r>
            <a:r>
              <a:rPr sz="1550" spc="80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"screen": print_to_screen(data)</a:t>
            </a:r>
            <a:endParaRPr sz="1550">
              <a:latin typeface="Cambria"/>
              <a:cs typeface="Cambria"/>
            </a:endParaRPr>
          </a:p>
          <a:p>
            <a:pPr marL="215900" marR="5080" indent="-203200">
              <a:lnSpc>
                <a:spcPct val="100899"/>
              </a:lnSpc>
              <a:spcBef>
                <a:spcPts val="75"/>
              </a:spcBef>
            </a:pPr>
            <a:r>
              <a:rPr sz="1550" dirty="0">
                <a:latin typeface="Cambria"/>
                <a:cs typeface="Cambria"/>
              </a:rPr>
              <a:t>elif</a:t>
            </a:r>
            <a:r>
              <a:rPr sz="1550" spc="85" dirty="0">
                <a:latin typeface="Cambria"/>
                <a:cs typeface="Cambria"/>
              </a:rPr>
              <a:t> </a:t>
            </a:r>
            <a:r>
              <a:rPr sz="1550" spc="70" dirty="0">
                <a:latin typeface="Cambria"/>
                <a:cs typeface="Cambria"/>
              </a:rPr>
              <a:t>output_type</a:t>
            </a:r>
            <a:r>
              <a:rPr sz="1550" spc="100" dirty="0">
                <a:latin typeface="Cambria"/>
                <a:cs typeface="Cambria"/>
              </a:rPr>
              <a:t> </a:t>
            </a:r>
            <a:r>
              <a:rPr sz="1550" spc="95" dirty="0">
                <a:latin typeface="Cambria"/>
                <a:cs typeface="Cambria"/>
              </a:rPr>
              <a:t>==</a:t>
            </a:r>
            <a:r>
              <a:rPr sz="1550" spc="110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"printer": send_to_printer(data)</a:t>
            </a:r>
            <a:endParaRPr sz="1550">
              <a:latin typeface="Cambria"/>
              <a:cs typeface="Cambria"/>
            </a:endParaRPr>
          </a:p>
          <a:p>
            <a:pPr marL="215900" marR="347980" indent="-203200">
              <a:lnSpc>
                <a:spcPct val="100899"/>
              </a:lnSpc>
              <a:spcBef>
                <a:spcPts val="75"/>
              </a:spcBef>
            </a:pPr>
            <a:r>
              <a:rPr sz="1550" dirty="0">
                <a:latin typeface="Cambria"/>
                <a:cs typeface="Cambria"/>
              </a:rPr>
              <a:t>elif</a:t>
            </a:r>
            <a:r>
              <a:rPr sz="1550" spc="85" dirty="0">
                <a:latin typeface="Cambria"/>
                <a:cs typeface="Cambria"/>
              </a:rPr>
              <a:t> </a:t>
            </a:r>
            <a:r>
              <a:rPr sz="1550" spc="70" dirty="0">
                <a:latin typeface="Cambria"/>
                <a:cs typeface="Cambria"/>
              </a:rPr>
              <a:t>output_type</a:t>
            </a:r>
            <a:r>
              <a:rPr sz="1550" spc="100" dirty="0">
                <a:latin typeface="Cambria"/>
                <a:cs typeface="Cambria"/>
              </a:rPr>
              <a:t> </a:t>
            </a:r>
            <a:r>
              <a:rPr sz="1550" spc="95" dirty="0">
                <a:latin typeface="Cambria"/>
                <a:cs typeface="Cambria"/>
              </a:rPr>
              <a:t>==</a:t>
            </a:r>
            <a:r>
              <a:rPr sz="1550" spc="110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"file": write_to_file(data)</a:t>
            </a:r>
            <a:endParaRPr sz="15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80" dirty="0"/>
              <a:t>6.</a:t>
            </a:r>
            <a:r>
              <a:rPr sz="3200" spc="220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50" dirty="0"/>
              <a:t>Cohesion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98144"/>
            <a:ext cx="6856095" cy="154178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74320" indent="-264795">
              <a:lnSpc>
                <a:spcPct val="100000"/>
              </a:lnSpc>
              <a:spcBef>
                <a:spcPts val="1490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b="1" spc="65" dirty="0">
                <a:solidFill>
                  <a:srgbClr val="FF0000"/>
                </a:solidFill>
                <a:latin typeface="Times New Roman"/>
                <a:cs typeface="Times New Roman"/>
              </a:rPr>
              <a:t>Temporal</a:t>
            </a:r>
            <a:r>
              <a:rPr sz="2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05" dirty="0">
                <a:solidFill>
                  <a:srgbClr val="FF0000"/>
                </a:solidFill>
                <a:latin typeface="Times New Roman"/>
                <a:cs typeface="Times New Roman"/>
              </a:rPr>
              <a:t>Cohesion</a:t>
            </a:r>
            <a:endParaRPr sz="2600">
              <a:latin typeface="Times New Roman"/>
              <a:cs typeface="Times New Roman"/>
            </a:endParaRPr>
          </a:p>
          <a:p>
            <a:pPr marL="227965" marR="5080" lvl="1" indent="-227965" algn="r">
              <a:lnSpc>
                <a:spcPct val="100000"/>
              </a:lnSpc>
              <a:spcBef>
                <a:spcPts val="1160"/>
              </a:spcBef>
              <a:buSzPct val="95348"/>
              <a:buFont typeface="Wingdings"/>
              <a:buChar char=""/>
              <a:tabLst>
                <a:tab pos="227965" algn="l"/>
                <a:tab pos="1631314" algn="l"/>
                <a:tab pos="2203450" algn="l"/>
                <a:tab pos="3452495" algn="l"/>
                <a:tab pos="4669155" algn="l"/>
                <a:tab pos="5829300" algn="l"/>
              </a:tabLst>
            </a:pPr>
            <a:r>
              <a:rPr sz="2150" spc="-10" dirty="0">
                <a:latin typeface="Cambria"/>
                <a:cs typeface="Cambria"/>
              </a:rPr>
              <a:t>Functions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are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65" dirty="0">
                <a:latin typeface="Cambria"/>
                <a:cs typeface="Cambria"/>
              </a:rPr>
              <a:t>grouped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together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because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solidFill>
                  <a:srgbClr val="FF0000"/>
                </a:solidFill>
                <a:latin typeface="Cambria"/>
                <a:cs typeface="Cambria"/>
              </a:rPr>
              <a:t>they</a:t>
            </a:r>
            <a:endParaRPr sz="2150">
              <a:latin typeface="Cambria"/>
              <a:cs typeface="Cambria"/>
            </a:endParaRPr>
          </a:p>
          <a:p>
            <a:pPr marR="11430" algn="r">
              <a:lnSpc>
                <a:spcPct val="100000"/>
              </a:lnSpc>
              <a:spcBef>
                <a:spcPts val="1100"/>
              </a:spcBef>
              <a:tabLst>
                <a:tab pos="1056640" algn="l"/>
                <a:tab pos="2699385" algn="l"/>
                <a:tab pos="3449954" algn="l"/>
                <a:tab pos="3984625" algn="l"/>
                <a:tab pos="5085715" algn="l"/>
              </a:tabLst>
            </a:pP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execute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	at</a:t>
            </a:r>
            <a:r>
              <a:rPr sz="2150" spc="5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150" spc="6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spc="-20" dirty="0">
                <a:solidFill>
                  <a:srgbClr val="FF0000"/>
                </a:solidFill>
                <a:latin typeface="Cambria"/>
                <a:cs typeface="Cambria"/>
              </a:rPr>
              <a:t>same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150" spc="40" dirty="0">
                <a:solidFill>
                  <a:srgbClr val="FF0000"/>
                </a:solidFill>
                <a:latin typeface="Cambria"/>
                <a:cs typeface="Cambria"/>
              </a:rPr>
              <a:t>time</a:t>
            </a:r>
            <a:r>
              <a:rPr sz="2150" spc="40" dirty="0">
                <a:latin typeface="Cambria"/>
                <a:cs typeface="Cambria"/>
              </a:rPr>
              <a:t>,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not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because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0" dirty="0">
                <a:latin typeface="Cambria"/>
                <a:cs typeface="Cambria"/>
              </a:rPr>
              <a:t>they</a:t>
            </a:r>
            <a:r>
              <a:rPr sz="2150" spc="530" dirty="0">
                <a:latin typeface="Cambria"/>
                <a:cs typeface="Cambria"/>
              </a:rPr>
              <a:t> </a:t>
            </a:r>
            <a:r>
              <a:rPr sz="2150" spc="-25" dirty="0">
                <a:latin typeface="Cambria"/>
                <a:cs typeface="Cambria"/>
              </a:rPr>
              <a:t>are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6467" y="2523616"/>
            <a:ext cx="6396990" cy="237236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195"/>
              </a:spcBef>
            </a:pPr>
            <a:r>
              <a:rPr sz="2150" spc="50" dirty="0">
                <a:latin typeface="Cambria"/>
                <a:cs typeface="Cambria"/>
              </a:rPr>
              <a:t>functionally</a:t>
            </a:r>
            <a:r>
              <a:rPr sz="2150" spc="165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related..</a:t>
            </a:r>
            <a:endParaRPr sz="2150">
              <a:latin typeface="Cambria"/>
              <a:cs typeface="Cambria"/>
            </a:endParaRPr>
          </a:p>
          <a:p>
            <a:pPr marL="241300" marR="8255" indent="-229235">
              <a:lnSpc>
                <a:spcPct val="142600"/>
              </a:lnSpc>
              <a:buSzPct val="95348"/>
              <a:buFont typeface="Wingdings"/>
              <a:buChar char=""/>
              <a:tabLst>
                <a:tab pos="241300" algn="l"/>
                <a:tab pos="591820" algn="l"/>
                <a:tab pos="1677670" algn="l"/>
                <a:tab pos="2294255" algn="l"/>
                <a:tab pos="3616325" algn="l"/>
                <a:tab pos="4936490" algn="l"/>
                <a:tab pos="5805170" algn="l"/>
              </a:tabLst>
            </a:pPr>
            <a:r>
              <a:rPr sz="2150" spc="295" dirty="0">
                <a:latin typeface="Cambria"/>
                <a:cs typeface="Cambria"/>
              </a:rPr>
              <a:t>A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70" dirty="0">
                <a:latin typeface="Cambria"/>
                <a:cs typeface="Cambria"/>
              </a:rPr>
              <a:t>module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that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initializes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variables</a:t>
            </a:r>
            <a:r>
              <a:rPr sz="2150" spc="-10" dirty="0">
                <a:latin typeface="Cambria"/>
                <a:cs typeface="Cambria"/>
              </a:rPr>
              <a:t>,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opens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files, </a:t>
            </a:r>
            <a:r>
              <a:rPr sz="2150" spc="8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150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clears</a:t>
            </a:r>
            <a:r>
              <a:rPr sz="215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15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screen</a:t>
            </a:r>
            <a:r>
              <a:rPr sz="2150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at</a:t>
            </a:r>
            <a:r>
              <a:rPr sz="215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65" dirty="0">
                <a:solidFill>
                  <a:srgbClr val="FF0000"/>
                </a:solidFill>
                <a:latin typeface="Cambria"/>
                <a:cs typeface="Cambria"/>
              </a:rPr>
              <a:t>program</a:t>
            </a:r>
            <a:r>
              <a:rPr sz="2150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startup</a:t>
            </a:r>
            <a:r>
              <a:rPr sz="2150" spc="-10" dirty="0">
                <a:latin typeface="Cambria"/>
                <a:cs typeface="Cambria"/>
              </a:rPr>
              <a:t>.</a:t>
            </a:r>
            <a:endParaRPr sz="2150">
              <a:latin typeface="Cambria"/>
              <a:cs typeface="Cambria"/>
            </a:endParaRPr>
          </a:p>
          <a:p>
            <a:pPr marL="240029" marR="5080" indent="-227965">
              <a:lnSpc>
                <a:spcPct val="142600"/>
              </a:lnSpc>
              <a:spcBef>
                <a:spcPts val="75"/>
              </a:spcBef>
              <a:buSzPct val="95348"/>
              <a:buFont typeface="Wingdings"/>
              <a:buChar char=""/>
              <a:tabLst>
                <a:tab pos="241300" algn="l"/>
                <a:tab pos="1041400" algn="l"/>
                <a:tab pos="1301750" algn="l"/>
                <a:tab pos="2187575" algn="l"/>
                <a:tab pos="2978150" algn="l"/>
                <a:tab pos="4078604" algn="l"/>
                <a:tab pos="4474845" algn="l"/>
                <a:tab pos="5027295" algn="l"/>
                <a:tab pos="5832475" algn="l"/>
              </a:tabLst>
            </a:pPr>
            <a:r>
              <a:rPr sz="2150" spc="-10" dirty="0">
                <a:latin typeface="Cambria"/>
                <a:cs typeface="Cambria"/>
              </a:rPr>
              <a:t>Issue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50" dirty="0">
                <a:latin typeface="Cambria"/>
                <a:cs typeface="Cambria"/>
              </a:rPr>
              <a:t>-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These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tasks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5" dirty="0">
                <a:latin typeface="Cambria"/>
                <a:cs typeface="Cambria"/>
              </a:rPr>
              <a:t>happen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at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the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same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time 	</a:t>
            </a:r>
            <a:r>
              <a:rPr sz="2150" dirty="0">
                <a:latin typeface="Cambria"/>
                <a:cs typeface="Cambria"/>
              </a:rPr>
              <a:t>(program</a:t>
            </a:r>
            <a:r>
              <a:rPr sz="2150" spc="5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startup),</a:t>
            </a:r>
            <a:r>
              <a:rPr sz="2150" spc="6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but</a:t>
            </a:r>
            <a:r>
              <a:rPr sz="2150" spc="5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they</a:t>
            </a:r>
            <a:r>
              <a:rPr sz="2150" spc="4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are</a:t>
            </a:r>
            <a:r>
              <a:rPr sz="2150" spc="7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not</a:t>
            </a:r>
            <a:r>
              <a:rPr sz="2150" spc="60" dirty="0">
                <a:latin typeface="Cambria"/>
                <a:cs typeface="Cambria"/>
              </a:rPr>
              <a:t>  </a:t>
            </a:r>
            <a:r>
              <a:rPr sz="2150" spc="40" dirty="0">
                <a:latin typeface="Cambria"/>
                <a:cs typeface="Cambria"/>
              </a:rPr>
              <a:t>functionally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5385" y="4870322"/>
            <a:ext cx="1691639" cy="9601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2600"/>
              </a:lnSpc>
              <a:spcBef>
                <a:spcPts val="95"/>
              </a:spcBef>
              <a:tabLst>
                <a:tab pos="1299210" algn="l"/>
              </a:tabLst>
            </a:pPr>
            <a:r>
              <a:rPr sz="2150" spc="-10" dirty="0">
                <a:latin typeface="Cambria"/>
                <a:cs typeface="Cambria"/>
              </a:rPr>
              <a:t>related.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0" dirty="0">
                <a:latin typeface="Cambria"/>
                <a:cs typeface="Cambria"/>
              </a:rPr>
              <a:t>If 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inadvertently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5454" y="4870322"/>
            <a:ext cx="4336415" cy="9601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" marR="5080" indent="-40640">
              <a:lnSpc>
                <a:spcPct val="142600"/>
              </a:lnSpc>
              <a:spcBef>
                <a:spcPts val="95"/>
              </a:spcBef>
              <a:tabLst>
                <a:tab pos="815975" algn="l"/>
                <a:tab pos="929005" algn="l"/>
                <a:tab pos="1677035" algn="l"/>
                <a:tab pos="2321560" algn="l"/>
                <a:tab pos="3099435" algn="l"/>
                <a:tab pos="3216910" algn="l"/>
                <a:tab pos="3626485" algn="l"/>
              </a:tabLst>
            </a:pPr>
            <a:r>
              <a:rPr sz="2150" spc="-25" dirty="0">
                <a:solidFill>
                  <a:srgbClr val="FF0000"/>
                </a:solidFill>
                <a:latin typeface="Cambria"/>
                <a:cs typeface="Cambria"/>
              </a:rPr>
              <a:t>one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150" spc="-20" dirty="0">
                <a:solidFill>
                  <a:srgbClr val="FF0000"/>
                </a:solidFill>
                <a:latin typeface="Cambria"/>
                <a:cs typeface="Cambria"/>
              </a:rPr>
              <a:t>task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150" spc="45" dirty="0">
                <a:solidFill>
                  <a:srgbClr val="FF0000"/>
                </a:solidFill>
                <a:latin typeface="Cambria"/>
                <a:cs typeface="Cambria"/>
              </a:rPr>
              <a:t>changes</a:t>
            </a:r>
            <a:r>
              <a:rPr sz="2150" spc="45" dirty="0">
                <a:latin typeface="Cambria"/>
                <a:cs typeface="Cambria"/>
              </a:rPr>
              <a:t>,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solidFill>
                  <a:srgbClr val="FF0000"/>
                </a:solidFill>
                <a:latin typeface="Cambria"/>
                <a:cs typeface="Cambria"/>
              </a:rPr>
              <a:t>it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150" spc="50" dirty="0">
                <a:solidFill>
                  <a:srgbClr val="FF0000"/>
                </a:solidFill>
                <a:latin typeface="Cambria"/>
                <a:cs typeface="Cambria"/>
              </a:rPr>
              <a:t>could 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affect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		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unrelated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tasks</a:t>
            </a:r>
            <a:r>
              <a:rPr sz="2150" spc="-10" dirty="0">
                <a:latin typeface="Cambria"/>
                <a:cs typeface="Cambria"/>
              </a:rPr>
              <a:t>,</a:t>
            </a:r>
            <a:r>
              <a:rPr sz="2150" dirty="0">
                <a:latin typeface="Cambria"/>
                <a:cs typeface="Cambria"/>
              </a:rPr>
              <a:t>		</a:t>
            </a:r>
            <a:r>
              <a:rPr sz="2150" spc="50" dirty="0">
                <a:solidFill>
                  <a:srgbClr val="FF0000"/>
                </a:solidFill>
                <a:latin typeface="Cambria"/>
                <a:cs typeface="Cambria"/>
              </a:rPr>
              <a:t>reducing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5385" y="5949950"/>
            <a:ext cx="1980564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35" dirty="0">
                <a:solidFill>
                  <a:srgbClr val="FF0000"/>
                </a:solidFill>
                <a:latin typeface="Cambria"/>
                <a:cs typeface="Cambria"/>
              </a:rPr>
              <a:t>maintainability</a:t>
            </a:r>
            <a:r>
              <a:rPr sz="2150" spc="35" dirty="0">
                <a:latin typeface="Cambria"/>
                <a:cs typeface="Cambria"/>
              </a:rPr>
              <a:t>.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55508" y="2501836"/>
            <a:ext cx="3797935" cy="752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900" marR="5080" indent="-203835">
              <a:lnSpc>
                <a:spcPct val="101000"/>
              </a:lnSpc>
              <a:spcBef>
                <a:spcPts val="105"/>
              </a:spcBef>
            </a:pPr>
            <a:r>
              <a:rPr sz="1550" spc="50" dirty="0">
                <a:latin typeface="Cambria"/>
                <a:cs typeface="Cambria"/>
              </a:rPr>
              <a:t>def</a:t>
            </a:r>
            <a:r>
              <a:rPr sz="1550" spc="75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startup_module():</a:t>
            </a:r>
            <a:r>
              <a:rPr sz="1550" spc="500" dirty="0">
                <a:latin typeface="Cambria"/>
                <a:cs typeface="Cambria"/>
              </a:rPr>
              <a:t>   </a:t>
            </a:r>
            <a:r>
              <a:rPr sz="1550" dirty="0">
                <a:latin typeface="Cambria"/>
                <a:cs typeface="Cambria"/>
              </a:rPr>
              <a:t>initialize_variables()</a:t>
            </a:r>
            <a:r>
              <a:rPr sz="1550" spc="235" dirty="0">
                <a:latin typeface="Cambria"/>
                <a:cs typeface="Cambria"/>
              </a:rPr>
              <a:t>  </a:t>
            </a:r>
            <a:r>
              <a:rPr sz="1550" dirty="0">
                <a:latin typeface="Cambria"/>
                <a:cs typeface="Cambria"/>
              </a:rPr>
              <a:t>#</a:t>
            </a:r>
            <a:r>
              <a:rPr sz="1550" spc="21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Task</a:t>
            </a:r>
            <a:r>
              <a:rPr sz="1550" spc="21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1:</a:t>
            </a:r>
            <a:r>
              <a:rPr sz="1550" spc="260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Initialize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10" dirty="0">
                <a:latin typeface="Cambria"/>
                <a:cs typeface="Cambria"/>
              </a:rPr>
              <a:t>variables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21420" y="3236277"/>
            <a:ext cx="13785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Cambria"/>
                <a:cs typeface="Cambria"/>
              </a:rPr>
              <a:t>#</a:t>
            </a:r>
            <a:r>
              <a:rPr sz="1550" spc="9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Task</a:t>
            </a:r>
            <a:r>
              <a:rPr sz="1550" spc="10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2:</a:t>
            </a:r>
            <a:r>
              <a:rPr sz="1550" spc="65" dirty="0">
                <a:latin typeface="Cambria"/>
                <a:cs typeface="Cambria"/>
              </a:rPr>
              <a:t> </a:t>
            </a:r>
            <a:r>
              <a:rPr sz="1550" spc="75" dirty="0">
                <a:latin typeface="Cambria"/>
                <a:cs typeface="Cambria"/>
              </a:rPr>
              <a:t>Open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10438" y="3722687"/>
            <a:ext cx="169672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Cambria"/>
                <a:cs typeface="Cambria"/>
              </a:rPr>
              <a:t>#</a:t>
            </a:r>
            <a:r>
              <a:rPr sz="1550" spc="8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Task</a:t>
            </a:r>
            <a:r>
              <a:rPr sz="1550" spc="8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3:</a:t>
            </a:r>
            <a:r>
              <a:rPr sz="1550" spc="35" dirty="0">
                <a:latin typeface="Cambria"/>
                <a:cs typeface="Cambria"/>
              </a:rPr>
              <a:t> </a:t>
            </a:r>
            <a:r>
              <a:rPr sz="1550" spc="60" dirty="0">
                <a:latin typeface="Cambria"/>
                <a:cs typeface="Cambria"/>
              </a:rPr>
              <a:t>Clear</a:t>
            </a:r>
            <a:r>
              <a:rPr sz="1550" spc="114" dirty="0">
                <a:latin typeface="Cambria"/>
                <a:cs typeface="Cambria"/>
              </a:rPr>
              <a:t> </a:t>
            </a:r>
            <a:r>
              <a:rPr sz="1550" spc="-25" dirty="0">
                <a:latin typeface="Cambria"/>
                <a:cs typeface="Cambria"/>
              </a:rPr>
              <a:t>the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55508" y="3236277"/>
            <a:ext cx="1463675" cy="9906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154940" indent="203200">
              <a:lnSpc>
                <a:spcPct val="100899"/>
              </a:lnSpc>
              <a:spcBef>
                <a:spcPts val="110"/>
              </a:spcBef>
            </a:pPr>
            <a:r>
              <a:rPr sz="1550" spc="-10" dirty="0">
                <a:latin typeface="Cambria"/>
                <a:cs typeface="Cambria"/>
              </a:rPr>
              <a:t>open_files() </a:t>
            </a:r>
            <a:r>
              <a:rPr sz="1550" dirty="0">
                <a:latin typeface="Cambria"/>
                <a:cs typeface="Cambria"/>
              </a:rPr>
              <a:t>necessary</a:t>
            </a:r>
            <a:r>
              <a:rPr sz="1550" spc="340" dirty="0">
                <a:latin typeface="Cambria"/>
                <a:cs typeface="Cambria"/>
              </a:rPr>
              <a:t> </a:t>
            </a:r>
            <a:r>
              <a:rPr sz="1550" spc="-20" dirty="0">
                <a:latin typeface="Cambria"/>
                <a:cs typeface="Cambria"/>
              </a:rPr>
              <a:t>files</a:t>
            </a:r>
            <a:endParaRPr sz="1550">
              <a:latin typeface="Cambria"/>
              <a:cs typeface="Cambria"/>
            </a:endParaRPr>
          </a:p>
          <a:p>
            <a:pPr marL="12700" marR="5080" indent="203200">
              <a:lnSpc>
                <a:spcPct val="100899"/>
              </a:lnSpc>
              <a:spcBef>
                <a:spcPts val="75"/>
              </a:spcBef>
            </a:pPr>
            <a:r>
              <a:rPr sz="1550" spc="-10" dirty="0">
                <a:latin typeface="Cambria"/>
                <a:cs typeface="Cambria"/>
              </a:rPr>
              <a:t>clear_screen() screen</a:t>
            </a:r>
            <a:endParaRPr sz="15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80" dirty="0"/>
              <a:t>6.</a:t>
            </a:r>
            <a:r>
              <a:rPr sz="3200" spc="220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50" dirty="0"/>
              <a:t>Cohesion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0242"/>
            <a:ext cx="6849745" cy="1159510"/>
          </a:xfrm>
          <a:prstGeom prst="rect">
            <a:avLst/>
          </a:prstGeom>
        </p:spPr>
        <p:txBody>
          <a:bodyPr vert="horz" wrap="square" lIns="0" tIns="235585" rIns="0" bIns="0" rtlCol="0">
            <a:spAutoFit/>
          </a:bodyPr>
          <a:lstStyle/>
          <a:p>
            <a:pPr marL="274320" indent="-264795">
              <a:lnSpc>
                <a:spcPct val="100000"/>
              </a:lnSpc>
              <a:spcBef>
                <a:spcPts val="185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b="1" spc="90" dirty="0">
                <a:solidFill>
                  <a:srgbClr val="FF0000"/>
                </a:solidFill>
                <a:latin typeface="Times New Roman"/>
                <a:cs typeface="Times New Roman"/>
              </a:rPr>
              <a:t>Communication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05" dirty="0">
                <a:solidFill>
                  <a:srgbClr val="FF0000"/>
                </a:solidFill>
                <a:latin typeface="Times New Roman"/>
                <a:cs typeface="Times New Roman"/>
              </a:rPr>
              <a:t>Cohesion</a:t>
            </a:r>
            <a:endParaRPr sz="26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1465"/>
              </a:spcBef>
              <a:buSzPct val="95348"/>
              <a:buFont typeface="Wingdings"/>
              <a:buChar char=""/>
              <a:tabLst>
                <a:tab pos="697865" algn="l"/>
                <a:tab pos="2093595" algn="l"/>
                <a:tab pos="3202940" algn="l"/>
                <a:tab pos="3697604" algn="l"/>
                <a:tab pos="4263390" algn="l"/>
                <a:tab pos="5081270" algn="l"/>
                <a:tab pos="5803265" algn="l"/>
                <a:tab pos="6456045" algn="l"/>
              </a:tabLst>
            </a:pPr>
            <a:r>
              <a:rPr sz="2150" spc="-10" dirty="0">
                <a:latin typeface="Cambria"/>
                <a:cs typeface="Cambria"/>
              </a:rPr>
              <a:t>Functions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operate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150" spc="35" dirty="0">
                <a:solidFill>
                  <a:srgbClr val="FF0000"/>
                </a:solidFill>
                <a:latin typeface="Cambria"/>
                <a:cs typeface="Cambria"/>
              </a:rPr>
              <a:t>on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150" spc="-2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150" spc="-20" dirty="0">
                <a:solidFill>
                  <a:srgbClr val="FF0000"/>
                </a:solidFill>
                <a:latin typeface="Cambria"/>
                <a:cs typeface="Cambria"/>
              </a:rPr>
              <a:t>same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150" spc="-2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150" spc="60" dirty="0">
                <a:latin typeface="Cambria"/>
                <a:cs typeface="Cambria"/>
              </a:rPr>
              <a:t>and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are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6467" y="2113597"/>
            <a:ext cx="6406515" cy="2038350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495"/>
              </a:spcBef>
            </a:pPr>
            <a:r>
              <a:rPr sz="2150" spc="75" dirty="0">
                <a:latin typeface="Cambria"/>
                <a:cs typeface="Cambria"/>
              </a:rPr>
              <a:t>grouped</a:t>
            </a:r>
            <a:r>
              <a:rPr sz="2150" spc="18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into</a:t>
            </a:r>
            <a:r>
              <a:rPr sz="2150" spc="14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135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module</a:t>
            </a:r>
            <a:endParaRPr sz="2150">
              <a:latin typeface="Cambria"/>
              <a:cs typeface="Cambria"/>
            </a:endParaRPr>
          </a:p>
          <a:p>
            <a:pPr marL="240029" marR="5080" indent="-227965">
              <a:lnSpc>
                <a:spcPct val="151400"/>
              </a:lnSpc>
              <a:spcBef>
                <a:spcPts val="70"/>
              </a:spcBef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spc="345" dirty="0">
                <a:latin typeface="Cambria"/>
                <a:cs typeface="Cambria"/>
              </a:rPr>
              <a:t>A</a:t>
            </a:r>
            <a:r>
              <a:rPr sz="2150" spc="280" dirty="0">
                <a:latin typeface="Cambria"/>
                <a:cs typeface="Cambria"/>
              </a:rPr>
              <a:t> </a:t>
            </a:r>
            <a:r>
              <a:rPr sz="2150" spc="80" dirty="0">
                <a:latin typeface="Cambria"/>
                <a:cs typeface="Cambria"/>
              </a:rPr>
              <a:t>module</a:t>
            </a:r>
            <a:r>
              <a:rPr sz="2150" spc="29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that</a:t>
            </a:r>
            <a:r>
              <a:rPr sz="2150" spc="290" dirty="0"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retrieves</a:t>
            </a:r>
            <a:r>
              <a:rPr sz="2150" spc="2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temperature</a:t>
            </a:r>
            <a:r>
              <a:rPr sz="2150" spc="2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60" dirty="0">
                <a:solidFill>
                  <a:srgbClr val="FF0000"/>
                </a:solidFill>
                <a:latin typeface="Cambria"/>
                <a:cs typeface="Cambria"/>
              </a:rPr>
              <a:t>data,</a:t>
            </a:r>
            <a:r>
              <a:rPr sz="2150" spc="2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60" dirty="0">
                <a:solidFill>
                  <a:srgbClr val="FF0000"/>
                </a:solidFill>
                <a:latin typeface="Cambria"/>
                <a:cs typeface="Cambria"/>
              </a:rPr>
              <a:t>logs</a:t>
            </a:r>
            <a:r>
              <a:rPr sz="2150" spc="2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-25" dirty="0">
                <a:solidFill>
                  <a:srgbClr val="FF0000"/>
                </a:solidFill>
                <a:latin typeface="Cambria"/>
                <a:cs typeface="Cambria"/>
              </a:rPr>
              <a:t>it 	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15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15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50" dirty="0">
                <a:solidFill>
                  <a:srgbClr val="FF0000"/>
                </a:solidFill>
                <a:latin typeface="Cambria"/>
                <a:cs typeface="Cambria"/>
              </a:rPr>
              <a:t>file,</a:t>
            </a:r>
            <a:r>
              <a:rPr sz="215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8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15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60" dirty="0">
                <a:solidFill>
                  <a:srgbClr val="FF0000"/>
                </a:solidFill>
                <a:latin typeface="Cambria"/>
                <a:cs typeface="Cambria"/>
              </a:rPr>
              <a:t>displays</a:t>
            </a:r>
            <a:r>
              <a:rPr sz="2150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it</a:t>
            </a:r>
            <a:r>
              <a:rPr sz="215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60" dirty="0">
                <a:solidFill>
                  <a:srgbClr val="FF0000"/>
                </a:solidFill>
                <a:latin typeface="Cambria"/>
                <a:cs typeface="Cambria"/>
              </a:rPr>
              <a:t>on</a:t>
            </a:r>
            <a:r>
              <a:rPr sz="215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15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screen</a:t>
            </a:r>
            <a:r>
              <a:rPr sz="2150" spc="-10" dirty="0">
                <a:latin typeface="Cambria"/>
                <a:cs typeface="Cambria"/>
              </a:rPr>
              <a:t>.</a:t>
            </a:r>
            <a:endParaRPr sz="215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400"/>
              </a:spcBef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dirty="0">
                <a:latin typeface="Cambria"/>
                <a:cs typeface="Cambria"/>
              </a:rPr>
              <a:t>Merits</a:t>
            </a:r>
            <a:r>
              <a:rPr sz="2150" spc="35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-</a:t>
            </a:r>
            <a:r>
              <a:rPr sz="2150" spc="33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335" dirty="0">
                <a:latin typeface="Cambria"/>
                <a:cs typeface="Cambria"/>
              </a:rPr>
              <a:t> </a:t>
            </a:r>
            <a:r>
              <a:rPr sz="2150" spc="80" dirty="0">
                <a:latin typeface="Cambria"/>
                <a:cs typeface="Cambria"/>
              </a:rPr>
              <a:t>module</a:t>
            </a:r>
            <a:r>
              <a:rPr sz="2150" spc="33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is</a:t>
            </a:r>
            <a:r>
              <a:rPr sz="2150" spc="28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more</a:t>
            </a:r>
            <a:r>
              <a:rPr sz="2150" spc="29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cohesive</a:t>
            </a:r>
            <a:r>
              <a:rPr sz="2150" spc="29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because</a:t>
            </a:r>
            <a:r>
              <a:rPr sz="2150" spc="340" dirty="0">
                <a:latin typeface="Cambria"/>
                <a:cs typeface="Cambria"/>
              </a:rPr>
              <a:t> </a:t>
            </a:r>
            <a:r>
              <a:rPr sz="2150" spc="-25" dirty="0">
                <a:latin typeface="Cambria"/>
                <a:cs typeface="Cambria"/>
              </a:rPr>
              <a:t>all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5385" y="4126293"/>
            <a:ext cx="6168390" cy="20377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153300"/>
              </a:lnSpc>
              <a:spcBef>
                <a:spcPts val="120"/>
              </a:spcBef>
            </a:pPr>
            <a:r>
              <a:rPr sz="2150" spc="45" dirty="0">
                <a:solidFill>
                  <a:srgbClr val="FF0000"/>
                </a:solidFill>
                <a:latin typeface="Cambria"/>
                <a:cs typeface="Cambria"/>
              </a:rPr>
              <a:t>functions</a:t>
            </a:r>
            <a:r>
              <a:rPr sz="2150" spc="405" dirty="0">
                <a:solidFill>
                  <a:srgbClr val="FF0000"/>
                </a:solidFill>
                <a:latin typeface="Cambria"/>
                <a:cs typeface="Cambria"/>
              </a:rPr>
              <a:t>  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operate</a:t>
            </a:r>
            <a:r>
              <a:rPr sz="2150" spc="405" dirty="0">
                <a:solidFill>
                  <a:srgbClr val="FF0000"/>
                </a:solidFill>
                <a:latin typeface="Cambria"/>
                <a:cs typeface="Cambria"/>
              </a:rPr>
              <a:t>    </a:t>
            </a:r>
            <a:r>
              <a:rPr sz="2150" spc="60" dirty="0">
                <a:solidFill>
                  <a:srgbClr val="FF0000"/>
                </a:solidFill>
                <a:latin typeface="Cambria"/>
                <a:cs typeface="Cambria"/>
              </a:rPr>
              <a:t>on</a:t>
            </a:r>
            <a:r>
              <a:rPr sz="2150" spc="409" dirty="0">
                <a:solidFill>
                  <a:srgbClr val="FF0000"/>
                </a:solidFill>
                <a:latin typeface="Cambria"/>
                <a:cs typeface="Cambria"/>
              </a:rPr>
              <a:t>  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150" spc="400" dirty="0">
                <a:solidFill>
                  <a:srgbClr val="FF0000"/>
                </a:solidFill>
                <a:latin typeface="Cambria"/>
                <a:cs typeface="Cambria"/>
              </a:rPr>
              <a:t>  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same</a:t>
            </a:r>
            <a:r>
              <a:rPr sz="2150" spc="409" dirty="0">
                <a:solidFill>
                  <a:srgbClr val="FF0000"/>
                </a:solidFill>
                <a:latin typeface="Cambria"/>
                <a:cs typeface="Cambria"/>
              </a:rPr>
              <a:t>    </a:t>
            </a:r>
            <a:r>
              <a:rPr sz="2150" spc="-20" dirty="0">
                <a:solidFill>
                  <a:srgbClr val="FF0000"/>
                </a:solidFill>
                <a:latin typeface="Cambria"/>
                <a:cs typeface="Cambria"/>
              </a:rPr>
              <a:t>data </a:t>
            </a:r>
            <a:r>
              <a:rPr sz="2150" dirty="0">
                <a:latin typeface="Cambria"/>
                <a:cs typeface="Cambria"/>
              </a:rPr>
              <a:t>(temperature).</a:t>
            </a:r>
            <a:r>
              <a:rPr sz="2150" spc="160" dirty="0">
                <a:latin typeface="Cambria"/>
                <a:cs typeface="Cambria"/>
              </a:rPr>
              <a:t>  </a:t>
            </a:r>
            <a:r>
              <a:rPr sz="2150" spc="90" dirty="0">
                <a:latin typeface="Cambria"/>
                <a:cs typeface="Cambria"/>
              </a:rPr>
              <a:t>However,</a:t>
            </a:r>
            <a:r>
              <a:rPr sz="2150" spc="17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45" dirty="0">
                <a:latin typeface="Cambria"/>
                <a:cs typeface="Cambria"/>
              </a:rPr>
              <a:t>  </a:t>
            </a:r>
            <a:r>
              <a:rPr sz="2150" spc="50" dirty="0">
                <a:solidFill>
                  <a:srgbClr val="FF0000"/>
                </a:solidFill>
                <a:latin typeface="Cambria"/>
                <a:cs typeface="Cambria"/>
              </a:rPr>
              <a:t>functions</a:t>
            </a:r>
            <a:r>
              <a:rPr sz="2150" spc="14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are</a:t>
            </a:r>
            <a:r>
              <a:rPr sz="2150" spc="17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still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tied</a:t>
            </a:r>
            <a:r>
              <a:rPr sz="215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together</a:t>
            </a:r>
            <a:r>
              <a:rPr sz="2150" spc="2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100" dirty="0">
                <a:solidFill>
                  <a:srgbClr val="FF0000"/>
                </a:solidFill>
                <a:latin typeface="Cambria"/>
                <a:cs typeface="Cambria"/>
              </a:rPr>
              <a:t>due</a:t>
            </a:r>
            <a:r>
              <a:rPr sz="215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150" spc="1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shared</a:t>
            </a:r>
            <a:r>
              <a:rPr sz="215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65" dirty="0">
                <a:solidFill>
                  <a:srgbClr val="FF0000"/>
                </a:solidFill>
                <a:latin typeface="Cambria"/>
                <a:cs typeface="Cambria"/>
              </a:rPr>
              <a:t>dat</a:t>
            </a:r>
            <a:r>
              <a:rPr sz="2150" spc="65" dirty="0">
                <a:latin typeface="Cambria"/>
                <a:cs typeface="Cambria"/>
              </a:rPr>
              <a:t>a,</a:t>
            </a:r>
            <a:r>
              <a:rPr sz="2150" spc="195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which</a:t>
            </a:r>
            <a:r>
              <a:rPr sz="2150" spc="22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can</a:t>
            </a:r>
            <a:r>
              <a:rPr sz="2150" spc="200" dirty="0">
                <a:latin typeface="Cambria"/>
                <a:cs typeface="Cambria"/>
              </a:rPr>
              <a:t> </a:t>
            </a:r>
            <a:r>
              <a:rPr sz="2150" spc="45" dirty="0">
                <a:latin typeface="Cambria"/>
                <a:cs typeface="Cambria"/>
              </a:rPr>
              <a:t>make </a:t>
            </a:r>
            <a:r>
              <a:rPr sz="2150" dirty="0">
                <a:latin typeface="Cambria"/>
                <a:cs typeface="Cambria"/>
              </a:rPr>
              <a:t>it</a:t>
            </a:r>
            <a:r>
              <a:rPr sz="2150" spc="80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slightly</a:t>
            </a:r>
            <a:r>
              <a:rPr sz="2150" spc="140" dirty="0"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harder</a:t>
            </a:r>
            <a:r>
              <a:rPr sz="2150" spc="1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15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90" dirty="0">
                <a:solidFill>
                  <a:srgbClr val="FF0000"/>
                </a:solidFill>
                <a:latin typeface="Cambria"/>
                <a:cs typeface="Cambria"/>
              </a:rPr>
              <a:t>modify</a:t>
            </a:r>
            <a:r>
              <a:rPr sz="2150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80" dirty="0">
                <a:solidFill>
                  <a:srgbClr val="FF0000"/>
                </a:solidFill>
                <a:latin typeface="Cambria"/>
                <a:cs typeface="Cambria"/>
              </a:rPr>
              <a:t>individual</a:t>
            </a:r>
            <a:r>
              <a:rPr sz="2150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parts</a:t>
            </a:r>
            <a:r>
              <a:rPr sz="2150" spc="-10" dirty="0">
                <a:latin typeface="Cambria"/>
                <a:cs typeface="Cambria"/>
              </a:rPr>
              <a:t>.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35160" y="2740342"/>
            <a:ext cx="8274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Cambria"/>
                <a:cs typeface="Cambria"/>
              </a:rPr>
              <a:t>#</a:t>
            </a:r>
            <a:r>
              <a:rPr sz="1550" spc="12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Task</a:t>
            </a:r>
            <a:r>
              <a:rPr sz="1550" spc="130" dirty="0">
                <a:latin typeface="Cambria"/>
                <a:cs typeface="Cambria"/>
              </a:rPr>
              <a:t> </a:t>
            </a:r>
            <a:r>
              <a:rPr sz="1550" spc="-35" dirty="0">
                <a:latin typeface="Cambria"/>
                <a:cs typeface="Cambria"/>
              </a:rPr>
              <a:t>1: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73447" y="3236277"/>
            <a:ext cx="820419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Cambria"/>
                <a:cs typeface="Cambria"/>
              </a:rPr>
              <a:t>#</a:t>
            </a:r>
            <a:r>
              <a:rPr sz="1550" spc="13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Task</a:t>
            </a:r>
            <a:r>
              <a:rPr sz="1550" spc="135" dirty="0">
                <a:latin typeface="Cambria"/>
                <a:cs typeface="Cambria"/>
              </a:rPr>
              <a:t> </a:t>
            </a:r>
            <a:r>
              <a:rPr sz="1550" spc="-25" dirty="0">
                <a:latin typeface="Cambria"/>
                <a:cs typeface="Cambria"/>
              </a:rPr>
              <a:t>2: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55508" y="2501836"/>
            <a:ext cx="2543810" cy="1238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900" marR="5080" indent="-203835">
              <a:lnSpc>
                <a:spcPct val="101000"/>
              </a:lnSpc>
              <a:spcBef>
                <a:spcPts val="105"/>
              </a:spcBef>
            </a:pPr>
            <a:r>
              <a:rPr sz="1550" spc="50" dirty="0">
                <a:latin typeface="Cambria"/>
                <a:cs typeface="Cambria"/>
              </a:rPr>
              <a:t>def</a:t>
            </a:r>
            <a:r>
              <a:rPr sz="1550" spc="75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temperature_module(): </a:t>
            </a:r>
            <a:r>
              <a:rPr sz="1550" dirty="0">
                <a:latin typeface="Cambria"/>
                <a:cs typeface="Cambria"/>
              </a:rPr>
              <a:t>temp</a:t>
            </a:r>
            <a:r>
              <a:rPr sz="1550" spc="145" dirty="0">
                <a:latin typeface="Cambria"/>
                <a:cs typeface="Cambria"/>
              </a:rPr>
              <a:t> </a:t>
            </a:r>
            <a:r>
              <a:rPr sz="1550" spc="85" dirty="0">
                <a:latin typeface="Cambria"/>
                <a:cs typeface="Cambria"/>
              </a:rPr>
              <a:t>=</a:t>
            </a:r>
            <a:r>
              <a:rPr sz="1550" spc="200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get_temperature()</a:t>
            </a:r>
            <a:endParaRPr sz="1550">
              <a:latin typeface="Cambria"/>
              <a:cs typeface="Cambria"/>
            </a:endParaRPr>
          </a:p>
          <a:p>
            <a:pPr marL="215900" marR="221615" indent="-203835">
              <a:lnSpc>
                <a:spcPct val="104900"/>
              </a:lnSpc>
              <a:spcBef>
                <a:spcPts val="5"/>
              </a:spcBef>
            </a:pPr>
            <a:r>
              <a:rPr sz="1550" dirty="0">
                <a:latin typeface="Cambria"/>
                <a:cs typeface="Cambria"/>
              </a:rPr>
              <a:t>Retrieve</a:t>
            </a:r>
            <a:r>
              <a:rPr sz="1550" spc="345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temperature log_temperature(temp)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550" spc="105" dirty="0">
                <a:latin typeface="Cambria"/>
                <a:cs typeface="Cambria"/>
              </a:rPr>
              <a:t>Log</a:t>
            </a:r>
            <a:r>
              <a:rPr sz="1550" spc="14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temperature</a:t>
            </a:r>
            <a:r>
              <a:rPr sz="1550" spc="21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to</a:t>
            </a:r>
            <a:r>
              <a:rPr sz="1550" spc="16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a</a:t>
            </a:r>
            <a:r>
              <a:rPr sz="1550" spc="165" dirty="0">
                <a:latin typeface="Cambria"/>
                <a:cs typeface="Cambria"/>
              </a:rPr>
              <a:t> </a:t>
            </a:r>
            <a:r>
              <a:rPr sz="1550" spc="-20" dirty="0">
                <a:latin typeface="Cambria"/>
                <a:cs typeface="Cambria"/>
              </a:rPr>
              <a:t>file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55508" y="3722687"/>
            <a:ext cx="3816350" cy="504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203200">
              <a:lnSpc>
                <a:spcPct val="100899"/>
              </a:lnSpc>
              <a:spcBef>
                <a:spcPts val="110"/>
              </a:spcBef>
              <a:tabLst>
                <a:tab pos="2999740" algn="l"/>
              </a:tabLst>
            </a:pPr>
            <a:r>
              <a:rPr sz="1550" spc="-10" dirty="0">
                <a:latin typeface="Cambria"/>
                <a:cs typeface="Cambria"/>
              </a:rPr>
              <a:t>display_temperature(temp)</a:t>
            </a:r>
            <a:r>
              <a:rPr sz="1550" dirty="0">
                <a:latin typeface="Cambria"/>
                <a:cs typeface="Cambria"/>
              </a:rPr>
              <a:t>	#</a:t>
            </a:r>
            <a:r>
              <a:rPr sz="1550" spc="16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Task</a:t>
            </a:r>
            <a:r>
              <a:rPr sz="1550" spc="90" dirty="0">
                <a:latin typeface="Cambria"/>
                <a:cs typeface="Cambria"/>
              </a:rPr>
              <a:t> </a:t>
            </a:r>
            <a:r>
              <a:rPr sz="1550" spc="-25" dirty="0">
                <a:latin typeface="Cambria"/>
                <a:cs typeface="Cambria"/>
              </a:rPr>
              <a:t>3: </a:t>
            </a:r>
            <a:r>
              <a:rPr sz="1550" spc="65" dirty="0">
                <a:latin typeface="Cambria"/>
                <a:cs typeface="Cambria"/>
              </a:rPr>
              <a:t>Display</a:t>
            </a:r>
            <a:r>
              <a:rPr sz="1550" spc="27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temperature</a:t>
            </a:r>
            <a:r>
              <a:rPr sz="1550" spc="23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on</a:t>
            </a:r>
            <a:r>
              <a:rPr sz="1550" spc="22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the</a:t>
            </a:r>
            <a:r>
              <a:rPr sz="1550" spc="145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screen</a:t>
            </a:r>
            <a:endParaRPr sz="15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80" dirty="0"/>
              <a:t>6.</a:t>
            </a:r>
            <a:r>
              <a:rPr sz="3200" spc="220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50" dirty="0"/>
              <a:t>Cohesion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95130"/>
            <a:ext cx="6832600" cy="1096645"/>
          </a:xfrm>
          <a:prstGeom prst="rect">
            <a:avLst/>
          </a:prstGeom>
        </p:spPr>
        <p:txBody>
          <a:bodyPr vert="horz" wrap="square" lIns="0" tIns="208280" rIns="0" bIns="0" rtlCol="0">
            <a:spAutoFit/>
          </a:bodyPr>
          <a:lstStyle/>
          <a:p>
            <a:pPr marL="255270" indent="-244475">
              <a:lnSpc>
                <a:spcPct val="100000"/>
              </a:lnSpc>
              <a:spcBef>
                <a:spcPts val="1640"/>
              </a:spcBef>
              <a:buSzPct val="95833"/>
              <a:buFont typeface="Wingdings"/>
              <a:buChar char=""/>
              <a:tabLst>
                <a:tab pos="255270" algn="l"/>
              </a:tabLst>
            </a:pPr>
            <a:r>
              <a:rPr sz="24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Functional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05" dirty="0">
                <a:solidFill>
                  <a:srgbClr val="FF0000"/>
                </a:solidFill>
                <a:latin typeface="Times New Roman"/>
                <a:cs typeface="Times New Roman"/>
              </a:rPr>
              <a:t>Cohesion</a:t>
            </a:r>
            <a:r>
              <a:rPr sz="2400" b="1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80" dirty="0">
                <a:solidFill>
                  <a:srgbClr val="FF0000"/>
                </a:solidFill>
                <a:latin typeface="Times New Roman"/>
                <a:cs typeface="Times New Roman"/>
              </a:rPr>
              <a:t>(Highest,</a:t>
            </a:r>
            <a:r>
              <a:rPr sz="2400" b="1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85" dirty="0">
                <a:solidFill>
                  <a:srgbClr val="FF0000"/>
                </a:solidFill>
                <a:latin typeface="Times New Roman"/>
                <a:cs typeface="Times New Roman"/>
              </a:rPr>
              <a:t>Most</a:t>
            </a:r>
            <a:r>
              <a:rPr sz="24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75" dirty="0">
                <a:solidFill>
                  <a:srgbClr val="FF0000"/>
                </a:solidFill>
                <a:latin typeface="Times New Roman"/>
                <a:cs typeface="Times New Roman"/>
              </a:rPr>
              <a:t>Desirable)</a:t>
            </a:r>
            <a:endParaRPr sz="24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25"/>
              </a:spcBef>
              <a:buSzPct val="95348"/>
              <a:buFont typeface="Wingdings"/>
              <a:buChar char=""/>
              <a:tabLst>
                <a:tab pos="698500" algn="l"/>
              </a:tabLst>
            </a:pPr>
            <a:r>
              <a:rPr sz="2150" dirty="0">
                <a:latin typeface="Cambria"/>
                <a:cs typeface="Cambria"/>
              </a:rPr>
              <a:t>The</a:t>
            </a:r>
            <a:r>
              <a:rPr sz="2150" spc="180" dirty="0">
                <a:latin typeface="Cambria"/>
                <a:cs typeface="Cambria"/>
              </a:rPr>
              <a:t> </a:t>
            </a:r>
            <a:r>
              <a:rPr sz="2150" spc="80" dirty="0">
                <a:latin typeface="Cambria"/>
                <a:cs typeface="Cambria"/>
              </a:rPr>
              <a:t>module</a:t>
            </a:r>
            <a:r>
              <a:rPr sz="2150" spc="190" dirty="0"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performs</a:t>
            </a:r>
            <a:r>
              <a:rPr sz="2150" spc="1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150" spc="1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55" dirty="0">
                <a:solidFill>
                  <a:srgbClr val="FF0000"/>
                </a:solidFill>
                <a:latin typeface="Cambria"/>
                <a:cs typeface="Cambria"/>
              </a:rPr>
              <a:t>single,</a:t>
            </a:r>
            <a:r>
              <a:rPr sz="2150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50" dirty="0">
                <a:solidFill>
                  <a:srgbClr val="FF0000"/>
                </a:solidFill>
                <a:latin typeface="Cambria"/>
                <a:cs typeface="Cambria"/>
              </a:rPr>
              <a:t>well-</a:t>
            </a:r>
            <a:r>
              <a:rPr sz="2150" spc="60" dirty="0">
                <a:solidFill>
                  <a:srgbClr val="FF0000"/>
                </a:solidFill>
                <a:latin typeface="Cambria"/>
                <a:cs typeface="Cambria"/>
              </a:rPr>
              <a:t>defined</a:t>
            </a:r>
            <a:r>
              <a:rPr sz="215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-20" dirty="0">
                <a:solidFill>
                  <a:srgbClr val="FF0000"/>
                </a:solidFill>
                <a:latin typeface="Cambria"/>
                <a:cs typeface="Cambria"/>
              </a:rPr>
              <a:t>task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6467" y="2065972"/>
            <a:ext cx="6399530" cy="3049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029" marR="7620" indent="-227965" algn="just">
              <a:lnSpc>
                <a:spcPct val="154300"/>
              </a:lnSpc>
              <a:spcBef>
                <a:spcPts val="90"/>
              </a:spcBef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spc="345" dirty="0">
                <a:latin typeface="Cambria"/>
                <a:cs typeface="Cambria"/>
              </a:rPr>
              <a:t>A</a:t>
            </a:r>
            <a:r>
              <a:rPr sz="2150" spc="415" dirty="0">
                <a:latin typeface="Cambria"/>
                <a:cs typeface="Cambria"/>
              </a:rPr>
              <a:t> </a:t>
            </a:r>
            <a:r>
              <a:rPr sz="2150" spc="80" dirty="0">
                <a:latin typeface="Cambria"/>
                <a:cs typeface="Cambria"/>
              </a:rPr>
              <a:t>module</a:t>
            </a:r>
            <a:r>
              <a:rPr sz="2150" spc="42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that</a:t>
            </a:r>
            <a:r>
              <a:rPr sz="2150" spc="434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calculates</a:t>
            </a:r>
            <a:r>
              <a:rPr sz="2150" spc="39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380" dirty="0">
                <a:latin typeface="Cambria"/>
                <a:cs typeface="Cambria"/>
              </a:rPr>
              <a:t> </a:t>
            </a:r>
            <a:r>
              <a:rPr sz="2150" spc="45" dirty="0">
                <a:latin typeface="Cambria"/>
                <a:cs typeface="Cambria"/>
              </a:rPr>
              <a:t>average</a:t>
            </a:r>
            <a:r>
              <a:rPr sz="2150" spc="415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of</a:t>
            </a:r>
            <a:r>
              <a:rPr sz="2150" spc="42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41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list</a:t>
            </a:r>
            <a:r>
              <a:rPr sz="2150" spc="375" dirty="0">
                <a:latin typeface="Cambria"/>
                <a:cs typeface="Cambria"/>
              </a:rPr>
              <a:t> </a:t>
            </a:r>
            <a:r>
              <a:rPr sz="2150" spc="45" dirty="0">
                <a:latin typeface="Cambria"/>
                <a:cs typeface="Cambria"/>
              </a:rPr>
              <a:t>of 	</a:t>
            </a:r>
            <a:r>
              <a:rPr sz="2150" spc="40" dirty="0">
                <a:latin typeface="Cambria"/>
                <a:cs typeface="Cambria"/>
              </a:rPr>
              <a:t>numbers.</a:t>
            </a:r>
            <a:endParaRPr sz="2150">
              <a:latin typeface="Cambria"/>
              <a:cs typeface="Cambria"/>
            </a:endParaRPr>
          </a:p>
          <a:p>
            <a:pPr marL="240029" marR="5080" indent="-227965" algn="just">
              <a:lnSpc>
                <a:spcPct val="153300"/>
              </a:lnSpc>
              <a:spcBef>
                <a:spcPts val="30"/>
              </a:spcBef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dirty="0">
                <a:latin typeface="Cambria"/>
                <a:cs typeface="Cambria"/>
              </a:rPr>
              <a:t>Merits</a:t>
            </a:r>
            <a:r>
              <a:rPr sz="2150" spc="509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-</a:t>
            </a:r>
            <a:r>
              <a:rPr sz="2150" spc="48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This</a:t>
            </a:r>
            <a:r>
              <a:rPr sz="2150" spc="445" dirty="0">
                <a:latin typeface="Cambria"/>
                <a:cs typeface="Cambria"/>
              </a:rPr>
              <a:t> </a:t>
            </a:r>
            <a:r>
              <a:rPr sz="2150" spc="80" dirty="0">
                <a:latin typeface="Cambria"/>
                <a:cs typeface="Cambria"/>
              </a:rPr>
              <a:t>module</a:t>
            </a:r>
            <a:r>
              <a:rPr sz="2150" spc="484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has</a:t>
            </a:r>
            <a:r>
              <a:rPr sz="2150" spc="455" dirty="0">
                <a:latin typeface="Cambria"/>
                <a:cs typeface="Cambria"/>
              </a:rPr>
              <a:t> </a:t>
            </a:r>
            <a:r>
              <a:rPr sz="2150" spc="85" dirty="0">
                <a:latin typeface="Cambria"/>
                <a:cs typeface="Cambria"/>
              </a:rPr>
              <a:t>high</a:t>
            </a:r>
            <a:r>
              <a:rPr sz="2150" spc="459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cohesion</a:t>
            </a:r>
            <a:r>
              <a:rPr sz="2150" spc="480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because 	</a:t>
            </a:r>
            <a:r>
              <a:rPr sz="2150" dirty="0">
                <a:latin typeface="Cambria"/>
                <a:cs typeface="Cambria"/>
              </a:rPr>
              <a:t>it</a:t>
            </a:r>
            <a:r>
              <a:rPr sz="2150" spc="10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focuses</a:t>
            </a:r>
            <a:r>
              <a:rPr sz="2150" spc="145" dirty="0">
                <a:latin typeface="Cambria"/>
                <a:cs typeface="Cambria"/>
              </a:rPr>
              <a:t>  </a:t>
            </a:r>
            <a:r>
              <a:rPr sz="2150" spc="60" dirty="0">
                <a:latin typeface="Cambria"/>
                <a:cs typeface="Cambria"/>
              </a:rPr>
              <a:t>on</a:t>
            </a:r>
            <a:r>
              <a:rPr sz="2150" spc="13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one</a:t>
            </a:r>
            <a:r>
              <a:rPr sz="2150" spc="14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responsibility:</a:t>
            </a:r>
            <a:r>
              <a:rPr sz="2150" spc="135" dirty="0">
                <a:latin typeface="Cambria"/>
                <a:cs typeface="Cambria"/>
              </a:rPr>
              <a:t>  </a:t>
            </a:r>
            <a:r>
              <a:rPr sz="2150" spc="45" dirty="0">
                <a:latin typeface="Cambria"/>
                <a:cs typeface="Cambria"/>
              </a:rPr>
              <a:t>calculating</a:t>
            </a:r>
            <a:r>
              <a:rPr sz="2150" spc="150" dirty="0">
                <a:latin typeface="Cambria"/>
                <a:cs typeface="Cambria"/>
              </a:rPr>
              <a:t>  </a:t>
            </a:r>
            <a:r>
              <a:rPr sz="2150" spc="-25" dirty="0">
                <a:latin typeface="Cambria"/>
                <a:cs typeface="Cambria"/>
              </a:rPr>
              <a:t>the 	</a:t>
            </a:r>
            <a:r>
              <a:rPr sz="2150" spc="55" dirty="0">
                <a:latin typeface="Cambria"/>
                <a:cs typeface="Cambria"/>
              </a:rPr>
              <a:t>average.</a:t>
            </a:r>
            <a:r>
              <a:rPr sz="2150" spc="509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It</a:t>
            </a:r>
            <a:r>
              <a:rPr sz="2150" spc="50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is</a:t>
            </a:r>
            <a:r>
              <a:rPr sz="2150" spc="48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easy</a:t>
            </a:r>
            <a:r>
              <a:rPr sz="2150" spc="3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to</a:t>
            </a:r>
            <a:r>
              <a:rPr sz="2150" spc="484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maintain,</a:t>
            </a:r>
            <a:r>
              <a:rPr sz="2150" spc="509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test,</a:t>
            </a:r>
            <a:r>
              <a:rPr sz="2150" spc="480" dirty="0">
                <a:latin typeface="Cambria"/>
                <a:cs typeface="Cambria"/>
              </a:rPr>
              <a:t> </a:t>
            </a:r>
            <a:r>
              <a:rPr sz="2150" spc="85" dirty="0">
                <a:latin typeface="Cambria"/>
                <a:cs typeface="Cambria"/>
              </a:rPr>
              <a:t>and</a:t>
            </a:r>
            <a:r>
              <a:rPr sz="2150" spc="509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extend 	</a:t>
            </a:r>
            <a:r>
              <a:rPr sz="2150" dirty="0">
                <a:latin typeface="Cambria"/>
                <a:cs typeface="Cambria"/>
              </a:rPr>
              <a:t>because</a:t>
            </a:r>
            <a:r>
              <a:rPr sz="2150" spc="20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it</a:t>
            </a:r>
            <a:r>
              <a:rPr sz="2150" spc="13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does</a:t>
            </a:r>
            <a:r>
              <a:rPr sz="2150" spc="20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one</a:t>
            </a:r>
            <a:r>
              <a:rPr sz="2150" spc="195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thing</a:t>
            </a:r>
            <a:r>
              <a:rPr sz="2150" spc="210" dirty="0">
                <a:latin typeface="Cambria"/>
                <a:cs typeface="Cambria"/>
              </a:rPr>
              <a:t> </a:t>
            </a:r>
            <a:r>
              <a:rPr sz="2150" spc="85" dirty="0">
                <a:latin typeface="Cambria"/>
                <a:cs typeface="Cambria"/>
              </a:rPr>
              <a:t>and</a:t>
            </a:r>
            <a:r>
              <a:rPr sz="2150" spc="17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does</a:t>
            </a:r>
            <a:r>
              <a:rPr sz="2150" spc="204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it</a:t>
            </a:r>
            <a:r>
              <a:rPr sz="2150" spc="135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well.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55508" y="2501836"/>
            <a:ext cx="2943860" cy="10007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900" marR="5080" indent="-203835">
              <a:lnSpc>
                <a:spcPct val="101000"/>
              </a:lnSpc>
              <a:spcBef>
                <a:spcPts val="105"/>
              </a:spcBef>
            </a:pPr>
            <a:r>
              <a:rPr sz="1550" spc="50" dirty="0">
                <a:latin typeface="Cambria"/>
                <a:cs typeface="Cambria"/>
              </a:rPr>
              <a:t>def</a:t>
            </a:r>
            <a:r>
              <a:rPr sz="1550" spc="75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calculate_average(numbers):</a:t>
            </a:r>
            <a:r>
              <a:rPr sz="1550" spc="50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total</a:t>
            </a:r>
            <a:r>
              <a:rPr sz="1550" spc="130" dirty="0">
                <a:latin typeface="Cambria"/>
                <a:cs typeface="Cambria"/>
              </a:rPr>
              <a:t> </a:t>
            </a:r>
            <a:r>
              <a:rPr sz="1550" spc="85" dirty="0">
                <a:latin typeface="Cambria"/>
                <a:cs typeface="Cambria"/>
              </a:rPr>
              <a:t>=</a:t>
            </a:r>
            <a:r>
              <a:rPr sz="1550" spc="90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sum(numbers)</a:t>
            </a:r>
            <a:endParaRPr sz="1550">
              <a:latin typeface="Cambria"/>
              <a:cs typeface="Cambria"/>
            </a:endParaRPr>
          </a:p>
          <a:p>
            <a:pPr marL="215900" marR="774700">
              <a:lnSpc>
                <a:spcPct val="104900"/>
              </a:lnSpc>
              <a:spcBef>
                <a:spcPts val="5"/>
              </a:spcBef>
            </a:pPr>
            <a:r>
              <a:rPr sz="1550" spc="50" dirty="0">
                <a:latin typeface="Cambria"/>
                <a:cs typeface="Cambria"/>
              </a:rPr>
              <a:t>count</a:t>
            </a:r>
            <a:r>
              <a:rPr sz="1550" spc="40" dirty="0">
                <a:latin typeface="Cambria"/>
                <a:cs typeface="Cambria"/>
              </a:rPr>
              <a:t> </a:t>
            </a:r>
            <a:r>
              <a:rPr sz="1550" spc="85" dirty="0">
                <a:latin typeface="Cambria"/>
                <a:cs typeface="Cambria"/>
              </a:rPr>
              <a:t>=</a:t>
            </a:r>
            <a:r>
              <a:rPr sz="1550" spc="80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len(numbers) </a:t>
            </a:r>
            <a:r>
              <a:rPr sz="1550" dirty="0">
                <a:latin typeface="Cambria"/>
                <a:cs typeface="Cambria"/>
              </a:rPr>
              <a:t>return</a:t>
            </a:r>
            <a:r>
              <a:rPr sz="1550" spc="15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total</a:t>
            </a:r>
            <a:r>
              <a:rPr sz="1550" spc="170" dirty="0">
                <a:latin typeface="Cambria"/>
                <a:cs typeface="Cambria"/>
              </a:rPr>
              <a:t> </a:t>
            </a:r>
            <a:r>
              <a:rPr sz="1550" spc="190" dirty="0">
                <a:latin typeface="Cambria"/>
                <a:cs typeface="Cambria"/>
              </a:rPr>
              <a:t>/</a:t>
            </a:r>
            <a:r>
              <a:rPr sz="1550" spc="114" dirty="0">
                <a:latin typeface="Cambria"/>
                <a:cs typeface="Cambria"/>
              </a:rPr>
              <a:t> </a:t>
            </a:r>
            <a:r>
              <a:rPr sz="1550" spc="30" dirty="0">
                <a:latin typeface="Cambria"/>
                <a:cs typeface="Cambria"/>
              </a:rPr>
              <a:t>count</a:t>
            </a:r>
            <a:endParaRPr sz="15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80" dirty="0"/>
              <a:t>6.</a:t>
            </a:r>
            <a:r>
              <a:rPr sz="3200" spc="220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50" dirty="0"/>
              <a:t>Cohesion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3225" y="1044575"/>
          <a:ext cx="11385550" cy="5144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420"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Types</a:t>
                      </a:r>
                      <a:r>
                        <a:rPr sz="2000" spc="14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6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sz="2000" spc="9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4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Cohesion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64722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Description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64722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4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Example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64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6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b="1" spc="60" dirty="0">
                          <a:latin typeface="Times New Roman"/>
                          <a:cs typeface="Times New Roman"/>
                        </a:rPr>
                        <a:t>Coincidental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73025">
                        <a:lnSpc>
                          <a:spcPct val="100000"/>
                        </a:lnSpc>
                        <a:spcBef>
                          <a:spcPts val="1100"/>
                        </a:spcBef>
                        <a:tabLst>
                          <a:tab pos="1265555" algn="l"/>
                          <a:tab pos="2522855" algn="l"/>
                          <a:tab pos="2954655" algn="l"/>
                        </a:tabLst>
                      </a:pPr>
                      <a:r>
                        <a:rPr sz="2000" spc="60" dirty="0">
                          <a:latin typeface="Cambria"/>
                          <a:cs typeface="Cambria"/>
                        </a:rPr>
                        <a:t>Random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grouping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unrelated functions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39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3025">
                        <a:lnSpc>
                          <a:spcPct val="100000"/>
                        </a:lnSpc>
                        <a:spcBef>
                          <a:spcPts val="1100"/>
                        </a:spcBef>
                        <a:tabLst>
                          <a:tab pos="1149350" algn="l"/>
                          <a:tab pos="1406525" algn="l"/>
                          <a:tab pos="2296160" algn="l"/>
                          <a:tab pos="3809365" algn="l"/>
                        </a:tabLst>
                      </a:pPr>
                      <a:r>
                        <a:rPr sz="2000" spc="-10" dirty="0">
                          <a:latin typeface="Cambria"/>
                          <a:cs typeface="Cambria"/>
                        </a:rPr>
                        <a:t>Printing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5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report,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clearing</a:t>
                      </a:r>
                      <a:r>
                        <a:rPr sz="2000" spc="16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screen, </a:t>
                      </a:r>
                      <a:r>
                        <a:rPr sz="2000" spc="65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55" dirty="0">
                          <a:latin typeface="Cambria"/>
                          <a:cs typeface="Cambria"/>
                        </a:rPr>
                        <a:t>playing</a:t>
                      </a:r>
                      <a:r>
                        <a:rPr sz="20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music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39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6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b="1" spc="35" dirty="0">
                          <a:latin typeface="Times New Roman"/>
                          <a:cs typeface="Times New Roman"/>
                        </a:rPr>
                        <a:t>Logical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75565">
                        <a:lnSpc>
                          <a:spcPct val="100000"/>
                        </a:lnSpc>
                        <a:spcBef>
                          <a:spcPts val="1110"/>
                        </a:spcBef>
                        <a:tabLst>
                          <a:tab pos="1487805" algn="l"/>
                          <a:tab pos="2003425" algn="l"/>
                          <a:tab pos="3256279" algn="l"/>
                        </a:tabLst>
                      </a:pPr>
                      <a:r>
                        <a:rPr sz="2000" spc="75" dirty="0">
                          <a:latin typeface="Cambria"/>
                          <a:cs typeface="Cambria"/>
                        </a:rPr>
                        <a:t>Grouping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logically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similar functions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175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2000" spc="90" dirty="0">
                          <a:latin typeface="Cambria"/>
                          <a:cs typeface="Cambria"/>
                        </a:rPr>
                        <a:t>Handling</a:t>
                      </a:r>
                      <a:r>
                        <a:rPr sz="2000" spc="2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all</a:t>
                      </a:r>
                      <a:r>
                        <a:rPr sz="2000" spc="3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output</a:t>
                      </a:r>
                      <a:r>
                        <a:rPr sz="2000" spc="3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operations</a:t>
                      </a:r>
                      <a:r>
                        <a:rPr sz="2000" spc="2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(screen,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printer,</a:t>
                      </a:r>
                      <a:r>
                        <a:rPr sz="20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file)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6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b="1" spc="45" dirty="0">
                          <a:latin typeface="Times New Roman"/>
                          <a:cs typeface="Times New Roman"/>
                        </a:rPr>
                        <a:t>Temporal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79375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2000" spc="85" dirty="0">
                          <a:latin typeface="Cambria"/>
                          <a:cs typeface="Cambria"/>
                        </a:rPr>
                        <a:t>Grouping</a:t>
                      </a:r>
                      <a:r>
                        <a:rPr sz="20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65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20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functions</a:t>
                      </a:r>
                      <a:r>
                        <a:rPr sz="20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that</a:t>
                      </a:r>
                      <a:r>
                        <a:rPr sz="20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execute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at</a:t>
                      </a:r>
                      <a:r>
                        <a:rPr sz="20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same</a:t>
                      </a:r>
                      <a:r>
                        <a:rPr sz="20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time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42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239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2000" spc="10" dirty="0">
                          <a:latin typeface="Cambria"/>
                          <a:cs typeface="Cambria"/>
                        </a:rPr>
                        <a:t>Initializing</a:t>
                      </a:r>
                      <a:r>
                        <a:rPr sz="2000" spc="2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0" dirty="0">
                          <a:latin typeface="Cambria"/>
                          <a:cs typeface="Cambria"/>
                        </a:rPr>
                        <a:t>variables,</a:t>
                      </a:r>
                      <a:r>
                        <a:rPr sz="2000" spc="3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45" dirty="0">
                          <a:latin typeface="Cambria"/>
                          <a:cs typeface="Cambria"/>
                        </a:rPr>
                        <a:t>opening</a:t>
                      </a:r>
                      <a:r>
                        <a:rPr sz="2000" spc="3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0" dirty="0">
                          <a:latin typeface="Cambria"/>
                          <a:cs typeface="Cambria"/>
                        </a:rPr>
                        <a:t>files,</a:t>
                      </a:r>
                      <a:r>
                        <a:rPr sz="2000" spc="2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and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clearing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screen</a:t>
                      </a:r>
                      <a:r>
                        <a:rPr sz="20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at</a:t>
                      </a:r>
                      <a:r>
                        <a:rPr sz="20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startup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42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56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60" dirty="0">
                          <a:latin typeface="Times New Roman"/>
                          <a:cs typeface="Times New Roman"/>
                        </a:rPr>
                        <a:t>Communication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000" spc="85" dirty="0">
                          <a:latin typeface="Cambria"/>
                          <a:cs typeface="Cambria"/>
                        </a:rPr>
                        <a:t>Grouping</a:t>
                      </a:r>
                      <a:r>
                        <a:rPr sz="2000" spc="1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65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20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functions</a:t>
                      </a:r>
                      <a:r>
                        <a:rPr sz="2000" spc="1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that</a:t>
                      </a:r>
                      <a:r>
                        <a:rPr sz="20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operate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6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2000" spc="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same</a:t>
                      </a:r>
                      <a:r>
                        <a:rPr sz="20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data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130"/>
                        </a:spcBef>
                        <a:tabLst>
                          <a:tab pos="1570990" algn="l"/>
                          <a:tab pos="2726055" algn="l"/>
                          <a:tab pos="3388360" algn="l"/>
                        </a:tabLst>
                      </a:pPr>
                      <a:r>
                        <a:rPr sz="2000" spc="-10" dirty="0">
                          <a:latin typeface="Cambria"/>
                          <a:cs typeface="Cambria"/>
                        </a:rPr>
                        <a:t>Retrieving,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60" dirty="0">
                          <a:latin typeface="Cambria"/>
                          <a:cs typeface="Cambria"/>
                        </a:rPr>
                        <a:t>logging,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50" dirty="0">
                          <a:latin typeface="Cambria"/>
                          <a:cs typeface="Cambria"/>
                        </a:rPr>
                        <a:t>displaying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Cambria"/>
                          <a:cs typeface="Cambria"/>
                        </a:rPr>
                        <a:t>temperature</a:t>
                      </a:r>
                      <a:r>
                        <a:rPr sz="20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data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56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45" dirty="0">
                          <a:latin typeface="Times New Roman"/>
                          <a:cs typeface="Times New Roman"/>
                        </a:rPr>
                        <a:t>Functional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77470">
                        <a:lnSpc>
                          <a:spcPct val="100000"/>
                        </a:lnSpc>
                        <a:spcBef>
                          <a:spcPts val="1140"/>
                        </a:spcBef>
                        <a:tabLst>
                          <a:tab pos="1128395" algn="l"/>
                          <a:tab pos="2309495" algn="l"/>
                          <a:tab pos="2588260" algn="l"/>
                          <a:tab pos="3472815" algn="l"/>
                        </a:tabLst>
                      </a:pPr>
                      <a:r>
                        <a:rPr sz="2000" spc="75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performs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5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single,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well-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defined</a:t>
                      </a:r>
                      <a:r>
                        <a:rPr sz="2000" spc="3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task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67310">
                        <a:lnSpc>
                          <a:spcPct val="100000"/>
                        </a:lnSpc>
                        <a:spcBef>
                          <a:spcPts val="1140"/>
                        </a:spcBef>
                        <a:tabLst>
                          <a:tab pos="1565910" algn="l"/>
                          <a:tab pos="2092960" algn="l"/>
                          <a:tab pos="3150870" algn="l"/>
                          <a:tab pos="3547745" algn="l"/>
                          <a:tab pos="3849370" algn="l"/>
                          <a:tab pos="4363720" algn="l"/>
                        </a:tabLst>
                      </a:pPr>
                      <a:r>
                        <a:rPr sz="2000" spc="50" dirty="0">
                          <a:latin typeface="Cambria"/>
                          <a:cs typeface="Cambria"/>
                        </a:rPr>
                        <a:t>Calculating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2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average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4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5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-20" dirty="0">
                          <a:latin typeface="Cambria"/>
                          <a:cs typeface="Cambria"/>
                        </a:rPr>
                        <a:t>list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000" spc="45" dirty="0">
                          <a:latin typeface="Cambria"/>
                          <a:cs typeface="Cambria"/>
                        </a:rPr>
                        <a:t>of </a:t>
                      </a:r>
                      <a:r>
                        <a:rPr sz="2000" spc="-10" dirty="0">
                          <a:latin typeface="Cambria"/>
                          <a:cs typeface="Cambria"/>
                        </a:rPr>
                        <a:t>numbers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80" dirty="0"/>
              <a:t>6.</a:t>
            </a:r>
            <a:r>
              <a:rPr sz="3200" spc="220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50" dirty="0"/>
              <a:t>Cohesion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11239500" cy="3987165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92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b="1" spc="120" dirty="0">
                <a:solidFill>
                  <a:srgbClr val="FF0000"/>
                </a:solidFill>
                <a:latin typeface="Times New Roman"/>
                <a:cs typeface="Times New Roman"/>
              </a:rPr>
              <a:t>Why</a:t>
            </a:r>
            <a:r>
              <a:rPr sz="275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1" spc="120" dirty="0">
                <a:solidFill>
                  <a:srgbClr val="FF0000"/>
                </a:solidFill>
                <a:latin typeface="Times New Roman"/>
                <a:cs typeface="Times New Roman"/>
              </a:rPr>
              <a:t>Higher</a:t>
            </a:r>
            <a:r>
              <a:rPr sz="2750" b="1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1" spc="150" dirty="0">
                <a:solidFill>
                  <a:srgbClr val="FF0000"/>
                </a:solidFill>
                <a:latin typeface="Times New Roman"/>
                <a:cs typeface="Times New Roman"/>
              </a:rPr>
              <a:t>Cohesion</a:t>
            </a:r>
            <a:r>
              <a:rPr sz="275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1" spc="175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75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1" spc="90" dirty="0">
                <a:solidFill>
                  <a:srgbClr val="FF0000"/>
                </a:solidFill>
                <a:latin typeface="Times New Roman"/>
                <a:cs typeface="Times New Roman"/>
              </a:rPr>
              <a:t>Desirable:</a:t>
            </a:r>
            <a:endParaRPr sz="2750">
              <a:latin typeface="Times New Roman"/>
              <a:cs typeface="Times New Roman"/>
            </a:endParaRPr>
          </a:p>
          <a:p>
            <a:pPr marL="712470" lvl="1" indent="-244475">
              <a:lnSpc>
                <a:spcPct val="100000"/>
              </a:lnSpc>
              <a:spcBef>
                <a:spcPts val="156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Easier</a:t>
            </a:r>
            <a:r>
              <a:rPr sz="24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40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FF0000"/>
                </a:solidFill>
                <a:latin typeface="Cambria"/>
                <a:cs typeface="Cambria"/>
              </a:rPr>
              <a:t>Maintain</a:t>
            </a:r>
            <a:r>
              <a:rPr sz="24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Modules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with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high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cohesion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easier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understand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and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spc="70" dirty="0">
                <a:latin typeface="Cambria"/>
                <a:cs typeface="Cambria"/>
              </a:rPr>
              <a:t>modify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because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they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focus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single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task.</a:t>
            </a:r>
            <a:endParaRPr sz="2400">
              <a:latin typeface="Cambria"/>
              <a:cs typeface="Cambria"/>
            </a:endParaRPr>
          </a:p>
          <a:p>
            <a:pPr marL="699135" marR="7620" lvl="1" indent="-231140">
              <a:lnSpc>
                <a:spcPct val="148600"/>
              </a:lnSpc>
              <a:spcBef>
                <a:spcPts val="75"/>
              </a:spcBef>
              <a:buSzPct val="95833"/>
              <a:buFont typeface="Wingdings"/>
              <a:buChar char=""/>
              <a:tabLst>
                <a:tab pos="699135" algn="l"/>
                <a:tab pos="712470" algn="l"/>
                <a:tab pos="1750060" algn="l"/>
                <a:tab pos="2230755" algn="l"/>
                <a:tab pos="3007360" algn="l"/>
                <a:tab pos="3297554" algn="l"/>
                <a:tab pos="4510405" algn="l"/>
                <a:tab pos="4942205" algn="l"/>
                <a:tab pos="6182360" algn="l"/>
                <a:tab pos="7458075" algn="l"/>
                <a:tab pos="8283575" algn="l"/>
                <a:tab pos="9539605" algn="l"/>
                <a:tab pos="10212705" algn="l"/>
                <a:tab pos="10579100" algn="l"/>
              </a:tabLst>
            </a:pP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	Easier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25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20" dirty="0">
                <a:solidFill>
                  <a:srgbClr val="FF0000"/>
                </a:solidFill>
                <a:latin typeface="Cambria"/>
                <a:cs typeface="Cambria"/>
              </a:rPr>
              <a:t>Test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: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Testing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simpler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because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each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50" dirty="0">
                <a:latin typeface="Cambria"/>
                <a:cs typeface="Cambria"/>
              </a:rPr>
              <a:t>module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has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clear responsibility.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  <a:tab pos="1668145" algn="l"/>
                <a:tab pos="2067560" algn="l"/>
                <a:tab pos="3362325" algn="l"/>
                <a:tab pos="4540250" algn="l"/>
                <a:tab pos="5250815" algn="l"/>
                <a:tab pos="6463665" algn="l"/>
                <a:tab pos="6884034" algn="l"/>
                <a:tab pos="8436610" algn="l"/>
                <a:tab pos="9627235" algn="l"/>
                <a:tab pos="10379710" algn="l"/>
                <a:tab pos="10729595" algn="l"/>
              </a:tabLst>
            </a:pPr>
            <a:r>
              <a:rPr sz="2400" spc="-10" dirty="0">
                <a:solidFill>
                  <a:srgbClr val="FF0000"/>
                </a:solidFill>
                <a:latin typeface="Cambria"/>
                <a:cs typeface="Cambria"/>
              </a:rPr>
              <a:t>Easier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25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Extend</a:t>
            </a:r>
            <a:r>
              <a:rPr sz="2400" spc="4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: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25" dirty="0">
                <a:latin typeface="Cambria"/>
                <a:cs typeface="Cambria"/>
              </a:rPr>
              <a:t>Adding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25" dirty="0">
                <a:latin typeface="Cambria"/>
                <a:cs typeface="Cambria"/>
              </a:rPr>
              <a:t>new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features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or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65" dirty="0">
                <a:latin typeface="Cambria"/>
                <a:cs typeface="Cambria"/>
              </a:rPr>
              <a:t>modifying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existing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ones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less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05"/>
              </a:spcBef>
            </a:pPr>
            <a:r>
              <a:rPr sz="2400" dirty="0">
                <a:latin typeface="Cambria"/>
                <a:cs typeface="Cambria"/>
              </a:rPr>
              <a:t>risky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because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modules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self-contained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focused.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80" dirty="0"/>
              <a:t>7.</a:t>
            </a:r>
            <a:r>
              <a:rPr sz="3200" spc="225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0" dirty="0"/>
              <a:t>Coupling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6960" cy="51669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37490">
              <a:lnSpc>
                <a:spcPct val="1548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  <a:tab pos="2001520" algn="l"/>
                <a:tab pos="3110230" algn="l"/>
                <a:tab pos="3638550" algn="l"/>
                <a:tab pos="4350385" algn="l"/>
                <a:tab pos="5635625" algn="l"/>
                <a:tab pos="6167755" algn="l"/>
                <a:tab pos="8315325" algn="l"/>
                <a:tab pos="9860915" algn="l"/>
              </a:tabLst>
            </a:pPr>
            <a:r>
              <a:rPr sz="2750" spc="130" dirty="0">
                <a:latin typeface="Cambria"/>
                <a:cs typeface="Cambria"/>
              </a:rPr>
              <a:t>Coupling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refers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to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the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1C05"/>
                </a:solidFill>
                <a:latin typeface="Cambria"/>
                <a:cs typeface="Cambria"/>
              </a:rPr>
              <a:t>degree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30" dirty="0">
                <a:solidFill>
                  <a:srgbClr val="FF1C05"/>
                </a:solidFill>
                <a:latin typeface="Cambria"/>
                <a:cs typeface="Cambria"/>
              </a:rPr>
              <a:t>of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dependency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1C05"/>
                </a:solidFill>
                <a:latin typeface="Cambria"/>
                <a:cs typeface="Cambria"/>
              </a:rPr>
              <a:t>between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35" dirty="0">
                <a:solidFill>
                  <a:srgbClr val="FF1C05"/>
                </a:solidFill>
                <a:latin typeface="Cambria"/>
                <a:cs typeface="Cambria"/>
              </a:rPr>
              <a:t>different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software</a:t>
            </a:r>
            <a:r>
              <a:rPr sz="2750" spc="229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80" dirty="0">
                <a:solidFill>
                  <a:srgbClr val="FF1C05"/>
                </a:solidFill>
                <a:latin typeface="Cambria"/>
                <a:cs typeface="Cambria"/>
              </a:rPr>
              <a:t>modules</a:t>
            </a:r>
            <a:r>
              <a:rPr sz="2750" spc="23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or</a:t>
            </a:r>
            <a:r>
              <a:rPr sz="2750" spc="22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components.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10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41300" marR="8890" indent="-237490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640" algn="l"/>
                <a:tab pos="1511300" algn="l"/>
                <a:tab pos="3100070" algn="l"/>
                <a:tab pos="3552190" algn="l"/>
                <a:tab pos="5179695" algn="l"/>
                <a:tab pos="6614795" algn="l"/>
                <a:tab pos="7031355" algn="l"/>
                <a:tab pos="8241030" algn="l"/>
                <a:tab pos="9803130" algn="l"/>
                <a:tab pos="10912475" algn="l"/>
              </a:tabLst>
            </a:pP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Lower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75" dirty="0">
                <a:solidFill>
                  <a:srgbClr val="FF1C05"/>
                </a:solidFill>
                <a:latin typeface="Cambria"/>
                <a:cs typeface="Cambria"/>
              </a:rPr>
              <a:t>coupling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25" dirty="0">
                <a:solidFill>
                  <a:srgbClr val="FF1C05"/>
                </a:solidFill>
                <a:latin typeface="Cambria"/>
                <a:cs typeface="Cambria"/>
              </a:rPr>
              <a:t>is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1C05"/>
                </a:solidFill>
                <a:latin typeface="Cambria"/>
                <a:cs typeface="Cambria"/>
              </a:rPr>
              <a:t>desirable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because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it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5" dirty="0">
                <a:latin typeface="Cambria"/>
                <a:cs typeface="Cambria"/>
              </a:rPr>
              <a:t>makes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software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easier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to </a:t>
            </a:r>
            <a:r>
              <a:rPr sz="2750" spc="114" dirty="0">
                <a:latin typeface="Cambria"/>
                <a:cs typeface="Cambria"/>
              </a:rPr>
              <a:t>modify,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test,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maintain.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80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41300" marR="11430" indent="-237490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005" algn="l"/>
                <a:tab pos="1228725" algn="l"/>
                <a:tab pos="2749550" algn="l"/>
                <a:tab pos="3965575" algn="l"/>
                <a:tab pos="4462145" algn="l"/>
                <a:tab pos="5873750" algn="l"/>
                <a:tab pos="6331585" algn="l"/>
                <a:tab pos="6680200" algn="l"/>
                <a:tab pos="8236584" algn="l"/>
                <a:tab pos="9466580" algn="l"/>
              </a:tabLst>
            </a:pPr>
            <a:r>
              <a:rPr sz="2750" spc="170" dirty="0">
                <a:latin typeface="Cambria"/>
                <a:cs typeface="Cambria"/>
              </a:rPr>
              <a:t>High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5" dirty="0">
                <a:latin typeface="Cambria"/>
                <a:cs typeface="Cambria"/>
              </a:rPr>
              <a:t>coupling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latin typeface="Cambria"/>
                <a:cs typeface="Cambria"/>
              </a:rPr>
              <a:t>should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be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90" dirty="0">
                <a:latin typeface="Cambria"/>
                <a:cs typeface="Cambria"/>
              </a:rPr>
              <a:t>avoided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as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it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increases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0" dirty="0">
                <a:latin typeface="Cambria"/>
                <a:cs typeface="Cambria"/>
              </a:rPr>
              <a:t>system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complexity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2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reduces</a:t>
            </a:r>
            <a:r>
              <a:rPr sz="2750" spc="26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flexibility.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80" dirty="0"/>
              <a:t>7.</a:t>
            </a:r>
            <a:r>
              <a:rPr sz="3200" spc="225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0" dirty="0"/>
              <a:t>Coupling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6960" cy="51669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48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  <a:tab pos="1912620" algn="l"/>
                <a:tab pos="2933065" algn="l"/>
                <a:tab pos="3373754" algn="l"/>
                <a:tab pos="3996690" algn="l"/>
                <a:tab pos="5193665" algn="l"/>
                <a:tab pos="5636895" algn="l"/>
                <a:tab pos="8403590" algn="l"/>
                <a:tab pos="9860915" algn="l"/>
              </a:tabLst>
            </a:pPr>
            <a:r>
              <a:rPr sz="2750" spc="130" dirty="0">
                <a:latin typeface="Cambria"/>
                <a:cs typeface="Cambria"/>
              </a:rPr>
              <a:t>	Coupling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refers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to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the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degree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3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35" dirty="0">
                <a:solidFill>
                  <a:srgbClr val="FF0000"/>
                </a:solidFill>
                <a:latin typeface="Cambria"/>
                <a:cs typeface="Cambria"/>
              </a:rPr>
              <a:t>interdependence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between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35" dirty="0">
                <a:solidFill>
                  <a:srgbClr val="FF0000"/>
                </a:solidFill>
                <a:latin typeface="Cambria"/>
                <a:cs typeface="Cambria"/>
              </a:rPr>
              <a:t>different </a:t>
            </a:r>
            <a:r>
              <a:rPr sz="2750" spc="80" dirty="0">
                <a:solidFill>
                  <a:srgbClr val="FF0000"/>
                </a:solidFill>
                <a:latin typeface="Cambria"/>
                <a:cs typeface="Cambria"/>
              </a:rPr>
              <a:t>modules</a:t>
            </a:r>
            <a:r>
              <a:rPr sz="275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750" spc="1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components</a:t>
            </a:r>
            <a:r>
              <a:rPr sz="2750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16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software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system.</a:t>
            </a:r>
            <a:endParaRPr sz="2750">
              <a:latin typeface="Cambria"/>
              <a:cs typeface="Cambria"/>
            </a:endParaRPr>
          </a:p>
          <a:p>
            <a:pPr marL="241300" marR="8890" indent="-229235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75" dirty="0">
                <a:latin typeface="Cambria"/>
                <a:cs typeface="Cambria"/>
              </a:rPr>
              <a:t>	In</a:t>
            </a:r>
            <a:r>
              <a:rPr sz="2750" spc="3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other</a:t>
            </a:r>
            <a:r>
              <a:rPr sz="2750" spc="405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words,</a:t>
            </a:r>
            <a:r>
              <a:rPr sz="2750" spc="41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it</a:t>
            </a:r>
            <a:r>
              <a:rPr sz="2750" spc="40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measures</a:t>
            </a:r>
            <a:r>
              <a:rPr sz="2750" spc="450" dirty="0">
                <a:latin typeface="Cambria"/>
                <a:cs typeface="Cambria"/>
              </a:rPr>
              <a:t> </a:t>
            </a:r>
            <a:r>
              <a:rPr sz="2750" spc="110" dirty="0">
                <a:solidFill>
                  <a:srgbClr val="FF0000"/>
                </a:solidFill>
                <a:latin typeface="Cambria"/>
                <a:cs typeface="Cambria"/>
              </a:rPr>
              <a:t>how</a:t>
            </a:r>
            <a:r>
              <a:rPr sz="2750" spc="4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closely</a:t>
            </a:r>
            <a:r>
              <a:rPr sz="2750" spc="4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connected</a:t>
            </a:r>
            <a:r>
              <a:rPr sz="2750" spc="4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one</a:t>
            </a:r>
            <a:r>
              <a:rPr sz="2750" spc="40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105" dirty="0">
                <a:solidFill>
                  <a:srgbClr val="FF0000"/>
                </a:solidFill>
                <a:latin typeface="Cambria"/>
                <a:cs typeface="Cambria"/>
              </a:rPr>
              <a:t>module</a:t>
            </a:r>
            <a:r>
              <a:rPr sz="2750" spc="3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2750" spc="40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25" dirty="0">
                <a:solidFill>
                  <a:srgbClr val="FF0000"/>
                </a:solidFill>
                <a:latin typeface="Cambria"/>
                <a:cs typeface="Cambria"/>
              </a:rPr>
              <a:t>to 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anothe</a:t>
            </a:r>
            <a:r>
              <a:rPr sz="2750" spc="-10" dirty="0">
                <a:latin typeface="Cambria"/>
                <a:cs typeface="Cambria"/>
              </a:rPr>
              <a:t>r.</a:t>
            </a:r>
            <a:endParaRPr sz="2750">
              <a:latin typeface="Cambria"/>
              <a:cs typeface="Cambria"/>
            </a:endParaRPr>
          </a:p>
          <a:p>
            <a:pPr marL="241300" marR="7620" indent="-229235">
              <a:lnSpc>
                <a:spcPct val="152400"/>
              </a:lnSpc>
              <a:spcBef>
                <a:spcPts val="5"/>
              </a:spcBef>
              <a:buSzPct val="96363"/>
              <a:buFont typeface="Wingdings"/>
              <a:buChar char=""/>
              <a:tabLst>
                <a:tab pos="241300" algn="l"/>
                <a:tab pos="294640" algn="l"/>
                <a:tab pos="1530350" algn="l"/>
                <a:tab pos="3139440" algn="l"/>
                <a:tab pos="3609975" algn="l"/>
                <a:tab pos="5257165" algn="l"/>
                <a:tab pos="6711950" algn="l"/>
                <a:tab pos="7147559" algn="l"/>
                <a:tab pos="8376920" algn="l"/>
                <a:tab pos="9086215" algn="l"/>
                <a:tab pos="10404475" algn="l"/>
              </a:tabLst>
            </a:pPr>
            <a:r>
              <a:rPr sz="2750" spc="60" dirty="0">
                <a:latin typeface="Cambria"/>
                <a:cs typeface="Cambria"/>
              </a:rPr>
              <a:t>	Lower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5" dirty="0">
                <a:latin typeface="Cambria"/>
                <a:cs typeface="Cambria"/>
              </a:rPr>
              <a:t>coupling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is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desirable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because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it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0" dirty="0">
                <a:latin typeface="Cambria"/>
                <a:cs typeface="Cambria"/>
              </a:rPr>
              <a:t>makes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the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0" dirty="0">
                <a:latin typeface="Cambria"/>
                <a:cs typeface="Cambria"/>
              </a:rPr>
              <a:t>system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0" dirty="0">
                <a:latin typeface="Cambria"/>
                <a:cs typeface="Cambria"/>
              </a:rPr>
              <a:t>more </a:t>
            </a:r>
            <a:r>
              <a:rPr sz="2750" spc="95" dirty="0">
                <a:solidFill>
                  <a:srgbClr val="FF0000"/>
                </a:solidFill>
                <a:latin typeface="Cambria"/>
                <a:cs typeface="Cambria"/>
              </a:rPr>
              <a:t>modular,</a:t>
            </a:r>
            <a:r>
              <a:rPr sz="275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easier</a:t>
            </a:r>
            <a:r>
              <a:rPr sz="2750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750" spc="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75" dirty="0">
                <a:solidFill>
                  <a:srgbClr val="FF0000"/>
                </a:solidFill>
                <a:latin typeface="Cambria"/>
                <a:cs typeface="Cambria"/>
              </a:rPr>
              <a:t>maintain,</a:t>
            </a:r>
            <a:r>
              <a:rPr sz="2750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test,</a:t>
            </a:r>
            <a:r>
              <a:rPr sz="275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8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750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extend</a:t>
            </a:r>
            <a:r>
              <a:rPr sz="2750" spc="55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 marL="241300" marR="9525" indent="-229235">
              <a:lnSpc>
                <a:spcPct val="152500"/>
              </a:lnSpc>
              <a:spcBef>
                <a:spcPts val="75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  <a:tab pos="984885" algn="l"/>
                <a:tab pos="1680210" algn="l"/>
                <a:tab pos="2710180" algn="l"/>
                <a:tab pos="3811270" algn="l"/>
                <a:tab pos="4729480" algn="l"/>
                <a:tab pos="6324600" algn="l"/>
                <a:tab pos="7954645" algn="l"/>
                <a:tab pos="10002520" algn="l"/>
              </a:tabLst>
            </a:pPr>
            <a:r>
              <a:rPr sz="2750" spc="185" dirty="0">
                <a:latin typeface="Cambria"/>
                <a:cs typeface="Cambria"/>
              </a:rPr>
              <a:t>	On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the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0" dirty="0">
                <a:latin typeface="Cambria"/>
                <a:cs typeface="Cambria"/>
              </a:rPr>
              <a:t>other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100" dirty="0">
                <a:latin typeface="Cambria"/>
                <a:cs typeface="Cambria"/>
              </a:rPr>
              <a:t>hand,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5" dirty="0">
                <a:solidFill>
                  <a:srgbClr val="FF0000"/>
                </a:solidFill>
                <a:latin typeface="Cambria"/>
                <a:cs typeface="Cambria"/>
              </a:rPr>
              <a:t>high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75" dirty="0">
                <a:solidFill>
                  <a:srgbClr val="FF0000"/>
                </a:solidFill>
                <a:latin typeface="Cambria"/>
                <a:cs typeface="Cambria"/>
              </a:rPr>
              <a:t>coupling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increases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65" dirty="0">
                <a:solidFill>
                  <a:srgbClr val="FF0000"/>
                </a:solidFill>
                <a:latin typeface="Cambria"/>
                <a:cs typeface="Cambria"/>
              </a:rPr>
              <a:t>complexity,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reduces </a:t>
            </a:r>
            <a:r>
              <a:rPr sz="2750" spc="65" dirty="0">
                <a:solidFill>
                  <a:srgbClr val="FF0000"/>
                </a:solidFill>
                <a:latin typeface="Cambria"/>
                <a:cs typeface="Cambria"/>
              </a:rPr>
              <a:t>flexibility</a:t>
            </a:r>
            <a:r>
              <a:rPr sz="2750" spc="65" dirty="0">
                <a:latin typeface="Cambria"/>
                <a:cs typeface="Cambria"/>
              </a:rPr>
              <a:t>,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makes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system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harder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110" dirty="0">
                <a:latin typeface="Cambria"/>
                <a:cs typeface="Cambria"/>
              </a:rPr>
              <a:t>modify.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80" dirty="0"/>
              <a:t>7.</a:t>
            </a:r>
            <a:r>
              <a:rPr sz="3200" spc="225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0" dirty="0"/>
              <a:t>Coupling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3225" y="1044575"/>
          <a:ext cx="11384280" cy="5361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59">
                <a:tc>
                  <a:txBody>
                    <a:bodyPr/>
                    <a:lstStyle/>
                    <a:p>
                      <a:pPr marL="6330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Coupling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Type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10610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Explanation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7143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Example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Problem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5475">
                <a:tc>
                  <a:txBody>
                    <a:bodyPr/>
                    <a:lstStyle/>
                    <a:p>
                      <a:pPr marL="91440" marR="78740" algn="just">
                        <a:lnSpc>
                          <a:spcPct val="100899"/>
                        </a:lnSpc>
                        <a:spcBef>
                          <a:spcPts val="204"/>
                        </a:spcBef>
                        <a:tabLst>
                          <a:tab pos="1764030" algn="l"/>
                          <a:tab pos="2221865" algn="l"/>
                        </a:tabLst>
                      </a:pPr>
                      <a:r>
                        <a:rPr sz="1800" b="1" spc="40" dirty="0">
                          <a:latin typeface="Times New Roman"/>
                          <a:cs typeface="Times New Roman"/>
                        </a:rPr>
                        <a:t>Content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75" dirty="0">
                          <a:latin typeface="Times New Roman"/>
                          <a:cs typeface="Times New Roman"/>
                        </a:rPr>
                        <a:t>Coupling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(Strongest,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sz="1800" b="1" spc="45" dirty="0">
                          <a:latin typeface="Times New Roman"/>
                          <a:cs typeface="Times New Roman"/>
                        </a:rPr>
                        <a:t>Most </a:t>
                      </a:r>
                      <a:r>
                        <a:rPr sz="1800" b="1" spc="50" dirty="0">
                          <a:latin typeface="Times New Roman"/>
                          <a:cs typeface="Times New Roman"/>
                        </a:rPr>
                        <a:t>Undesirable)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378460" marR="78740" indent="-285115" algn="just">
                        <a:lnSpc>
                          <a:spcPct val="100899"/>
                        </a:lnSpc>
                        <a:spcBef>
                          <a:spcPts val="204"/>
                        </a:spcBef>
                        <a:buFont typeface="Wingdings"/>
                        <a:buChar char=""/>
                        <a:tabLst>
                          <a:tab pos="379730" algn="l"/>
                        </a:tabLst>
                      </a:pPr>
                      <a:r>
                        <a:rPr sz="1800" spc="90" dirty="0">
                          <a:latin typeface="Cambria"/>
                          <a:cs typeface="Cambria"/>
                        </a:rPr>
                        <a:t>One</a:t>
                      </a:r>
                      <a:r>
                        <a:rPr sz="1800" spc="30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00" spc="3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modifies</a:t>
                      </a:r>
                      <a:r>
                        <a:rPr sz="1800" spc="3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the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internal</a:t>
                      </a:r>
                      <a:r>
                        <a:rPr sz="1800" spc="40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1800" spc="4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1800" spc="42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logic</a:t>
                      </a:r>
                      <a:r>
                        <a:rPr sz="1800" spc="39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of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another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module.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80010" algn="just">
                        <a:lnSpc>
                          <a:spcPct val="100899"/>
                        </a:lnSpc>
                        <a:spcBef>
                          <a:spcPts val="204"/>
                        </a:spcBef>
                      </a:pPr>
                      <a:r>
                        <a:rPr sz="1800" spc="75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00" spc="36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27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37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directly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changes</a:t>
                      </a:r>
                      <a:r>
                        <a:rPr sz="1800" spc="40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43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variable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inside</a:t>
                      </a:r>
                      <a:r>
                        <a:rPr sz="18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0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35" dirty="0">
                          <a:latin typeface="Cambria"/>
                          <a:cs typeface="Cambria"/>
                        </a:rPr>
                        <a:t>B.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72390" algn="just">
                        <a:lnSpc>
                          <a:spcPct val="100899"/>
                        </a:lnSpc>
                        <a:spcBef>
                          <a:spcPts val="204"/>
                        </a:spcBef>
                        <a:tabLst>
                          <a:tab pos="1553210" algn="l"/>
                          <a:tab pos="2374900" algn="l"/>
                        </a:tabLst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Violates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information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hiding</a:t>
                      </a:r>
                      <a:r>
                        <a:rPr sz="1800" spc="355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1800" spc="365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makes 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debugging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	</a:t>
                      </a:r>
                      <a:r>
                        <a:rPr sz="1800" spc="30" dirty="0">
                          <a:latin typeface="Cambria"/>
                          <a:cs typeface="Cambria"/>
                        </a:rPr>
                        <a:t>and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maintenance</a:t>
                      </a:r>
                      <a:r>
                        <a:rPr sz="1800" spc="2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difficult.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52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80" dirty="0">
                          <a:latin typeface="Times New Roman"/>
                          <a:cs typeface="Times New Roman"/>
                        </a:rPr>
                        <a:t>Common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75" dirty="0">
                          <a:latin typeface="Times New Roman"/>
                          <a:cs typeface="Times New Roman"/>
                        </a:rPr>
                        <a:t>Coupling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379730" marR="78740" indent="-286385">
                        <a:lnSpc>
                          <a:spcPct val="100800"/>
                        </a:lnSpc>
                        <a:spcBef>
                          <a:spcPts val="229"/>
                        </a:spcBef>
                        <a:buFont typeface="Wingdings"/>
                        <a:buChar char=""/>
                        <a:tabLst>
                          <a:tab pos="379730" algn="l"/>
                        </a:tabLst>
                      </a:pPr>
                      <a:r>
                        <a:rPr sz="1800" spc="55" dirty="0">
                          <a:latin typeface="Cambria"/>
                          <a:cs typeface="Cambria"/>
                        </a:rPr>
                        <a:t>Multiple</a:t>
                      </a:r>
                      <a:r>
                        <a:rPr sz="1800" spc="43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modules</a:t>
                      </a:r>
                      <a:r>
                        <a:rPr sz="1800" spc="4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share</a:t>
                      </a:r>
                      <a:r>
                        <a:rPr sz="1800" spc="4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the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same</a:t>
                      </a:r>
                      <a:r>
                        <a:rPr sz="1800" spc="2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global</a:t>
                      </a:r>
                      <a:r>
                        <a:rPr sz="18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data.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6835" algn="just">
                        <a:lnSpc>
                          <a:spcPct val="100899"/>
                        </a:lnSpc>
                        <a:spcBef>
                          <a:spcPts val="229"/>
                        </a:spcBef>
                        <a:tabLst>
                          <a:tab pos="1354455" algn="l"/>
                        </a:tabLst>
                      </a:pPr>
                      <a:r>
                        <a:rPr sz="1800" spc="75" dirty="0">
                          <a:latin typeface="Cambria"/>
                          <a:cs typeface="Cambria"/>
                        </a:rPr>
                        <a:t>Many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modules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access</a:t>
                      </a:r>
                      <a:r>
                        <a:rPr sz="1800" spc="3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1800" spc="3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modify</a:t>
                      </a:r>
                      <a:r>
                        <a:rPr sz="1800" spc="3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a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global</a:t>
                      </a:r>
                      <a:r>
                        <a:rPr sz="1800" spc="24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configuration variable.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70485" algn="just">
                        <a:lnSpc>
                          <a:spcPct val="100899"/>
                        </a:lnSpc>
                        <a:spcBef>
                          <a:spcPts val="229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Changes</a:t>
                      </a:r>
                      <a:r>
                        <a:rPr sz="1800" spc="1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1800" spc="2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one</a:t>
                      </a:r>
                      <a:r>
                        <a:rPr sz="1800" spc="204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module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may</a:t>
                      </a:r>
                      <a:r>
                        <a:rPr sz="1800" spc="254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cause</a:t>
                      </a:r>
                      <a:r>
                        <a:rPr sz="1800" spc="26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unexpected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errors</a:t>
                      </a:r>
                      <a:r>
                        <a:rPr sz="1800" spc="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others.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05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External</a:t>
                      </a:r>
                      <a:r>
                        <a:rPr sz="1800" b="1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75" dirty="0">
                          <a:latin typeface="Times New Roman"/>
                          <a:cs typeface="Times New Roman"/>
                        </a:rPr>
                        <a:t>Coupling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378460" marR="79375" indent="-285115" algn="just">
                        <a:lnSpc>
                          <a:spcPct val="100800"/>
                        </a:lnSpc>
                        <a:spcBef>
                          <a:spcPts val="245"/>
                        </a:spcBef>
                        <a:buFont typeface="Wingdings"/>
                        <a:buChar char=""/>
                        <a:tabLst>
                          <a:tab pos="379730" algn="l"/>
                        </a:tabLst>
                      </a:pPr>
                      <a:r>
                        <a:rPr sz="1800" spc="65" dirty="0">
                          <a:latin typeface="Cambria"/>
                          <a:cs typeface="Cambria"/>
                        </a:rPr>
                        <a:t>Modules</a:t>
                      </a:r>
                      <a:r>
                        <a:rPr sz="1800" spc="400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depend</a:t>
                      </a:r>
                      <a:r>
                        <a:rPr sz="1800" spc="409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on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external</a:t>
                      </a:r>
                      <a:r>
                        <a:rPr sz="1800" spc="42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systems</a:t>
                      </a:r>
                      <a:r>
                        <a:rPr sz="1800" spc="434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such</a:t>
                      </a:r>
                      <a:r>
                        <a:rPr sz="1800" spc="44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as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databases,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files,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network 	services.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6200" algn="just">
                        <a:lnSpc>
                          <a:spcPct val="100800"/>
                        </a:lnSpc>
                        <a:spcBef>
                          <a:spcPts val="245"/>
                        </a:spcBef>
                      </a:pPr>
                      <a:r>
                        <a:rPr sz="1800" spc="27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40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web</a:t>
                      </a:r>
                      <a:r>
                        <a:rPr sz="1800" spc="3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application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00" spc="10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depends</a:t>
                      </a:r>
                      <a:r>
                        <a:rPr sz="1800" spc="12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on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2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third-party</a:t>
                      </a:r>
                      <a:r>
                        <a:rPr sz="1800" spc="229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105" dirty="0">
                          <a:latin typeface="Cambria"/>
                          <a:cs typeface="Cambria"/>
                        </a:rPr>
                        <a:t>API</a:t>
                      </a:r>
                      <a:r>
                        <a:rPr sz="1800" spc="2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for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authentication.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72390" algn="just">
                        <a:lnSpc>
                          <a:spcPct val="100899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31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system</a:t>
                      </a:r>
                      <a:r>
                        <a:rPr sz="1800" spc="31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becomes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vulnerable</a:t>
                      </a:r>
                      <a:r>
                        <a:rPr sz="1800" spc="38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37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external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changes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180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failures.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80" dirty="0"/>
              <a:t>7.</a:t>
            </a:r>
            <a:r>
              <a:rPr sz="3200" spc="225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0" dirty="0"/>
              <a:t>Coupling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3225" y="1044575"/>
          <a:ext cx="11384279" cy="52736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1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59">
                <a:tc>
                  <a:txBody>
                    <a:bodyPr/>
                    <a:lstStyle/>
                    <a:p>
                      <a:pPr marL="6330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Coupling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Type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9848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Explanation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7905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Example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Problem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9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63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sz="1800" b="1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75" dirty="0">
                          <a:latin typeface="Times New Roman"/>
                          <a:cs typeface="Times New Roman"/>
                        </a:rPr>
                        <a:t>Coupling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378460" marR="74295" indent="-285115" algn="just">
                        <a:lnSpc>
                          <a:spcPct val="100899"/>
                        </a:lnSpc>
                        <a:spcBef>
                          <a:spcPts val="204"/>
                        </a:spcBef>
                        <a:buFont typeface="Wingdings"/>
                        <a:buChar char=""/>
                        <a:tabLst>
                          <a:tab pos="379730" algn="l"/>
                        </a:tabLst>
                      </a:pPr>
                      <a:r>
                        <a:rPr sz="1800" spc="90" dirty="0">
                          <a:latin typeface="Cambria"/>
                          <a:cs typeface="Cambria"/>
                        </a:rPr>
                        <a:t>One</a:t>
                      </a:r>
                      <a:r>
                        <a:rPr sz="1800" spc="32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00" spc="32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controls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another</a:t>
                      </a:r>
                      <a:r>
                        <a:rPr sz="18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0" dirty="0">
                          <a:latin typeface="Cambria"/>
                          <a:cs typeface="Cambria"/>
                        </a:rPr>
                        <a:t>module’s</a:t>
                      </a:r>
                      <a:r>
                        <a:rPr sz="18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behavior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by</a:t>
                      </a:r>
                      <a:r>
                        <a:rPr sz="1800" spc="3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passing</a:t>
                      </a:r>
                      <a:r>
                        <a:rPr sz="1800" spc="3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control</a:t>
                      </a:r>
                      <a:r>
                        <a:rPr sz="1800" spc="3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flags</a:t>
                      </a:r>
                      <a:r>
                        <a:rPr sz="1800" spc="3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or 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parameters.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4295" algn="just">
                        <a:lnSpc>
                          <a:spcPct val="100899"/>
                        </a:lnSpc>
                        <a:spcBef>
                          <a:spcPts val="204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Function</a:t>
                      </a:r>
                      <a:r>
                        <a:rPr sz="1800" spc="38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27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39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calls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function</a:t>
                      </a:r>
                      <a:r>
                        <a:rPr sz="1800" spc="3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800" spc="3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1800" spc="3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passes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4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0" dirty="0">
                          <a:latin typeface="Cambria"/>
                          <a:cs typeface="Cambria"/>
                        </a:rPr>
                        <a:t>flag</a:t>
                      </a:r>
                      <a:r>
                        <a:rPr sz="1800" spc="4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4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decide</a:t>
                      </a:r>
                      <a:r>
                        <a:rPr sz="1800" spc="4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what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function</a:t>
                      </a:r>
                      <a:r>
                        <a:rPr sz="1800" spc="2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800" spc="2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should</a:t>
                      </a:r>
                      <a:r>
                        <a:rPr sz="1800" spc="2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35" dirty="0">
                          <a:latin typeface="Cambria"/>
                          <a:cs typeface="Cambria"/>
                        </a:rPr>
                        <a:t>do.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70485" algn="just">
                        <a:lnSpc>
                          <a:spcPct val="100899"/>
                        </a:lnSpc>
                        <a:spcBef>
                          <a:spcPts val="204"/>
                        </a:spcBef>
                        <a:tabLst>
                          <a:tab pos="1991360" algn="l"/>
                        </a:tabLst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800" spc="204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function</a:t>
                      </a:r>
                      <a:r>
                        <a:rPr sz="1800" spc="204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800" spc="20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changes,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function</a:t>
                      </a:r>
                      <a:r>
                        <a:rPr sz="1800" spc="2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27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25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may</a:t>
                      </a:r>
                      <a:r>
                        <a:rPr sz="1800" spc="2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also</a:t>
                      </a:r>
                      <a:r>
                        <a:rPr sz="1800" spc="2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need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modification,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making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maintenance</a:t>
                      </a:r>
                      <a:r>
                        <a:rPr sz="1800" spc="2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harder.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55" dirty="0">
                          <a:latin typeface="Times New Roman"/>
                          <a:cs typeface="Times New Roman"/>
                        </a:rPr>
                        <a:t>Stamp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75" dirty="0">
                          <a:latin typeface="Times New Roman"/>
                          <a:cs typeface="Times New Roman"/>
                        </a:rPr>
                        <a:t>Coupling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378460" marR="78740" indent="-285115" algn="just">
                        <a:lnSpc>
                          <a:spcPct val="100899"/>
                        </a:lnSpc>
                        <a:spcBef>
                          <a:spcPts val="225"/>
                        </a:spcBef>
                        <a:buFont typeface="Wingdings"/>
                        <a:buChar char=""/>
                        <a:tabLst>
                          <a:tab pos="379730" algn="l"/>
                        </a:tabLst>
                      </a:pPr>
                      <a:r>
                        <a:rPr sz="1800" spc="65" dirty="0">
                          <a:latin typeface="Cambria"/>
                          <a:cs typeface="Cambria"/>
                        </a:rPr>
                        <a:t>Modules</a:t>
                      </a:r>
                      <a:r>
                        <a:rPr sz="1800" spc="33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pass</a:t>
                      </a:r>
                      <a:r>
                        <a:rPr sz="1800" spc="335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complex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structures</a:t>
                      </a:r>
                      <a:r>
                        <a:rPr sz="1800" spc="12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instead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of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specific</a:t>
                      </a:r>
                      <a:r>
                        <a:rPr sz="1800" spc="1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required</a:t>
                      </a:r>
                      <a:r>
                        <a:rPr sz="18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data.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4295" algn="just">
                        <a:lnSpc>
                          <a:spcPct val="100099"/>
                        </a:lnSpc>
                        <a:spcBef>
                          <a:spcPts val="240"/>
                        </a:spcBef>
                      </a:pPr>
                      <a:r>
                        <a:rPr sz="1800" spc="27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4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function</a:t>
                      </a:r>
                      <a:r>
                        <a:rPr sz="1800" spc="4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that</a:t>
                      </a:r>
                      <a:r>
                        <a:rPr sz="1800" spc="4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sends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an</a:t>
                      </a:r>
                      <a:r>
                        <a:rPr sz="1800" spc="28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entire</a:t>
                      </a:r>
                      <a:r>
                        <a:rPr sz="1800" spc="28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student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object</a:t>
                      </a:r>
                      <a:r>
                        <a:rPr sz="1800" spc="30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00" spc="29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another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function,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even</a:t>
                      </a:r>
                      <a:r>
                        <a:rPr sz="1800" spc="6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only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45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student’s</a:t>
                      </a:r>
                      <a:r>
                        <a:rPr sz="1800" spc="47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ID</a:t>
                      </a:r>
                      <a:r>
                        <a:rPr sz="1800" spc="46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is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needed.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71755">
                        <a:lnSpc>
                          <a:spcPct val="100800"/>
                        </a:lnSpc>
                        <a:spcBef>
                          <a:spcPts val="225"/>
                        </a:spcBef>
                        <a:tabLst>
                          <a:tab pos="1143635" algn="l"/>
                          <a:tab pos="2235200" algn="l"/>
                        </a:tabLst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Unnecessary</a:t>
                      </a:r>
                      <a:r>
                        <a:rPr sz="1800" spc="50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dependencies</a:t>
                      </a:r>
                      <a:r>
                        <a:rPr sz="1800" spc="3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1800" spc="3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created, 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making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changes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more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complex.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9875">
                <a:tc>
                  <a:txBody>
                    <a:bodyPr/>
                    <a:lstStyle/>
                    <a:p>
                      <a:pPr marL="91440" marR="85725">
                        <a:lnSpc>
                          <a:spcPct val="1008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800" b="1" spc="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85" dirty="0">
                          <a:latin typeface="Times New Roman"/>
                          <a:cs typeface="Times New Roman"/>
                        </a:rPr>
                        <a:t>Coupling</a:t>
                      </a:r>
                      <a:r>
                        <a:rPr sz="1800" b="1" spc="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(Weakest, </a:t>
                      </a:r>
                      <a:r>
                        <a:rPr sz="1800" b="1" spc="65" dirty="0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sz="18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55" dirty="0">
                          <a:latin typeface="Times New Roman"/>
                          <a:cs typeface="Times New Roman"/>
                        </a:rPr>
                        <a:t>Desirable)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378460" marR="78740" indent="-285115" algn="just">
                        <a:lnSpc>
                          <a:spcPct val="100800"/>
                        </a:lnSpc>
                        <a:spcBef>
                          <a:spcPts val="245"/>
                        </a:spcBef>
                        <a:buFont typeface="Wingdings"/>
                        <a:buChar char=""/>
                        <a:tabLst>
                          <a:tab pos="379730" algn="l"/>
                        </a:tabLst>
                      </a:pPr>
                      <a:r>
                        <a:rPr sz="1800" spc="65" dirty="0">
                          <a:latin typeface="Cambria"/>
                          <a:cs typeface="Cambria"/>
                        </a:rPr>
                        <a:t>Modules</a:t>
                      </a:r>
                      <a:r>
                        <a:rPr sz="1800" spc="33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share</a:t>
                      </a:r>
                      <a:r>
                        <a:rPr sz="1800" spc="34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only</a:t>
                      </a:r>
                      <a:r>
                        <a:rPr sz="1800" spc="36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the 	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necessary</a:t>
                      </a:r>
                      <a:r>
                        <a:rPr sz="1800" spc="4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1800" spc="3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1800" spc="43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function 	calls.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3660" algn="just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27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44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function</a:t>
                      </a:r>
                      <a:r>
                        <a:rPr sz="1800" spc="45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passes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only</a:t>
                      </a:r>
                      <a:r>
                        <a:rPr sz="1800" spc="28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required</a:t>
                      </a:r>
                      <a:r>
                        <a:rPr sz="1800" spc="27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values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like</a:t>
                      </a:r>
                      <a:r>
                        <a:rPr sz="1800" spc="41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(name,</a:t>
                      </a:r>
                      <a:r>
                        <a:rPr sz="1800" spc="40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age)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instead</a:t>
                      </a:r>
                      <a:r>
                        <a:rPr sz="18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full</a:t>
                      </a:r>
                      <a:r>
                        <a:rPr sz="18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user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object.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75565">
                        <a:lnSpc>
                          <a:spcPct val="100800"/>
                        </a:lnSpc>
                        <a:spcBef>
                          <a:spcPts val="245"/>
                        </a:spcBef>
                        <a:tabLst>
                          <a:tab pos="898525" algn="l"/>
                          <a:tab pos="2374900" algn="l"/>
                        </a:tabLst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Easier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maintenance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30" dirty="0">
                          <a:latin typeface="Cambria"/>
                          <a:cs typeface="Cambria"/>
                        </a:rPr>
                        <a:t>and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better</a:t>
                      </a:r>
                      <a:r>
                        <a:rPr sz="1800" spc="-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modularity.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80" dirty="0"/>
              <a:t>7.</a:t>
            </a:r>
            <a:r>
              <a:rPr sz="3200" spc="225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0" dirty="0"/>
              <a:t>Coupling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13360"/>
            <a:ext cx="6353175" cy="533781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55270" indent="-244475">
              <a:lnSpc>
                <a:spcPct val="100000"/>
              </a:lnSpc>
              <a:spcBef>
                <a:spcPts val="1270"/>
              </a:spcBef>
              <a:buSzPct val="95833"/>
              <a:buFont typeface="Wingdings"/>
              <a:buChar char=""/>
              <a:tabLst>
                <a:tab pos="255270" algn="l"/>
                <a:tab pos="1868170" algn="l"/>
                <a:tab pos="3670935" algn="l"/>
                <a:tab pos="5647690" algn="l"/>
              </a:tabLst>
            </a:pPr>
            <a:r>
              <a:rPr sz="2400" spc="35" dirty="0">
                <a:latin typeface="Cambria"/>
                <a:cs typeface="Cambria"/>
              </a:rPr>
              <a:t>Content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90" dirty="0">
                <a:latin typeface="Cambria"/>
                <a:cs typeface="Cambria"/>
              </a:rPr>
              <a:t>Coupling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(Strongest,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35" dirty="0">
                <a:latin typeface="Cambria"/>
                <a:cs typeface="Cambria"/>
              </a:rPr>
              <a:t>Most</a:t>
            </a:r>
            <a:endParaRPr sz="24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175"/>
              </a:spcBef>
            </a:pPr>
            <a:r>
              <a:rPr sz="2400" spc="-10" dirty="0">
                <a:latin typeface="Cambria"/>
                <a:cs typeface="Cambria"/>
              </a:rPr>
              <a:t>Undesirable)</a:t>
            </a:r>
            <a:endParaRPr sz="2400">
              <a:latin typeface="Cambria"/>
              <a:cs typeface="Cambria"/>
            </a:endParaRPr>
          </a:p>
          <a:p>
            <a:pPr marL="699135" marR="12700" lvl="1" indent="-229235" algn="just">
              <a:lnSpc>
                <a:spcPct val="140800"/>
              </a:lnSpc>
              <a:spcBef>
                <a:spcPts val="70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spc="105" dirty="0">
                <a:solidFill>
                  <a:srgbClr val="FF0000"/>
                </a:solidFill>
                <a:latin typeface="Cambria"/>
                <a:cs typeface="Cambria"/>
              </a:rPr>
              <a:t>One</a:t>
            </a:r>
            <a:r>
              <a:rPr sz="2000" spc="3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FF0000"/>
                </a:solidFill>
                <a:latin typeface="Cambria"/>
                <a:cs typeface="Cambria"/>
              </a:rPr>
              <a:t>module</a:t>
            </a:r>
            <a:r>
              <a:rPr sz="2000" spc="3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directly</a:t>
            </a:r>
            <a:r>
              <a:rPr sz="2000" spc="3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modifies</a:t>
            </a:r>
            <a:r>
              <a:rPr sz="2000" spc="3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000" spc="3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depends</a:t>
            </a:r>
            <a:r>
              <a:rPr sz="2000" spc="3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FF0000"/>
                </a:solidFill>
                <a:latin typeface="Cambria"/>
                <a:cs typeface="Cambria"/>
              </a:rPr>
              <a:t>on</a:t>
            </a:r>
            <a:r>
              <a:rPr sz="2000" spc="3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mbria"/>
                <a:cs typeface="Cambria"/>
              </a:rPr>
              <a:t>the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internal</a:t>
            </a:r>
            <a:r>
              <a:rPr sz="2000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000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0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logic</a:t>
            </a:r>
            <a:r>
              <a:rPr sz="2000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000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another</a:t>
            </a:r>
            <a:r>
              <a:rPr sz="20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FF0000"/>
                </a:solidFill>
                <a:latin typeface="Cambria"/>
                <a:cs typeface="Cambria"/>
              </a:rPr>
              <a:t>module</a:t>
            </a:r>
            <a:r>
              <a:rPr sz="2000" spc="50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699135" marR="10160" lvl="1" indent="-229235" algn="just">
              <a:lnSpc>
                <a:spcPct val="140800"/>
              </a:lnSpc>
              <a:buFont typeface="Wingdings"/>
              <a:buChar char=""/>
              <a:tabLst>
                <a:tab pos="699135" algn="l"/>
              </a:tabLst>
            </a:pPr>
            <a:r>
              <a:rPr sz="2000" spc="85" dirty="0">
                <a:latin typeface="Cambria"/>
                <a:cs typeface="Cambria"/>
              </a:rPr>
              <a:t>Module</a:t>
            </a:r>
            <a:r>
              <a:rPr sz="2000" spc="425" dirty="0">
                <a:latin typeface="Cambria"/>
                <a:cs typeface="Cambria"/>
              </a:rPr>
              <a:t>  </a:t>
            </a:r>
            <a:r>
              <a:rPr sz="2000" spc="325" dirty="0">
                <a:latin typeface="Cambria"/>
                <a:cs typeface="Cambria"/>
              </a:rPr>
              <a:t>A</a:t>
            </a:r>
            <a:r>
              <a:rPr sz="2000" spc="42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directly</a:t>
            </a:r>
            <a:r>
              <a:rPr sz="2000" spc="42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accesses</a:t>
            </a:r>
            <a:r>
              <a:rPr sz="2000" spc="445" dirty="0">
                <a:latin typeface="Cambria"/>
                <a:cs typeface="Cambria"/>
              </a:rPr>
              <a:t>  </a:t>
            </a:r>
            <a:r>
              <a:rPr sz="2000" spc="60" dirty="0">
                <a:latin typeface="Cambria"/>
                <a:cs typeface="Cambria"/>
              </a:rPr>
              <a:t>and</a:t>
            </a:r>
            <a:r>
              <a:rPr sz="2000" spc="42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changes</a:t>
            </a:r>
            <a:r>
              <a:rPr sz="2000" spc="425" dirty="0">
                <a:latin typeface="Cambria"/>
                <a:cs typeface="Cambria"/>
              </a:rPr>
              <a:t>  </a:t>
            </a:r>
            <a:r>
              <a:rPr sz="2000" spc="-50" dirty="0">
                <a:latin typeface="Cambria"/>
                <a:cs typeface="Cambria"/>
              </a:rPr>
              <a:t>a </a:t>
            </a:r>
            <a:r>
              <a:rPr sz="2000" dirty="0">
                <a:latin typeface="Cambria"/>
                <a:cs typeface="Cambria"/>
              </a:rPr>
              <a:t>variable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inside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Module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B.</a:t>
            </a:r>
            <a:endParaRPr sz="2000">
              <a:latin typeface="Cambria"/>
              <a:cs typeface="Cambria"/>
            </a:endParaRPr>
          </a:p>
          <a:p>
            <a:pPr marL="699135" marR="8890" lvl="1" indent="-229235" algn="just">
              <a:lnSpc>
                <a:spcPts val="3379"/>
              </a:lnSpc>
              <a:spcBef>
                <a:spcPts val="200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dirty="0">
                <a:latin typeface="Cambria"/>
                <a:cs typeface="Cambria"/>
              </a:rPr>
              <a:t>This</a:t>
            </a:r>
            <a:r>
              <a:rPr sz="2000" spc="210" dirty="0">
                <a:latin typeface="Cambria"/>
                <a:cs typeface="Cambria"/>
              </a:rPr>
              <a:t>   </a:t>
            </a:r>
            <a:r>
              <a:rPr sz="2000" dirty="0">
                <a:latin typeface="Cambria"/>
                <a:cs typeface="Cambria"/>
              </a:rPr>
              <a:t>violates</a:t>
            </a:r>
            <a:r>
              <a:rPr sz="2000" spc="225" dirty="0">
                <a:latin typeface="Cambria"/>
                <a:cs typeface="Cambria"/>
              </a:rPr>
              <a:t>   </a:t>
            </a:r>
            <a:r>
              <a:rPr sz="2000" dirty="0">
                <a:latin typeface="Cambria"/>
                <a:cs typeface="Cambria"/>
              </a:rPr>
              <a:t>encapsulation</a:t>
            </a:r>
            <a:r>
              <a:rPr sz="2000" spc="225" dirty="0">
                <a:latin typeface="Cambria"/>
                <a:cs typeface="Cambria"/>
              </a:rPr>
              <a:t>   </a:t>
            </a:r>
            <a:r>
              <a:rPr sz="2000" spc="65" dirty="0">
                <a:latin typeface="Cambria"/>
                <a:cs typeface="Cambria"/>
              </a:rPr>
              <a:t>and</a:t>
            </a:r>
            <a:r>
              <a:rPr sz="2000" spc="215" dirty="0">
                <a:latin typeface="Cambria"/>
                <a:cs typeface="Cambria"/>
              </a:rPr>
              <a:t>   </a:t>
            </a:r>
            <a:r>
              <a:rPr sz="2000" spc="-10" dirty="0">
                <a:latin typeface="Cambria"/>
                <a:cs typeface="Cambria"/>
              </a:rPr>
              <a:t>information </a:t>
            </a:r>
            <a:r>
              <a:rPr sz="2000" spc="70" dirty="0">
                <a:latin typeface="Cambria"/>
                <a:cs typeface="Cambria"/>
              </a:rPr>
              <a:t>hiding.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If</a:t>
            </a:r>
            <a:r>
              <a:rPr sz="2000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FF0000"/>
                </a:solidFill>
                <a:latin typeface="Cambria"/>
                <a:cs typeface="Cambria"/>
              </a:rPr>
              <a:t>Module</a:t>
            </a:r>
            <a:r>
              <a:rPr sz="20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B</a:t>
            </a:r>
            <a:r>
              <a:rPr sz="2000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changes</a:t>
            </a:r>
            <a:r>
              <a:rPr sz="2000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its</a:t>
            </a:r>
            <a:r>
              <a:rPr sz="2000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internal</a:t>
            </a:r>
            <a:r>
              <a:rPr sz="2000" spc="1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structure, </a:t>
            </a:r>
            <a:r>
              <a:rPr sz="2000" spc="85" dirty="0">
                <a:solidFill>
                  <a:srgbClr val="FF0000"/>
                </a:solidFill>
                <a:latin typeface="Cambria"/>
                <a:cs typeface="Cambria"/>
              </a:rPr>
              <a:t>Module</a:t>
            </a:r>
            <a:r>
              <a:rPr sz="2000" spc="465" dirty="0">
                <a:solidFill>
                  <a:srgbClr val="FF0000"/>
                </a:solidFill>
                <a:latin typeface="Cambria"/>
                <a:cs typeface="Cambria"/>
              </a:rPr>
              <a:t>   </a:t>
            </a:r>
            <a:r>
              <a:rPr sz="2000" spc="325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000" spc="465" dirty="0">
                <a:solidFill>
                  <a:srgbClr val="FF0000"/>
                </a:solidFill>
                <a:latin typeface="Cambria"/>
                <a:cs typeface="Cambria"/>
              </a:rPr>
              <a:t>   </a:t>
            </a:r>
            <a:r>
              <a:rPr sz="2000" spc="60" dirty="0">
                <a:solidFill>
                  <a:srgbClr val="FF0000"/>
                </a:solidFill>
                <a:latin typeface="Cambria"/>
                <a:cs typeface="Cambria"/>
              </a:rPr>
              <a:t>will</a:t>
            </a:r>
            <a:r>
              <a:rPr sz="2000" spc="470" dirty="0">
                <a:solidFill>
                  <a:srgbClr val="FF0000"/>
                </a:solidFill>
                <a:latin typeface="Cambria"/>
                <a:cs typeface="Cambria"/>
              </a:rPr>
              <a:t> 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break</a:t>
            </a:r>
            <a:r>
              <a:rPr sz="2000" dirty="0">
                <a:latin typeface="Cambria"/>
                <a:cs typeface="Cambria"/>
              </a:rPr>
              <a:t>.</a:t>
            </a:r>
            <a:r>
              <a:rPr sz="2000" spc="475" dirty="0">
                <a:latin typeface="Cambria"/>
                <a:cs typeface="Cambria"/>
              </a:rPr>
              <a:t>   </a:t>
            </a:r>
            <a:r>
              <a:rPr sz="2000" spc="75" dirty="0">
                <a:solidFill>
                  <a:srgbClr val="FF0000"/>
                </a:solidFill>
                <a:latin typeface="Cambria"/>
                <a:cs typeface="Cambria"/>
              </a:rPr>
              <a:t>Debugging</a:t>
            </a:r>
            <a:r>
              <a:rPr sz="2000" spc="480" dirty="0">
                <a:solidFill>
                  <a:srgbClr val="FF0000"/>
                </a:solidFill>
                <a:latin typeface="Cambria"/>
                <a:cs typeface="Cambria"/>
              </a:rPr>
              <a:t>   </a:t>
            </a:r>
            <a:r>
              <a:rPr sz="2000" spc="3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endParaRPr sz="2000">
              <a:latin typeface="Cambria"/>
              <a:cs typeface="Cambria"/>
            </a:endParaRPr>
          </a:p>
          <a:p>
            <a:pPr marL="699135" algn="just">
              <a:lnSpc>
                <a:spcPct val="100000"/>
              </a:lnSpc>
              <a:spcBef>
                <a:spcPts val="705"/>
              </a:spcBef>
            </a:pP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maintaining</a:t>
            </a:r>
            <a:r>
              <a:rPr sz="2000" spc="4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such</a:t>
            </a:r>
            <a:r>
              <a:rPr sz="2000" spc="4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code</a:t>
            </a:r>
            <a:r>
              <a:rPr sz="2000" spc="45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becomes</a:t>
            </a:r>
            <a:r>
              <a:rPr sz="2000" spc="4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difficult</a:t>
            </a:r>
            <a:r>
              <a:rPr sz="2000" spc="4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spc="-10" dirty="0">
                <a:latin typeface="Cambria"/>
                <a:cs typeface="Cambria"/>
              </a:rPr>
              <a:t>because</a:t>
            </a:r>
            <a:endParaRPr sz="2000">
              <a:latin typeface="Cambria"/>
              <a:cs typeface="Cambria"/>
            </a:endParaRPr>
          </a:p>
          <a:p>
            <a:pPr marL="699135" marR="5080" algn="just">
              <a:lnSpc>
                <a:spcPct val="137700"/>
              </a:lnSpc>
              <a:spcBef>
                <a:spcPts val="75"/>
              </a:spcBef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4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internal</a:t>
            </a:r>
            <a:r>
              <a:rPr sz="2000" spc="3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details</a:t>
            </a:r>
            <a:r>
              <a:rPr sz="2000" spc="459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of</a:t>
            </a:r>
            <a:r>
              <a:rPr sz="2000" spc="44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Module</a:t>
            </a:r>
            <a:r>
              <a:rPr sz="2000" spc="4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</a:t>
            </a:r>
            <a:r>
              <a:rPr sz="2000" spc="4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are</a:t>
            </a:r>
            <a:r>
              <a:rPr sz="2000" spc="4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exposed</a:t>
            </a:r>
            <a:r>
              <a:rPr sz="2000" spc="35" dirty="0">
                <a:latin typeface="Cambria"/>
                <a:cs typeface="Cambria"/>
              </a:rPr>
              <a:t>  </a:t>
            </a:r>
            <a:r>
              <a:rPr sz="2000" spc="-25" dirty="0">
                <a:latin typeface="Cambria"/>
                <a:cs typeface="Cambria"/>
              </a:rPr>
              <a:t>to </a:t>
            </a:r>
            <a:r>
              <a:rPr sz="2000" spc="85" dirty="0">
                <a:latin typeface="Cambria"/>
                <a:cs typeface="Cambria"/>
              </a:rPr>
              <a:t>Module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170" dirty="0">
                <a:latin typeface="Cambria"/>
                <a:cs typeface="Cambria"/>
              </a:rPr>
              <a:t>A.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93001" y="1875726"/>
            <a:ext cx="4308475" cy="250380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2771775">
              <a:lnSpc>
                <a:spcPct val="100899"/>
              </a:lnSpc>
              <a:spcBef>
                <a:spcPts val="80"/>
              </a:spcBef>
            </a:pPr>
            <a:r>
              <a:rPr sz="1800" dirty="0">
                <a:latin typeface="Trebuchet MS"/>
                <a:cs typeface="Trebuchet MS"/>
              </a:rPr>
              <a:t>#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Module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20" dirty="0">
                <a:latin typeface="Trebuchet MS"/>
                <a:cs typeface="Trebuchet MS"/>
              </a:rPr>
              <a:t>B </a:t>
            </a:r>
            <a:r>
              <a:rPr sz="1800" spc="50" dirty="0">
                <a:latin typeface="Trebuchet MS"/>
                <a:cs typeface="Trebuchet MS"/>
              </a:rPr>
              <a:t>class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ModuleB:</a:t>
            </a:r>
            <a:endParaRPr sz="1800">
              <a:latin typeface="Trebuchet MS"/>
              <a:cs typeface="Trebuchet MS"/>
            </a:endParaRPr>
          </a:p>
          <a:p>
            <a:pPr marL="381000" marR="1858010" indent="-184785">
              <a:lnSpc>
                <a:spcPct val="100800"/>
              </a:lnSpc>
              <a:tabLst>
                <a:tab pos="770255" algn="l"/>
                <a:tab pos="1287780" algn="l"/>
              </a:tabLst>
            </a:pPr>
            <a:r>
              <a:rPr sz="1800" dirty="0">
                <a:latin typeface="Trebuchet MS"/>
                <a:cs typeface="Trebuchet MS"/>
              </a:rPr>
              <a:t>def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	</a:t>
            </a:r>
            <a:r>
              <a:rPr sz="1800" spc="-20" dirty="0">
                <a:latin typeface="Trebuchet MS"/>
                <a:cs typeface="Trebuchet MS"/>
              </a:rPr>
              <a:t>init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(self): </a:t>
            </a:r>
            <a:r>
              <a:rPr sz="1800" spc="-65" dirty="0">
                <a:latin typeface="Trebuchet MS"/>
                <a:cs typeface="Trebuchet MS"/>
              </a:rPr>
              <a:t>self.internal_data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Trebuchet MS"/>
              <a:cs typeface="Trebuchet MS"/>
            </a:endParaRPr>
          </a:p>
          <a:p>
            <a:pPr marR="3188335" algn="ctr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#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Module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  <a:p>
            <a:pPr marL="12700" marR="5080" algn="ctr">
              <a:lnSpc>
                <a:spcPct val="100800"/>
              </a:lnSpc>
              <a:spcBef>
                <a:spcPts val="5"/>
              </a:spcBef>
            </a:pPr>
            <a:r>
              <a:rPr sz="1800" spc="-65" dirty="0">
                <a:latin typeface="Trebuchet MS"/>
                <a:cs typeface="Trebuchet MS"/>
              </a:rPr>
              <a:t>def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modify_module_b(module_b_instance): </a:t>
            </a:r>
            <a:r>
              <a:rPr sz="1800" spc="-50" dirty="0">
                <a:latin typeface="Trebuchet MS"/>
                <a:cs typeface="Trebuchet MS"/>
              </a:rPr>
              <a:t>module_b_instance.internal_data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42</a:t>
            </a:r>
            <a:r>
              <a:rPr sz="1800" spc="29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# </a:t>
            </a:r>
            <a:r>
              <a:rPr sz="1800" spc="-55" dirty="0">
                <a:latin typeface="Trebuchet MS"/>
                <a:cs typeface="Trebuchet MS"/>
              </a:rPr>
              <a:t>Directly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modifying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internal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data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of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Module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20" dirty="0">
                <a:latin typeface="Trebuchet MS"/>
                <a:cs typeface="Trebuchet MS"/>
              </a:rPr>
              <a:t>B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80" dirty="0"/>
              <a:t>7.</a:t>
            </a:r>
            <a:r>
              <a:rPr sz="3200" spc="225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0" dirty="0"/>
              <a:t>Coupling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26223"/>
            <a:ext cx="6346825" cy="519557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1195"/>
              </a:spcBef>
              <a:buSzPct val="95348"/>
              <a:buFont typeface="Wingdings"/>
              <a:buChar char=""/>
              <a:tabLst>
                <a:tab pos="240665" algn="l"/>
              </a:tabLst>
            </a:pPr>
            <a:r>
              <a:rPr sz="2150" spc="60" dirty="0">
                <a:solidFill>
                  <a:srgbClr val="FF0000"/>
                </a:solidFill>
                <a:latin typeface="Cambria"/>
                <a:cs typeface="Cambria"/>
              </a:rPr>
              <a:t>Content</a:t>
            </a:r>
            <a:r>
              <a:rPr sz="2150" spc="2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110" dirty="0">
                <a:solidFill>
                  <a:srgbClr val="FF0000"/>
                </a:solidFill>
                <a:latin typeface="Cambria"/>
                <a:cs typeface="Cambria"/>
              </a:rPr>
              <a:t>Coupling</a:t>
            </a:r>
            <a:r>
              <a:rPr sz="215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(Strongest,</a:t>
            </a:r>
            <a:r>
              <a:rPr sz="2150" spc="1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80" dirty="0">
                <a:solidFill>
                  <a:srgbClr val="FF0000"/>
                </a:solidFill>
                <a:latin typeface="Cambria"/>
                <a:cs typeface="Cambria"/>
              </a:rPr>
              <a:t>Most</a:t>
            </a:r>
            <a:r>
              <a:rPr sz="215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35" dirty="0">
                <a:solidFill>
                  <a:srgbClr val="FF0000"/>
                </a:solidFill>
                <a:latin typeface="Cambria"/>
                <a:cs typeface="Cambria"/>
              </a:rPr>
              <a:t>Undesirable)</a:t>
            </a:r>
            <a:endParaRPr sz="2150">
              <a:latin typeface="Cambria"/>
              <a:cs typeface="Cambria"/>
            </a:endParaRPr>
          </a:p>
          <a:p>
            <a:pPr marL="697865" marR="5715" lvl="1" indent="-229870" algn="just">
              <a:lnSpc>
                <a:spcPts val="3760"/>
              </a:lnSpc>
              <a:spcBef>
                <a:spcPts val="240"/>
              </a:spcBef>
              <a:buSzPct val="95348"/>
              <a:buFont typeface="Wingdings"/>
              <a:buChar char=""/>
              <a:tabLst>
                <a:tab pos="699135" algn="l"/>
              </a:tabLst>
            </a:pPr>
            <a:r>
              <a:rPr sz="2150" spc="120" dirty="0">
                <a:solidFill>
                  <a:srgbClr val="FF0000"/>
                </a:solidFill>
                <a:latin typeface="Cambria"/>
                <a:cs typeface="Cambria"/>
              </a:rPr>
              <a:t>One</a:t>
            </a:r>
            <a:r>
              <a:rPr sz="2150" spc="2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80" dirty="0">
                <a:solidFill>
                  <a:srgbClr val="FF0000"/>
                </a:solidFill>
                <a:latin typeface="Cambria"/>
                <a:cs typeface="Cambria"/>
              </a:rPr>
              <a:t>module</a:t>
            </a:r>
            <a:r>
              <a:rPr sz="2150" spc="2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directly</a:t>
            </a:r>
            <a:r>
              <a:rPr sz="2150" spc="2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60" dirty="0">
                <a:solidFill>
                  <a:srgbClr val="FF0000"/>
                </a:solidFill>
                <a:latin typeface="Cambria"/>
                <a:cs typeface="Cambria"/>
              </a:rPr>
              <a:t>modifies</a:t>
            </a:r>
            <a:r>
              <a:rPr sz="2150" spc="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150" spc="2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70" dirty="0">
                <a:solidFill>
                  <a:srgbClr val="FF0000"/>
                </a:solidFill>
                <a:latin typeface="Cambria"/>
                <a:cs typeface="Cambria"/>
              </a:rPr>
              <a:t>depends</a:t>
            </a:r>
            <a:r>
              <a:rPr sz="2150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40" dirty="0">
                <a:solidFill>
                  <a:srgbClr val="FF0000"/>
                </a:solidFill>
                <a:latin typeface="Cambria"/>
                <a:cs typeface="Cambria"/>
              </a:rPr>
              <a:t>on 	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15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internal</a:t>
            </a:r>
            <a:r>
              <a:rPr sz="2150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150" spc="1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150" spc="1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50" dirty="0">
                <a:solidFill>
                  <a:srgbClr val="FF0000"/>
                </a:solidFill>
                <a:latin typeface="Cambria"/>
                <a:cs typeface="Cambria"/>
              </a:rPr>
              <a:t>logic</a:t>
            </a:r>
            <a:r>
              <a:rPr sz="2150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6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150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another</a:t>
            </a:r>
            <a:r>
              <a:rPr sz="2150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75" dirty="0">
                <a:solidFill>
                  <a:srgbClr val="FF0000"/>
                </a:solidFill>
                <a:latin typeface="Cambria"/>
                <a:cs typeface="Cambria"/>
              </a:rPr>
              <a:t>module</a:t>
            </a:r>
            <a:r>
              <a:rPr sz="2150" spc="75" dirty="0">
                <a:latin typeface="Cambria"/>
                <a:cs typeface="Cambria"/>
              </a:rPr>
              <a:t>.</a:t>
            </a:r>
            <a:endParaRPr sz="2150">
              <a:latin typeface="Cambria"/>
              <a:cs typeface="Cambria"/>
            </a:endParaRPr>
          </a:p>
          <a:p>
            <a:pPr marL="697865" lvl="1" indent="-229870" algn="just">
              <a:lnSpc>
                <a:spcPct val="100000"/>
              </a:lnSpc>
              <a:spcBef>
                <a:spcPts val="775"/>
              </a:spcBef>
              <a:buSzPct val="95348"/>
              <a:buFont typeface="Wingdings"/>
              <a:buChar char=""/>
              <a:tabLst>
                <a:tab pos="697865" algn="l"/>
              </a:tabLst>
            </a:pPr>
            <a:r>
              <a:rPr sz="2150" spc="114" dirty="0">
                <a:latin typeface="Cambria"/>
                <a:cs typeface="Cambria"/>
              </a:rPr>
              <a:t>Module</a:t>
            </a:r>
            <a:r>
              <a:rPr sz="2150" spc="120" dirty="0">
                <a:latin typeface="Cambria"/>
                <a:cs typeface="Cambria"/>
              </a:rPr>
              <a:t>  </a:t>
            </a:r>
            <a:r>
              <a:rPr sz="2150" spc="345" dirty="0">
                <a:latin typeface="Cambria"/>
                <a:cs typeface="Cambria"/>
              </a:rPr>
              <a:t>A</a:t>
            </a:r>
            <a:r>
              <a:rPr sz="2150" spc="14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directly</a:t>
            </a:r>
            <a:r>
              <a:rPr sz="2150" spc="15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accesses</a:t>
            </a:r>
            <a:r>
              <a:rPr sz="2150" spc="140" dirty="0">
                <a:latin typeface="Cambria"/>
                <a:cs typeface="Cambria"/>
              </a:rPr>
              <a:t>  </a:t>
            </a:r>
            <a:r>
              <a:rPr sz="2150" spc="85" dirty="0">
                <a:latin typeface="Cambria"/>
                <a:cs typeface="Cambria"/>
              </a:rPr>
              <a:t>and</a:t>
            </a:r>
            <a:r>
              <a:rPr sz="2150" spc="130" dirty="0">
                <a:latin typeface="Cambria"/>
                <a:cs typeface="Cambria"/>
              </a:rPr>
              <a:t>  </a:t>
            </a:r>
            <a:r>
              <a:rPr sz="2150" spc="45" dirty="0">
                <a:latin typeface="Cambria"/>
                <a:cs typeface="Cambria"/>
              </a:rPr>
              <a:t>changes</a:t>
            </a:r>
            <a:r>
              <a:rPr sz="2150" spc="145" dirty="0">
                <a:latin typeface="Cambria"/>
                <a:cs typeface="Cambria"/>
              </a:rPr>
              <a:t>  </a:t>
            </a:r>
            <a:r>
              <a:rPr sz="2150" spc="-50" dirty="0">
                <a:latin typeface="Cambria"/>
                <a:cs typeface="Cambria"/>
              </a:rPr>
              <a:t>a</a:t>
            </a:r>
            <a:endParaRPr sz="2150">
              <a:latin typeface="Cambria"/>
              <a:cs typeface="Cambria"/>
            </a:endParaRPr>
          </a:p>
          <a:p>
            <a:pPr marL="699135" algn="just">
              <a:lnSpc>
                <a:spcPct val="100000"/>
              </a:lnSpc>
              <a:spcBef>
                <a:spcPts val="1100"/>
              </a:spcBef>
            </a:pPr>
            <a:r>
              <a:rPr sz="2150" dirty="0">
                <a:latin typeface="Cambria"/>
                <a:cs typeface="Cambria"/>
              </a:rPr>
              <a:t>variable</a:t>
            </a:r>
            <a:r>
              <a:rPr sz="2150" spc="185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inside</a:t>
            </a:r>
            <a:r>
              <a:rPr sz="2150" spc="170" dirty="0">
                <a:latin typeface="Cambria"/>
                <a:cs typeface="Cambria"/>
              </a:rPr>
              <a:t> </a:t>
            </a:r>
            <a:r>
              <a:rPr sz="2150" spc="110" dirty="0">
                <a:latin typeface="Cambria"/>
                <a:cs typeface="Cambria"/>
              </a:rPr>
              <a:t>Module</a:t>
            </a:r>
            <a:r>
              <a:rPr sz="2150" spc="204" dirty="0">
                <a:latin typeface="Cambria"/>
                <a:cs typeface="Cambria"/>
              </a:rPr>
              <a:t> </a:t>
            </a:r>
            <a:r>
              <a:rPr sz="2150" spc="40" dirty="0">
                <a:latin typeface="Cambria"/>
                <a:cs typeface="Cambria"/>
              </a:rPr>
              <a:t>B.</a:t>
            </a:r>
            <a:endParaRPr sz="2150">
              <a:latin typeface="Cambria"/>
              <a:cs typeface="Cambria"/>
            </a:endParaRPr>
          </a:p>
          <a:p>
            <a:pPr marL="697865" lvl="1" indent="-229870" algn="just">
              <a:lnSpc>
                <a:spcPct val="100000"/>
              </a:lnSpc>
              <a:spcBef>
                <a:spcPts val="1100"/>
              </a:spcBef>
              <a:buSzPct val="95348"/>
              <a:buFont typeface="Wingdings"/>
              <a:buChar char=""/>
              <a:tabLst>
                <a:tab pos="697865" algn="l"/>
                <a:tab pos="699135" algn="l"/>
              </a:tabLst>
            </a:pPr>
            <a:r>
              <a:rPr sz="2150" dirty="0">
                <a:latin typeface="Cambria"/>
                <a:cs typeface="Cambria"/>
              </a:rPr>
              <a:t>This</a:t>
            </a:r>
            <a:r>
              <a:rPr sz="2150" spc="5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violates</a:t>
            </a:r>
            <a:r>
              <a:rPr sz="2150" spc="60" dirty="0">
                <a:latin typeface="Cambria"/>
                <a:cs typeface="Cambria"/>
              </a:rPr>
              <a:t>  </a:t>
            </a:r>
            <a:r>
              <a:rPr sz="2150" spc="45" dirty="0">
                <a:latin typeface="Cambria"/>
                <a:cs typeface="Cambria"/>
              </a:rPr>
              <a:t>encapsulation</a:t>
            </a:r>
            <a:r>
              <a:rPr sz="2150" spc="55" dirty="0">
                <a:latin typeface="Cambria"/>
                <a:cs typeface="Cambria"/>
              </a:rPr>
              <a:t>  </a:t>
            </a:r>
            <a:r>
              <a:rPr sz="2150" spc="85" dirty="0">
                <a:latin typeface="Cambria"/>
                <a:cs typeface="Cambria"/>
              </a:rPr>
              <a:t>and</a:t>
            </a:r>
            <a:r>
              <a:rPr sz="2150" spc="55" dirty="0">
                <a:latin typeface="Cambria"/>
                <a:cs typeface="Cambria"/>
              </a:rPr>
              <a:t>  </a:t>
            </a:r>
            <a:r>
              <a:rPr sz="2150" spc="35" dirty="0">
                <a:latin typeface="Cambria"/>
                <a:cs typeface="Cambria"/>
              </a:rPr>
              <a:t>information</a:t>
            </a:r>
            <a:endParaRPr sz="2150">
              <a:latin typeface="Cambria"/>
              <a:cs typeface="Cambria"/>
            </a:endParaRPr>
          </a:p>
          <a:p>
            <a:pPr marL="699135" marR="5080" algn="just">
              <a:lnSpc>
                <a:spcPct val="143400"/>
              </a:lnSpc>
              <a:spcBef>
                <a:spcPts val="55"/>
              </a:spcBef>
            </a:pPr>
            <a:r>
              <a:rPr sz="2150" spc="85" dirty="0">
                <a:latin typeface="Cambria"/>
                <a:cs typeface="Cambria"/>
              </a:rPr>
              <a:t>hiding.</a:t>
            </a:r>
            <a:r>
              <a:rPr sz="2150" spc="295" dirty="0">
                <a:latin typeface="Cambria"/>
                <a:cs typeface="Cambria"/>
              </a:rPr>
              <a:t>  </a:t>
            </a:r>
            <a:r>
              <a:rPr sz="2150" spc="60" dirty="0">
                <a:solidFill>
                  <a:srgbClr val="FF0000"/>
                </a:solidFill>
                <a:latin typeface="Cambria"/>
                <a:cs typeface="Cambria"/>
              </a:rPr>
              <a:t>If</a:t>
            </a:r>
            <a:r>
              <a:rPr sz="2150" spc="30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spc="110" dirty="0">
                <a:solidFill>
                  <a:srgbClr val="FF0000"/>
                </a:solidFill>
                <a:latin typeface="Cambria"/>
                <a:cs typeface="Cambria"/>
              </a:rPr>
              <a:t>Module</a:t>
            </a:r>
            <a:r>
              <a:rPr sz="2150" spc="30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B</a:t>
            </a:r>
            <a:r>
              <a:rPr sz="2150" spc="31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spc="45" dirty="0">
                <a:solidFill>
                  <a:srgbClr val="FF0000"/>
                </a:solidFill>
                <a:latin typeface="Cambria"/>
                <a:cs typeface="Cambria"/>
              </a:rPr>
              <a:t>changes</a:t>
            </a:r>
            <a:r>
              <a:rPr sz="2150" spc="30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its</a:t>
            </a:r>
            <a:r>
              <a:rPr sz="2150" spc="31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internal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structure,</a:t>
            </a:r>
            <a:r>
              <a:rPr sz="2150" spc="10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spc="114" dirty="0">
                <a:solidFill>
                  <a:srgbClr val="FF0000"/>
                </a:solidFill>
                <a:latin typeface="Cambria"/>
                <a:cs typeface="Cambria"/>
              </a:rPr>
              <a:t>Module</a:t>
            </a:r>
            <a:r>
              <a:rPr sz="2150" spc="7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spc="345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150" spc="9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spc="75" dirty="0">
                <a:solidFill>
                  <a:srgbClr val="FF0000"/>
                </a:solidFill>
                <a:latin typeface="Cambria"/>
                <a:cs typeface="Cambria"/>
              </a:rPr>
              <a:t>will</a:t>
            </a:r>
            <a:r>
              <a:rPr sz="2150" spc="6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break</a:t>
            </a:r>
            <a:r>
              <a:rPr sz="2150" dirty="0">
                <a:latin typeface="Cambria"/>
                <a:cs typeface="Cambria"/>
              </a:rPr>
              <a:t>.</a:t>
            </a:r>
            <a:r>
              <a:rPr sz="2150" spc="85" dirty="0">
                <a:latin typeface="Cambria"/>
                <a:cs typeface="Cambria"/>
              </a:rPr>
              <a:t>  </a:t>
            </a:r>
            <a:r>
              <a:rPr sz="2150" spc="95" dirty="0">
                <a:solidFill>
                  <a:srgbClr val="FF0000"/>
                </a:solidFill>
                <a:latin typeface="Cambria"/>
                <a:cs typeface="Cambria"/>
              </a:rPr>
              <a:t>Debugging </a:t>
            </a:r>
            <a:r>
              <a:rPr sz="2150" spc="8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150" spc="2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55" dirty="0">
                <a:solidFill>
                  <a:srgbClr val="FF0000"/>
                </a:solidFill>
                <a:latin typeface="Cambria"/>
                <a:cs typeface="Cambria"/>
              </a:rPr>
              <a:t>maintaining</a:t>
            </a:r>
            <a:r>
              <a:rPr sz="2150" spc="3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50" dirty="0">
                <a:solidFill>
                  <a:srgbClr val="FF0000"/>
                </a:solidFill>
                <a:latin typeface="Cambria"/>
                <a:cs typeface="Cambria"/>
              </a:rPr>
              <a:t>such</a:t>
            </a:r>
            <a:r>
              <a:rPr sz="2150" spc="3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50" dirty="0">
                <a:solidFill>
                  <a:srgbClr val="FF0000"/>
                </a:solidFill>
                <a:latin typeface="Cambria"/>
                <a:cs typeface="Cambria"/>
              </a:rPr>
              <a:t>code</a:t>
            </a:r>
            <a:r>
              <a:rPr sz="2150" spc="3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becomes</a:t>
            </a:r>
            <a:r>
              <a:rPr sz="2150" spc="3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50" dirty="0">
                <a:solidFill>
                  <a:srgbClr val="FF0000"/>
                </a:solidFill>
                <a:latin typeface="Cambria"/>
                <a:cs typeface="Cambria"/>
              </a:rPr>
              <a:t>difficult </a:t>
            </a:r>
            <a:r>
              <a:rPr sz="2150" dirty="0">
                <a:latin typeface="Cambria"/>
                <a:cs typeface="Cambria"/>
              </a:rPr>
              <a:t>because</a:t>
            </a:r>
            <a:r>
              <a:rPr sz="2150" spc="45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409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internal</a:t>
            </a:r>
            <a:r>
              <a:rPr sz="2150" spc="49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details</a:t>
            </a:r>
            <a:r>
              <a:rPr sz="2150" spc="475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of</a:t>
            </a:r>
            <a:r>
              <a:rPr sz="2150" spc="455" dirty="0">
                <a:latin typeface="Cambria"/>
                <a:cs typeface="Cambria"/>
              </a:rPr>
              <a:t> </a:t>
            </a:r>
            <a:r>
              <a:rPr sz="2150" spc="110" dirty="0">
                <a:latin typeface="Cambria"/>
                <a:cs typeface="Cambria"/>
              </a:rPr>
              <a:t>Module</a:t>
            </a:r>
            <a:r>
              <a:rPr sz="2150" spc="44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B</a:t>
            </a:r>
            <a:r>
              <a:rPr sz="2150" spc="470" dirty="0">
                <a:latin typeface="Cambria"/>
                <a:cs typeface="Cambria"/>
              </a:rPr>
              <a:t> </a:t>
            </a:r>
            <a:r>
              <a:rPr sz="2150" spc="-25" dirty="0">
                <a:latin typeface="Cambria"/>
                <a:cs typeface="Cambria"/>
              </a:rPr>
              <a:t>are </a:t>
            </a:r>
            <a:r>
              <a:rPr sz="2150" dirty="0">
                <a:latin typeface="Cambria"/>
                <a:cs typeface="Cambria"/>
              </a:rPr>
              <a:t>exposed</a:t>
            </a:r>
            <a:r>
              <a:rPr sz="2150" spc="29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to</a:t>
            </a:r>
            <a:r>
              <a:rPr sz="2150" spc="175" dirty="0">
                <a:latin typeface="Cambria"/>
                <a:cs typeface="Cambria"/>
              </a:rPr>
              <a:t> </a:t>
            </a:r>
            <a:r>
              <a:rPr sz="2150" spc="114" dirty="0">
                <a:latin typeface="Cambria"/>
                <a:cs typeface="Cambria"/>
              </a:rPr>
              <a:t>Module</a:t>
            </a:r>
            <a:r>
              <a:rPr sz="2150" spc="204" dirty="0">
                <a:latin typeface="Cambria"/>
                <a:cs typeface="Cambria"/>
              </a:rPr>
              <a:t> A.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93001" y="1875726"/>
            <a:ext cx="4308475" cy="250380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2771775">
              <a:lnSpc>
                <a:spcPct val="100899"/>
              </a:lnSpc>
              <a:spcBef>
                <a:spcPts val="80"/>
              </a:spcBef>
            </a:pPr>
            <a:r>
              <a:rPr sz="1800" dirty="0">
                <a:latin typeface="Trebuchet MS"/>
                <a:cs typeface="Trebuchet MS"/>
              </a:rPr>
              <a:t>#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Module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20" dirty="0">
                <a:latin typeface="Trebuchet MS"/>
                <a:cs typeface="Trebuchet MS"/>
              </a:rPr>
              <a:t>B </a:t>
            </a:r>
            <a:r>
              <a:rPr sz="1800" spc="50" dirty="0">
                <a:latin typeface="Trebuchet MS"/>
                <a:cs typeface="Trebuchet MS"/>
              </a:rPr>
              <a:t>class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ModuleB:</a:t>
            </a:r>
            <a:endParaRPr sz="1800">
              <a:latin typeface="Trebuchet MS"/>
              <a:cs typeface="Trebuchet MS"/>
            </a:endParaRPr>
          </a:p>
          <a:p>
            <a:pPr marL="381000" marR="1858010" indent="-184785">
              <a:lnSpc>
                <a:spcPct val="100800"/>
              </a:lnSpc>
              <a:tabLst>
                <a:tab pos="770255" algn="l"/>
                <a:tab pos="1287780" algn="l"/>
              </a:tabLst>
            </a:pPr>
            <a:r>
              <a:rPr sz="1800" dirty="0">
                <a:latin typeface="Trebuchet MS"/>
                <a:cs typeface="Trebuchet MS"/>
              </a:rPr>
              <a:t>def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	</a:t>
            </a:r>
            <a:r>
              <a:rPr sz="1800" spc="-20" dirty="0">
                <a:latin typeface="Trebuchet MS"/>
                <a:cs typeface="Trebuchet MS"/>
              </a:rPr>
              <a:t>init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(self): </a:t>
            </a:r>
            <a:r>
              <a:rPr sz="1800" spc="-65" dirty="0">
                <a:latin typeface="Trebuchet MS"/>
                <a:cs typeface="Trebuchet MS"/>
              </a:rPr>
              <a:t>self.internal_data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Trebuchet MS"/>
              <a:cs typeface="Trebuchet MS"/>
            </a:endParaRPr>
          </a:p>
          <a:p>
            <a:pPr marR="3188335" algn="ctr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#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Module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  <a:p>
            <a:pPr marL="12700" marR="5080" algn="ctr">
              <a:lnSpc>
                <a:spcPct val="100800"/>
              </a:lnSpc>
              <a:spcBef>
                <a:spcPts val="5"/>
              </a:spcBef>
            </a:pPr>
            <a:r>
              <a:rPr sz="1800" spc="-65" dirty="0">
                <a:latin typeface="Trebuchet MS"/>
                <a:cs typeface="Trebuchet MS"/>
              </a:rPr>
              <a:t>def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modify_module_b(module_b_instance): </a:t>
            </a:r>
            <a:r>
              <a:rPr sz="1800" spc="-50" dirty="0">
                <a:latin typeface="Trebuchet MS"/>
                <a:cs typeface="Trebuchet MS"/>
              </a:rPr>
              <a:t>module_b_instance.internal_data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42</a:t>
            </a:r>
            <a:r>
              <a:rPr sz="1800" spc="29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# </a:t>
            </a:r>
            <a:r>
              <a:rPr sz="1800" spc="-55" dirty="0">
                <a:latin typeface="Trebuchet MS"/>
                <a:cs typeface="Trebuchet MS"/>
              </a:rPr>
              <a:t>Directly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modifying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internal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data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of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Module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20" dirty="0">
                <a:latin typeface="Trebuchet MS"/>
                <a:cs typeface="Trebuchet MS"/>
              </a:rPr>
              <a:t>B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80" dirty="0"/>
              <a:t>7.</a:t>
            </a:r>
            <a:r>
              <a:rPr sz="3200" spc="225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0" dirty="0"/>
              <a:t>Coupling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46467" y="1880404"/>
            <a:ext cx="5895340" cy="429895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241300" algn="just">
              <a:lnSpc>
                <a:spcPct val="100000"/>
              </a:lnSpc>
              <a:spcBef>
                <a:spcPts val="1075"/>
              </a:spcBef>
            </a:pPr>
            <a:r>
              <a:rPr sz="2000" spc="50" dirty="0">
                <a:solidFill>
                  <a:srgbClr val="FF0000"/>
                </a:solidFill>
                <a:latin typeface="Cambria"/>
                <a:cs typeface="Cambria"/>
              </a:rPr>
              <a:t>leading</a:t>
            </a:r>
            <a:r>
              <a:rPr sz="2000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0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dependencies</a:t>
            </a:r>
            <a:r>
              <a:rPr sz="2000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FF0000"/>
                </a:solidFill>
                <a:latin typeface="Cambria"/>
                <a:cs typeface="Cambria"/>
              </a:rPr>
              <a:t>on</a:t>
            </a:r>
            <a:r>
              <a:rPr sz="2000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that</a:t>
            </a:r>
            <a:r>
              <a:rPr sz="20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shared</a:t>
            </a:r>
            <a:r>
              <a:rPr sz="200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000" spc="-10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241300" marR="15240" indent="-229235" algn="just">
              <a:lnSpc>
                <a:spcPct val="140800"/>
              </a:lnSpc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Cambria"/>
                <a:cs typeface="Cambria"/>
              </a:rPr>
              <a:t>Several</a:t>
            </a:r>
            <a:r>
              <a:rPr sz="2000" spc="254" dirty="0">
                <a:latin typeface="Cambria"/>
                <a:cs typeface="Cambria"/>
              </a:rPr>
              <a:t>  </a:t>
            </a:r>
            <a:r>
              <a:rPr sz="2000" spc="45" dirty="0">
                <a:latin typeface="Cambria"/>
                <a:cs typeface="Cambria"/>
              </a:rPr>
              <a:t>modules</a:t>
            </a:r>
            <a:r>
              <a:rPr sz="2000" spc="27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access</a:t>
            </a:r>
            <a:r>
              <a:rPr sz="2000" spc="280" dirty="0">
                <a:latin typeface="Cambria"/>
                <a:cs typeface="Cambria"/>
              </a:rPr>
              <a:t>  </a:t>
            </a:r>
            <a:r>
              <a:rPr sz="2000" spc="60" dirty="0">
                <a:latin typeface="Cambria"/>
                <a:cs typeface="Cambria"/>
              </a:rPr>
              <a:t>and</a:t>
            </a:r>
            <a:r>
              <a:rPr sz="2000" spc="265" dirty="0">
                <a:latin typeface="Cambria"/>
                <a:cs typeface="Cambria"/>
              </a:rPr>
              <a:t>  </a:t>
            </a:r>
            <a:r>
              <a:rPr sz="2000" spc="65" dirty="0">
                <a:latin typeface="Cambria"/>
                <a:cs typeface="Cambria"/>
              </a:rPr>
              <a:t>modify</a:t>
            </a:r>
            <a:r>
              <a:rPr sz="2000" spc="27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270" dirty="0">
                <a:latin typeface="Cambria"/>
                <a:cs typeface="Cambria"/>
              </a:rPr>
              <a:t>  </a:t>
            </a:r>
            <a:r>
              <a:rPr sz="2000" spc="-10" dirty="0">
                <a:latin typeface="Cambria"/>
                <a:cs typeface="Cambria"/>
              </a:rPr>
              <a:t>global </a:t>
            </a:r>
            <a:r>
              <a:rPr sz="2000" dirty="0">
                <a:latin typeface="Cambria"/>
                <a:cs typeface="Cambria"/>
              </a:rPr>
              <a:t>configuration</a:t>
            </a:r>
            <a:r>
              <a:rPr sz="2000" spc="47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variable..</a:t>
            </a:r>
            <a:endParaRPr sz="2000">
              <a:latin typeface="Cambria"/>
              <a:cs typeface="Cambria"/>
            </a:endParaRPr>
          </a:p>
          <a:p>
            <a:pPr marL="241300" marR="5080" indent="-229235" algn="just">
              <a:lnSpc>
                <a:spcPct val="139800"/>
              </a:lnSpc>
              <a:spcBef>
                <a:spcPts val="2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70" dirty="0">
                <a:latin typeface="Cambria"/>
                <a:cs typeface="Cambria"/>
              </a:rPr>
              <a:t>Changes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global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variable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by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one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module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can </a:t>
            </a:r>
            <a:r>
              <a:rPr sz="2000" dirty="0">
                <a:latin typeface="Cambria"/>
                <a:cs typeface="Cambria"/>
              </a:rPr>
              <a:t>cause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unexpected</a:t>
            </a:r>
            <a:r>
              <a:rPr sz="2000" spc="3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behavior</a:t>
            </a:r>
            <a:r>
              <a:rPr sz="2000" spc="2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FF0000"/>
                </a:solidFill>
                <a:latin typeface="Cambria"/>
                <a:cs typeface="Cambria"/>
              </a:rPr>
              <a:t>in</a:t>
            </a:r>
            <a:r>
              <a:rPr sz="2000" spc="2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other</a:t>
            </a:r>
            <a:r>
              <a:rPr sz="2000" spc="2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FF0000"/>
                </a:solidFill>
                <a:latin typeface="Cambria"/>
                <a:cs typeface="Cambria"/>
              </a:rPr>
              <a:t>modules</a:t>
            </a:r>
            <a:r>
              <a:rPr sz="2000" spc="50" dirty="0">
                <a:latin typeface="Cambria"/>
                <a:cs typeface="Cambria"/>
              </a:rPr>
              <a:t>.</a:t>
            </a:r>
            <a:r>
              <a:rPr sz="2000" spc="29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For </a:t>
            </a:r>
            <a:r>
              <a:rPr sz="2000" dirty="0">
                <a:latin typeface="Cambria"/>
                <a:cs typeface="Cambria"/>
              </a:rPr>
              <a:t>example,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if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Module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325" dirty="0">
                <a:latin typeface="Cambria"/>
                <a:cs typeface="Cambria"/>
              </a:rPr>
              <a:t>A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changes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theme,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Module </a:t>
            </a:r>
            <a:r>
              <a:rPr sz="2000" dirty="0">
                <a:latin typeface="Cambria"/>
                <a:cs typeface="Cambria"/>
              </a:rPr>
              <a:t>B</a:t>
            </a:r>
            <a:r>
              <a:rPr sz="2000" spc="185" dirty="0">
                <a:latin typeface="Cambria"/>
                <a:cs typeface="Cambria"/>
              </a:rPr>
              <a:t>  </a:t>
            </a:r>
            <a:r>
              <a:rPr sz="2000" spc="55" dirty="0">
                <a:latin typeface="Cambria"/>
                <a:cs typeface="Cambria"/>
              </a:rPr>
              <a:t>might</a:t>
            </a:r>
            <a:r>
              <a:rPr sz="2000" spc="18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behave</a:t>
            </a:r>
            <a:r>
              <a:rPr sz="2000" spc="17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differently</a:t>
            </a:r>
            <a:r>
              <a:rPr sz="2000" spc="19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without</a:t>
            </a:r>
            <a:r>
              <a:rPr sz="2000" spc="175" dirty="0">
                <a:latin typeface="Cambria"/>
                <a:cs typeface="Cambria"/>
              </a:rPr>
              <a:t>  </a:t>
            </a:r>
            <a:r>
              <a:rPr sz="2000" spc="60" dirty="0">
                <a:latin typeface="Cambria"/>
                <a:cs typeface="Cambria"/>
              </a:rPr>
              <a:t>any</a:t>
            </a:r>
            <a:r>
              <a:rPr sz="2000" spc="180" dirty="0">
                <a:latin typeface="Cambria"/>
                <a:cs typeface="Cambria"/>
              </a:rPr>
              <a:t>  </a:t>
            </a:r>
            <a:r>
              <a:rPr sz="2000" spc="-10" dirty="0">
                <a:latin typeface="Cambria"/>
                <a:cs typeface="Cambria"/>
              </a:rPr>
              <a:t>direct </a:t>
            </a:r>
            <a:r>
              <a:rPr sz="2000" dirty="0">
                <a:latin typeface="Cambria"/>
                <a:cs typeface="Cambria"/>
              </a:rPr>
              <a:t>interaction</a:t>
            </a:r>
            <a:r>
              <a:rPr sz="2000" spc="18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between</a:t>
            </a:r>
            <a:r>
              <a:rPr sz="2000" spc="20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them.</a:t>
            </a:r>
            <a:r>
              <a:rPr sz="2000" spc="20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This</a:t>
            </a:r>
            <a:r>
              <a:rPr sz="2000" spc="19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creates</a:t>
            </a:r>
            <a:r>
              <a:rPr sz="2000" spc="195" dirty="0">
                <a:latin typeface="Cambria"/>
                <a:cs typeface="Cambria"/>
              </a:rPr>
              <a:t>  </a:t>
            </a:r>
            <a:r>
              <a:rPr sz="2000" spc="45" dirty="0">
                <a:latin typeface="Cambria"/>
                <a:cs typeface="Cambria"/>
              </a:rPr>
              <a:t>hidden </a:t>
            </a:r>
            <a:r>
              <a:rPr sz="2000" dirty="0">
                <a:latin typeface="Cambria"/>
                <a:cs typeface="Cambria"/>
              </a:rPr>
              <a:t>dependencies</a:t>
            </a:r>
            <a:r>
              <a:rPr sz="2000" spc="150" dirty="0">
                <a:latin typeface="Cambria"/>
                <a:cs typeface="Cambria"/>
              </a:rPr>
              <a:t>  </a:t>
            </a:r>
            <a:r>
              <a:rPr sz="2000" spc="60" dirty="0">
                <a:latin typeface="Cambria"/>
                <a:cs typeface="Cambria"/>
              </a:rPr>
              <a:t>and</a:t>
            </a:r>
            <a:r>
              <a:rPr sz="2000" spc="15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makes</a:t>
            </a:r>
            <a:r>
              <a:rPr sz="2000" spc="14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6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system</a:t>
            </a:r>
            <a:r>
              <a:rPr sz="2000" spc="15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harder</a:t>
            </a:r>
            <a:r>
              <a:rPr sz="2000" spc="135" dirty="0">
                <a:latin typeface="Cambria"/>
                <a:cs typeface="Cambria"/>
              </a:rPr>
              <a:t>  </a:t>
            </a:r>
            <a:r>
              <a:rPr sz="2000" spc="-25" dirty="0">
                <a:latin typeface="Cambria"/>
                <a:cs typeface="Cambria"/>
              </a:rPr>
              <a:t>to </a:t>
            </a:r>
            <a:r>
              <a:rPr sz="2000" spc="55" dirty="0">
                <a:latin typeface="Cambria"/>
                <a:cs typeface="Cambria"/>
              </a:rPr>
              <a:t>debug.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950" y="1041463"/>
            <a:ext cx="8285480" cy="113474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90" dirty="0">
                <a:solidFill>
                  <a:srgbClr val="FF0000"/>
                </a:solidFill>
                <a:latin typeface="Cambria"/>
                <a:cs typeface="Cambria"/>
              </a:rPr>
              <a:t>Common</a:t>
            </a:r>
            <a:r>
              <a:rPr sz="20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FF0000"/>
                </a:solidFill>
                <a:latin typeface="Cambria"/>
                <a:cs typeface="Cambria"/>
              </a:rPr>
              <a:t>Coupling</a:t>
            </a:r>
            <a:endParaRPr sz="2000">
              <a:latin typeface="Cambria"/>
              <a:cs typeface="Cambria"/>
            </a:endParaRPr>
          </a:p>
          <a:p>
            <a:pPr marL="698500" lvl="1" indent="-228600">
              <a:lnSpc>
                <a:spcPts val="2385"/>
              </a:lnSpc>
              <a:spcBef>
                <a:spcPts val="905"/>
              </a:spcBef>
              <a:buFont typeface="Wingdings"/>
              <a:buChar char=""/>
              <a:tabLst>
                <a:tab pos="698500" algn="l"/>
                <a:tab pos="1821180" algn="l"/>
                <a:tab pos="2945130" algn="l"/>
                <a:tab pos="3698875" algn="l"/>
                <a:tab pos="4200525" algn="l"/>
                <a:tab pos="4930140" algn="l"/>
                <a:tab pos="5775960" algn="l"/>
              </a:tabLst>
            </a:pPr>
            <a:r>
              <a:rPr sz="2000" spc="50" dirty="0">
                <a:solidFill>
                  <a:srgbClr val="FF0000"/>
                </a:solidFill>
                <a:latin typeface="Cambria"/>
                <a:cs typeface="Cambria"/>
              </a:rPr>
              <a:t>Multiple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000" spc="35" dirty="0">
                <a:solidFill>
                  <a:srgbClr val="FF0000"/>
                </a:solidFill>
                <a:latin typeface="Cambria"/>
                <a:cs typeface="Cambria"/>
              </a:rPr>
              <a:t>modules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000" spc="-20" dirty="0">
                <a:solidFill>
                  <a:srgbClr val="FF0000"/>
                </a:solidFill>
                <a:latin typeface="Cambria"/>
                <a:cs typeface="Cambria"/>
              </a:rPr>
              <a:t>share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000" spc="-2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000" spc="-20" dirty="0">
                <a:solidFill>
                  <a:srgbClr val="FF0000"/>
                </a:solidFill>
                <a:latin typeface="Cambria"/>
                <a:cs typeface="Cambria"/>
              </a:rPr>
              <a:t>same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global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data,</a:t>
            </a:r>
            <a:endParaRPr sz="2000">
              <a:latin typeface="Cambria"/>
              <a:cs typeface="Cambria"/>
            </a:endParaRPr>
          </a:p>
          <a:p>
            <a:pPr marR="5080" algn="r">
              <a:lnSpc>
                <a:spcPts val="2145"/>
              </a:lnSpc>
            </a:pPr>
            <a:r>
              <a:rPr sz="1800" dirty="0">
                <a:latin typeface="Trebuchet MS"/>
                <a:cs typeface="Trebuchet MS"/>
              </a:rPr>
              <a:t>#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Global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variable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94601" y="2152586"/>
            <a:ext cx="4344670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spc="-45" dirty="0">
                <a:latin typeface="Trebuchet MS"/>
                <a:cs typeface="Trebuchet MS"/>
              </a:rPr>
              <a:t>global_config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{"theme":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"dark",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"language": "en"}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4601" y="2972752"/>
            <a:ext cx="3824604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#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Module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  <a:p>
            <a:pPr marL="196850" marR="5080" indent="-184785">
              <a:lnSpc>
                <a:spcPts val="2180"/>
              </a:lnSpc>
              <a:spcBef>
                <a:spcPts val="75"/>
              </a:spcBef>
            </a:pPr>
            <a:r>
              <a:rPr sz="1800" spc="-65" dirty="0">
                <a:latin typeface="Trebuchet MS"/>
                <a:cs typeface="Trebuchet MS"/>
              </a:rPr>
              <a:t>def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change_theme(new_theme): </a:t>
            </a:r>
            <a:r>
              <a:rPr sz="1800" spc="-45" dirty="0">
                <a:latin typeface="Trebuchet MS"/>
                <a:cs typeface="Trebuchet MS"/>
              </a:rPr>
              <a:t>global_config["theme"]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new_theme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94601" y="4079176"/>
            <a:ext cx="3102610" cy="84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#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Module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20" dirty="0">
                <a:latin typeface="Trebuchet MS"/>
                <a:cs typeface="Trebuchet MS"/>
              </a:rPr>
              <a:t>B</a:t>
            </a:r>
            <a:endParaRPr sz="1800">
              <a:latin typeface="Trebuchet MS"/>
              <a:cs typeface="Trebuchet MS"/>
            </a:endParaRPr>
          </a:p>
          <a:p>
            <a:pPr marL="196850" marR="5080" indent="-184785">
              <a:lnSpc>
                <a:spcPts val="2180"/>
              </a:lnSpc>
              <a:spcBef>
                <a:spcPts val="30"/>
              </a:spcBef>
            </a:pPr>
            <a:r>
              <a:rPr sz="1800" spc="-65" dirty="0">
                <a:latin typeface="Trebuchet MS"/>
                <a:cs typeface="Trebuchet MS"/>
              </a:rPr>
              <a:t>def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get_current_theme(): </a:t>
            </a:r>
            <a:r>
              <a:rPr sz="1800" spc="-70" dirty="0">
                <a:latin typeface="Trebuchet MS"/>
                <a:cs typeface="Trebuchet MS"/>
              </a:rPr>
              <a:t>return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global_config["theme"]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80" dirty="0"/>
              <a:t>7.</a:t>
            </a:r>
            <a:r>
              <a:rPr sz="3200" spc="225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0" dirty="0"/>
              <a:t>Coupling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26223"/>
            <a:ext cx="6349365" cy="519557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1195"/>
              </a:spcBef>
              <a:buSzPct val="95348"/>
              <a:buFont typeface="Wingdings"/>
              <a:buChar char=""/>
              <a:tabLst>
                <a:tab pos="240665" algn="l"/>
              </a:tabLst>
            </a:pP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External</a:t>
            </a:r>
            <a:r>
              <a:rPr sz="2150" spc="3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100" dirty="0">
                <a:solidFill>
                  <a:srgbClr val="FF0000"/>
                </a:solidFill>
                <a:latin typeface="Cambria"/>
                <a:cs typeface="Cambria"/>
              </a:rPr>
              <a:t>Coupling</a:t>
            </a:r>
            <a:endParaRPr sz="2150">
              <a:latin typeface="Cambria"/>
              <a:cs typeface="Cambria"/>
            </a:endParaRPr>
          </a:p>
          <a:p>
            <a:pPr marL="697865" marR="10795" lvl="1" indent="-229870" algn="just">
              <a:lnSpc>
                <a:spcPts val="3760"/>
              </a:lnSpc>
              <a:spcBef>
                <a:spcPts val="240"/>
              </a:spcBef>
              <a:buSzPct val="95348"/>
              <a:buFont typeface="Wingdings"/>
              <a:buChar char=""/>
              <a:tabLst>
                <a:tab pos="699135" algn="l"/>
              </a:tabLst>
            </a:pPr>
            <a:r>
              <a:rPr sz="2150" spc="95" dirty="0">
                <a:solidFill>
                  <a:srgbClr val="FF0000"/>
                </a:solidFill>
                <a:latin typeface="Cambria"/>
                <a:cs typeface="Cambria"/>
              </a:rPr>
              <a:t>Modules</a:t>
            </a:r>
            <a:r>
              <a:rPr sz="2150" spc="114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spc="80" dirty="0">
                <a:solidFill>
                  <a:srgbClr val="FF0000"/>
                </a:solidFill>
                <a:latin typeface="Cambria"/>
                <a:cs typeface="Cambria"/>
              </a:rPr>
              <a:t>depend</a:t>
            </a:r>
            <a:r>
              <a:rPr sz="2150" spc="11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spc="60" dirty="0">
                <a:solidFill>
                  <a:srgbClr val="FF0000"/>
                </a:solidFill>
                <a:latin typeface="Cambria"/>
                <a:cs typeface="Cambria"/>
              </a:rPr>
              <a:t>on</a:t>
            </a:r>
            <a:r>
              <a:rPr sz="2150" spc="11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external</a:t>
            </a:r>
            <a:r>
              <a:rPr sz="2150" spc="11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systems,</a:t>
            </a:r>
            <a:r>
              <a:rPr sz="2150" spc="114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spc="30" dirty="0">
                <a:solidFill>
                  <a:srgbClr val="FF0000"/>
                </a:solidFill>
                <a:latin typeface="Cambria"/>
                <a:cs typeface="Cambria"/>
              </a:rPr>
              <a:t>such 	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as</a:t>
            </a:r>
            <a:r>
              <a:rPr sz="2150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databases,</a:t>
            </a:r>
            <a:r>
              <a:rPr sz="2150" spc="2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files,</a:t>
            </a:r>
            <a:r>
              <a:rPr sz="2150" spc="2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150" spc="2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45" dirty="0">
                <a:solidFill>
                  <a:srgbClr val="FF0000"/>
                </a:solidFill>
                <a:latin typeface="Cambria"/>
                <a:cs typeface="Cambria"/>
              </a:rPr>
              <a:t>network</a:t>
            </a:r>
            <a:r>
              <a:rPr sz="2150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services</a:t>
            </a:r>
            <a:r>
              <a:rPr sz="2150" spc="-10" dirty="0">
                <a:latin typeface="Cambria"/>
                <a:cs typeface="Cambria"/>
              </a:rPr>
              <a:t>.</a:t>
            </a:r>
            <a:endParaRPr sz="2150">
              <a:latin typeface="Cambria"/>
              <a:cs typeface="Cambria"/>
            </a:endParaRPr>
          </a:p>
          <a:p>
            <a:pPr marL="697865" lvl="1" indent="-229870" algn="just">
              <a:lnSpc>
                <a:spcPct val="100000"/>
              </a:lnSpc>
              <a:spcBef>
                <a:spcPts val="775"/>
              </a:spcBef>
              <a:buSzPct val="95348"/>
              <a:buFont typeface="Wingdings"/>
              <a:buChar char=""/>
              <a:tabLst>
                <a:tab pos="697865" algn="l"/>
              </a:tabLst>
            </a:pPr>
            <a:r>
              <a:rPr sz="2150" spc="345" dirty="0">
                <a:latin typeface="Cambria"/>
                <a:cs typeface="Cambria"/>
              </a:rPr>
              <a:t>A</a:t>
            </a:r>
            <a:r>
              <a:rPr sz="2150" spc="220" dirty="0">
                <a:latin typeface="Cambria"/>
                <a:cs typeface="Cambria"/>
              </a:rPr>
              <a:t>  </a:t>
            </a:r>
            <a:r>
              <a:rPr sz="2150" spc="70" dirty="0">
                <a:latin typeface="Cambria"/>
                <a:cs typeface="Cambria"/>
              </a:rPr>
              <a:t>web</a:t>
            </a:r>
            <a:r>
              <a:rPr sz="2150" spc="204" dirty="0">
                <a:latin typeface="Cambria"/>
                <a:cs typeface="Cambria"/>
              </a:rPr>
              <a:t>  </a:t>
            </a:r>
            <a:r>
              <a:rPr sz="2150" spc="45" dirty="0">
                <a:latin typeface="Cambria"/>
                <a:cs typeface="Cambria"/>
              </a:rPr>
              <a:t>application</a:t>
            </a:r>
            <a:r>
              <a:rPr sz="2150" spc="215" dirty="0">
                <a:latin typeface="Cambria"/>
                <a:cs typeface="Cambria"/>
              </a:rPr>
              <a:t>  </a:t>
            </a:r>
            <a:r>
              <a:rPr sz="2150" spc="85" dirty="0">
                <a:latin typeface="Cambria"/>
                <a:cs typeface="Cambria"/>
              </a:rPr>
              <a:t>module</a:t>
            </a:r>
            <a:r>
              <a:rPr sz="2150" spc="220" dirty="0">
                <a:latin typeface="Cambria"/>
                <a:cs typeface="Cambria"/>
              </a:rPr>
              <a:t>  </a:t>
            </a:r>
            <a:r>
              <a:rPr sz="2150" spc="70" dirty="0">
                <a:latin typeface="Cambria"/>
                <a:cs typeface="Cambria"/>
              </a:rPr>
              <a:t>depends</a:t>
            </a:r>
            <a:r>
              <a:rPr sz="2150" spc="210" dirty="0">
                <a:latin typeface="Cambria"/>
                <a:cs typeface="Cambria"/>
              </a:rPr>
              <a:t>  </a:t>
            </a:r>
            <a:r>
              <a:rPr sz="2150" spc="60" dirty="0">
                <a:latin typeface="Cambria"/>
                <a:cs typeface="Cambria"/>
              </a:rPr>
              <a:t>on</a:t>
            </a:r>
            <a:r>
              <a:rPr sz="2150" spc="220" dirty="0">
                <a:latin typeface="Cambria"/>
                <a:cs typeface="Cambria"/>
              </a:rPr>
              <a:t>  </a:t>
            </a:r>
            <a:r>
              <a:rPr sz="2150" spc="-50" dirty="0">
                <a:latin typeface="Cambria"/>
                <a:cs typeface="Cambria"/>
              </a:rPr>
              <a:t>a</a:t>
            </a:r>
            <a:endParaRPr sz="2150">
              <a:latin typeface="Cambria"/>
              <a:cs typeface="Cambria"/>
            </a:endParaRPr>
          </a:p>
          <a:p>
            <a:pPr marL="699135" algn="just">
              <a:lnSpc>
                <a:spcPct val="100000"/>
              </a:lnSpc>
              <a:spcBef>
                <a:spcPts val="1100"/>
              </a:spcBef>
            </a:pPr>
            <a:r>
              <a:rPr sz="2150" dirty="0">
                <a:latin typeface="Cambria"/>
                <a:cs typeface="Cambria"/>
              </a:rPr>
              <a:t>third-</a:t>
            </a:r>
            <a:r>
              <a:rPr sz="2150" spc="50" dirty="0">
                <a:latin typeface="Cambria"/>
                <a:cs typeface="Cambria"/>
              </a:rPr>
              <a:t>party</a:t>
            </a:r>
            <a:r>
              <a:rPr sz="2150" spc="180" dirty="0">
                <a:latin typeface="Cambria"/>
                <a:cs typeface="Cambria"/>
              </a:rPr>
              <a:t> </a:t>
            </a:r>
            <a:r>
              <a:rPr sz="2150" spc="170" dirty="0">
                <a:latin typeface="Cambria"/>
                <a:cs typeface="Cambria"/>
              </a:rPr>
              <a:t>API</a:t>
            </a:r>
            <a:r>
              <a:rPr sz="2150" spc="17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for</a:t>
            </a:r>
            <a:r>
              <a:rPr sz="2150" spc="215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authentication.</a:t>
            </a:r>
            <a:endParaRPr sz="2150">
              <a:latin typeface="Cambria"/>
              <a:cs typeface="Cambria"/>
            </a:endParaRPr>
          </a:p>
          <a:p>
            <a:pPr marL="697865" lvl="1" indent="-229870" algn="just">
              <a:lnSpc>
                <a:spcPct val="100000"/>
              </a:lnSpc>
              <a:spcBef>
                <a:spcPts val="1100"/>
              </a:spcBef>
              <a:buSzPct val="95348"/>
              <a:buFont typeface="Wingdings"/>
              <a:buChar char=""/>
              <a:tabLst>
                <a:tab pos="697865" algn="l"/>
                <a:tab pos="699135" algn="l"/>
              </a:tabLst>
            </a:pPr>
            <a:r>
              <a:rPr sz="2150" dirty="0">
                <a:latin typeface="Cambria"/>
                <a:cs typeface="Cambria"/>
              </a:rPr>
              <a:t>The</a:t>
            </a:r>
            <a:r>
              <a:rPr sz="2150" spc="13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system</a:t>
            </a:r>
            <a:r>
              <a:rPr sz="2150" spc="130" dirty="0"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becomes</a:t>
            </a:r>
            <a:r>
              <a:rPr sz="2150" spc="14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spc="45" dirty="0">
                <a:solidFill>
                  <a:srgbClr val="FF0000"/>
                </a:solidFill>
                <a:latin typeface="Cambria"/>
                <a:cs typeface="Cambria"/>
              </a:rPr>
              <a:t>vulnerable</a:t>
            </a:r>
            <a:r>
              <a:rPr sz="2150" spc="12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150" spc="11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external</a:t>
            </a:r>
            <a:endParaRPr sz="2150">
              <a:latin typeface="Cambria"/>
              <a:cs typeface="Cambria"/>
            </a:endParaRPr>
          </a:p>
          <a:p>
            <a:pPr marL="699135" marR="5080" algn="just">
              <a:lnSpc>
                <a:spcPct val="143400"/>
              </a:lnSpc>
              <a:spcBef>
                <a:spcPts val="55"/>
              </a:spcBef>
            </a:pPr>
            <a:r>
              <a:rPr sz="2150" spc="45" dirty="0">
                <a:solidFill>
                  <a:srgbClr val="FF0000"/>
                </a:solidFill>
                <a:latin typeface="Cambria"/>
                <a:cs typeface="Cambria"/>
              </a:rPr>
              <a:t>changes</a:t>
            </a:r>
            <a:r>
              <a:rPr sz="2150" spc="19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150" spc="19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spc="45" dirty="0">
                <a:solidFill>
                  <a:srgbClr val="FF0000"/>
                </a:solidFill>
                <a:latin typeface="Cambria"/>
                <a:cs typeface="Cambria"/>
              </a:rPr>
              <a:t>failures</a:t>
            </a:r>
            <a:r>
              <a:rPr sz="2150" spc="45" dirty="0">
                <a:latin typeface="Cambria"/>
                <a:cs typeface="Cambria"/>
              </a:rPr>
              <a:t>.</a:t>
            </a:r>
            <a:r>
              <a:rPr sz="2150" spc="180" dirty="0">
                <a:latin typeface="Cambria"/>
                <a:cs typeface="Cambria"/>
              </a:rPr>
              <a:t>  </a:t>
            </a:r>
            <a:r>
              <a:rPr sz="2150" spc="60" dirty="0">
                <a:latin typeface="Cambria"/>
                <a:cs typeface="Cambria"/>
              </a:rPr>
              <a:t>If</a:t>
            </a:r>
            <a:r>
              <a:rPr sz="2150" spc="18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6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third-</a:t>
            </a:r>
            <a:r>
              <a:rPr sz="2150" spc="50" dirty="0">
                <a:latin typeface="Cambria"/>
                <a:cs typeface="Cambria"/>
              </a:rPr>
              <a:t>party</a:t>
            </a:r>
            <a:r>
              <a:rPr sz="2150" spc="175" dirty="0">
                <a:latin typeface="Cambria"/>
                <a:cs typeface="Cambria"/>
              </a:rPr>
              <a:t>  </a:t>
            </a:r>
            <a:r>
              <a:rPr sz="2150" spc="145" dirty="0">
                <a:latin typeface="Cambria"/>
                <a:cs typeface="Cambria"/>
              </a:rPr>
              <a:t>API </a:t>
            </a:r>
            <a:r>
              <a:rPr sz="2150" spc="45" dirty="0">
                <a:latin typeface="Cambria"/>
                <a:cs typeface="Cambria"/>
              </a:rPr>
              <a:t>changes</a:t>
            </a:r>
            <a:r>
              <a:rPr sz="2150" spc="24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its</a:t>
            </a:r>
            <a:r>
              <a:rPr sz="2150" spc="24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interface</a:t>
            </a:r>
            <a:r>
              <a:rPr sz="2150" spc="26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or</a:t>
            </a:r>
            <a:r>
              <a:rPr sz="2150" spc="23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goes</a:t>
            </a:r>
            <a:r>
              <a:rPr sz="2150" spc="270" dirty="0">
                <a:latin typeface="Cambria"/>
                <a:cs typeface="Cambria"/>
              </a:rPr>
              <a:t> </a:t>
            </a:r>
            <a:r>
              <a:rPr sz="2150" spc="114" dirty="0">
                <a:latin typeface="Cambria"/>
                <a:cs typeface="Cambria"/>
              </a:rPr>
              <a:t>down,</a:t>
            </a:r>
            <a:r>
              <a:rPr sz="2150" spc="20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85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entire </a:t>
            </a:r>
            <a:r>
              <a:rPr sz="2150" dirty="0">
                <a:latin typeface="Cambria"/>
                <a:cs typeface="Cambria"/>
              </a:rPr>
              <a:t>system</a:t>
            </a:r>
            <a:r>
              <a:rPr sz="2150" spc="425" dirty="0">
                <a:latin typeface="Cambria"/>
                <a:cs typeface="Cambria"/>
              </a:rPr>
              <a:t>  </a:t>
            </a:r>
            <a:r>
              <a:rPr sz="2150" spc="110" dirty="0">
                <a:latin typeface="Cambria"/>
                <a:cs typeface="Cambria"/>
              </a:rPr>
              <a:t>may</a:t>
            </a:r>
            <a:r>
              <a:rPr sz="2150" spc="420" dirty="0">
                <a:latin typeface="Cambria"/>
                <a:cs typeface="Cambria"/>
              </a:rPr>
              <a:t>  </a:t>
            </a:r>
            <a:r>
              <a:rPr sz="2150" spc="60" dirty="0">
                <a:latin typeface="Cambria"/>
                <a:cs typeface="Cambria"/>
              </a:rPr>
              <a:t>fail.</a:t>
            </a:r>
            <a:r>
              <a:rPr sz="2150" spc="434" dirty="0">
                <a:latin typeface="Cambria"/>
                <a:cs typeface="Cambria"/>
              </a:rPr>
              <a:t>  </a:t>
            </a:r>
            <a:r>
              <a:rPr sz="2150" spc="50" dirty="0">
                <a:latin typeface="Cambria"/>
                <a:cs typeface="Cambria"/>
              </a:rPr>
              <a:t>This</a:t>
            </a:r>
            <a:r>
              <a:rPr sz="2150" spc="420" dirty="0">
                <a:latin typeface="Cambria"/>
                <a:cs typeface="Cambria"/>
              </a:rPr>
              <a:t>  </a:t>
            </a:r>
            <a:r>
              <a:rPr sz="2150" spc="60" dirty="0">
                <a:latin typeface="Cambria"/>
                <a:cs typeface="Cambria"/>
              </a:rPr>
              <a:t>type</a:t>
            </a:r>
            <a:r>
              <a:rPr sz="2150" spc="415" dirty="0">
                <a:latin typeface="Cambria"/>
                <a:cs typeface="Cambria"/>
              </a:rPr>
              <a:t>  </a:t>
            </a:r>
            <a:r>
              <a:rPr sz="2150" spc="65" dirty="0">
                <a:latin typeface="Cambria"/>
                <a:cs typeface="Cambria"/>
              </a:rPr>
              <a:t>of</a:t>
            </a:r>
            <a:r>
              <a:rPr sz="2150" spc="434" dirty="0">
                <a:latin typeface="Cambria"/>
                <a:cs typeface="Cambria"/>
              </a:rPr>
              <a:t>  </a:t>
            </a:r>
            <a:r>
              <a:rPr sz="2150" spc="60" dirty="0">
                <a:latin typeface="Cambria"/>
                <a:cs typeface="Cambria"/>
              </a:rPr>
              <a:t>coupling </a:t>
            </a:r>
            <a:r>
              <a:rPr sz="2150" dirty="0">
                <a:latin typeface="Cambria"/>
                <a:cs typeface="Cambria"/>
              </a:rPr>
              <a:t>reduces</a:t>
            </a:r>
            <a:r>
              <a:rPr sz="2150" spc="375" dirty="0">
                <a:latin typeface="Cambria"/>
                <a:cs typeface="Cambria"/>
              </a:rPr>
              <a:t>   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365" dirty="0">
                <a:latin typeface="Cambria"/>
                <a:cs typeface="Cambria"/>
              </a:rPr>
              <a:t>    </a:t>
            </a:r>
            <a:r>
              <a:rPr sz="2150" dirty="0">
                <a:latin typeface="Cambria"/>
                <a:cs typeface="Cambria"/>
              </a:rPr>
              <a:t>system's</a:t>
            </a:r>
            <a:r>
              <a:rPr sz="2150" spc="370" dirty="0">
                <a:latin typeface="Cambria"/>
                <a:cs typeface="Cambria"/>
              </a:rPr>
              <a:t>    </a:t>
            </a:r>
            <a:r>
              <a:rPr sz="2150" dirty="0">
                <a:latin typeface="Cambria"/>
                <a:cs typeface="Cambria"/>
              </a:rPr>
              <a:t>flexibility</a:t>
            </a:r>
            <a:r>
              <a:rPr sz="2150" spc="385" dirty="0">
                <a:latin typeface="Cambria"/>
                <a:cs typeface="Cambria"/>
              </a:rPr>
              <a:t>    </a:t>
            </a:r>
            <a:r>
              <a:rPr sz="2150" spc="60" dirty="0">
                <a:latin typeface="Cambria"/>
                <a:cs typeface="Cambria"/>
              </a:rPr>
              <a:t>and </a:t>
            </a:r>
            <a:r>
              <a:rPr sz="2150" spc="-10" dirty="0">
                <a:latin typeface="Cambria"/>
                <a:cs typeface="Cambria"/>
              </a:rPr>
              <a:t>reliability.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94601" y="1875726"/>
            <a:ext cx="4599305" cy="222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import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requests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rebuchet MS"/>
              <a:cs typeface="Trebuchet MS"/>
            </a:endParaRPr>
          </a:p>
          <a:p>
            <a:pPr marL="196850" marR="148590" indent="-184785">
              <a:lnSpc>
                <a:spcPct val="100800"/>
              </a:lnSpc>
            </a:pPr>
            <a:r>
              <a:rPr sz="1800" spc="-65" dirty="0">
                <a:latin typeface="Trebuchet MS"/>
                <a:cs typeface="Trebuchet MS"/>
              </a:rPr>
              <a:t>def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authenticate_user(username,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password): </a:t>
            </a:r>
            <a:r>
              <a:rPr sz="1800" dirty="0">
                <a:latin typeface="Trebuchet MS"/>
                <a:cs typeface="Trebuchet MS"/>
              </a:rPr>
              <a:t>response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=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100"/>
              </a:lnSpc>
            </a:pPr>
            <a:r>
              <a:rPr sz="1800" spc="-65" dirty="0">
                <a:latin typeface="Trebuchet MS"/>
                <a:cs typeface="Trebuchet MS"/>
              </a:rPr>
              <a:t>requests.post("https://api.example.com/auth",</a:t>
            </a:r>
            <a:endParaRPr sz="1800">
              <a:latin typeface="Trebuchet MS"/>
              <a:cs typeface="Trebuchet MS"/>
            </a:endParaRPr>
          </a:p>
          <a:p>
            <a:pPr marL="12700" marR="370205">
              <a:lnSpc>
                <a:spcPts val="2180"/>
              </a:lnSpc>
              <a:spcBef>
                <a:spcPts val="75"/>
              </a:spcBef>
            </a:pPr>
            <a:r>
              <a:rPr sz="1800" spc="-25" dirty="0">
                <a:latin typeface="Trebuchet MS"/>
                <a:cs typeface="Trebuchet MS"/>
              </a:rPr>
              <a:t>data={"username":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username,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"password": password})</a:t>
            </a:r>
            <a:endParaRPr sz="1800">
              <a:latin typeface="Trebuchet MS"/>
              <a:cs typeface="Trebuchet MS"/>
            </a:endParaRPr>
          </a:p>
          <a:p>
            <a:pPr marL="196850">
              <a:lnSpc>
                <a:spcPts val="2100"/>
              </a:lnSpc>
            </a:pPr>
            <a:r>
              <a:rPr sz="1800" spc="-70" dirty="0">
                <a:latin typeface="Trebuchet MS"/>
                <a:cs typeface="Trebuchet MS"/>
              </a:rPr>
              <a:t>return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response.json()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80" dirty="0"/>
              <a:t>7.</a:t>
            </a:r>
            <a:r>
              <a:rPr sz="3200" spc="225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0" dirty="0"/>
              <a:t>Coupling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26223"/>
            <a:ext cx="6348730" cy="519557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1195"/>
              </a:spcBef>
              <a:buSzPct val="95348"/>
              <a:buFont typeface="Wingdings"/>
              <a:buChar char=""/>
              <a:tabLst>
                <a:tab pos="240665" algn="l"/>
              </a:tabLst>
            </a:pPr>
            <a:r>
              <a:rPr sz="2150" spc="70" dirty="0">
                <a:solidFill>
                  <a:srgbClr val="FF0000"/>
                </a:solidFill>
                <a:latin typeface="Cambria"/>
                <a:cs typeface="Cambria"/>
              </a:rPr>
              <a:t>Control</a:t>
            </a:r>
            <a:r>
              <a:rPr sz="2150" spc="100" dirty="0">
                <a:solidFill>
                  <a:srgbClr val="FF0000"/>
                </a:solidFill>
                <a:latin typeface="Cambria"/>
                <a:cs typeface="Cambria"/>
              </a:rPr>
              <a:t> Coupling</a:t>
            </a:r>
            <a:endParaRPr sz="2150">
              <a:latin typeface="Cambria"/>
              <a:cs typeface="Cambria"/>
            </a:endParaRPr>
          </a:p>
          <a:p>
            <a:pPr marL="697865" lvl="1" indent="-229870" algn="just">
              <a:lnSpc>
                <a:spcPct val="100000"/>
              </a:lnSpc>
              <a:spcBef>
                <a:spcPts val="1100"/>
              </a:spcBef>
              <a:buSzPct val="95348"/>
              <a:buFont typeface="Wingdings"/>
              <a:buChar char=""/>
              <a:tabLst>
                <a:tab pos="697865" algn="l"/>
                <a:tab pos="699135" algn="l"/>
              </a:tabLst>
            </a:pPr>
            <a:r>
              <a:rPr sz="2150" spc="120" dirty="0">
                <a:solidFill>
                  <a:srgbClr val="FF0000"/>
                </a:solidFill>
                <a:latin typeface="Cambria"/>
                <a:cs typeface="Cambria"/>
              </a:rPr>
              <a:t>One</a:t>
            </a:r>
            <a:r>
              <a:rPr sz="2150" spc="2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85" dirty="0">
                <a:solidFill>
                  <a:srgbClr val="FF0000"/>
                </a:solidFill>
                <a:latin typeface="Cambria"/>
                <a:cs typeface="Cambria"/>
              </a:rPr>
              <a:t>module</a:t>
            </a:r>
            <a:r>
              <a:rPr sz="2150" spc="3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controls</a:t>
            </a:r>
            <a:r>
              <a:rPr sz="2150" spc="2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150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behavior</a:t>
            </a:r>
            <a:r>
              <a:rPr sz="2150" spc="3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6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150" spc="2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another</a:t>
            </a:r>
            <a:endParaRPr sz="2150">
              <a:latin typeface="Cambria"/>
              <a:cs typeface="Cambria"/>
            </a:endParaRPr>
          </a:p>
          <a:p>
            <a:pPr marL="699135" marR="8255" algn="just">
              <a:lnSpc>
                <a:spcPct val="142600"/>
              </a:lnSpc>
              <a:spcBef>
                <a:spcPts val="75"/>
              </a:spcBef>
            </a:pPr>
            <a:r>
              <a:rPr sz="2150" spc="80" dirty="0">
                <a:solidFill>
                  <a:srgbClr val="FF0000"/>
                </a:solidFill>
                <a:latin typeface="Cambria"/>
                <a:cs typeface="Cambria"/>
              </a:rPr>
              <a:t>module</a:t>
            </a:r>
            <a:r>
              <a:rPr sz="2150" spc="430" dirty="0">
                <a:solidFill>
                  <a:srgbClr val="FF0000"/>
                </a:solidFill>
                <a:latin typeface="Cambria"/>
                <a:cs typeface="Cambria"/>
              </a:rPr>
              <a:t>   </a:t>
            </a:r>
            <a:r>
              <a:rPr sz="2150" spc="65" dirty="0">
                <a:solidFill>
                  <a:srgbClr val="FF0000"/>
                </a:solidFill>
                <a:latin typeface="Cambria"/>
                <a:cs typeface="Cambria"/>
              </a:rPr>
              <a:t>by</a:t>
            </a:r>
            <a:r>
              <a:rPr sz="2150" spc="445" dirty="0">
                <a:solidFill>
                  <a:srgbClr val="FF0000"/>
                </a:solidFill>
                <a:latin typeface="Cambria"/>
                <a:cs typeface="Cambria"/>
              </a:rPr>
              <a:t>   </a:t>
            </a:r>
            <a:r>
              <a:rPr sz="2150" spc="55" dirty="0">
                <a:solidFill>
                  <a:srgbClr val="FF0000"/>
                </a:solidFill>
                <a:latin typeface="Cambria"/>
                <a:cs typeface="Cambria"/>
              </a:rPr>
              <a:t>passing</a:t>
            </a:r>
            <a:r>
              <a:rPr sz="2150" spc="440" dirty="0">
                <a:solidFill>
                  <a:srgbClr val="FF0000"/>
                </a:solidFill>
                <a:latin typeface="Cambria"/>
                <a:cs typeface="Cambria"/>
              </a:rPr>
              <a:t> 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control</a:t>
            </a:r>
            <a:r>
              <a:rPr sz="2150" spc="445" dirty="0">
                <a:solidFill>
                  <a:srgbClr val="FF0000"/>
                </a:solidFill>
                <a:latin typeface="Cambria"/>
                <a:cs typeface="Cambria"/>
              </a:rPr>
              <a:t>   </a:t>
            </a:r>
            <a:r>
              <a:rPr sz="2150" spc="50" dirty="0">
                <a:solidFill>
                  <a:srgbClr val="FF0000"/>
                </a:solidFill>
                <a:latin typeface="Cambria"/>
                <a:cs typeface="Cambria"/>
              </a:rPr>
              <a:t>flags</a:t>
            </a:r>
            <a:r>
              <a:rPr sz="2150" spc="450" dirty="0">
                <a:solidFill>
                  <a:srgbClr val="FF0000"/>
                </a:solidFill>
                <a:latin typeface="Cambria"/>
                <a:cs typeface="Cambria"/>
              </a:rPr>
              <a:t>   </a:t>
            </a:r>
            <a:r>
              <a:rPr sz="2150" spc="-25" dirty="0">
                <a:solidFill>
                  <a:srgbClr val="FF0000"/>
                </a:solidFill>
                <a:latin typeface="Cambria"/>
                <a:cs typeface="Cambria"/>
              </a:rPr>
              <a:t>or </a:t>
            </a:r>
            <a:r>
              <a:rPr sz="2150" spc="-10" dirty="0">
                <a:solidFill>
                  <a:srgbClr val="FF0000"/>
                </a:solidFill>
                <a:latin typeface="Cambria"/>
                <a:cs typeface="Cambria"/>
              </a:rPr>
              <a:t>parameters</a:t>
            </a:r>
            <a:r>
              <a:rPr sz="2150" spc="-10" dirty="0">
                <a:latin typeface="Cambria"/>
                <a:cs typeface="Cambria"/>
              </a:rPr>
              <a:t>.</a:t>
            </a:r>
            <a:endParaRPr sz="2150">
              <a:latin typeface="Cambria"/>
              <a:cs typeface="Cambria"/>
            </a:endParaRPr>
          </a:p>
          <a:p>
            <a:pPr marL="697865" marR="10160" lvl="1" indent="-229870" algn="just">
              <a:lnSpc>
                <a:spcPct val="142600"/>
              </a:lnSpc>
              <a:buSzPct val="95348"/>
              <a:buFont typeface="Wingdings"/>
              <a:buChar char=""/>
              <a:tabLst>
                <a:tab pos="699135" algn="l"/>
              </a:tabLst>
            </a:pPr>
            <a:r>
              <a:rPr sz="2150" spc="45" dirty="0">
                <a:latin typeface="Cambria"/>
                <a:cs typeface="Cambria"/>
              </a:rPr>
              <a:t>Function</a:t>
            </a:r>
            <a:r>
              <a:rPr sz="2150" spc="260" dirty="0">
                <a:latin typeface="Cambria"/>
                <a:cs typeface="Cambria"/>
              </a:rPr>
              <a:t> </a:t>
            </a:r>
            <a:r>
              <a:rPr sz="2150" spc="345" dirty="0">
                <a:latin typeface="Cambria"/>
                <a:cs typeface="Cambria"/>
              </a:rPr>
              <a:t>A</a:t>
            </a:r>
            <a:r>
              <a:rPr sz="2150" spc="26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calls</a:t>
            </a:r>
            <a:r>
              <a:rPr sz="2150" spc="245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function</a:t>
            </a:r>
            <a:r>
              <a:rPr sz="2150" spc="22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B</a:t>
            </a:r>
            <a:r>
              <a:rPr sz="2150" spc="265" dirty="0">
                <a:latin typeface="Cambria"/>
                <a:cs typeface="Cambria"/>
              </a:rPr>
              <a:t> </a:t>
            </a:r>
            <a:r>
              <a:rPr sz="2150" spc="90" dirty="0">
                <a:latin typeface="Cambria"/>
                <a:cs typeface="Cambria"/>
              </a:rPr>
              <a:t>and</a:t>
            </a:r>
            <a:r>
              <a:rPr sz="2150" spc="24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passes</a:t>
            </a:r>
            <a:r>
              <a:rPr sz="2150" spc="29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260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flag 	</a:t>
            </a:r>
            <a:r>
              <a:rPr sz="2150" dirty="0">
                <a:latin typeface="Cambria"/>
                <a:cs typeface="Cambria"/>
              </a:rPr>
              <a:t>to</a:t>
            </a:r>
            <a:r>
              <a:rPr sz="2150" spc="65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decide</a:t>
            </a:r>
            <a:r>
              <a:rPr sz="2150" spc="80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what</a:t>
            </a:r>
            <a:r>
              <a:rPr sz="2150" spc="120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function</a:t>
            </a:r>
            <a:r>
              <a:rPr sz="2150" spc="8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B</a:t>
            </a:r>
            <a:r>
              <a:rPr sz="2150" spc="120" dirty="0">
                <a:latin typeface="Cambria"/>
                <a:cs typeface="Cambria"/>
              </a:rPr>
              <a:t> </a:t>
            </a:r>
            <a:r>
              <a:rPr sz="2150" spc="75" dirty="0">
                <a:latin typeface="Cambria"/>
                <a:cs typeface="Cambria"/>
              </a:rPr>
              <a:t>should</a:t>
            </a:r>
            <a:r>
              <a:rPr sz="2150" spc="105" dirty="0">
                <a:latin typeface="Cambria"/>
                <a:cs typeface="Cambria"/>
              </a:rPr>
              <a:t> </a:t>
            </a:r>
            <a:r>
              <a:rPr sz="2150" spc="75" dirty="0">
                <a:latin typeface="Cambria"/>
                <a:cs typeface="Cambria"/>
              </a:rPr>
              <a:t>do..</a:t>
            </a:r>
            <a:endParaRPr sz="2150">
              <a:latin typeface="Cambria"/>
              <a:cs typeface="Cambria"/>
            </a:endParaRPr>
          </a:p>
          <a:p>
            <a:pPr marL="697865" marR="5080" lvl="1" indent="-229870" algn="just">
              <a:lnSpc>
                <a:spcPct val="143400"/>
              </a:lnSpc>
              <a:spcBef>
                <a:spcPts val="55"/>
              </a:spcBef>
              <a:buSzPct val="95348"/>
              <a:buFont typeface="Wingdings"/>
              <a:buChar char=""/>
              <a:tabLst>
                <a:tab pos="699135" algn="l"/>
              </a:tabLst>
            </a:pPr>
            <a:r>
              <a:rPr sz="2150" spc="60" dirty="0">
                <a:latin typeface="Cambria"/>
                <a:cs typeface="Cambria"/>
              </a:rPr>
              <a:t>If</a:t>
            </a:r>
            <a:r>
              <a:rPr sz="2150" spc="260" dirty="0">
                <a:latin typeface="Cambria"/>
                <a:cs typeface="Cambria"/>
              </a:rPr>
              <a:t> </a:t>
            </a:r>
            <a:r>
              <a:rPr sz="2150" spc="70" dirty="0">
                <a:solidFill>
                  <a:srgbClr val="FF0000"/>
                </a:solidFill>
                <a:latin typeface="Cambria"/>
                <a:cs typeface="Cambria"/>
              </a:rPr>
              <a:t>function_b</a:t>
            </a:r>
            <a:r>
              <a:rPr sz="2150" spc="3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45" dirty="0">
                <a:solidFill>
                  <a:srgbClr val="FF0000"/>
                </a:solidFill>
                <a:latin typeface="Cambria"/>
                <a:cs typeface="Cambria"/>
              </a:rPr>
              <a:t>changes</a:t>
            </a:r>
            <a:r>
              <a:rPr sz="2150" spc="2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its</a:t>
            </a:r>
            <a:r>
              <a:rPr sz="2150" spc="2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internal</a:t>
            </a:r>
            <a:r>
              <a:rPr sz="2150" spc="3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50" dirty="0">
                <a:solidFill>
                  <a:srgbClr val="FF0000"/>
                </a:solidFill>
                <a:latin typeface="Cambria"/>
                <a:cs typeface="Cambria"/>
              </a:rPr>
              <a:t>logic</a:t>
            </a:r>
            <a:r>
              <a:rPr sz="2150" spc="2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150" spc="2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-25" dirty="0">
                <a:solidFill>
                  <a:srgbClr val="FF0000"/>
                </a:solidFill>
                <a:latin typeface="Cambria"/>
                <a:cs typeface="Cambria"/>
              </a:rPr>
              <a:t>the 	</a:t>
            </a:r>
            <a:r>
              <a:rPr sz="2150" spc="65" dirty="0">
                <a:solidFill>
                  <a:srgbClr val="FF0000"/>
                </a:solidFill>
                <a:latin typeface="Cambria"/>
                <a:cs typeface="Cambria"/>
              </a:rPr>
              <a:t>meaning</a:t>
            </a:r>
            <a:r>
              <a:rPr sz="2150" spc="4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6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150" spc="4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150" spc="4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control</a:t>
            </a:r>
            <a:r>
              <a:rPr sz="2150" spc="459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75" dirty="0">
                <a:solidFill>
                  <a:srgbClr val="FF0000"/>
                </a:solidFill>
                <a:latin typeface="Cambria"/>
                <a:cs typeface="Cambria"/>
              </a:rPr>
              <a:t>flag,</a:t>
            </a:r>
            <a:r>
              <a:rPr sz="2150" spc="4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70" dirty="0">
                <a:solidFill>
                  <a:srgbClr val="FF0000"/>
                </a:solidFill>
                <a:latin typeface="Cambria"/>
                <a:cs typeface="Cambria"/>
              </a:rPr>
              <a:t>function_a</a:t>
            </a:r>
            <a:r>
              <a:rPr sz="2150" spc="4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150" spc="85" dirty="0">
                <a:solidFill>
                  <a:srgbClr val="FF0000"/>
                </a:solidFill>
                <a:latin typeface="Cambria"/>
                <a:cs typeface="Cambria"/>
              </a:rPr>
              <a:t>may 	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also</a:t>
            </a:r>
            <a:r>
              <a:rPr sz="2150" spc="31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need</a:t>
            </a:r>
            <a:r>
              <a:rPr sz="2150" spc="32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spc="60" dirty="0">
                <a:solidFill>
                  <a:srgbClr val="FF0000"/>
                </a:solidFill>
                <a:latin typeface="Cambria"/>
                <a:cs typeface="Cambria"/>
              </a:rPr>
              <a:t>modification</a:t>
            </a:r>
            <a:r>
              <a:rPr sz="2150" spc="60" dirty="0">
                <a:latin typeface="Cambria"/>
                <a:cs typeface="Cambria"/>
              </a:rPr>
              <a:t>.</a:t>
            </a:r>
            <a:r>
              <a:rPr sz="2150" spc="31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This</a:t>
            </a:r>
            <a:r>
              <a:rPr sz="2150" spc="30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creates</a:t>
            </a:r>
            <a:r>
              <a:rPr sz="2150" spc="320" dirty="0">
                <a:latin typeface="Cambria"/>
                <a:cs typeface="Cambria"/>
              </a:rPr>
              <a:t>  </a:t>
            </a:r>
            <a:r>
              <a:rPr sz="2150" spc="-10" dirty="0">
                <a:latin typeface="Cambria"/>
                <a:cs typeface="Cambria"/>
              </a:rPr>
              <a:t>tight 	</a:t>
            </a:r>
            <a:r>
              <a:rPr sz="2150" spc="70" dirty="0">
                <a:latin typeface="Cambria"/>
                <a:cs typeface="Cambria"/>
              </a:rPr>
              <a:t>coupling</a:t>
            </a:r>
            <a:r>
              <a:rPr sz="2150" spc="39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between</a:t>
            </a:r>
            <a:r>
              <a:rPr sz="2150" spc="36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305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two</a:t>
            </a:r>
            <a:r>
              <a:rPr sz="2150" spc="345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functions,</a:t>
            </a:r>
            <a:r>
              <a:rPr sz="2150" spc="350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making 	</a:t>
            </a:r>
            <a:r>
              <a:rPr sz="2150" dirty="0">
                <a:latin typeface="Cambria"/>
                <a:cs typeface="Cambria"/>
              </a:rPr>
              <a:t>maintenance</a:t>
            </a:r>
            <a:r>
              <a:rPr sz="2150" spc="515" dirty="0">
                <a:latin typeface="Cambria"/>
                <a:cs typeface="Cambria"/>
              </a:rPr>
              <a:t> </a:t>
            </a:r>
            <a:r>
              <a:rPr sz="2150" spc="40" dirty="0">
                <a:latin typeface="Cambria"/>
                <a:cs typeface="Cambria"/>
              </a:rPr>
              <a:t>harder..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94601" y="1875726"/>
            <a:ext cx="4636135" cy="250380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6850" marR="2378075" indent="-184785">
              <a:lnSpc>
                <a:spcPct val="100899"/>
              </a:lnSpc>
              <a:spcBef>
                <a:spcPts val="80"/>
              </a:spcBef>
            </a:pPr>
            <a:r>
              <a:rPr sz="1800" spc="-65" dirty="0">
                <a:latin typeface="Trebuchet MS"/>
                <a:cs typeface="Trebuchet MS"/>
              </a:rPr>
              <a:t>def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function_b(action): </a:t>
            </a:r>
            <a:r>
              <a:rPr sz="1800" spc="-105" dirty="0">
                <a:latin typeface="Trebuchet MS"/>
                <a:cs typeface="Trebuchet MS"/>
              </a:rPr>
              <a:t>if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action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==</a:t>
            </a:r>
            <a:r>
              <a:rPr sz="1800" spc="-204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"start":</a:t>
            </a:r>
            <a:endParaRPr sz="1800">
              <a:latin typeface="Trebuchet MS"/>
              <a:cs typeface="Trebuchet MS"/>
            </a:endParaRPr>
          </a:p>
          <a:p>
            <a:pPr marL="196850" marR="1724660" indent="184150">
              <a:lnSpc>
                <a:spcPct val="100800"/>
              </a:lnSpc>
            </a:pPr>
            <a:r>
              <a:rPr sz="1800" spc="-60" dirty="0">
                <a:latin typeface="Trebuchet MS"/>
                <a:cs typeface="Trebuchet MS"/>
              </a:rPr>
              <a:t>print("Starting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process...") </a:t>
            </a:r>
            <a:r>
              <a:rPr sz="1800" spc="-80" dirty="0">
                <a:latin typeface="Trebuchet MS"/>
                <a:cs typeface="Trebuchet MS"/>
              </a:rPr>
              <a:t>elif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action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==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"stop":</a:t>
            </a:r>
            <a:endParaRPr sz="1800">
              <a:latin typeface="Trebuchet MS"/>
              <a:cs typeface="Trebuchet MS"/>
            </a:endParaRPr>
          </a:p>
          <a:p>
            <a:pPr marL="381000">
              <a:lnSpc>
                <a:spcPts val="2100"/>
              </a:lnSpc>
            </a:pPr>
            <a:r>
              <a:rPr sz="1800" spc="-40" dirty="0">
                <a:latin typeface="Trebuchet MS"/>
                <a:cs typeface="Trebuchet MS"/>
              </a:rPr>
              <a:t>print("Stopping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process...")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65" dirty="0">
                <a:latin typeface="Trebuchet MS"/>
                <a:cs typeface="Trebuchet MS"/>
              </a:rPr>
              <a:t>def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function_a():</a:t>
            </a:r>
            <a:endParaRPr sz="1800">
              <a:latin typeface="Trebuchet MS"/>
              <a:cs typeface="Trebuchet MS"/>
            </a:endParaRPr>
          </a:p>
          <a:p>
            <a:pPr marL="12700" marR="5080" indent="184150">
              <a:lnSpc>
                <a:spcPct val="100800"/>
              </a:lnSpc>
            </a:pPr>
            <a:r>
              <a:rPr sz="1800" spc="-40" dirty="0">
                <a:latin typeface="Trebuchet MS"/>
                <a:cs typeface="Trebuchet MS"/>
              </a:rPr>
              <a:t>function_b("start")</a:t>
            </a:r>
            <a:r>
              <a:rPr sz="1800" spc="1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#</a:t>
            </a:r>
            <a:r>
              <a:rPr sz="1800" spc="-24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Controlling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the</a:t>
            </a:r>
            <a:r>
              <a:rPr sz="1800" spc="-2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behavior </a:t>
            </a:r>
            <a:r>
              <a:rPr sz="1800" spc="-65" dirty="0">
                <a:latin typeface="Trebuchet MS"/>
                <a:cs typeface="Trebuchet MS"/>
              </a:rPr>
              <a:t>of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function_b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80" dirty="0"/>
              <a:t>7.</a:t>
            </a:r>
            <a:r>
              <a:rPr sz="3200" spc="225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0" dirty="0"/>
              <a:t>Coupling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32749"/>
            <a:ext cx="6353175" cy="518477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84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50" dirty="0">
                <a:solidFill>
                  <a:srgbClr val="FF0000"/>
                </a:solidFill>
                <a:latin typeface="Cambria"/>
                <a:cs typeface="Cambria"/>
              </a:rPr>
              <a:t>Stamp</a:t>
            </a:r>
            <a:r>
              <a:rPr sz="2000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FF0000"/>
                </a:solidFill>
                <a:latin typeface="Cambria"/>
                <a:cs typeface="Cambria"/>
              </a:rPr>
              <a:t>Coupling</a:t>
            </a:r>
            <a:endParaRPr sz="2000">
              <a:latin typeface="Cambria"/>
              <a:cs typeface="Cambria"/>
            </a:endParaRPr>
          </a:p>
          <a:p>
            <a:pPr marL="697865" marR="6350" lvl="1" indent="-227965" algn="just">
              <a:lnSpc>
                <a:spcPct val="129900"/>
              </a:lnSpc>
              <a:spcBef>
                <a:spcPts val="35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spc="70" dirty="0">
                <a:solidFill>
                  <a:srgbClr val="FF0000"/>
                </a:solidFill>
                <a:latin typeface="Cambria"/>
                <a:cs typeface="Cambria"/>
              </a:rPr>
              <a:t>Modules</a:t>
            </a:r>
            <a:r>
              <a:rPr sz="2000" spc="37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pass</a:t>
            </a:r>
            <a:r>
              <a:rPr sz="2000" spc="37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spc="45" dirty="0">
                <a:solidFill>
                  <a:srgbClr val="FF0000"/>
                </a:solidFill>
                <a:latin typeface="Cambria"/>
                <a:cs typeface="Cambria"/>
              </a:rPr>
              <a:t>complex</a:t>
            </a:r>
            <a:r>
              <a:rPr sz="2000" spc="37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000" spc="39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structures</a:t>
            </a:r>
            <a:r>
              <a:rPr sz="2000" spc="40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(e.g., 	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objects</a:t>
            </a:r>
            <a:r>
              <a:rPr sz="2000" spc="9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000" spc="8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records)</a:t>
            </a:r>
            <a:r>
              <a:rPr sz="2000" spc="10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instead</a:t>
            </a:r>
            <a:r>
              <a:rPr sz="2000" spc="8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000" spc="8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spc="55" dirty="0">
                <a:solidFill>
                  <a:srgbClr val="FF0000"/>
                </a:solidFill>
                <a:latin typeface="Cambria"/>
                <a:cs typeface="Cambria"/>
              </a:rPr>
              <a:t>only</a:t>
            </a:r>
            <a:r>
              <a:rPr sz="2000" spc="9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000" spc="10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specific 	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0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needed</a:t>
            </a:r>
            <a:r>
              <a:rPr sz="2000" spc="-10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699135" marR="5080" lvl="1" indent="-229235" algn="just">
              <a:lnSpc>
                <a:spcPct val="129900"/>
              </a:lnSpc>
              <a:spcBef>
                <a:spcPts val="40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spc="325" dirty="0">
                <a:latin typeface="Cambria"/>
                <a:cs typeface="Cambria"/>
              </a:rPr>
              <a:t>A</a:t>
            </a:r>
            <a:r>
              <a:rPr sz="2000" spc="24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function</a:t>
            </a:r>
            <a:r>
              <a:rPr sz="2000" spc="26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sends</a:t>
            </a:r>
            <a:r>
              <a:rPr sz="2000" spc="26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an</a:t>
            </a:r>
            <a:r>
              <a:rPr sz="2000" spc="26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entire</a:t>
            </a:r>
            <a:r>
              <a:rPr sz="2000" spc="27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student</a:t>
            </a:r>
            <a:r>
              <a:rPr sz="2000" spc="25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object</a:t>
            </a:r>
            <a:r>
              <a:rPr sz="2000" spc="265" dirty="0">
                <a:latin typeface="Cambria"/>
                <a:cs typeface="Cambria"/>
              </a:rPr>
              <a:t>  </a:t>
            </a:r>
            <a:r>
              <a:rPr sz="2000" spc="-25" dirty="0">
                <a:latin typeface="Cambria"/>
                <a:cs typeface="Cambria"/>
              </a:rPr>
              <a:t>to </a:t>
            </a:r>
            <a:r>
              <a:rPr sz="2000" dirty="0">
                <a:latin typeface="Cambria"/>
                <a:cs typeface="Cambria"/>
              </a:rPr>
              <a:t>another</a:t>
            </a:r>
            <a:r>
              <a:rPr sz="2000" spc="3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function,</a:t>
            </a:r>
            <a:r>
              <a:rPr sz="2000" spc="3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even</a:t>
            </a:r>
            <a:r>
              <a:rPr sz="2000" spc="31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though</a:t>
            </a:r>
            <a:r>
              <a:rPr sz="2000" spc="29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only</a:t>
            </a:r>
            <a:r>
              <a:rPr sz="2000" spc="3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3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student’s </a:t>
            </a:r>
            <a:r>
              <a:rPr sz="2000" spc="130" dirty="0">
                <a:latin typeface="Cambria"/>
                <a:cs typeface="Cambria"/>
              </a:rPr>
              <a:t>ID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required</a:t>
            </a:r>
            <a:endParaRPr sz="2000">
              <a:latin typeface="Cambria"/>
              <a:cs typeface="Cambria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680"/>
              </a:spcBef>
              <a:buFont typeface="Wingdings"/>
              <a:buChar char=""/>
              <a:tabLst>
                <a:tab pos="698500" algn="l"/>
              </a:tabLst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37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process_student</a:t>
            </a:r>
            <a:r>
              <a:rPr sz="2000" spc="40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function</a:t>
            </a:r>
            <a:r>
              <a:rPr sz="2000" spc="375" dirty="0">
                <a:latin typeface="Cambria"/>
                <a:cs typeface="Cambria"/>
              </a:rPr>
              <a:t>  </a:t>
            </a:r>
            <a:r>
              <a:rPr sz="2000" spc="55" dirty="0">
                <a:latin typeface="Cambria"/>
                <a:cs typeface="Cambria"/>
              </a:rPr>
              <a:t>only</a:t>
            </a:r>
            <a:r>
              <a:rPr sz="2000" spc="37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needs</a:t>
            </a:r>
            <a:r>
              <a:rPr sz="2000" spc="360" dirty="0">
                <a:latin typeface="Cambria"/>
                <a:cs typeface="Cambria"/>
              </a:rPr>
              <a:t>  </a:t>
            </a:r>
            <a:r>
              <a:rPr sz="2000" spc="-25" dirty="0"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699135" marR="5715" algn="just">
              <a:lnSpc>
                <a:spcPct val="129900"/>
              </a:lnSpc>
              <a:spcBef>
                <a:spcPts val="35"/>
              </a:spcBef>
            </a:pPr>
            <a:r>
              <a:rPr sz="2000" dirty="0">
                <a:latin typeface="Cambria"/>
                <a:cs typeface="Cambria"/>
              </a:rPr>
              <a:t>student’s</a:t>
            </a:r>
            <a:r>
              <a:rPr sz="2000" spc="114" dirty="0">
                <a:latin typeface="Cambria"/>
                <a:cs typeface="Cambria"/>
              </a:rPr>
              <a:t>  ID,</a:t>
            </a:r>
            <a:r>
              <a:rPr sz="2000" spc="11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but</a:t>
            </a:r>
            <a:r>
              <a:rPr sz="2000" spc="114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it</a:t>
            </a:r>
            <a:r>
              <a:rPr sz="2000" spc="114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receives</a:t>
            </a:r>
            <a:r>
              <a:rPr sz="2000" spc="11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3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entire</a:t>
            </a:r>
            <a:r>
              <a:rPr sz="2000" spc="135" dirty="0">
                <a:latin typeface="Cambria"/>
                <a:cs typeface="Cambria"/>
              </a:rPr>
              <a:t>  </a:t>
            </a:r>
            <a:r>
              <a:rPr sz="2000" spc="-10" dirty="0">
                <a:latin typeface="Cambria"/>
                <a:cs typeface="Cambria"/>
              </a:rPr>
              <a:t>student </a:t>
            </a:r>
            <a:r>
              <a:rPr sz="2000" dirty="0">
                <a:latin typeface="Cambria"/>
                <a:cs typeface="Cambria"/>
              </a:rPr>
              <a:t>object.</a:t>
            </a:r>
            <a:r>
              <a:rPr sz="2000" spc="215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This</a:t>
            </a:r>
            <a:r>
              <a:rPr sz="2000" spc="21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creates</a:t>
            </a:r>
            <a:r>
              <a:rPr sz="2000" spc="220" dirty="0"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unnecessary</a:t>
            </a:r>
            <a:r>
              <a:rPr sz="2000" spc="22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dependencies, </a:t>
            </a:r>
            <a:r>
              <a:rPr sz="2000" spc="60" dirty="0">
                <a:solidFill>
                  <a:srgbClr val="FF0000"/>
                </a:solidFill>
                <a:latin typeface="Cambria"/>
                <a:cs typeface="Cambria"/>
              </a:rPr>
              <a:t>making</a:t>
            </a:r>
            <a:r>
              <a:rPr sz="2000" spc="28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000" spc="30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system</a:t>
            </a:r>
            <a:r>
              <a:rPr sz="2000" spc="28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harder</a:t>
            </a:r>
            <a:r>
              <a:rPr sz="2000" spc="27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000" spc="27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modify</a:t>
            </a:r>
            <a:r>
              <a:rPr sz="2000" spc="65" dirty="0">
                <a:latin typeface="Cambria"/>
                <a:cs typeface="Cambria"/>
              </a:rPr>
              <a:t>.</a:t>
            </a:r>
            <a:r>
              <a:rPr sz="2000" spc="29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If</a:t>
            </a:r>
            <a:r>
              <a:rPr sz="2000" spc="290" dirty="0">
                <a:latin typeface="Cambria"/>
                <a:cs typeface="Cambria"/>
              </a:rPr>
              <a:t>  </a:t>
            </a:r>
            <a:r>
              <a:rPr sz="2000" spc="-25" dirty="0">
                <a:latin typeface="Cambria"/>
                <a:cs typeface="Cambria"/>
              </a:rPr>
              <a:t>the </a:t>
            </a:r>
            <a:r>
              <a:rPr sz="2000" dirty="0">
                <a:latin typeface="Cambria"/>
                <a:cs typeface="Cambria"/>
              </a:rPr>
              <a:t>Student</a:t>
            </a:r>
            <a:r>
              <a:rPr sz="2000" spc="4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class</a:t>
            </a:r>
            <a:r>
              <a:rPr sz="2000" spc="4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changes,</a:t>
            </a:r>
            <a:r>
              <a:rPr sz="2000" spc="4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process_student</a:t>
            </a:r>
            <a:r>
              <a:rPr sz="2000" spc="45" dirty="0">
                <a:latin typeface="Cambria"/>
                <a:cs typeface="Cambria"/>
              </a:rPr>
              <a:t>  </a:t>
            </a:r>
            <a:r>
              <a:rPr sz="2000" spc="75" dirty="0">
                <a:latin typeface="Cambria"/>
                <a:cs typeface="Cambria"/>
              </a:rPr>
              <a:t>may</a:t>
            </a:r>
            <a:r>
              <a:rPr sz="2000" spc="47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also </a:t>
            </a:r>
            <a:r>
              <a:rPr sz="2000" dirty="0">
                <a:latin typeface="Cambria"/>
                <a:cs typeface="Cambria"/>
              </a:rPr>
              <a:t>need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updated...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class</a:t>
            </a:r>
            <a:r>
              <a:rPr spc="-150" dirty="0"/>
              <a:t> </a:t>
            </a:r>
            <a:r>
              <a:rPr spc="-10" dirty="0"/>
              <a:t>Student:</a:t>
            </a:r>
          </a:p>
          <a:p>
            <a:pPr marL="381000" marR="882650" indent="-184150">
              <a:lnSpc>
                <a:spcPct val="100800"/>
              </a:lnSpc>
              <a:spcBef>
                <a:spcPts val="5"/>
              </a:spcBef>
              <a:tabLst>
                <a:tab pos="770255" algn="l"/>
                <a:tab pos="1287780" algn="l"/>
              </a:tabLst>
            </a:pPr>
            <a:r>
              <a:rPr dirty="0"/>
              <a:t>def</a:t>
            </a:r>
            <a:r>
              <a:rPr spc="-45" dirty="0"/>
              <a:t> </a:t>
            </a:r>
            <a:r>
              <a:rPr u="sng" dirty="0">
                <a:uFill>
                  <a:solidFill>
                    <a:srgbClr val="000000"/>
                  </a:solidFill>
                </a:uFill>
              </a:rPr>
              <a:t>	</a:t>
            </a:r>
            <a:r>
              <a:rPr spc="-20" dirty="0"/>
              <a:t>init</a:t>
            </a:r>
            <a:r>
              <a:rPr u="sng" dirty="0">
                <a:uFill>
                  <a:solidFill>
                    <a:srgbClr val="000000"/>
                  </a:solidFill>
                </a:uFill>
              </a:rPr>
              <a:t>	</a:t>
            </a:r>
            <a:r>
              <a:rPr spc="-80" dirty="0"/>
              <a:t>(self,</a:t>
            </a:r>
            <a:r>
              <a:rPr spc="-215" dirty="0"/>
              <a:t> </a:t>
            </a:r>
            <a:r>
              <a:rPr spc="-65" dirty="0"/>
              <a:t>id,</a:t>
            </a:r>
            <a:r>
              <a:rPr spc="-204" dirty="0"/>
              <a:t> </a:t>
            </a:r>
            <a:r>
              <a:rPr spc="-45" dirty="0"/>
              <a:t>name,</a:t>
            </a:r>
            <a:r>
              <a:rPr spc="-210" dirty="0"/>
              <a:t> </a:t>
            </a:r>
            <a:r>
              <a:rPr spc="-60" dirty="0"/>
              <a:t>age): </a:t>
            </a:r>
            <a:r>
              <a:rPr spc="-70" dirty="0"/>
              <a:t>self.id</a:t>
            </a:r>
            <a:r>
              <a:rPr spc="-130" dirty="0"/>
              <a:t> </a:t>
            </a:r>
            <a:r>
              <a:rPr dirty="0"/>
              <a:t>=</a:t>
            </a:r>
            <a:r>
              <a:rPr spc="-130" dirty="0"/>
              <a:t> </a:t>
            </a:r>
            <a:r>
              <a:rPr spc="-25" dirty="0"/>
              <a:t>id</a:t>
            </a:r>
          </a:p>
          <a:p>
            <a:pPr marL="381000" marR="2003425">
              <a:lnSpc>
                <a:spcPts val="2100"/>
              </a:lnSpc>
              <a:spcBef>
                <a:spcPts val="135"/>
              </a:spcBef>
            </a:pPr>
            <a:r>
              <a:rPr spc="-45" dirty="0"/>
              <a:t>self.name</a:t>
            </a:r>
            <a:r>
              <a:rPr spc="-140" dirty="0"/>
              <a:t> </a:t>
            </a:r>
            <a:r>
              <a:rPr dirty="0"/>
              <a:t>=</a:t>
            </a:r>
            <a:r>
              <a:rPr spc="-130" dirty="0"/>
              <a:t> </a:t>
            </a:r>
            <a:r>
              <a:rPr spc="-20" dirty="0"/>
              <a:t>name </a:t>
            </a:r>
            <a:r>
              <a:rPr spc="-60" dirty="0"/>
              <a:t>self.age</a:t>
            </a:r>
            <a:r>
              <a:rPr spc="-140" dirty="0"/>
              <a:t> </a:t>
            </a:r>
            <a:r>
              <a:rPr dirty="0"/>
              <a:t>=</a:t>
            </a:r>
            <a:r>
              <a:rPr spc="-120" dirty="0"/>
              <a:t> </a:t>
            </a:r>
            <a:r>
              <a:rPr spc="-25" dirty="0"/>
              <a:t>age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pc="-25" dirty="0"/>
          </a:p>
          <a:p>
            <a:pPr marL="196850" marR="577850" indent="-184785">
              <a:lnSpc>
                <a:spcPct val="100800"/>
              </a:lnSpc>
            </a:pPr>
            <a:r>
              <a:rPr spc="-65" dirty="0"/>
              <a:t>def</a:t>
            </a:r>
            <a:r>
              <a:rPr spc="-155" dirty="0"/>
              <a:t> </a:t>
            </a:r>
            <a:r>
              <a:rPr spc="-10" dirty="0"/>
              <a:t>process_student(student): </a:t>
            </a:r>
            <a:r>
              <a:rPr spc="-30" dirty="0"/>
              <a:t>print(f"Processing</a:t>
            </a:r>
            <a:r>
              <a:rPr spc="-110" dirty="0"/>
              <a:t> </a:t>
            </a:r>
            <a:r>
              <a:rPr spc="-35" dirty="0"/>
              <a:t>student</a:t>
            </a:r>
            <a:r>
              <a:rPr spc="-70" dirty="0"/>
              <a:t> with</a:t>
            </a:r>
            <a:r>
              <a:rPr spc="-114" dirty="0"/>
              <a:t> </a:t>
            </a:r>
            <a:r>
              <a:rPr spc="-25" dirty="0"/>
              <a:t>ID: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" dirty="0"/>
              <a:t>{student.id}")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spc="-65" dirty="0"/>
              <a:t>def</a:t>
            </a:r>
            <a:r>
              <a:rPr spc="-170" dirty="0"/>
              <a:t> </a:t>
            </a:r>
            <a:r>
              <a:rPr spc="-10" dirty="0"/>
              <a:t>main():</a:t>
            </a:r>
          </a:p>
          <a:p>
            <a:pPr marL="196850" marR="5080">
              <a:lnSpc>
                <a:spcPct val="100800"/>
              </a:lnSpc>
              <a:spcBef>
                <a:spcPts val="5"/>
              </a:spcBef>
            </a:pPr>
            <a:r>
              <a:rPr spc="-35" dirty="0"/>
              <a:t>student</a:t>
            </a:r>
            <a:r>
              <a:rPr spc="-110" dirty="0"/>
              <a:t> </a:t>
            </a:r>
            <a:r>
              <a:rPr dirty="0"/>
              <a:t>=</a:t>
            </a:r>
            <a:r>
              <a:rPr spc="-200" dirty="0"/>
              <a:t> </a:t>
            </a:r>
            <a:r>
              <a:rPr spc="-50" dirty="0"/>
              <a:t>Student(1,</a:t>
            </a:r>
            <a:r>
              <a:rPr spc="-114" dirty="0"/>
              <a:t> </a:t>
            </a:r>
            <a:r>
              <a:rPr spc="-75" dirty="0"/>
              <a:t>"Alice",</a:t>
            </a:r>
            <a:r>
              <a:rPr spc="-120" dirty="0"/>
              <a:t> </a:t>
            </a:r>
            <a:r>
              <a:rPr spc="-25" dirty="0"/>
              <a:t>20) </a:t>
            </a:r>
            <a:r>
              <a:rPr spc="-20" dirty="0"/>
              <a:t>process_student(student)</a:t>
            </a:r>
            <a:r>
              <a:rPr spc="229" dirty="0"/>
              <a:t> </a:t>
            </a:r>
            <a:r>
              <a:rPr dirty="0"/>
              <a:t>#</a:t>
            </a:r>
            <a:r>
              <a:rPr spc="-225" dirty="0"/>
              <a:t> </a:t>
            </a:r>
            <a:r>
              <a:rPr dirty="0"/>
              <a:t>Passing</a:t>
            </a:r>
            <a:r>
              <a:rPr spc="-125" dirty="0"/>
              <a:t> </a:t>
            </a:r>
            <a:r>
              <a:rPr spc="-25" dirty="0"/>
              <a:t>the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80" dirty="0"/>
              <a:t>entire</a:t>
            </a:r>
            <a:r>
              <a:rPr spc="-90" dirty="0"/>
              <a:t> </a:t>
            </a:r>
            <a:r>
              <a:rPr spc="-35" dirty="0"/>
              <a:t>student</a:t>
            </a:r>
            <a:r>
              <a:rPr spc="-180" dirty="0"/>
              <a:t> </a:t>
            </a:r>
            <a:r>
              <a:rPr spc="-10" dirty="0"/>
              <a:t>object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80" dirty="0"/>
              <a:t>7.</a:t>
            </a:r>
            <a:r>
              <a:rPr sz="3200" spc="225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0" dirty="0"/>
              <a:t>Coupling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41463"/>
            <a:ext cx="6348730" cy="1723389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100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000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FF0000"/>
                </a:solidFill>
                <a:latin typeface="Cambria"/>
                <a:cs typeface="Cambria"/>
              </a:rPr>
              <a:t>Coupling</a:t>
            </a:r>
            <a:endParaRPr sz="2000">
              <a:latin typeface="Cambria"/>
              <a:cs typeface="Cambria"/>
            </a:endParaRPr>
          </a:p>
          <a:p>
            <a:pPr marL="699135" marR="5080" lvl="1" indent="-229235" algn="just">
              <a:lnSpc>
                <a:spcPts val="3379"/>
              </a:lnSpc>
              <a:spcBef>
                <a:spcPts val="25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spc="70" dirty="0">
                <a:solidFill>
                  <a:srgbClr val="FF0000"/>
                </a:solidFill>
                <a:latin typeface="Cambria"/>
                <a:cs typeface="Cambria"/>
              </a:rPr>
              <a:t>Modules</a:t>
            </a:r>
            <a:r>
              <a:rPr sz="2000" spc="4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share</a:t>
            </a:r>
            <a:r>
              <a:rPr sz="2000" spc="4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FF0000"/>
                </a:solidFill>
                <a:latin typeface="Cambria"/>
                <a:cs typeface="Cambria"/>
              </a:rPr>
              <a:t>only</a:t>
            </a:r>
            <a:r>
              <a:rPr sz="2000" spc="4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000" spc="3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necessary</a:t>
            </a:r>
            <a:r>
              <a:rPr sz="2000" spc="4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000" spc="3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through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function</a:t>
            </a:r>
            <a:r>
              <a:rPr sz="2000" spc="46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calls,</a:t>
            </a:r>
            <a:r>
              <a:rPr sz="2000" spc="46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without</a:t>
            </a:r>
            <a:r>
              <a:rPr sz="2000" spc="45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spc="45" dirty="0">
                <a:solidFill>
                  <a:srgbClr val="FF0000"/>
                </a:solidFill>
                <a:latin typeface="Cambria"/>
                <a:cs typeface="Cambria"/>
              </a:rPr>
              <a:t>exposing</a:t>
            </a:r>
            <a:r>
              <a:rPr sz="2000" spc="45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unnecessary details.</a:t>
            </a:r>
            <a:r>
              <a:rPr sz="2000" spc="-10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6467" y="2738945"/>
            <a:ext cx="5891530" cy="25914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6985" indent="-229235" algn="just">
              <a:lnSpc>
                <a:spcPct val="140900"/>
              </a:lnSpc>
              <a:spcBef>
                <a:spcPts val="9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spc="325" dirty="0">
                <a:latin typeface="Cambria"/>
                <a:cs typeface="Cambria"/>
              </a:rPr>
              <a:t>A</a:t>
            </a:r>
            <a:r>
              <a:rPr sz="2000" spc="3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function</a:t>
            </a:r>
            <a:r>
              <a:rPr sz="2000" spc="4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passes</a:t>
            </a:r>
            <a:r>
              <a:rPr sz="2000" spc="39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only</a:t>
            </a:r>
            <a:r>
              <a:rPr sz="2000" spc="3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4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required</a:t>
            </a:r>
            <a:r>
              <a:rPr sz="2000" spc="3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values</a:t>
            </a:r>
            <a:r>
              <a:rPr sz="2000" spc="409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(e.g., </a:t>
            </a:r>
            <a:r>
              <a:rPr sz="2000" dirty="0">
                <a:latin typeface="Cambria"/>
                <a:cs typeface="Cambria"/>
              </a:rPr>
              <a:t>name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and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age)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instead</a:t>
            </a:r>
            <a:r>
              <a:rPr sz="2000" spc="5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of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full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user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object.</a:t>
            </a:r>
            <a:endParaRPr sz="2000">
              <a:latin typeface="Cambria"/>
              <a:cs typeface="Cambria"/>
            </a:endParaRPr>
          </a:p>
          <a:p>
            <a:pPr marL="241300" marR="5080" indent="-229235" algn="just">
              <a:lnSpc>
                <a:spcPts val="3379"/>
              </a:lnSpc>
              <a:spcBef>
                <a:spcPts val="204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dirty="0">
                <a:latin typeface="Cambria"/>
                <a:cs typeface="Cambria"/>
              </a:rPr>
              <a:t>This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is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weakest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form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of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coupling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and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most </a:t>
            </a:r>
            <a:r>
              <a:rPr sz="2000" dirty="0">
                <a:latin typeface="Cambria"/>
                <a:cs typeface="Cambria"/>
              </a:rPr>
              <a:t>desirable.</a:t>
            </a:r>
            <a:r>
              <a:rPr sz="2000" spc="455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Each</a:t>
            </a:r>
            <a:r>
              <a:rPr sz="2000" spc="4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FF0000"/>
                </a:solidFill>
                <a:latin typeface="Cambria"/>
                <a:cs typeface="Cambria"/>
              </a:rPr>
              <a:t>module</a:t>
            </a:r>
            <a:r>
              <a:rPr sz="2000" spc="4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2000" spc="4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independent</a:t>
            </a:r>
            <a:r>
              <a:rPr sz="2000" spc="4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000" spc="4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FF0000"/>
                </a:solidFill>
                <a:latin typeface="Cambria"/>
                <a:cs typeface="Cambria"/>
              </a:rPr>
              <a:t>only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shares</a:t>
            </a:r>
            <a:r>
              <a:rPr sz="2000" spc="4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000" spc="7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spc="55" dirty="0">
                <a:solidFill>
                  <a:srgbClr val="FF0000"/>
                </a:solidFill>
                <a:latin typeface="Cambria"/>
                <a:cs typeface="Cambria"/>
              </a:rPr>
              <a:t>minimal</a:t>
            </a:r>
            <a:r>
              <a:rPr sz="2000" spc="5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amount</a:t>
            </a:r>
            <a:r>
              <a:rPr sz="2000" spc="5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spc="6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000" spc="4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000" spc="7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required</a:t>
            </a:r>
            <a:r>
              <a:rPr sz="2000" dirty="0">
                <a:latin typeface="Cambria"/>
                <a:cs typeface="Cambria"/>
              </a:rPr>
              <a:t>.</a:t>
            </a:r>
            <a:r>
              <a:rPr sz="2000" spc="65" dirty="0">
                <a:latin typeface="Cambria"/>
                <a:cs typeface="Cambria"/>
              </a:rPr>
              <a:t>  </a:t>
            </a:r>
            <a:r>
              <a:rPr sz="2000" spc="-25" dirty="0">
                <a:latin typeface="Cambria"/>
                <a:cs typeface="Cambria"/>
              </a:rPr>
              <a:t>It</a:t>
            </a:r>
            <a:endParaRPr sz="2000">
              <a:latin typeface="Cambria"/>
              <a:cs typeface="Cambria"/>
            </a:endParaRPr>
          </a:p>
          <a:p>
            <a:pPr marL="241300" algn="just">
              <a:lnSpc>
                <a:spcPct val="100000"/>
              </a:lnSpc>
              <a:spcBef>
                <a:spcPts val="700"/>
              </a:spcBef>
            </a:pPr>
            <a:r>
              <a:rPr sz="2000" dirty="0">
                <a:latin typeface="Cambria"/>
                <a:cs typeface="Cambria"/>
              </a:rPr>
              <a:t>makes</a:t>
            </a:r>
            <a:r>
              <a:rPr sz="2000" spc="11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40" dirty="0">
                <a:latin typeface="Cambria"/>
                <a:cs typeface="Cambria"/>
              </a:rPr>
              <a:t>  </a:t>
            </a:r>
            <a:r>
              <a:rPr sz="2000" dirty="0">
                <a:latin typeface="Cambria"/>
                <a:cs typeface="Cambria"/>
              </a:rPr>
              <a:t>system</a:t>
            </a:r>
            <a:r>
              <a:rPr sz="2000" spc="120" dirty="0"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easier</a:t>
            </a:r>
            <a:r>
              <a:rPr sz="2000" spc="13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000" spc="114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maintain,</a:t>
            </a:r>
            <a:r>
              <a:rPr sz="2000" spc="11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test,</a:t>
            </a:r>
            <a:r>
              <a:rPr sz="2000" spc="114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000" spc="4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5385" y="5314378"/>
            <a:ext cx="5661660" cy="8648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7700"/>
              </a:lnSpc>
              <a:spcBef>
                <a:spcPts val="95"/>
              </a:spcBef>
              <a:tabLst>
                <a:tab pos="1051560" algn="l"/>
                <a:tab pos="2214880" algn="l"/>
                <a:tab pos="3066415" algn="l"/>
                <a:tab pos="3693160" algn="l"/>
                <a:tab pos="4255770" algn="l"/>
              </a:tabLst>
            </a:pP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extend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because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0" dirty="0">
                <a:latin typeface="Cambria"/>
                <a:cs typeface="Cambria"/>
              </a:rPr>
              <a:t>there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5" dirty="0">
                <a:latin typeface="Cambria"/>
                <a:cs typeface="Cambria"/>
              </a:rPr>
              <a:t>are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35" dirty="0">
                <a:latin typeface="Cambria"/>
                <a:cs typeface="Cambria"/>
              </a:rPr>
              <a:t>no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unnecessary dependencies.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01891" y="2870517"/>
            <a:ext cx="4707255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latin typeface="Trebuchet MS"/>
                <a:cs typeface="Trebuchet MS"/>
              </a:rPr>
              <a:t>def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greet_user(name,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age):</a:t>
            </a:r>
            <a:endParaRPr sz="1800">
              <a:latin typeface="Trebuchet MS"/>
              <a:cs typeface="Trebuchet MS"/>
            </a:endParaRPr>
          </a:p>
          <a:p>
            <a:pPr marL="196850">
              <a:lnSpc>
                <a:spcPct val="100000"/>
              </a:lnSpc>
              <a:spcBef>
                <a:spcPts val="20"/>
              </a:spcBef>
            </a:pPr>
            <a:r>
              <a:rPr sz="1800" spc="-60" dirty="0">
                <a:latin typeface="Trebuchet MS"/>
                <a:cs typeface="Trebuchet MS"/>
              </a:rPr>
              <a:t>print(f"Hello,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{name}!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You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are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{age}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years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old.")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01891" y="3700081"/>
            <a:ext cx="4196715" cy="84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spc="-65" dirty="0">
                <a:latin typeface="Trebuchet MS"/>
                <a:cs typeface="Trebuchet MS"/>
              </a:rPr>
              <a:t>def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main():</a:t>
            </a:r>
            <a:endParaRPr sz="1800">
              <a:latin typeface="Trebuchet MS"/>
              <a:cs typeface="Trebuchet MS"/>
            </a:endParaRPr>
          </a:p>
          <a:p>
            <a:pPr marL="12700" marR="5080" indent="184150">
              <a:lnSpc>
                <a:spcPts val="2180"/>
              </a:lnSpc>
              <a:spcBef>
                <a:spcPts val="30"/>
              </a:spcBef>
            </a:pPr>
            <a:r>
              <a:rPr sz="1800" spc="-70" dirty="0">
                <a:latin typeface="Trebuchet MS"/>
                <a:cs typeface="Trebuchet MS"/>
              </a:rPr>
              <a:t>greet_user("Alice",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20)</a:t>
            </a:r>
            <a:r>
              <a:rPr sz="1800" spc="1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#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Passing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only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the </a:t>
            </a:r>
            <a:r>
              <a:rPr sz="1800" dirty="0">
                <a:latin typeface="Trebuchet MS"/>
                <a:cs typeface="Trebuchet MS"/>
              </a:rPr>
              <a:t>necessary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280" dirty="0"/>
              <a:t>7.</a:t>
            </a:r>
            <a:r>
              <a:rPr sz="3200" spc="225" dirty="0"/>
              <a:t> </a:t>
            </a:r>
            <a:r>
              <a:rPr sz="3200" spc="150" dirty="0"/>
              <a:t>Component</a:t>
            </a:r>
            <a:r>
              <a:rPr sz="3200" spc="254" dirty="0"/>
              <a:t> </a:t>
            </a:r>
            <a:r>
              <a:rPr sz="3200" spc="135" dirty="0"/>
              <a:t>Design</a:t>
            </a:r>
            <a:r>
              <a:rPr sz="3200" spc="30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0" dirty="0"/>
              <a:t>Coupling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3580" y="1247775"/>
          <a:ext cx="11385550" cy="49828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50" b="1" spc="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sz="1850" b="1" spc="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50" b="1" spc="11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5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50" b="1" spc="1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Coupling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B6F1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50" b="1" spc="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B6F16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50" b="1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Example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B6F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850" b="1" spc="85" dirty="0">
                          <a:latin typeface="Times New Roman"/>
                          <a:cs typeface="Times New Roman"/>
                        </a:rPr>
                        <a:t>Content</a:t>
                      </a:r>
                      <a:r>
                        <a:rPr sz="18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50" b="1" spc="100" dirty="0">
                          <a:latin typeface="Times New Roman"/>
                          <a:cs typeface="Times New Roman"/>
                        </a:rPr>
                        <a:t>Coupling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80010">
                        <a:lnSpc>
                          <a:spcPct val="101600"/>
                        </a:lnSpc>
                        <a:spcBef>
                          <a:spcPts val="295"/>
                        </a:spcBef>
                        <a:tabLst>
                          <a:tab pos="718185" algn="l"/>
                          <a:tab pos="1722755" algn="l"/>
                          <a:tab pos="2833370" algn="l"/>
                          <a:tab pos="3348990" algn="l"/>
                        </a:tabLst>
                      </a:pPr>
                      <a:r>
                        <a:rPr sz="1850" spc="90" dirty="0">
                          <a:latin typeface="Cambria"/>
                          <a:cs typeface="Cambria"/>
                        </a:rPr>
                        <a:t>One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55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40" dirty="0">
                          <a:latin typeface="Cambria"/>
                          <a:cs typeface="Cambria"/>
                        </a:rPr>
                        <a:t>modifies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-2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-10" dirty="0">
                          <a:latin typeface="Cambria"/>
                          <a:cs typeface="Cambria"/>
                        </a:rPr>
                        <a:t>internal </a:t>
                      </a:r>
                      <a:r>
                        <a:rPr sz="1850" spc="55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185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185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55" dirty="0">
                          <a:latin typeface="Cambria"/>
                          <a:cs typeface="Cambria"/>
                        </a:rPr>
                        <a:t>logic</a:t>
                      </a:r>
                      <a:r>
                        <a:rPr sz="185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55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5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another</a:t>
                      </a:r>
                      <a:r>
                        <a:rPr sz="1850" spc="1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60" dirty="0">
                          <a:latin typeface="Cambria"/>
                          <a:cs typeface="Cambria"/>
                        </a:rPr>
                        <a:t>module</a:t>
                      </a:r>
                      <a:endParaRPr sz="185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80010">
                        <a:lnSpc>
                          <a:spcPct val="101600"/>
                        </a:lnSpc>
                        <a:spcBef>
                          <a:spcPts val="295"/>
                        </a:spcBef>
                      </a:pPr>
                      <a:r>
                        <a:rPr sz="1850" spc="100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50" spc="4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29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50" spc="4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directly</a:t>
                      </a:r>
                      <a:r>
                        <a:rPr sz="1850" spc="4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50" spc="50" dirty="0">
                          <a:latin typeface="Cambria"/>
                          <a:cs typeface="Cambria"/>
                        </a:rPr>
                        <a:t>changes</a:t>
                      </a:r>
                      <a:r>
                        <a:rPr sz="1850" spc="4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50" spc="4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-10" dirty="0">
                          <a:latin typeface="Cambria"/>
                          <a:cs typeface="Cambria"/>
                        </a:rPr>
                        <a:t>variable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inside</a:t>
                      </a:r>
                      <a:r>
                        <a:rPr sz="185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95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50" spc="2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-60" dirty="0">
                          <a:latin typeface="Cambria"/>
                          <a:cs typeface="Cambria"/>
                        </a:rPr>
                        <a:t>B</a:t>
                      </a:r>
                      <a:endParaRPr sz="1850">
                        <a:latin typeface="Cambria"/>
                        <a:cs typeface="Cambri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850" b="1" spc="114" dirty="0">
                          <a:latin typeface="Times New Roman"/>
                          <a:cs typeface="Times New Roman"/>
                        </a:rPr>
                        <a:t>Common</a:t>
                      </a:r>
                      <a:r>
                        <a:rPr sz="18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50" b="1" spc="100" dirty="0">
                          <a:latin typeface="Times New Roman"/>
                          <a:cs typeface="Times New Roman"/>
                        </a:rPr>
                        <a:t>Coupling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BE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1212215" algn="l"/>
                          <a:tab pos="2331720" algn="l"/>
                          <a:tab pos="3099435" algn="l"/>
                          <a:tab pos="3628390" algn="l"/>
                        </a:tabLst>
                      </a:pPr>
                      <a:r>
                        <a:rPr sz="1850" spc="65" dirty="0">
                          <a:latin typeface="Cambria"/>
                          <a:cs typeface="Cambria"/>
                        </a:rPr>
                        <a:t>Multiple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55" dirty="0">
                          <a:latin typeface="Cambria"/>
                          <a:cs typeface="Cambria"/>
                        </a:rPr>
                        <a:t>modules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-20" dirty="0">
                          <a:latin typeface="Cambria"/>
                          <a:cs typeface="Cambria"/>
                        </a:rPr>
                        <a:t>share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-2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-20" dirty="0">
                          <a:latin typeface="Cambria"/>
                          <a:cs typeface="Cambria"/>
                        </a:rPr>
                        <a:t>same</a:t>
                      </a:r>
                      <a:endParaRPr sz="1850">
                        <a:latin typeface="Cambria"/>
                        <a:cs typeface="Cambria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50" spc="55" dirty="0">
                          <a:latin typeface="Cambria"/>
                          <a:cs typeface="Cambria"/>
                        </a:rPr>
                        <a:t>global</a:t>
                      </a:r>
                      <a:r>
                        <a:rPr sz="185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40" dirty="0">
                          <a:latin typeface="Cambria"/>
                          <a:cs typeface="Cambria"/>
                        </a:rPr>
                        <a:t>data</a:t>
                      </a:r>
                      <a:endParaRPr sz="185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BE7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861060" algn="l"/>
                          <a:tab pos="1927225" algn="l"/>
                          <a:tab pos="2719705" algn="l"/>
                          <a:tab pos="3267710" algn="l"/>
                          <a:tab pos="4185920" algn="l"/>
                        </a:tabLst>
                      </a:pPr>
                      <a:r>
                        <a:rPr sz="1850" spc="95" dirty="0">
                          <a:latin typeface="Cambria"/>
                          <a:cs typeface="Cambria"/>
                        </a:rPr>
                        <a:t>Many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60" dirty="0">
                          <a:latin typeface="Cambria"/>
                          <a:cs typeface="Cambria"/>
                        </a:rPr>
                        <a:t>modules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-10" dirty="0">
                          <a:latin typeface="Cambria"/>
                          <a:cs typeface="Cambria"/>
                        </a:rPr>
                        <a:t>access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35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75" dirty="0">
                          <a:latin typeface="Cambria"/>
                          <a:cs typeface="Cambria"/>
                        </a:rPr>
                        <a:t>modify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-50" dirty="0">
                          <a:latin typeface="Cambria"/>
                          <a:cs typeface="Cambria"/>
                        </a:rPr>
                        <a:t>a</a:t>
                      </a:r>
                      <a:endParaRPr sz="1850">
                        <a:latin typeface="Cambria"/>
                        <a:cs typeface="Cambria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50" spc="55" dirty="0">
                          <a:latin typeface="Cambria"/>
                          <a:cs typeface="Cambria"/>
                        </a:rPr>
                        <a:t>global</a:t>
                      </a:r>
                      <a:r>
                        <a:rPr sz="185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45" dirty="0">
                          <a:latin typeface="Cambria"/>
                          <a:cs typeface="Cambria"/>
                        </a:rPr>
                        <a:t>configuration</a:t>
                      </a:r>
                      <a:r>
                        <a:rPr sz="185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-10" dirty="0">
                          <a:latin typeface="Cambria"/>
                          <a:cs typeface="Cambria"/>
                        </a:rPr>
                        <a:t>variable</a:t>
                      </a:r>
                      <a:endParaRPr sz="185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85"/>
                        </a:spcBef>
                      </a:pPr>
                      <a:r>
                        <a:rPr sz="1850" b="1" dirty="0">
                          <a:latin typeface="Times New Roman"/>
                          <a:cs typeface="Times New Roman"/>
                        </a:rPr>
                        <a:t>External</a:t>
                      </a:r>
                      <a:r>
                        <a:rPr sz="1850" b="1" spc="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50" b="1" spc="100" dirty="0">
                          <a:latin typeface="Times New Roman"/>
                          <a:cs typeface="Times New Roman"/>
                        </a:rPr>
                        <a:t>Coupling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1885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84455">
                        <a:lnSpc>
                          <a:spcPct val="101499"/>
                        </a:lnSpc>
                        <a:spcBef>
                          <a:spcPts val="310"/>
                        </a:spcBef>
                      </a:pPr>
                      <a:r>
                        <a:rPr sz="1850" spc="80" dirty="0">
                          <a:latin typeface="Cambria"/>
                          <a:cs typeface="Cambria"/>
                        </a:rPr>
                        <a:t>Modules</a:t>
                      </a:r>
                      <a:r>
                        <a:rPr sz="1850" spc="3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70" dirty="0">
                          <a:latin typeface="Cambria"/>
                          <a:cs typeface="Cambria"/>
                        </a:rPr>
                        <a:t>depend</a:t>
                      </a:r>
                      <a:r>
                        <a:rPr sz="1850" spc="3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5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1850" spc="3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external</a:t>
                      </a:r>
                      <a:r>
                        <a:rPr sz="1850" spc="3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-10" dirty="0">
                          <a:latin typeface="Cambria"/>
                          <a:cs typeface="Cambria"/>
                        </a:rPr>
                        <a:t>systems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like</a:t>
                      </a:r>
                      <a:r>
                        <a:rPr sz="1850" spc="2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databases</a:t>
                      </a:r>
                      <a:r>
                        <a:rPr sz="1850" spc="2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1850" spc="2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95" dirty="0">
                          <a:latin typeface="Cambria"/>
                          <a:cs typeface="Cambria"/>
                        </a:rPr>
                        <a:t>APIs</a:t>
                      </a:r>
                      <a:endParaRPr sz="1850">
                        <a:latin typeface="Cambria"/>
                        <a:cs typeface="Cambri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7470">
                        <a:lnSpc>
                          <a:spcPct val="101499"/>
                        </a:lnSpc>
                        <a:spcBef>
                          <a:spcPts val="310"/>
                        </a:spcBef>
                      </a:pPr>
                      <a:r>
                        <a:rPr sz="1850" spc="29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50" spc="2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web</a:t>
                      </a:r>
                      <a:r>
                        <a:rPr sz="1850" spc="2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45" dirty="0">
                          <a:latin typeface="Cambria"/>
                          <a:cs typeface="Cambria"/>
                        </a:rPr>
                        <a:t>application</a:t>
                      </a:r>
                      <a:r>
                        <a:rPr sz="1850" spc="2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55" dirty="0">
                          <a:latin typeface="Cambria"/>
                          <a:cs typeface="Cambria"/>
                        </a:rPr>
                        <a:t>depends</a:t>
                      </a:r>
                      <a:r>
                        <a:rPr sz="1850" spc="25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5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1850" spc="2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50" spc="229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-10" dirty="0">
                          <a:latin typeface="Cambria"/>
                          <a:cs typeface="Cambria"/>
                        </a:rPr>
                        <a:t>third-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party</a:t>
                      </a:r>
                      <a:r>
                        <a:rPr sz="1850" spc="1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145" dirty="0">
                          <a:latin typeface="Cambria"/>
                          <a:cs typeface="Cambria"/>
                        </a:rPr>
                        <a:t>API</a:t>
                      </a:r>
                      <a:r>
                        <a:rPr sz="185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for</a:t>
                      </a:r>
                      <a:r>
                        <a:rPr sz="1850" spc="1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-10" dirty="0">
                          <a:latin typeface="Cambria"/>
                          <a:cs typeface="Cambria"/>
                        </a:rPr>
                        <a:t>authentication</a:t>
                      </a:r>
                      <a:endParaRPr sz="1850">
                        <a:latin typeface="Cambria"/>
                        <a:cs typeface="Cambri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50" b="1" spc="70" dirty="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sz="18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50" b="1" spc="100" dirty="0">
                          <a:latin typeface="Times New Roman"/>
                          <a:cs typeface="Times New Roman"/>
                        </a:rPr>
                        <a:t>Coupling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BE7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80010" algn="just">
                        <a:lnSpc>
                          <a:spcPct val="101499"/>
                        </a:lnSpc>
                        <a:spcBef>
                          <a:spcPts val="320"/>
                        </a:spcBef>
                      </a:pPr>
                      <a:r>
                        <a:rPr sz="1850" spc="114" dirty="0">
                          <a:latin typeface="Cambria"/>
                          <a:cs typeface="Cambria"/>
                        </a:rPr>
                        <a:t>One</a:t>
                      </a:r>
                      <a:r>
                        <a:rPr sz="1850" spc="35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50" spc="75" dirty="0">
                          <a:latin typeface="Cambria"/>
                          <a:cs typeface="Cambria"/>
                        </a:rPr>
                        <a:t>module</a:t>
                      </a:r>
                      <a:r>
                        <a:rPr sz="1850" spc="36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controls</a:t>
                      </a:r>
                      <a:r>
                        <a:rPr sz="1850" spc="36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50" spc="-10" dirty="0">
                          <a:latin typeface="Cambria"/>
                          <a:cs typeface="Cambria"/>
                        </a:rPr>
                        <a:t>another </a:t>
                      </a:r>
                      <a:r>
                        <a:rPr sz="1850" spc="70" dirty="0">
                          <a:latin typeface="Cambria"/>
                          <a:cs typeface="Cambria"/>
                        </a:rPr>
                        <a:t>module’s</a:t>
                      </a:r>
                      <a:r>
                        <a:rPr sz="1850" spc="2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behavior</a:t>
                      </a:r>
                      <a:r>
                        <a:rPr sz="1850" spc="3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60" dirty="0">
                          <a:latin typeface="Cambria"/>
                          <a:cs typeface="Cambria"/>
                        </a:rPr>
                        <a:t>by</a:t>
                      </a:r>
                      <a:r>
                        <a:rPr sz="1850" spc="3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50" dirty="0">
                          <a:latin typeface="Cambria"/>
                          <a:cs typeface="Cambria"/>
                        </a:rPr>
                        <a:t>passing</a:t>
                      </a:r>
                      <a:r>
                        <a:rPr sz="1850" spc="3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-10" dirty="0">
                          <a:latin typeface="Cambria"/>
                          <a:cs typeface="Cambria"/>
                        </a:rPr>
                        <a:t>control </a:t>
                      </a:r>
                      <a:r>
                        <a:rPr sz="1850" spc="50" dirty="0">
                          <a:latin typeface="Cambria"/>
                          <a:cs typeface="Cambria"/>
                        </a:rPr>
                        <a:t>flags</a:t>
                      </a:r>
                      <a:endParaRPr sz="185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BE7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4930">
                        <a:lnSpc>
                          <a:spcPct val="101400"/>
                        </a:lnSpc>
                        <a:spcBef>
                          <a:spcPts val="1460"/>
                        </a:spcBef>
                        <a:tabLst>
                          <a:tab pos="1202690" algn="l"/>
                          <a:tab pos="1548130" algn="l"/>
                          <a:tab pos="2391410" algn="l"/>
                          <a:tab pos="2670175" algn="l"/>
                          <a:tab pos="3234055" algn="l"/>
                          <a:tab pos="3602990" algn="l"/>
                        </a:tabLst>
                      </a:pPr>
                      <a:r>
                        <a:rPr sz="1850" spc="35" dirty="0">
                          <a:latin typeface="Cambria"/>
                          <a:cs typeface="Cambria"/>
                        </a:rPr>
                        <a:t>Function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24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-10" dirty="0">
                          <a:latin typeface="Cambria"/>
                          <a:cs typeface="Cambria"/>
                        </a:rPr>
                        <a:t>passes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-5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60" dirty="0">
                          <a:latin typeface="Cambria"/>
                          <a:cs typeface="Cambria"/>
                        </a:rPr>
                        <a:t>flag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-25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40" dirty="0">
                          <a:latin typeface="Cambria"/>
                          <a:cs typeface="Cambria"/>
                        </a:rPr>
                        <a:t>decide </a:t>
                      </a:r>
                      <a:r>
                        <a:rPr sz="1850" spc="65" dirty="0">
                          <a:latin typeface="Cambria"/>
                          <a:cs typeface="Cambria"/>
                        </a:rPr>
                        <a:t>what</a:t>
                      </a:r>
                      <a:r>
                        <a:rPr sz="1850" spc="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45" dirty="0">
                          <a:latin typeface="Cambria"/>
                          <a:cs typeface="Cambria"/>
                        </a:rPr>
                        <a:t>Function</a:t>
                      </a:r>
                      <a:r>
                        <a:rPr sz="185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85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60" dirty="0">
                          <a:latin typeface="Cambria"/>
                          <a:cs typeface="Cambria"/>
                        </a:rPr>
                        <a:t>should</a:t>
                      </a:r>
                      <a:r>
                        <a:rPr sz="1850" spc="95" dirty="0">
                          <a:latin typeface="Cambria"/>
                          <a:cs typeface="Cambria"/>
                        </a:rPr>
                        <a:t> do</a:t>
                      </a:r>
                      <a:endParaRPr sz="1850">
                        <a:latin typeface="Cambria"/>
                        <a:cs typeface="Cambria"/>
                      </a:endParaRPr>
                    </a:p>
                  </a:txBody>
                  <a:tcPr marL="0" marR="0" marT="1854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01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50" b="1" spc="80" dirty="0">
                          <a:latin typeface="Times New Roman"/>
                          <a:cs typeface="Times New Roman"/>
                        </a:rPr>
                        <a:t>Stamp</a:t>
                      </a:r>
                      <a:r>
                        <a:rPr sz="1850" b="1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50" b="1" spc="100" dirty="0">
                          <a:latin typeface="Times New Roman"/>
                          <a:cs typeface="Times New Roman"/>
                        </a:rPr>
                        <a:t>Coupling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76835" algn="just">
                        <a:lnSpc>
                          <a:spcPct val="101499"/>
                        </a:lnSpc>
                        <a:spcBef>
                          <a:spcPts val="325"/>
                        </a:spcBef>
                      </a:pPr>
                      <a:r>
                        <a:rPr sz="1850" spc="80" dirty="0">
                          <a:latin typeface="Cambria"/>
                          <a:cs typeface="Cambria"/>
                        </a:rPr>
                        <a:t>Modules</a:t>
                      </a:r>
                      <a:r>
                        <a:rPr sz="1850" spc="475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pass</a:t>
                      </a:r>
                      <a:r>
                        <a:rPr sz="1850" spc="459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50" spc="55" dirty="0">
                          <a:latin typeface="Cambria"/>
                          <a:cs typeface="Cambria"/>
                        </a:rPr>
                        <a:t>complex</a:t>
                      </a:r>
                      <a:r>
                        <a:rPr sz="1850" spc="470" dirty="0">
                          <a:latin typeface="Cambria"/>
                          <a:cs typeface="Cambria"/>
                        </a:rPr>
                        <a:t>    </a:t>
                      </a:r>
                      <a:r>
                        <a:rPr sz="1850" spc="-20" dirty="0">
                          <a:latin typeface="Cambria"/>
                          <a:cs typeface="Cambria"/>
                        </a:rPr>
                        <a:t>data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structures</a:t>
                      </a:r>
                      <a:r>
                        <a:rPr sz="1850" spc="4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instead</a:t>
                      </a:r>
                      <a:r>
                        <a:rPr sz="1850" spc="3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55" dirty="0">
                          <a:latin typeface="Cambria"/>
                          <a:cs typeface="Cambria"/>
                        </a:rPr>
                        <a:t>of</a:t>
                      </a:r>
                      <a:r>
                        <a:rPr sz="1850" spc="3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specific</a:t>
                      </a:r>
                      <a:r>
                        <a:rPr sz="1850" spc="4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-10" dirty="0">
                          <a:latin typeface="Cambria"/>
                          <a:cs typeface="Cambria"/>
                        </a:rPr>
                        <a:t>required </a:t>
                      </a:r>
                      <a:r>
                        <a:rPr sz="1850" spc="35" dirty="0">
                          <a:latin typeface="Cambria"/>
                          <a:cs typeface="Cambria"/>
                        </a:rPr>
                        <a:t>data</a:t>
                      </a:r>
                      <a:endParaRPr sz="185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75565">
                        <a:lnSpc>
                          <a:spcPct val="101400"/>
                        </a:lnSpc>
                        <a:spcBef>
                          <a:spcPts val="1470"/>
                        </a:spcBef>
                      </a:pPr>
                      <a:r>
                        <a:rPr sz="1850" spc="29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50" spc="8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50" spc="45" dirty="0">
                          <a:latin typeface="Cambria"/>
                          <a:cs typeface="Cambria"/>
                        </a:rPr>
                        <a:t>function</a:t>
                      </a:r>
                      <a:r>
                        <a:rPr sz="1850" spc="9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receives</a:t>
                      </a:r>
                      <a:r>
                        <a:rPr sz="1850" spc="8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50" spc="55" dirty="0">
                          <a:latin typeface="Cambria"/>
                          <a:cs typeface="Cambria"/>
                        </a:rPr>
                        <a:t>an</a:t>
                      </a:r>
                      <a:r>
                        <a:rPr sz="1850" spc="7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entire</a:t>
                      </a:r>
                      <a:r>
                        <a:rPr sz="1850" spc="6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50" spc="-10" dirty="0">
                          <a:latin typeface="Cambria"/>
                          <a:cs typeface="Cambria"/>
                        </a:rPr>
                        <a:t>student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object</a:t>
                      </a:r>
                      <a:r>
                        <a:rPr sz="185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60" dirty="0">
                          <a:latin typeface="Cambria"/>
                          <a:cs typeface="Cambria"/>
                        </a:rPr>
                        <a:t>when</a:t>
                      </a:r>
                      <a:r>
                        <a:rPr sz="185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60" dirty="0">
                          <a:latin typeface="Cambria"/>
                          <a:cs typeface="Cambria"/>
                        </a:rPr>
                        <a:t>only</a:t>
                      </a:r>
                      <a:r>
                        <a:rPr sz="185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5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145" dirty="0">
                          <a:latin typeface="Cambria"/>
                          <a:cs typeface="Cambria"/>
                        </a:rPr>
                        <a:t>ID</a:t>
                      </a:r>
                      <a:r>
                        <a:rPr sz="185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85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50" dirty="0">
                          <a:latin typeface="Cambria"/>
                          <a:cs typeface="Cambria"/>
                        </a:rPr>
                        <a:t>needed</a:t>
                      </a:r>
                      <a:endParaRPr sz="1850">
                        <a:latin typeface="Cambria"/>
                        <a:cs typeface="Cambria"/>
                      </a:endParaRPr>
                    </a:p>
                  </a:txBody>
                  <a:tcPr marL="0" marR="0" marT="186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sz="1850" b="1" spc="65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850" b="1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50" b="1" spc="100" dirty="0">
                          <a:latin typeface="Times New Roman"/>
                          <a:cs typeface="Times New Roman"/>
                        </a:rPr>
                        <a:t>Coupling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192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BE7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1217295" algn="l"/>
                          <a:tab pos="1972310" algn="l"/>
                          <a:tab pos="2630170" algn="l"/>
                          <a:tab pos="3147060" algn="l"/>
                        </a:tabLst>
                      </a:pPr>
                      <a:r>
                        <a:rPr sz="1850" spc="70" dirty="0">
                          <a:latin typeface="Cambria"/>
                          <a:cs typeface="Cambria"/>
                        </a:rPr>
                        <a:t>Modules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-20" dirty="0">
                          <a:latin typeface="Cambria"/>
                          <a:cs typeface="Cambria"/>
                        </a:rPr>
                        <a:t>share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40" dirty="0">
                          <a:latin typeface="Cambria"/>
                          <a:cs typeface="Cambria"/>
                        </a:rPr>
                        <a:t>only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-25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50" spc="-10" dirty="0">
                          <a:latin typeface="Cambria"/>
                          <a:cs typeface="Cambria"/>
                        </a:rPr>
                        <a:t>necessary</a:t>
                      </a:r>
                      <a:endParaRPr sz="1850">
                        <a:latin typeface="Cambria"/>
                        <a:cs typeface="Cambria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50" spc="55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185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185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45" dirty="0">
                          <a:latin typeface="Cambria"/>
                          <a:cs typeface="Cambria"/>
                        </a:rPr>
                        <a:t>function</a:t>
                      </a:r>
                      <a:r>
                        <a:rPr sz="185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-20" dirty="0">
                          <a:latin typeface="Cambria"/>
                          <a:cs typeface="Cambria"/>
                        </a:rPr>
                        <a:t>calls</a:t>
                      </a:r>
                      <a:endParaRPr sz="1850">
                        <a:latin typeface="Cambria"/>
                        <a:cs typeface="Cambria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BE7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50" spc="31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50" spc="2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45" dirty="0">
                          <a:latin typeface="Cambria"/>
                          <a:cs typeface="Cambria"/>
                        </a:rPr>
                        <a:t>function</a:t>
                      </a:r>
                      <a:r>
                        <a:rPr sz="1850" spc="2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passes</a:t>
                      </a:r>
                      <a:r>
                        <a:rPr sz="1850" spc="25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60" dirty="0">
                          <a:latin typeface="Cambria"/>
                          <a:cs typeface="Cambria"/>
                        </a:rPr>
                        <a:t>only</a:t>
                      </a:r>
                      <a:r>
                        <a:rPr sz="1850" spc="2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required</a:t>
                      </a:r>
                      <a:r>
                        <a:rPr sz="1850" spc="25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45" dirty="0">
                          <a:latin typeface="Cambria"/>
                          <a:cs typeface="Cambria"/>
                        </a:rPr>
                        <a:t>values</a:t>
                      </a:r>
                      <a:endParaRPr sz="1850">
                        <a:latin typeface="Cambria"/>
                        <a:cs typeface="Cambria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50" dirty="0">
                          <a:latin typeface="Cambria"/>
                          <a:cs typeface="Cambria"/>
                        </a:rPr>
                        <a:t>like</a:t>
                      </a:r>
                      <a:r>
                        <a:rPr sz="1850" spc="2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dirty="0">
                          <a:latin typeface="Cambria"/>
                          <a:cs typeface="Cambria"/>
                        </a:rPr>
                        <a:t>(name,</a:t>
                      </a:r>
                      <a:r>
                        <a:rPr sz="1850" spc="2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50" spc="-20" dirty="0">
                          <a:latin typeface="Cambria"/>
                          <a:cs typeface="Cambria"/>
                        </a:rPr>
                        <a:t>age)</a:t>
                      </a:r>
                      <a:endParaRPr sz="1850">
                        <a:latin typeface="Cambria"/>
                        <a:cs typeface="Cambria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B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25" dirty="0"/>
              <a:t>8.</a:t>
            </a:r>
            <a:r>
              <a:rPr sz="3200" spc="220" dirty="0"/>
              <a:t> </a:t>
            </a:r>
            <a:r>
              <a:rPr sz="3200" spc="90" dirty="0"/>
              <a:t>Refinement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42675" cy="5166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13335" indent="-229235" algn="just">
              <a:lnSpc>
                <a:spcPct val="1536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55" dirty="0">
                <a:latin typeface="Cambria"/>
                <a:cs typeface="Cambria"/>
              </a:rPr>
              <a:t>	Refinement</a:t>
            </a:r>
            <a:r>
              <a:rPr sz="2750" spc="28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254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265" dirty="0"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stepwise</a:t>
            </a:r>
            <a:r>
              <a:rPr sz="2750" spc="27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60" dirty="0">
                <a:solidFill>
                  <a:srgbClr val="FF1C05"/>
                </a:solidFill>
                <a:latin typeface="Cambria"/>
                <a:cs typeface="Cambria"/>
              </a:rPr>
              <a:t>approach</a:t>
            </a:r>
            <a:r>
              <a:rPr sz="2750" spc="26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where</a:t>
            </a:r>
            <a:r>
              <a:rPr sz="2750" spc="27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270" dirty="0">
                <a:latin typeface="Cambria"/>
                <a:cs typeface="Cambria"/>
              </a:rPr>
              <a:t>  </a:t>
            </a:r>
            <a:r>
              <a:rPr sz="2750" spc="75" dirty="0">
                <a:latin typeface="Cambria"/>
                <a:cs typeface="Cambria"/>
              </a:rPr>
              <a:t>complex</a:t>
            </a:r>
            <a:r>
              <a:rPr sz="2750" spc="270" dirty="0">
                <a:latin typeface="Cambria"/>
                <a:cs typeface="Cambria"/>
              </a:rPr>
              <a:t>  </a:t>
            </a:r>
            <a:r>
              <a:rPr sz="2750" spc="50" dirty="0">
                <a:latin typeface="Cambria"/>
                <a:cs typeface="Cambria"/>
              </a:rPr>
              <a:t>system</a:t>
            </a:r>
            <a:r>
              <a:rPr sz="2750" spc="260" dirty="0">
                <a:latin typeface="Cambria"/>
                <a:cs typeface="Cambria"/>
              </a:rPr>
              <a:t>  </a:t>
            </a:r>
            <a:r>
              <a:rPr sz="2750" spc="-25" dirty="0">
                <a:latin typeface="Cambria"/>
                <a:cs typeface="Cambria"/>
              </a:rPr>
              <a:t>or </a:t>
            </a:r>
            <a:r>
              <a:rPr sz="2750" spc="55" dirty="0">
                <a:solidFill>
                  <a:srgbClr val="FF1C05"/>
                </a:solidFill>
                <a:latin typeface="Cambria"/>
                <a:cs typeface="Cambria"/>
              </a:rPr>
              <a:t>problem</a:t>
            </a:r>
            <a:r>
              <a:rPr sz="2750" spc="6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is</a:t>
            </a:r>
            <a:r>
              <a:rPr sz="2750" spc="5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90" dirty="0">
                <a:solidFill>
                  <a:srgbClr val="FF1C05"/>
                </a:solidFill>
                <a:latin typeface="Cambria"/>
                <a:cs typeface="Cambria"/>
              </a:rPr>
              <a:t>gradually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broken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120" dirty="0">
                <a:solidFill>
                  <a:srgbClr val="FF1C05"/>
                </a:solidFill>
                <a:latin typeface="Cambria"/>
                <a:cs typeface="Cambria"/>
              </a:rPr>
              <a:t>down</a:t>
            </a:r>
            <a:r>
              <a:rPr sz="2750" spc="7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into</a:t>
            </a:r>
            <a:r>
              <a:rPr sz="2750" spc="50" dirty="0">
                <a:solidFill>
                  <a:srgbClr val="FF1C05"/>
                </a:solidFill>
                <a:latin typeface="Cambria"/>
                <a:cs typeface="Cambria"/>
              </a:rPr>
              <a:t>  smaller</a:t>
            </a:r>
            <a:r>
              <a:rPr sz="2750" spc="50" dirty="0">
                <a:latin typeface="Cambria"/>
                <a:cs typeface="Cambria"/>
              </a:rPr>
              <a:t>,</a:t>
            </a:r>
            <a:r>
              <a:rPr sz="2750" spc="6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more</a:t>
            </a:r>
            <a:r>
              <a:rPr sz="2750" spc="65" dirty="0">
                <a:latin typeface="Cambria"/>
                <a:cs typeface="Cambria"/>
              </a:rPr>
              <a:t>  </a:t>
            </a:r>
            <a:r>
              <a:rPr sz="2750" spc="55" dirty="0">
                <a:solidFill>
                  <a:srgbClr val="FF1C05"/>
                </a:solidFill>
                <a:latin typeface="Cambria"/>
                <a:cs typeface="Cambria"/>
              </a:rPr>
              <a:t>manageable </a:t>
            </a:r>
            <a:r>
              <a:rPr sz="2750" spc="50" dirty="0">
                <a:latin typeface="Cambria"/>
                <a:cs typeface="Cambria"/>
              </a:rPr>
              <a:t>components.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95275" indent="-282575">
              <a:lnSpc>
                <a:spcPct val="100000"/>
              </a:lnSpc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2750" dirty="0">
                <a:latin typeface="Cambria"/>
                <a:cs typeface="Cambria"/>
              </a:rPr>
              <a:t>It</a:t>
            </a:r>
            <a:r>
              <a:rPr sz="2750" spc="11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FF1C05"/>
                </a:solidFill>
                <a:latin typeface="Cambria"/>
                <a:cs typeface="Cambria"/>
              </a:rPr>
              <a:t>top-</a:t>
            </a:r>
            <a:r>
              <a:rPr sz="2750" spc="120" dirty="0">
                <a:solidFill>
                  <a:srgbClr val="FF1C05"/>
                </a:solidFill>
                <a:latin typeface="Cambria"/>
                <a:cs typeface="Cambria"/>
              </a:rPr>
              <a:t>down</a:t>
            </a:r>
            <a:r>
              <a:rPr sz="2750" spc="18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45" dirty="0">
                <a:solidFill>
                  <a:srgbClr val="FF1C05"/>
                </a:solidFill>
                <a:latin typeface="Cambria"/>
                <a:cs typeface="Cambria"/>
              </a:rPr>
              <a:t>strategy</a:t>
            </a:r>
            <a:r>
              <a:rPr sz="2750" spc="45" dirty="0">
                <a:latin typeface="Cambria"/>
                <a:cs typeface="Cambria"/>
              </a:rPr>
              <a:t>,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also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spc="105" dirty="0">
                <a:latin typeface="Cambria"/>
                <a:cs typeface="Cambria"/>
              </a:rPr>
              <a:t>known</a:t>
            </a:r>
            <a:r>
              <a:rPr sz="2750" spc="16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as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Stepwise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Refinement.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80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41300" marR="5080" indent="-229235" algn="just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60" dirty="0">
                <a:latin typeface="Cambria"/>
                <a:cs typeface="Cambria"/>
              </a:rPr>
              <a:t>	The</a:t>
            </a:r>
            <a:r>
              <a:rPr sz="2750" spc="620" dirty="0">
                <a:latin typeface="Cambria"/>
                <a:cs typeface="Cambria"/>
              </a:rPr>
              <a:t>  </a:t>
            </a:r>
            <a:r>
              <a:rPr sz="2750" spc="85" dirty="0">
                <a:latin typeface="Cambria"/>
                <a:cs typeface="Cambria"/>
              </a:rPr>
              <a:t>goal</a:t>
            </a:r>
            <a:r>
              <a:rPr sz="2750" spc="63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63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645" dirty="0"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refine</a:t>
            </a:r>
            <a:r>
              <a:rPr sz="2750" spc="61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55" dirty="0">
                <a:solidFill>
                  <a:srgbClr val="FF1C05"/>
                </a:solidFill>
                <a:latin typeface="Cambria"/>
                <a:cs typeface="Cambria"/>
              </a:rPr>
              <a:t>procedural</a:t>
            </a:r>
            <a:r>
              <a:rPr sz="2750" spc="62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details</a:t>
            </a:r>
            <a:r>
              <a:rPr sz="2750" spc="64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60" dirty="0">
                <a:latin typeface="Cambria"/>
                <a:cs typeface="Cambria"/>
              </a:rPr>
              <a:t>until</a:t>
            </a:r>
            <a:r>
              <a:rPr sz="2750" spc="645" dirty="0">
                <a:latin typeface="Cambria"/>
                <a:cs typeface="Cambria"/>
              </a:rPr>
              <a:t>  </a:t>
            </a:r>
            <a:r>
              <a:rPr sz="2750" spc="60" dirty="0">
                <a:latin typeface="Cambria"/>
                <a:cs typeface="Cambria"/>
              </a:rPr>
              <a:t>they</a:t>
            </a:r>
            <a:r>
              <a:rPr sz="2750" spc="63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can</a:t>
            </a:r>
            <a:r>
              <a:rPr sz="2750" spc="645" dirty="0">
                <a:latin typeface="Cambria"/>
                <a:cs typeface="Cambria"/>
              </a:rPr>
              <a:t>  </a:t>
            </a:r>
            <a:r>
              <a:rPr sz="2750" spc="-25" dirty="0">
                <a:latin typeface="Cambria"/>
                <a:cs typeface="Cambria"/>
              </a:rPr>
              <a:t>be </a:t>
            </a:r>
            <a:r>
              <a:rPr sz="2750" spc="75" dirty="0">
                <a:latin typeface="Cambria"/>
                <a:cs typeface="Cambria"/>
              </a:rPr>
              <a:t>implemented</a:t>
            </a:r>
            <a:r>
              <a:rPr sz="2750" spc="11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10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programming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language.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25" dirty="0"/>
              <a:t>8.</a:t>
            </a:r>
            <a:r>
              <a:rPr sz="3200" spc="220" dirty="0"/>
              <a:t> </a:t>
            </a:r>
            <a:r>
              <a:rPr sz="3200" spc="90" dirty="0"/>
              <a:t>Refinement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02568"/>
            <a:ext cx="11234420" cy="5167630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53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dirty="0">
                <a:latin typeface="Cambria"/>
                <a:cs typeface="Cambria"/>
              </a:rPr>
              <a:t>Start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from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an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abstract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level</a:t>
            </a:r>
            <a:r>
              <a:rPr sz="2750" spc="114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1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refine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it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step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100" dirty="0">
                <a:latin typeface="Cambria"/>
                <a:cs typeface="Cambria"/>
              </a:rPr>
              <a:t>by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step.</a:t>
            </a:r>
            <a:endParaRPr sz="2750">
              <a:latin typeface="Cambria"/>
              <a:cs typeface="Cambria"/>
            </a:endParaRPr>
          </a:p>
          <a:p>
            <a:pPr marL="295275" indent="-282575">
              <a:lnSpc>
                <a:spcPct val="100000"/>
              </a:lnSpc>
              <a:spcBef>
                <a:spcPts val="1430"/>
              </a:spcBef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2750" spc="155" dirty="0">
                <a:latin typeface="Cambria"/>
                <a:cs typeface="Cambria"/>
              </a:rPr>
              <a:t>Move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from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high-</a:t>
            </a:r>
            <a:r>
              <a:rPr sz="2750" spc="60" dirty="0">
                <a:latin typeface="Cambria"/>
                <a:cs typeface="Cambria"/>
              </a:rPr>
              <a:t>level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concepts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detailed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procedural</a:t>
            </a:r>
            <a:r>
              <a:rPr sz="2750" spc="114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steps.</a:t>
            </a:r>
            <a:endParaRPr sz="2750">
              <a:latin typeface="Cambria"/>
              <a:cs typeface="Cambria"/>
            </a:endParaRPr>
          </a:p>
          <a:p>
            <a:pPr marL="241300" marR="5080" indent="-229235">
              <a:lnSpc>
                <a:spcPts val="4730"/>
              </a:lnSpc>
              <a:spcBef>
                <a:spcPts val="32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dirty="0">
                <a:latin typeface="Cambria"/>
                <a:cs typeface="Cambria"/>
              </a:rPr>
              <a:t>	This</a:t>
            </a:r>
            <a:r>
              <a:rPr sz="2750" spc="27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ensures</a:t>
            </a:r>
            <a:r>
              <a:rPr sz="2750" spc="2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systematic</a:t>
            </a:r>
            <a:r>
              <a:rPr sz="2750" spc="26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decomposition</a:t>
            </a:r>
            <a:r>
              <a:rPr sz="2750" spc="2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rather</a:t>
            </a:r>
            <a:r>
              <a:rPr sz="2750" spc="23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than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jumping</a:t>
            </a:r>
            <a:r>
              <a:rPr sz="2750" spc="2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into</a:t>
            </a:r>
            <a:r>
              <a:rPr sz="2750" spc="200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low- </a:t>
            </a:r>
            <a:r>
              <a:rPr sz="2750" spc="55" dirty="0">
                <a:latin typeface="Cambria"/>
                <a:cs typeface="Cambria"/>
              </a:rPr>
              <a:t>level</a:t>
            </a:r>
            <a:r>
              <a:rPr sz="2750" spc="95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coding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immediately.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45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94640" indent="-281940">
              <a:lnSpc>
                <a:spcPct val="100000"/>
              </a:lnSpc>
              <a:spcBef>
                <a:spcPts val="5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65" dirty="0">
                <a:latin typeface="Cambria"/>
                <a:cs typeface="Cambria"/>
              </a:rPr>
              <a:t>Example:</a:t>
            </a:r>
            <a:endParaRPr sz="275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25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Begin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with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high-</a:t>
            </a:r>
            <a:r>
              <a:rPr sz="2400" dirty="0">
                <a:latin typeface="Cambria"/>
                <a:cs typeface="Cambria"/>
              </a:rPr>
              <a:t>level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algorithm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sorting.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10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Refine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specific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steps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(e.g.,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divide,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compare,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swap).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1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50" dirty="0">
                <a:latin typeface="Cambria"/>
                <a:cs typeface="Cambria"/>
              </a:rPr>
              <a:t>Finally,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implement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actual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(e.g.,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QuickSort,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MergeSort).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25" dirty="0"/>
              <a:t>8.</a:t>
            </a:r>
            <a:r>
              <a:rPr sz="3200" spc="220" dirty="0"/>
              <a:t> </a:t>
            </a:r>
            <a:r>
              <a:rPr sz="3200" spc="90" dirty="0"/>
              <a:t>Refinement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1245" cy="3240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48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  <a:tab pos="761365" algn="l"/>
                <a:tab pos="2052955" algn="l"/>
                <a:tab pos="2496820" algn="l"/>
                <a:tab pos="3203575" algn="l"/>
                <a:tab pos="4827905" algn="l"/>
                <a:tab pos="5402580" algn="l"/>
                <a:tab pos="5886450" algn="l"/>
                <a:tab pos="6893559" algn="l"/>
                <a:tab pos="8314690" algn="l"/>
                <a:tab pos="9543415" algn="l"/>
                <a:tab pos="10221595" algn="l"/>
              </a:tabLst>
            </a:pPr>
            <a:r>
              <a:rPr sz="2750" spc="395" dirty="0">
                <a:latin typeface="Cambria"/>
                <a:cs typeface="Cambria"/>
              </a:rPr>
              <a:t>	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0" dirty="0">
                <a:latin typeface="Cambria"/>
                <a:cs typeface="Cambria"/>
              </a:rPr>
              <a:t>system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is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not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latin typeface="Cambria"/>
                <a:cs typeface="Cambria"/>
              </a:rPr>
              <a:t>designed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5" dirty="0">
                <a:latin typeface="Cambria"/>
                <a:cs typeface="Cambria"/>
              </a:rPr>
              <a:t>all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at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once;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5" dirty="0">
                <a:latin typeface="Cambria"/>
                <a:cs typeface="Cambria"/>
              </a:rPr>
              <a:t>instead,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details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are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100" dirty="0">
                <a:latin typeface="Cambria"/>
                <a:cs typeface="Cambria"/>
              </a:rPr>
              <a:t>added </a:t>
            </a:r>
            <a:r>
              <a:rPr sz="2750" spc="50" dirty="0">
                <a:latin typeface="Cambria"/>
                <a:cs typeface="Cambria"/>
              </a:rPr>
              <a:t>progressively.</a:t>
            </a:r>
            <a:endParaRPr sz="2750">
              <a:latin typeface="Cambria"/>
              <a:cs typeface="Cambria"/>
            </a:endParaRPr>
          </a:p>
          <a:p>
            <a:pPr marL="241300" marR="5715" indent="-229235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005" algn="l"/>
                <a:tab pos="1262380" algn="l"/>
                <a:tab pos="2218055" algn="l"/>
                <a:tab pos="2738755" algn="l"/>
                <a:tab pos="4662170" algn="l"/>
                <a:tab pos="5634355" algn="l"/>
                <a:tab pos="6659880" algn="l"/>
                <a:tab pos="8461375" algn="l"/>
                <a:tab pos="8978265" algn="l"/>
                <a:tab pos="9364345" algn="l"/>
                <a:tab pos="10888980" algn="l"/>
              </a:tabLst>
            </a:pPr>
            <a:r>
              <a:rPr sz="2750" spc="40" dirty="0">
                <a:latin typeface="Cambria"/>
                <a:cs typeface="Cambria"/>
              </a:rPr>
              <a:t>	Each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5" dirty="0">
                <a:latin typeface="Cambria"/>
                <a:cs typeface="Cambria"/>
              </a:rPr>
              <a:t>level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0" dirty="0">
                <a:latin typeface="Cambria"/>
                <a:cs typeface="Cambria"/>
              </a:rPr>
              <a:t>of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refinement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latin typeface="Cambria"/>
                <a:cs typeface="Cambria"/>
              </a:rPr>
              <a:t>adds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0" dirty="0">
                <a:latin typeface="Cambria"/>
                <a:cs typeface="Cambria"/>
              </a:rPr>
              <a:t>more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5" dirty="0">
                <a:latin typeface="Cambria"/>
                <a:cs typeface="Cambria"/>
              </a:rPr>
              <a:t>specificity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to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5" dirty="0">
                <a:latin typeface="Cambria"/>
                <a:cs typeface="Cambria"/>
              </a:rPr>
              <a:t>function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or </a:t>
            </a:r>
            <a:r>
              <a:rPr sz="2750" spc="-10" dirty="0">
                <a:latin typeface="Cambria"/>
                <a:cs typeface="Cambria"/>
              </a:rPr>
              <a:t>process.</a:t>
            </a:r>
            <a:endParaRPr sz="2750">
              <a:latin typeface="Cambria"/>
              <a:cs typeface="Cambria"/>
            </a:endParaRPr>
          </a:p>
          <a:p>
            <a:pPr marL="295275" indent="-282575">
              <a:lnSpc>
                <a:spcPct val="100000"/>
              </a:lnSpc>
              <a:spcBef>
                <a:spcPts val="1735"/>
              </a:spcBef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2750" dirty="0">
                <a:latin typeface="Cambria"/>
                <a:cs typeface="Cambria"/>
              </a:rPr>
              <a:t>Ensures</a:t>
            </a:r>
            <a:r>
              <a:rPr sz="2750" spc="2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that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215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design</a:t>
            </a:r>
            <a:r>
              <a:rPr sz="2750" spc="2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21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well-</a:t>
            </a:r>
            <a:r>
              <a:rPr sz="2750" dirty="0">
                <a:latin typeface="Cambria"/>
                <a:cs typeface="Cambria"/>
              </a:rPr>
              <a:t>structured</a:t>
            </a:r>
            <a:r>
              <a:rPr sz="2750" spc="250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and</a:t>
            </a:r>
            <a:r>
              <a:rPr sz="2750" spc="26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understandable.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25" dirty="0"/>
              <a:t>8.</a:t>
            </a:r>
            <a:r>
              <a:rPr sz="3200" spc="220" dirty="0"/>
              <a:t> </a:t>
            </a:r>
            <a:r>
              <a:rPr sz="3200" spc="90" dirty="0"/>
              <a:t>Refinement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6254115" cy="5379720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92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80" dirty="0">
                <a:latin typeface="Cambria"/>
                <a:cs typeface="Cambria"/>
              </a:rPr>
              <a:t>Example</a:t>
            </a:r>
            <a:endParaRPr sz="2750">
              <a:latin typeface="Cambria"/>
              <a:cs typeface="Cambria"/>
            </a:endParaRPr>
          </a:p>
          <a:p>
            <a:pPr marL="788670" lvl="1" indent="-318770">
              <a:lnSpc>
                <a:spcPct val="100000"/>
              </a:lnSpc>
              <a:spcBef>
                <a:spcPts val="1560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spc="60" dirty="0">
                <a:latin typeface="Cambria"/>
                <a:cs typeface="Cambria"/>
              </a:rPr>
              <a:t>Consider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designing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login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system:</a:t>
            </a:r>
            <a:endParaRPr sz="2400">
              <a:latin typeface="Cambria"/>
              <a:cs typeface="Cambria"/>
            </a:endParaRPr>
          </a:p>
          <a:p>
            <a:pPr marL="712470" lvl="1" indent="-255904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712470" algn="l"/>
              </a:tabLst>
            </a:pPr>
            <a:r>
              <a:rPr sz="2400" spc="114" dirty="0">
                <a:latin typeface="Cambria"/>
                <a:cs typeface="Cambria"/>
              </a:rPr>
              <a:t>High-</a:t>
            </a:r>
            <a:r>
              <a:rPr sz="2400" spc="55" dirty="0">
                <a:latin typeface="Cambria"/>
                <a:cs typeface="Cambria"/>
              </a:rPr>
              <a:t>Level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Process: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Authenticate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user.</a:t>
            </a:r>
            <a:endParaRPr sz="2400">
              <a:latin typeface="Cambria"/>
              <a:cs typeface="Cambria"/>
            </a:endParaRPr>
          </a:p>
          <a:p>
            <a:pPr marL="1155700" lvl="2" indent="-227965">
              <a:lnSpc>
                <a:spcPct val="100000"/>
              </a:lnSpc>
              <a:spcBef>
                <a:spcPts val="1275"/>
              </a:spcBef>
              <a:buFont typeface="Wingdings"/>
              <a:buChar char=""/>
              <a:tabLst>
                <a:tab pos="1155700" algn="l"/>
              </a:tabLst>
            </a:pPr>
            <a:r>
              <a:rPr sz="2000" dirty="0">
                <a:latin typeface="Cambria"/>
                <a:cs typeface="Cambria"/>
              </a:rPr>
              <a:t>Refined</a:t>
            </a:r>
            <a:r>
              <a:rPr sz="2000" spc="3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Steps:</a:t>
            </a:r>
            <a:endParaRPr sz="2000">
              <a:latin typeface="Cambria"/>
              <a:cs typeface="Cambria"/>
            </a:endParaRPr>
          </a:p>
          <a:p>
            <a:pPr marL="1613535" lvl="3" indent="-227965">
              <a:lnSpc>
                <a:spcPct val="100000"/>
              </a:lnSpc>
              <a:spcBef>
                <a:spcPts val="1180"/>
              </a:spcBef>
              <a:buFont typeface="Wingdings"/>
              <a:buChar char=""/>
              <a:tabLst>
                <a:tab pos="1613535" algn="l"/>
              </a:tabLst>
            </a:pPr>
            <a:r>
              <a:rPr sz="1800" dirty="0">
                <a:latin typeface="Cambria"/>
                <a:cs typeface="Cambria"/>
              </a:rPr>
              <a:t>Prompt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user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username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and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password.</a:t>
            </a:r>
            <a:endParaRPr sz="1800">
              <a:latin typeface="Cambria"/>
              <a:cs typeface="Cambria"/>
            </a:endParaRPr>
          </a:p>
          <a:p>
            <a:pPr marL="1613535" lvl="3" indent="-22796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1613535" algn="l"/>
              </a:tabLst>
            </a:pPr>
            <a:r>
              <a:rPr sz="1800" dirty="0">
                <a:latin typeface="Cambria"/>
                <a:cs typeface="Cambria"/>
              </a:rPr>
              <a:t>Validate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user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input.</a:t>
            </a:r>
            <a:endParaRPr sz="1800">
              <a:latin typeface="Cambria"/>
              <a:cs typeface="Cambria"/>
            </a:endParaRPr>
          </a:p>
          <a:p>
            <a:pPr marL="1613535" lvl="3" indent="-22796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1613535" algn="l"/>
              </a:tabLst>
            </a:pPr>
            <a:r>
              <a:rPr sz="1800" spc="60" dirty="0">
                <a:latin typeface="Cambria"/>
                <a:cs typeface="Cambria"/>
              </a:rPr>
              <a:t>Check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credentials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database.</a:t>
            </a:r>
            <a:endParaRPr sz="1800">
              <a:latin typeface="Cambria"/>
              <a:cs typeface="Cambria"/>
            </a:endParaRPr>
          </a:p>
          <a:p>
            <a:pPr marL="1613535" lvl="3" indent="-22796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1613535" algn="l"/>
              </a:tabLst>
            </a:pPr>
            <a:r>
              <a:rPr sz="1800" spc="55" dirty="0">
                <a:latin typeface="Cambria"/>
                <a:cs typeface="Cambria"/>
              </a:rPr>
              <a:t>Grant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deny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access.</a:t>
            </a:r>
            <a:endParaRPr sz="1800">
              <a:latin typeface="Cambria"/>
              <a:cs typeface="Cambria"/>
            </a:endParaRPr>
          </a:p>
          <a:p>
            <a:pPr marL="712470" lvl="1" indent="-255270">
              <a:lnSpc>
                <a:spcPct val="100000"/>
              </a:lnSpc>
              <a:spcBef>
                <a:spcPts val="1295"/>
              </a:spcBef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Final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Implementation:</a:t>
            </a:r>
            <a:endParaRPr sz="2400">
              <a:latin typeface="Cambria"/>
              <a:cs typeface="Cambria"/>
            </a:endParaRPr>
          </a:p>
          <a:p>
            <a:pPr marL="1155700" lvl="2" indent="-227965">
              <a:lnSpc>
                <a:spcPct val="100000"/>
              </a:lnSpc>
              <a:spcBef>
                <a:spcPts val="1350"/>
              </a:spcBef>
              <a:buFont typeface="Wingdings"/>
              <a:buChar char=""/>
              <a:tabLst>
                <a:tab pos="1155700" algn="l"/>
              </a:tabLst>
            </a:pPr>
            <a:r>
              <a:rPr sz="2000" spc="70" dirty="0">
                <a:latin typeface="Cambria"/>
                <a:cs typeface="Cambria"/>
              </a:rPr>
              <a:t>Use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encryption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passwords.</a:t>
            </a:r>
            <a:endParaRPr sz="2000">
              <a:latin typeface="Cambria"/>
              <a:cs typeface="Cambria"/>
            </a:endParaRPr>
          </a:p>
          <a:p>
            <a:pPr marL="1155700" lvl="2" indent="-2279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1155700" algn="l"/>
              </a:tabLst>
            </a:pPr>
            <a:r>
              <a:rPr sz="2000" dirty="0">
                <a:latin typeface="Cambria"/>
                <a:cs typeface="Cambria"/>
              </a:rPr>
              <a:t>Implement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OAuth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authentication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if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required.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25" dirty="0"/>
              <a:t>8.</a:t>
            </a:r>
            <a:r>
              <a:rPr sz="3200" spc="220" dirty="0"/>
              <a:t> </a:t>
            </a:r>
            <a:r>
              <a:rPr sz="3200" spc="90" dirty="0"/>
              <a:t>Refinement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4420" cy="3240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48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55" dirty="0">
                <a:latin typeface="Cambria"/>
                <a:cs typeface="Cambria"/>
              </a:rPr>
              <a:t>	Refinement</a:t>
            </a:r>
            <a:r>
              <a:rPr sz="2750" spc="26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helps</a:t>
            </a:r>
            <a:r>
              <a:rPr sz="2750" spc="229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22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breaking</a:t>
            </a:r>
            <a:r>
              <a:rPr sz="2750" spc="280" dirty="0">
                <a:latin typeface="Cambria"/>
                <a:cs typeface="Cambria"/>
              </a:rPr>
              <a:t> </a:t>
            </a:r>
            <a:r>
              <a:rPr sz="2750" spc="114" dirty="0">
                <a:latin typeface="Cambria"/>
                <a:cs typeface="Cambria"/>
              </a:rPr>
              <a:t>down</a:t>
            </a:r>
            <a:r>
              <a:rPr sz="2750" spc="28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2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large</a:t>
            </a:r>
            <a:r>
              <a:rPr sz="2750" spc="2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process</a:t>
            </a:r>
            <a:r>
              <a:rPr sz="2750" spc="2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into</a:t>
            </a:r>
            <a:r>
              <a:rPr sz="2750" spc="21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smaller,</a:t>
            </a:r>
            <a:r>
              <a:rPr sz="2750" spc="229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self- </a:t>
            </a:r>
            <a:r>
              <a:rPr sz="2750" spc="50" dirty="0">
                <a:latin typeface="Cambria"/>
                <a:cs typeface="Cambria"/>
              </a:rPr>
              <a:t>contained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functions.</a:t>
            </a:r>
            <a:endParaRPr sz="2750">
              <a:latin typeface="Cambria"/>
              <a:cs typeface="Cambria"/>
            </a:endParaRPr>
          </a:p>
          <a:p>
            <a:pPr marL="294640" indent="-281940">
              <a:lnSpc>
                <a:spcPct val="100000"/>
              </a:lnSpc>
              <a:spcBef>
                <a:spcPts val="1735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60" dirty="0">
                <a:latin typeface="Cambria"/>
                <a:cs typeface="Cambria"/>
              </a:rPr>
              <a:t>Each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step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further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decomposed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until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it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can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be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coded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directly.</a:t>
            </a:r>
            <a:endParaRPr sz="2750">
              <a:latin typeface="Cambria"/>
              <a:cs typeface="Cambria"/>
            </a:endParaRPr>
          </a:p>
          <a:p>
            <a:pPr marL="241300" marR="5715" indent="-229235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640" algn="l"/>
                <a:tab pos="2073275" algn="l"/>
                <a:tab pos="2516505" algn="l"/>
                <a:tab pos="3950335" algn="l"/>
                <a:tab pos="4862195" algn="l"/>
                <a:tab pos="6284595" algn="l"/>
                <a:tab pos="7276465" algn="l"/>
                <a:tab pos="7759700" algn="l"/>
                <a:tab pos="8441690" algn="l"/>
                <a:tab pos="9154795" algn="l"/>
                <a:tab pos="9946640" algn="l"/>
              </a:tabLst>
            </a:pPr>
            <a:r>
              <a:rPr sz="2750" spc="65" dirty="0">
                <a:latin typeface="Cambria"/>
                <a:cs typeface="Cambria"/>
              </a:rPr>
              <a:t>	Hierarchy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is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latin typeface="Cambria"/>
                <a:cs typeface="Cambria"/>
              </a:rPr>
              <a:t>formed,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with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abstract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steps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at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the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5" dirty="0">
                <a:latin typeface="Cambria"/>
                <a:cs typeface="Cambria"/>
              </a:rPr>
              <a:t>top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5" dirty="0">
                <a:latin typeface="Cambria"/>
                <a:cs typeface="Cambria"/>
              </a:rPr>
              <a:t>and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5" dirty="0">
                <a:latin typeface="Cambria"/>
                <a:cs typeface="Cambria"/>
              </a:rPr>
              <a:t>detailed </a:t>
            </a:r>
            <a:r>
              <a:rPr sz="2750" spc="60" dirty="0">
                <a:latin typeface="Cambria"/>
                <a:cs typeface="Cambria"/>
              </a:rPr>
              <a:t>implementation</a:t>
            </a:r>
            <a:r>
              <a:rPr sz="2750" spc="16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at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bottom.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25" dirty="0"/>
              <a:t>8.</a:t>
            </a:r>
            <a:r>
              <a:rPr sz="3200" spc="220" dirty="0"/>
              <a:t> </a:t>
            </a:r>
            <a:r>
              <a:rPr sz="3200" spc="90" dirty="0"/>
              <a:t>Refinement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17823"/>
            <a:ext cx="9301480" cy="507047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274320" indent="-264795">
              <a:lnSpc>
                <a:spcPct val="100000"/>
              </a:lnSpc>
              <a:spcBef>
                <a:spcPts val="13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80" dirty="0">
                <a:latin typeface="Cambria"/>
                <a:cs typeface="Cambria"/>
              </a:rPr>
              <a:t>Developing</a:t>
            </a:r>
            <a:r>
              <a:rPr sz="2600" spc="7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</a:t>
            </a:r>
            <a:r>
              <a:rPr sz="2600" spc="105" dirty="0">
                <a:latin typeface="Cambria"/>
                <a:cs typeface="Cambria"/>
              </a:rPr>
              <a:t> </a:t>
            </a:r>
            <a:r>
              <a:rPr sz="2600" b="1" spc="145" dirty="0">
                <a:latin typeface="Times New Roman"/>
                <a:cs typeface="Times New Roman"/>
              </a:rPr>
              <a:t>file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90" dirty="0">
                <a:latin typeface="Times New Roman"/>
                <a:cs typeface="Times New Roman"/>
              </a:rPr>
              <a:t>processing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80" dirty="0">
                <a:latin typeface="Times New Roman"/>
                <a:cs typeface="Times New Roman"/>
              </a:rPr>
              <a:t>system</a:t>
            </a:r>
            <a:r>
              <a:rPr sz="2600" spc="80" dirty="0">
                <a:latin typeface="Cambria"/>
                <a:cs typeface="Cambria"/>
              </a:rPr>
              <a:t>:</a:t>
            </a:r>
            <a:endParaRPr sz="26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23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105" dirty="0">
                <a:latin typeface="Times New Roman"/>
                <a:cs typeface="Times New Roman"/>
              </a:rPr>
              <a:t>High-</a:t>
            </a:r>
            <a:r>
              <a:rPr sz="2600" b="1" spc="80" dirty="0">
                <a:latin typeface="Times New Roman"/>
                <a:cs typeface="Times New Roman"/>
              </a:rPr>
              <a:t>Level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Task:</a:t>
            </a:r>
            <a:r>
              <a:rPr sz="2600" b="1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mbria"/>
                <a:cs typeface="Cambria"/>
              </a:rPr>
              <a:t>Process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</a:t>
            </a:r>
            <a:r>
              <a:rPr sz="2600" spc="8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file.</a:t>
            </a:r>
            <a:endParaRPr sz="26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23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105" dirty="0">
                <a:latin typeface="Times New Roman"/>
                <a:cs typeface="Times New Roman"/>
              </a:rPr>
              <a:t>Refinement</a:t>
            </a:r>
            <a:r>
              <a:rPr sz="2600" b="1" spc="15" dirty="0">
                <a:latin typeface="Times New Roman"/>
                <a:cs typeface="Times New Roman"/>
              </a:rPr>
              <a:t> </a:t>
            </a:r>
            <a:r>
              <a:rPr sz="2600" b="1" spc="45" dirty="0">
                <a:latin typeface="Times New Roman"/>
                <a:cs typeface="Times New Roman"/>
              </a:rPr>
              <a:t>Steps:</a:t>
            </a:r>
            <a:endParaRPr sz="26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35"/>
              </a:spcBef>
              <a:buFont typeface="Arial MT"/>
              <a:buChar char="•"/>
              <a:tabLst>
                <a:tab pos="755650" algn="l"/>
              </a:tabLst>
            </a:pPr>
            <a:r>
              <a:rPr sz="2150" spc="125" dirty="0">
                <a:latin typeface="Cambria"/>
                <a:cs typeface="Cambria"/>
              </a:rPr>
              <a:t>Open</a:t>
            </a:r>
            <a:r>
              <a:rPr sz="2150" spc="9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05" dirty="0">
                <a:latin typeface="Cambria"/>
                <a:cs typeface="Cambria"/>
              </a:rPr>
              <a:t> </a:t>
            </a:r>
            <a:r>
              <a:rPr sz="2150" spc="40" dirty="0">
                <a:latin typeface="Cambria"/>
                <a:cs typeface="Cambria"/>
              </a:rPr>
              <a:t>file.</a:t>
            </a:r>
            <a:endParaRPr sz="2150">
              <a:latin typeface="Cambria"/>
              <a:cs typeface="Cambria"/>
            </a:endParaRPr>
          </a:p>
          <a:p>
            <a:pPr marL="755650" lvl="1" indent="-285750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755650" algn="l"/>
              </a:tabLst>
            </a:pPr>
            <a:r>
              <a:rPr sz="2150" spc="65" dirty="0">
                <a:latin typeface="Cambria"/>
                <a:cs typeface="Cambria"/>
              </a:rPr>
              <a:t>Read</a:t>
            </a:r>
            <a:r>
              <a:rPr sz="2150" spc="14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35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content.</a:t>
            </a:r>
            <a:endParaRPr sz="2150">
              <a:latin typeface="Cambria"/>
              <a:cs typeface="Cambria"/>
            </a:endParaRPr>
          </a:p>
          <a:p>
            <a:pPr marL="755650" lvl="1" indent="-285750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755650" algn="l"/>
              </a:tabLst>
            </a:pPr>
            <a:r>
              <a:rPr sz="2150" dirty="0">
                <a:latin typeface="Cambria"/>
                <a:cs typeface="Cambria"/>
              </a:rPr>
              <a:t>Process</a:t>
            </a:r>
            <a:r>
              <a:rPr sz="2150" spc="17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95" dirty="0">
                <a:latin typeface="Cambria"/>
                <a:cs typeface="Cambria"/>
              </a:rPr>
              <a:t> </a:t>
            </a:r>
            <a:r>
              <a:rPr sz="2150" spc="40" dirty="0">
                <a:latin typeface="Cambria"/>
                <a:cs typeface="Cambria"/>
              </a:rPr>
              <a:t>data.</a:t>
            </a:r>
            <a:endParaRPr sz="2150">
              <a:latin typeface="Cambria"/>
              <a:cs typeface="Cambria"/>
            </a:endParaRPr>
          </a:p>
          <a:p>
            <a:pPr marL="755650" lvl="1" indent="-285750">
              <a:lnSpc>
                <a:spcPct val="100000"/>
              </a:lnSpc>
              <a:spcBef>
                <a:spcPts val="1175"/>
              </a:spcBef>
              <a:buFont typeface="Arial MT"/>
              <a:buChar char="•"/>
              <a:tabLst>
                <a:tab pos="755650" algn="l"/>
              </a:tabLst>
            </a:pPr>
            <a:r>
              <a:rPr sz="2150" spc="75" dirty="0">
                <a:latin typeface="Cambria"/>
                <a:cs typeface="Cambria"/>
              </a:rPr>
              <a:t>Save</a:t>
            </a:r>
            <a:r>
              <a:rPr sz="2150" spc="5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30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results.</a:t>
            </a:r>
            <a:endParaRPr sz="215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Further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40" dirty="0">
                <a:latin typeface="Times New Roman"/>
                <a:cs typeface="Times New Roman"/>
              </a:rPr>
              <a:t>Breakdown:</a:t>
            </a:r>
            <a:endParaRPr sz="26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160"/>
              </a:spcBef>
              <a:buFont typeface="Arial MT"/>
              <a:buChar char="•"/>
              <a:tabLst>
                <a:tab pos="755650" algn="l"/>
              </a:tabLst>
            </a:pPr>
            <a:r>
              <a:rPr sz="2150" dirty="0">
                <a:latin typeface="Cambria"/>
                <a:cs typeface="Cambria"/>
              </a:rPr>
              <a:t>"Read</a:t>
            </a:r>
            <a:r>
              <a:rPr sz="2150" spc="26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7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content"</a:t>
            </a:r>
            <a:r>
              <a:rPr sz="2150" spc="265" dirty="0">
                <a:latin typeface="Cambria"/>
                <a:cs typeface="Cambria"/>
              </a:rPr>
              <a:t> </a:t>
            </a:r>
            <a:r>
              <a:rPr sz="2150" spc="360" dirty="0">
                <a:latin typeface="Cambria"/>
                <a:cs typeface="Cambria"/>
              </a:rPr>
              <a:t>→</a:t>
            </a:r>
            <a:r>
              <a:rPr sz="2150" spc="160" dirty="0">
                <a:latin typeface="Cambria"/>
                <a:cs typeface="Cambria"/>
              </a:rPr>
              <a:t> </a:t>
            </a:r>
            <a:r>
              <a:rPr sz="2150" spc="85" dirty="0">
                <a:latin typeface="Cambria"/>
                <a:cs typeface="Cambria"/>
              </a:rPr>
              <a:t>Read</a:t>
            </a:r>
            <a:r>
              <a:rPr sz="2150" spc="19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line</a:t>
            </a:r>
            <a:r>
              <a:rPr sz="2150" spc="165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by</a:t>
            </a:r>
            <a:r>
              <a:rPr sz="2150" spc="23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line,</a:t>
            </a:r>
            <a:r>
              <a:rPr sz="2150" spc="229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extract</a:t>
            </a:r>
            <a:r>
              <a:rPr sz="2150" spc="204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metadata,</a:t>
            </a:r>
            <a:r>
              <a:rPr sz="2150" spc="229" dirty="0">
                <a:latin typeface="Cambria"/>
                <a:cs typeface="Cambria"/>
              </a:rPr>
              <a:t> </a:t>
            </a:r>
            <a:r>
              <a:rPr sz="2150" spc="-20" dirty="0">
                <a:latin typeface="Cambria"/>
                <a:cs typeface="Cambria"/>
              </a:rPr>
              <a:t>etc.</a:t>
            </a:r>
            <a:endParaRPr sz="2150">
              <a:latin typeface="Cambria"/>
              <a:cs typeface="Cambria"/>
            </a:endParaRPr>
          </a:p>
          <a:p>
            <a:pPr marL="755650" lvl="1" indent="-285750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755650" algn="l"/>
              </a:tabLst>
            </a:pPr>
            <a:r>
              <a:rPr sz="2150" dirty="0">
                <a:latin typeface="Cambria"/>
                <a:cs typeface="Cambria"/>
              </a:rPr>
              <a:t>"Process</a:t>
            </a:r>
            <a:r>
              <a:rPr sz="2150" spc="21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6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data"</a:t>
            </a:r>
            <a:r>
              <a:rPr sz="2150" spc="170" dirty="0">
                <a:latin typeface="Cambria"/>
                <a:cs typeface="Cambria"/>
              </a:rPr>
              <a:t> </a:t>
            </a:r>
            <a:r>
              <a:rPr sz="2150" spc="360" dirty="0">
                <a:latin typeface="Cambria"/>
                <a:cs typeface="Cambria"/>
              </a:rPr>
              <a:t>→</a:t>
            </a:r>
            <a:r>
              <a:rPr sz="2150" spc="245" dirty="0">
                <a:latin typeface="Cambria"/>
                <a:cs typeface="Cambria"/>
              </a:rPr>
              <a:t> </a:t>
            </a:r>
            <a:r>
              <a:rPr sz="2150" spc="155" dirty="0">
                <a:latin typeface="Cambria"/>
                <a:cs typeface="Cambria"/>
              </a:rPr>
              <a:t>Apply</a:t>
            </a:r>
            <a:r>
              <a:rPr sz="2150" spc="145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data</a:t>
            </a:r>
            <a:r>
              <a:rPr sz="2150" spc="20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transformation,</a:t>
            </a:r>
            <a:r>
              <a:rPr sz="2150" spc="225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validation,</a:t>
            </a:r>
            <a:r>
              <a:rPr sz="2150" spc="220" dirty="0">
                <a:latin typeface="Cambria"/>
                <a:cs typeface="Cambria"/>
              </a:rPr>
              <a:t> </a:t>
            </a:r>
            <a:r>
              <a:rPr sz="2150" spc="35" dirty="0">
                <a:latin typeface="Cambria"/>
                <a:cs typeface="Cambria"/>
              </a:rPr>
              <a:t>filtering.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25" dirty="0"/>
              <a:t>8.</a:t>
            </a:r>
            <a:r>
              <a:rPr sz="3200" spc="220" dirty="0"/>
              <a:t> </a:t>
            </a:r>
            <a:r>
              <a:rPr sz="3200" spc="90" dirty="0"/>
              <a:t>Refinement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101705" cy="38792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376555" indent="-229235">
              <a:lnSpc>
                <a:spcPct val="1548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55" dirty="0">
                <a:latin typeface="Cambria"/>
                <a:cs typeface="Cambria"/>
              </a:rPr>
              <a:t>	Refinement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design</a:t>
            </a:r>
            <a:r>
              <a:rPr sz="2750" spc="114" dirty="0">
                <a:latin typeface="Cambria"/>
                <a:cs typeface="Cambria"/>
              </a:rPr>
              <a:t> </a:t>
            </a:r>
            <a:r>
              <a:rPr sz="2750" spc="260" dirty="0">
                <a:latin typeface="Cambria"/>
                <a:cs typeface="Cambria"/>
              </a:rPr>
              <a:t>&amp;</a:t>
            </a:r>
            <a:r>
              <a:rPr sz="2750" spc="100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coding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10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like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partitioning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in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requirements </a:t>
            </a:r>
            <a:r>
              <a:rPr sz="2750" spc="45" dirty="0">
                <a:latin typeface="Cambria"/>
                <a:cs typeface="Cambria"/>
              </a:rPr>
              <a:t>analysis.</a:t>
            </a:r>
            <a:endParaRPr sz="2750">
              <a:latin typeface="Cambria"/>
              <a:cs typeface="Cambria"/>
            </a:endParaRPr>
          </a:p>
          <a:p>
            <a:pPr marL="241300" marR="5080" indent="-229235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75" dirty="0">
                <a:latin typeface="Cambria"/>
                <a:cs typeface="Cambria"/>
              </a:rPr>
              <a:t>	In</a:t>
            </a:r>
            <a:r>
              <a:rPr sz="2750" spc="21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requirement</a:t>
            </a:r>
            <a:r>
              <a:rPr sz="2750" spc="25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analysis,</a:t>
            </a:r>
            <a:r>
              <a:rPr sz="2750" spc="229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high-</a:t>
            </a:r>
            <a:r>
              <a:rPr sz="2750" spc="60" dirty="0">
                <a:latin typeface="Cambria"/>
                <a:cs typeface="Cambria"/>
              </a:rPr>
              <a:t>level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requirements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are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partitioned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spc="-20" dirty="0">
                <a:latin typeface="Cambria"/>
                <a:cs typeface="Cambria"/>
              </a:rPr>
              <a:t>into </a:t>
            </a:r>
            <a:r>
              <a:rPr sz="2750" spc="60" dirty="0">
                <a:latin typeface="Cambria"/>
                <a:cs typeface="Cambria"/>
              </a:rPr>
              <a:t>functional</a:t>
            </a:r>
            <a:r>
              <a:rPr sz="2750" spc="8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modules.</a:t>
            </a:r>
            <a:endParaRPr sz="2750">
              <a:latin typeface="Cambria"/>
              <a:cs typeface="Cambria"/>
            </a:endParaRPr>
          </a:p>
          <a:p>
            <a:pPr marL="241300" marR="338455" indent="-229235">
              <a:lnSpc>
                <a:spcPct val="152400"/>
              </a:lnSpc>
              <a:spcBef>
                <a:spcPts val="5"/>
              </a:spcBef>
              <a:buSzPct val="96363"/>
              <a:buFont typeface="Wingdings"/>
              <a:buChar char=""/>
              <a:tabLst>
                <a:tab pos="241300" algn="l"/>
                <a:tab pos="294640" algn="l"/>
              </a:tabLst>
            </a:pPr>
            <a:r>
              <a:rPr sz="2750" spc="75" dirty="0">
                <a:latin typeface="Cambria"/>
                <a:cs typeface="Cambria"/>
              </a:rPr>
              <a:t>	In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design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260" dirty="0">
                <a:latin typeface="Cambria"/>
                <a:cs typeface="Cambria"/>
              </a:rPr>
              <a:t>&amp;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coding,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high-</a:t>
            </a:r>
            <a:r>
              <a:rPr sz="2750" spc="60" dirty="0">
                <a:latin typeface="Cambria"/>
                <a:cs typeface="Cambria"/>
              </a:rPr>
              <a:t>level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procedures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are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refined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into</a:t>
            </a:r>
            <a:r>
              <a:rPr sz="2750" spc="185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detailed </a:t>
            </a:r>
            <a:r>
              <a:rPr sz="2750" spc="50" dirty="0">
                <a:latin typeface="Cambria"/>
                <a:cs typeface="Cambria"/>
              </a:rPr>
              <a:t>implementations.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4" dirty="0"/>
              <a:t> </a:t>
            </a:r>
            <a:r>
              <a:rPr sz="3200" spc="125" dirty="0"/>
              <a:t>8.</a:t>
            </a:r>
            <a:r>
              <a:rPr sz="3200" spc="225" dirty="0"/>
              <a:t> </a:t>
            </a:r>
            <a:r>
              <a:rPr sz="3200" spc="130" dirty="0"/>
              <a:t>Architecture</a:t>
            </a:r>
            <a:r>
              <a:rPr sz="3200" spc="260" dirty="0"/>
              <a:t> </a:t>
            </a:r>
            <a:r>
              <a:rPr sz="3200" spc="145" dirty="0"/>
              <a:t>Design</a:t>
            </a:r>
            <a:r>
              <a:rPr sz="3200" spc="250" dirty="0"/>
              <a:t> </a:t>
            </a:r>
            <a:r>
              <a:rPr sz="3200" spc="80" dirty="0"/>
              <a:t>-</a:t>
            </a:r>
            <a:r>
              <a:rPr sz="3200" spc="250" dirty="0"/>
              <a:t> </a:t>
            </a:r>
            <a:r>
              <a:rPr sz="3200" spc="114" dirty="0"/>
              <a:t>Transform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07932"/>
            <a:ext cx="10682605" cy="483806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255270" indent="-244475">
              <a:lnSpc>
                <a:spcPct val="100000"/>
              </a:lnSpc>
              <a:spcBef>
                <a:spcPts val="1310"/>
              </a:spcBef>
              <a:buSzPct val="95833"/>
              <a:buFont typeface="Wingdings"/>
              <a:buChar char=""/>
              <a:tabLst>
                <a:tab pos="255270" algn="l"/>
              </a:tabLst>
            </a:pP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Architectural</a:t>
            </a:r>
            <a:r>
              <a:rPr sz="2400" spc="24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FF1C05"/>
                </a:solidFill>
                <a:latin typeface="Cambria"/>
                <a:cs typeface="Cambria"/>
              </a:rPr>
              <a:t>Mapping</a:t>
            </a:r>
            <a:r>
              <a:rPr sz="2400" spc="19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FF1C05"/>
                </a:solidFill>
                <a:latin typeface="Cambria"/>
                <a:cs typeface="Cambria"/>
              </a:rPr>
              <a:t>Using</a:t>
            </a:r>
            <a:r>
              <a:rPr sz="2400" spc="19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FF1C05"/>
                </a:solidFill>
                <a:latin typeface="Cambria"/>
                <a:cs typeface="Cambria"/>
              </a:rPr>
              <a:t>Data</a:t>
            </a:r>
            <a:r>
              <a:rPr sz="2400" spc="18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FF1C05"/>
                </a:solidFill>
                <a:latin typeface="Cambria"/>
                <a:cs typeface="Cambria"/>
              </a:rPr>
              <a:t>Flow</a:t>
            </a:r>
            <a:endParaRPr sz="2400">
              <a:latin typeface="Cambria"/>
              <a:cs typeface="Cambria"/>
            </a:endParaRPr>
          </a:p>
          <a:p>
            <a:pPr marL="762000" lvl="1" indent="-292100">
              <a:lnSpc>
                <a:spcPct val="100000"/>
              </a:lnSpc>
              <a:spcBef>
                <a:spcPts val="1050"/>
              </a:spcBef>
              <a:buFont typeface="Wingdings"/>
              <a:buChar char=""/>
              <a:tabLst>
                <a:tab pos="762000" algn="l"/>
              </a:tabLst>
            </a:pPr>
            <a:r>
              <a:rPr sz="2000" spc="75" dirty="0">
                <a:latin typeface="Cambria"/>
                <a:cs typeface="Cambria"/>
              </a:rPr>
              <a:t>Helps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transition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from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flow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diagrams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(DFDs)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software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architecture.</a:t>
            </a:r>
            <a:endParaRPr sz="200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980"/>
              </a:spcBef>
              <a:buFont typeface="Wingdings"/>
              <a:buChar char=""/>
              <a:tabLst>
                <a:tab pos="698500" algn="l"/>
              </a:tabLst>
            </a:pPr>
            <a:r>
              <a:rPr sz="2000" b="1" dirty="0">
                <a:latin typeface="Times New Roman"/>
                <a:cs typeface="Times New Roman"/>
              </a:rPr>
              <a:t>Six-</a:t>
            </a:r>
            <a:r>
              <a:rPr sz="2000" b="1" spc="80" dirty="0">
                <a:latin typeface="Times New Roman"/>
                <a:cs typeface="Times New Roman"/>
              </a:rPr>
              <a:t>step</a:t>
            </a:r>
            <a:r>
              <a:rPr sz="2000" b="1" spc="20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process:</a:t>
            </a:r>
            <a:endParaRPr sz="2000">
              <a:latin typeface="Times New Roman"/>
              <a:cs typeface="Times New Roman"/>
            </a:endParaRPr>
          </a:p>
          <a:p>
            <a:pPr marL="699135" marR="41910" lvl="1" indent="-229235">
              <a:lnSpc>
                <a:spcPct val="140800"/>
              </a:lnSpc>
              <a:spcBef>
                <a:spcPts val="5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Identify</a:t>
            </a:r>
            <a:r>
              <a:rPr sz="2000" spc="19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Information</a:t>
            </a:r>
            <a:r>
              <a:rPr sz="2000" spc="13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FF1C05"/>
                </a:solidFill>
                <a:latin typeface="Cambria"/>
                <a:cs typeface="Cambria"/>
              </a:rPr>
              <a:t>Flow</a:t>
            </a:r>
            <a:r>
              <a:rPr sz="2000" spc="14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Type</a:t>
            </a:r>
            <a:r>
              <a:rPr sz="2000" spc="19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Determine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if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system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has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transform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transaction </a:t>
            </a:r>
            <a:r>
              <a:rPr sz="2000" spc="50" dirty="0">
                <a:latin typeface="Cambria"/>
                <a:cs typeface="Cambria"/>
              </a:rPr>
              <a:t>flow.</a:t>
            </a:r>
            <a:endParaRPr sz="2000">
              <a:latin typeface="Cambria"/>
              <a:cs typeface="Cambria"/>
            </a:endParaRPr>
          </a:p>
          <a:p>
            <a:pPr marL="697865" lvl="1" indent="-227965">
              <a:lnSpc>
                <a:spcPct val="100000"/>
              </a:lnSpc>
              <a:spcBef>
                <a:spcPts val="975"/>
              </a:spcBef>
              <a:buFont typeface="Wingdings"/>
              <a:buChar char=""/>
              <a:tabLst>
                <a:tab pos="697865" algn="l"/>
              </a:tabLst>
            </a:pPr>
            <a:r>
              <a:rPr sz="2000" spc="55" dirty="0">
                <a:solidFill>
                  <a:srgbClr val="FF1C05"/>
                </a:solidFill>
                <a:latin typeface="Cambria"/>
                <a:cs typeface="Cambria"/>
              </a:rPr>
              <a:t>Define</a:t>
            </a:r>
            <a:r>
              <a:rPr sz="2000" spc="7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FF1C05"/>
                </a:solidFill>
                <a:latin typeface="Cambria"/>
                <a:cs typeface="Cambria"/>
              </a:rPr>
              <a:t>Flow</a:t>
            </a:r>
            <a:r>
              <a:rPr sz="2000" spc="114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Boundaries</a:t>
            </a:r>
            <a:r>
              <a:rPr sz="2000" spc="18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Identify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where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data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enters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and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exits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system.</a:t>
            </a:r>
            <a:endParaRPr sz="200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905"/>
              </a:spcBef>
              <a:buFont typeface="Wingdings"/>
              <a:buChar char=""/>
              <a:tabLst>
                <a:tab pos="698500" algn="l"/>
              </a:tabLst>
            </a:pPr>
            <a:r>
              <a:rPr sz="2000" spc="135" dirty="0">
                <a:solidFill>
                  <a:srgbClr val="FF1C05"/>
                </a:solidFill>
                <a:latin typeface="Cambria"/>
                <a:cs typeface="Cambria"/>
              </a:rPr>
              <a:t>Map</a:t>
            </a:r>
            <a:r>
              <a:rPr sz="2000" spc="3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spc="175" dirty="0">
                <a:solidFill>
                  <a:srgbClr val="FF1C05"/>
                </a:solidFill>
                <a:latin typeface="Cambria"/>
                <a:cs typeface="Cambria"/>
              </a:rPr>
              <a:t>DFD</a:t>
            </a:r>
            <a:r>
              <a:rPr sz="2000" spc="5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to</a:t>
            </a:r>
            <a:r>
              <a:rPr sz="2000" spc="7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Program</a:t>
            </a:r>
            <a:r>
              <a:rPr sz="2000" spc="7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Structure</a:t>
            </a:r>
            <a:r>
              <a:rPr sz="2000" spc="13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Convert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DFDs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into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organized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software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architecture.</a:t>
            </a:r>
            <a:endParaRPr sz="200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980"/>
              </a:spcBef>
              <a:buFont typeface="Wingdings"/>
              <a:buChar char=""/>
              <a:tabLst>
                <a:tab pos="698500" algn="l"/>
              </a:tabLst>
            </a:pPr>
            <a:r>
              <a:rPr sz="2000" spc="55" dirty="0">
                <a:solidFill>
                  <a:srgbClr val="FF1C05"/>
                </a:solidFill>
                <a:latin typeface="Cambria"/>
                <a:cs typeface="Cambria"/>
              </a:rPr>
              <a:t>Define</a:t>
            </a:r>
            <a:r>
              <a:rPr sz="2000" spc="7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FF1C05"/>
                </a:solidFill>
                <a:latin typeface="Cambria"/>
                <a:cs typeface="Cambria"/>
              </a:rPr>
              <a:t>Control</a:t>
            </a:r>
            <a:r>
              <a:rPr sz="2000" spc="8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FF1C05"/>
                </a:solidFill>
                <a:latin typeface="Cambria"/>
                <a:cs typeface="Cambria"/>
              </a:rPr>
              <a:t>Hierarchy</a:t>
            </a:r>
            <a:r>
              <a:rPr sz="2000" spc="12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Establish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decision-</a:t>
            </a:r>
            <a:r>
              <a:rPr sz="2000" spc="60" dirty="0">
                <a:latin typeface="Cambria"/>
                <a:cs typeface="Cambria"/>
              </a:rPr>
              <a:t>making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structure.</a:t>
            </a:r>
            <a:endParaRPr sz="2000">
              <a:latin typeface="Cambria"/>
              <a:cs typeface="Cambria"/>
            </a:endParaRPr>
          </a:p>
          <a:p>
            <a:pPr marL="699135" marR="233679" lvl="1" indent="-229235">
              <a:lnSpc>
                <a:spcPts val="3379"/>
              </a:lnSpc>
              <a:spcBef>
                <a:spcPts val="275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Refine</a:t>
            </a:r>
            <a:r>
              <a:rPr sz="2000" spc="16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FF1C05"/>
                </a:solidFill>
                <a:latin typeface="Cambria"/>
                <a:cs typeface="Cambria"/>
              </a:rPr>
              <a:t>Design</a:t>
            </a:r>
            <a:r>
              <a:rPr sz="2000" spc="18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FF1C05"/>
                </a:solidFill>
                <a:latin typeface="Cambria"/>
                <a:cs typeface="Cambria"/>
              </a:rPr>
              <a:t>Using</a:t>
            </a:r>
            <a:r>
              <a:rPr sz="2000" spc="25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Heuristics</a:t>
            </a:r>
            <a:r>
              <a:rPr sz="2000" spc="23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Optimize</a:t>
            </a:r>
            <a:r>
              <a:rPr sz="2000" spc="2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functional</a:t>
            </a:r>
            <a:r>
              <a:rPr sz="2000" spc="2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independence,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cohesion,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and </a:t>
            </a:r>
            <a:r>
              <a:rPr sz="2000" spc="50" dirty="0">
                <a:latin typeface="Cambria"/>
                <a:cs typeface="Cambria"/>
              </a:rPr>
              <a:t>minimal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coupling.</a:t>
            </a:r>
            <a:endParaRPr sz="200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705"/>
              </a:spcBef>
              <a:buFont typeface="Wingdings"/>
              <a:buChar char=""/>
              <a:tabLst>
                <a:tab pos="698500" algn="l"/>
              </a:tabLst>
            </a:pP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Elaborate</a:t>
            </a:r>
            <a:r>
              <a:rPr sz="2000" spc="27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Architectural</a:t>
            </a:r>
            <a:r>
              <a:rPr sz="2000" spc="28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Description</a:t>
            </a:r>
            <a:r>
              <a:rPr sz="2000" spc="229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Improve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and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document</a:t>
            </a:r>
            <a:r>
              <a:rPr sz="2000" spc="28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architecture.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4" dirty="0"/>
              <a:t> </a:t>
            </a:r>
            <a:r>
              <a:rPr sz="3200" spc="125" dirty="0"/>
              <a:t>8.</a:t>
            </a:r>
            <a:r>
              <a:rPr sz="3200" spc="225" dirty="0"/>
              <a:t> </a:t>
            </a:r>
            <a:r>
              <a:rPr sz="3200" spc="130" dirty="0"/>
              <a:t>Architecture</a:t>
            </a:r>
            <a:r>
              <a:rPr sz="3200" spc="260" dirty="0"/>
              <a:t> </a:t>
            </a:r>
            <a:r>
              <a:rPr sz="3200" spc="145" dirty="0"/>
              <a:t>Design</a:t>
            </a:r>
            <a:r>
              <a:rPr sz="3200" spc="250" dirty="0"/>
              <a:t> </a:t>
            </a:r>
            <a:r>
              <a:rPr sz="3200" spc="80" dirty="0"/>
              <a:t>-</a:t>
            </a:r>
            <a:r>
              <a:rPr sz="3200" spc="250" dirty="0"/>
              <a:t> </a:t>
            </a:r>
            <a:r>
              <a:rPr sz="3200" spc="114" dirty="0"/>
              <a:t>Transform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6325" cy="45275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8255" indent="-229235" algn="just">
              <a:lnSpc>
                <a:spcPct val="1536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75" dirty="0">
                <a:latin typeface="Cambria"/>
                <a:cs typeface="Cambria"/>
              </a:rPr>
              <a:t>	In</a:t>
            </a:r>
            <a:r>
              <a:rPr sz="2750" spc="2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254" dirty="0"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architectural</a:t>
            </a:r>
            <a:r>
              <a:rPr sz="2750" spc="27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114" dirty="0">
                <a:solidFill>
                  <a:srgbClr val="FF1C05"/>
                </a:solidFill>
                <a:latin typeface="Cambria"/>
                <a:cs typeface="Cambria"/>
              </a:rPr>
              <a:t>mapping</a:t>
            </a:r>
            <a:r>
              <a:rPr sz="2750" spc="31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process</a:t>
            </a:r>
            <a:r>
              <a:rPr sz="2750" dirty="0">
                <a:latin typeface="Cambria"/>
                <a:cs typeface="Cambria"/>
              </a:rPr>
              <a:t>,</a:t>
            </a:r>
            <a:r>
              <a:rPr sz="2750" spc="26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two</a:t>
            </a:r>
            <a:r>
              <a:rPr sz="2750" spc="30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major</a:t>
            </a:r>
            <a:r>
              <a:rPr sz="2750" spc="24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types</a:t>
            </a:r>
            <a:r>
              <a:rPr sz="2750" spc="30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305" dirty="0">
                <a:latin typeface="Cambria"/>
                <a:cs typeface="Cambria"/>
              </a:rPr>
              <a:t> </a:t>
            </a:r>
            <a:r>
              <a:rPr sz="2750" spc="40" dirty="0">
                <a:latin typeface="Cambria"/>
                <a:cs typeface="Cambria"/>
              </a:rPr>
              <a:t>information </a:t>
            </a:r>
            <a:r>
              <a:rPr sz="2750" spc="100" dirty="0">
                <a:latin typeface="Cambria"/>
                <a:cs typeface="Cambria"/>
              </a:rPr>
              <a:t>flow</a:t>
            </a:r>
            <a:r>
              <a:rPr sz="2750" spc="470" dirty="0">
                <a:latin typeface="Cambria"/>
                <a:cs typeface="Cambria"/>
              </a:rPr>
              <a:t> </a:t>
            </a:r>
            <a:r>
              <a:rPr sz="2750" spc="100" dirty="0">
                <a:latin typeface="Cambria"/>
                <a:cs typeface="Cambria"/>
              </a:rPr>
              <a:t>play</a:t>
            </a:r>
            <a:r>
              <a:rPr sz="2750" spc="50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48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critical</a:t>
            </a:r>
            <a:r>
              <a:rPr sz="2750" spc="49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role</a:t>
            </a:r>
            <a:r>
              <a:rPr sz="2750" spc="47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46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detailed</a:t>
            </a:r>
            <a:r>
              <a:rPr sz="2750" spc="50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design:</a:t>
            </a:r>
            <a:r>
              <a:rPr sz="2750" spc="475" dirty="0"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Transform</a:t>
            </a:r>
            <a:r>
              <a:rPr sz="2750" spc="52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155" dirty="0">
                <a:solidFill>
                  <a:srgbClr val="FF1C05"/>
                </a:solidFill>
                <a:latin typeface="Cambria"/>
                <a:cs typeface="Cambria"/>
              </a:rPr>
              <a:t>Mapping</a:t>
            </a:r>
            <a:r>
              <a:rPr sz="2750" spc="46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60" dirty="0">
                <a:solidFill>
                  <a:srgbClr val="FF1C05"/>
                </a:solidFill>
                <a:latin typeface="Cambria"/>
                <a:cs typeface="Cambria"/>
              </a:rPr>
              <a:t>and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Transaction</a:t>
            </a:r>
            <a:r>
              <a:rPr sz="2750" spc="46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140" dirty="0">
                <a:solidFill>
                  <a:srgbClr val="FF1C05"/>
                </a:solidFill>
                <a:latin typeface="Cambria"/>
                <a:cs typeface="Cambria"/>
              </a:rPr>
              <a:t>Mapping</a:t>
            </a:r>
            <a:r>
              <a:rPr sz="2750" spc="14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775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41300" marR="5080" indent="-229235" algn="just">
              <a:lnSpc>
                <a:spcPct val="153600"/>
              </a:lnSpc>
              <a:buSzPct val="96363"/>
              <a:buFont typeface="Wingdings"/>
              <a:buChar char=""/>
              <a:tabLst>
                <a:tab pos="241300" algn="l"/>
                <a:tab pos="294640" algn="l"/>
              </a:tabLst>
            </a:pPr>
            <a:r>
              <a:rPr sz="2750" dirty="0">
                <a:latin typeface="Cambria"/>
                <a:cs typeface="Cambria"/>
              </a:rPr>
              <a:t>	These</a:t>
            </a:r>
            <a:r>
              <a:rPr sz="2750" spc="340" dirty="0">
                <a:latin typeface="Cambria"/>
                <a:cs typeface="Cambria"/>
              </a:rPr>
              <a:t>  </a:t>
            </a:r>
            <a:r>
              <a:rPr sz="2750" spc="45" dirty="0">
                <a:latin typeface="Cambria"/>
                <a:cs typeface="Cambria"/>
              </a:rPr>
              <a:t>approaches</a:t>
            </a:r>
            <a:r>
              <a:rPr sz="2750" spc="365" dirty="0">
                <a:latin typeface="Cambria"/>
                <a:cs typeface="Cambria"/>
              </a:rPr>
              <a:t>  </a:t>
            </a:r>
            <a:r>
              <a:rPr sz="2750" spc="60" dirty="0">
                <a:solidFill>
                  <a:srgbClr val="FF1C05"/>
                </a:solidFill>
                <a:latin typeface="Cambria"/>
                <a:cs typeface="Cambria"/>
              </a:rPr>
              <a:t>help</a:t>
            </a:r>
            <a:r>
              <a:rPr sz="2750" spc="36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transition</a:t>
            </a:r>
            <a:r>
              <a:rPr sz="2750" spc="36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from</a:t>
            </a:r>
            <a:r>
              <a:rPr sz="2750" spc="33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the</a:t>
            </a:r>
            <a:r>
              <a:rPr sz="2750" spc="33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data</a:t>
            </a:r>
            <a:r>
              <a:rPr sz="2750" spc="33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100" dirty="0">
                <a:solidFill>
                  <a:srgbClr val="FF1C05"/>
                </a:solidFill>
                <a:latin typeface="Cambria"/>
                <a:cs typeface="Cambria"/>
              </a:rPr>
              <a:t>flow</a:t>
            </a:r>
            <a:r>
              <a:rPr sz="2750" spc="33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diagrams </a:t>
            </a:r>
            <a:r>
              <a:rPr sz="2750" spc="75" dirty="0">
                <a:latin typeface="Cambria"/>
                <a:cs typeface="Cambria"/>
              </a:rPr>
              <a:t>(DFDs)</a:t>
            </a:r>
            <a:r>
              <a:rPr sz="2750" spc="185" dirty="0">
                <a:latin typeface="Cambria"/>
                <a:cs typeface="Cambria"/>
              </a:rPr>
              <a:t>  </a:t>
            </a:r>
            <a:r>
              <a:rPr sz="2750" spc="70" dirty="0">
                <a:latin typeface="Cambria"/>
                <a:cs typeface="Cambria"/>
              </a:rPr>
              <a:t>used</a:t>
            </a:r>
            <a:r>
              <a:rPr sz="2750" spc="204" dirty="0">
                <a:latin typeface="Cambria"/>
                <a:cs typeface="Cambria"/>
              </a:rPr>
              <a:t> 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19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8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requirements</a:t>
            </a:r>
            <a:r>
              <a:rPr sz="2750" spc="190" dirty="0">
                <a:latin typeface="Cambria"/>
                <a:cs typeface="Cambria"/>
              </a:rPr>
              <a:t>  </a:t>
            </a:r>
            <a:r>
              <a:rPr sz="2750" spc="90" dirty="0">
                <a:latin typeface="Cambria"/>
                <a:cs typeface="Cambria"/>
              </a:rPr>
              <a:t>model</a:t>
            </a:r>
            <a:r>
              <a:rPr sz="2750" spc="19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20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195" dirty="0"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structured</a:t>
            </a:r>
            <a:r>
              <a:rPr sz="2750" spc="19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-10" dirty="0">
                <a:solidFill>
                  <a:srgbClr val="FF1C05"/>
                </a:solidFill>
                <a:latin typeface="Cambria"/>
                <a:cs typeface="Cambria"/>
              </a:rPr>
              <a:t>software architecture</a:t>
            </a:r>
            <a:r>
              <a:rPr sz="2750" spc="-1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20" dirty="0"/>
              <a:t> </a:t>
            </a:r>
            <a:r>
              <a:rPr sz="3200" spc="-455" dirty="0"/>
              <a:t>–</a:t>
            </a:r>
            <a:r>
              <a:rPr sz="3200" spc="254" dirty="0"/>
              <a:t> </a:t>
            </a:r>
            <a:r>
              <a:rPr sz="3200" spc="125" dirty="0"/>
              <a:t>8.</a:t>
            </a:r>
            <a:r>
              <a:rPr sz="3200" spc="229" dirty="0"/>
              <a:t> </a:t>
            </a:r>
            <a:r>
              <a:rPr sz="3200" spc="120" dirty="0"/>
              <a:t>Transform</a:t>
            </a:r>
            <a:r>
              <a:rPr sz="3200" spc="240" dirty="0"/>
              <a:t> </a:t>
            </a:r>
            <a:r>
              <a:rPr sz="3200" spc="105" dirty="0"/>
              <a:t>Mapping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5690" cy="48139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5080" indent="-229235" algn="just">
              <a:lnSpc>
                <a:spcPct val="1536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dirty="0">
                <a:latin typeface="Cambria"/>
                <a:cs typeface="Cambria"/>
              </a:rPr>
              <a:t>	Transform</a:t>
            </a:r>
            <a:r>
              <a:rPr sz="2750" spc="90" dirty="0">
                <a:latin typeface="Cambria"/>
                <a:cs typeface="Cambria"/>
              </a:rPr>
              <a:t>  </a:t>
            </a:r>
            <a:r>
              <a:rPr sz="2750" spc="114" dirty="0">
                <a:latin typeface="Cambria"/>
                <a:cs typeface="Cambria"/>
              </a:rPr>
              <a:t>mapping</a:t>
            </a:r>
            <a:r>
              <a:rPr sz="2750" spc="90" dirty="0">
                <a:latin typeface="Cambria"/>
                <a:cs typeface="Cambria"/>
              </a:rPr>
              <a:t>  </a:t>
            </a:r>
            <a:r>
              <a:rPr sz="2750" spc="55" dirty="0">
                <a:latin typeface="Cambria"/>
                <a:cs typeface="Cambria"/>
              </a:rPr>
              <a:t>applies</a:t>
            </a:r>
            <a:r>
              <a:rPr sz="2750" spc="85" dirty="0">
                <a:latin typeface="Cambria"/>
                <a:cs typeface="Cambria"/>
              </a:rPr>
              <a:t>  </a:t>
            </a:r>
            <a:r>
              <a:rPr sz="2750" spc="95" dirty="0">
                <a:latin typeface="Cambria"/>
                <a:cs typeface="Cambria"/>
              </a:rPr>
              <a:t>when</a:t>
            </a:r>
            <a:r>
              <a:rPr sz="2750" spc="60" dirty="0"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the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50" dirty="0">
                <a:solidFill>
                  <a:srgbClr val="FF1C05"/>
                </a:solidFill>
                <a:latin typeface="Cambria"/>
                <a:cs typeface="Cambria"/>
              </a:rPr>
              <a:t>system</a:t>
            </a:r>
            <a:r>
              <a:rPr sz="2750" spc="6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exhibits</a:t>
            </a:r>
            <a:r>
              <a:rPr sz="2750" spc="8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a</a:t>
            </a:r>
            <a:r>
              <a:rPr sz="2750" spc="7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-10" dirty="0">
                <a:solidFill>
                  <a:srgbClr val="FF1C05"/>
                </a:solidFill>
                <a:latin typeface="Cambria"/>
                <a:cs typeface="Cambria"/>
              </a:rPr>
              <a:t>transform </a:t>
            </a:r>
            <a:r>
              <a:rPr sz="2750" spc="105" dirty="0">
                <a:solidFill>
                  <a:srgbClr val="FF1C05"/>
                </a:solidFill>
                <a:latin typeface="Cambria"/>
                <a:cs typeface="Cambria"/>
              </a:rPr>
              <a:t>flow</a:t>
            </a:r>
            <a:r>
              <a:rPr sz="2750" spc="105" dirty="0">
                <a:latin typeface="Cambria"/>
                <a:cs typeface="Cambria"/>
              </a:rPr>
              <a:t>,</a:t>
            </a:r>
            <a:r>
              <a:rPr sz="2750" spc="270" dirty="0"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where</a:t>
            </a:r>
            <a:r>
              <a:rPr sz="2750" spc="30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data</a:t>
            </a:r>
            <a:r>
              <a:rPr sz="2750" spc="25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80" dirty="0">
                <a:solidFill>
                  <a:srgbClr val="FF1C05"/>
                </a:solidFill>
                <a:latin typeface="Cambria"/>
                <a:cs typeface="Cambria"/>
              </a:rPr>
              <a:t>flows</a:t>
            </a:r>
            <a:r>
              <a:rPr sz="2750" spc="26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through</a:t>
            </a:r>
            <a:r>
              <a:rPr sz="2750" spc="30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a</a:t>
            </a:r>
            <a:r>
              <a:rPr sz="2750" spc="27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series</a:t>
            </a:r>
            <a:r>
              <a:rPr sz="2750" spc="27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FF1C05"/>
                </a:solidFill>
                <a:latin typeface="Cambria"/>
                <a:cs typeface="Cambria"/>
              </a:rPr>
              <a:t>of</a:t>
            </a:r>
            <a:r>
              <a:rPr sz="2750" spc="30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processing</a:t>
            </a:r>
            <a:r>
              <a:rPr sz="2750" spc="30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steps</a:t>
            </a:r>
            <a:r>
              <a:rPr sz="2750" spc="30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65" dirty="0">
                <a:solidFill>
                  <a:srgbClr val="FF1C05"/>
                </a:solidFill>
                <a:latin typeface="Cambria"/>
                <a:cs typeface="Cambria"/>
              </a:rPr>
              <a:t>in</a:t>
            </a:r>
            <a:r>
              <a:rPr sz="2750" spc="26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a</a:t>
            </a:r>
            <a:r>
              <a:rPr sz="2750" spc="27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FF1C05"/>
                </a:solidFill>
                <a:latin typeface="Cambria"/>
                <a:cs typeface="Cambria"/>
              </a:rPr>
              <a:t>well- </a:t>
            </a:r>
            <a:r>
              <a:rPr sz="2750" spc="80" dirty="0">
                <a:solidFill>
                  <a:srgbClr val="FF1C05"/>
                </a:solidFill>
                <a:latin typeface="Cambria"/>
                <a:cs typeface="Cambria"/>
              </a:rPr>
              <a:t>defined</a:t>
            </a:r>
            <a:r>
              <a:rPr sz="2750" spc="11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35" dirty="0">
                <a:solidFill>
                  <a:srgbClr val="FF1C05"/>
                </a:solidFill>
                <a:latin typeface="Cambria"/>
                <a:cs typeface="Cambria"/>
              </a:rPr>
              <a:t>sequence</a:t>
            </a:r>
            <a:r>
              <a:rPr sz="2750" spc="35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 marL="295275" indent="-282575">
              <a:lnSpc>
                <a:spcPct val="100000"/>
              </a:lnSpc>
              <a:spcBef>
                <a:spcPts val="1735"/>
              </a:spcBef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2750" b="1" spc="50" dirty="0">
                <a:latin typeface="Times New Roman"/>
                <a:cs typeface="Times New Roman"/>
              </a:rPr>
              <a:t>Characteristics</a:t>
            </a:r>
            <a:r>
              <a:rPr sz="2750" b="1" spc="90" dirty="0">
                <a:latin typeface="Times New Roman"/>
                <a:cs typeface="Times New Roman"/>
              </a:rPr>
              <a:t> </a:t>
            </a:r>
            <a:r>
              <a:rPr sz="2750" b="1" spc="175" dirty="0">
                <a:latin typeface="Times New Roman"/>
                <a:cs typeface="Times New Roman"/>
              </a:rPr>
              <a:t>of</a:t>
            </a:r>
            <a:r>
              <a:rPr sz="2750" b="1" spc="20" dirty="0">
                <a:latin typeface="Times New Roman"/>
                <a:cs typeface="Times New Roman"/>
              </a:rPr>
              <a:t> </a:t>
            </a:r>
            <a:r>
              <a:rPr sz="2750" b="1" spc="60" dirty="0">
                <a:latin typeface="Times New Roman"/>
                <a:cs typeface="Times New Roman"/>
              </a:rPr>
              <a:t>Transform</a:t>
            </a:r>
            <a:r>
              <a:rPr sz="2750" b="1" spc="75" dirty="0">
                <a:latin typeface="Times New Roman"/>
                <a:cs typeface="Times New Roman"/>
              </a:rPr>
              <a:t> </a:t>
            </a:r>
            <a:r>
              <a:rPr sz="2750" b="1" spc="114" dirty="0">
                <a:latin typeface="Times New Roman"/>
                <a:cs typeface="Times New Roman"/>
              </a:rPr>
              <a:t>Flow</a:t>
            </a:r>
            <a:endParaRPr sz="2750">
              <a:latin typeface="Times New Roman"/>
              <a:cs typeface="Times New Roman"/>
            </a:endParaRPr>
          </a:p>
          <a:p>
            <a:pPr marL="712470" lvl="1" indent="-255904">
              <a:lnSpc>
                <a:spcPct val="100000"/>
              </a:lnSpc>
              <a:spcBef>
                <a:spcPts val="155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Linear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flow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of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processing.</a:t>
            </a:r>
            <a:endParaRPr sz="2400">
              <a:latin typeface="Cambria"/>
              <a:cs typeface="Cambria"/>
            </a:endParaRPr>
          </a:p>
          <a:p>
            <a:pPr marL="712470" lvl="1" indent="-255270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50" dirty="0">
                <a:solidFill>
                  <a:srgbClr val="FF1C05"/>
                </a:solidFill>
                <a:latin typeface="Cambria"/>
                <a:cs typeface="Cambria"/>
              </a:rPr>
              <a:t>Input</a:t>
            </a:r>
            <a:r>
              <a:rPr sz="2400" spc="16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data</a:t>
            </a:r>
            <a:r>
              <a:rPr sz="2400" spc="16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is</a:t>
            </a:r>
            <a:r>
              <a:rPr sz="2400" spc="17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transformed</a:t>
            </a:r>
            <a:r>
              <a:rPr sz="2400" spc="13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into</a:t>
            </a:r>
            <a:r>
              <a:rPr sz="2400" spc="12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an</a:t>
            </a:r>
            <a:r>
              <a:rPr sz="2400" spc="16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internal</a:t>
            </a:r>
            <a:r>
              <a:rPr sz="2400" spc="18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1C05"/>
                </a:solidFill>
                <a:latin typeface="Cambria"/>
                <a:cs typeface="Cambria"/>
              </a:rPr>
              <a:t>representation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712470" lvl="1" indent="-255270">
              <a:lnSpc>
                <a:spcPct val="100000"/>
              </a:lnSpc>
              <a:spcBef>
                <a:spcPts val="140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60" dirty="0">
                <a:latin typeface="Cambria"/>
                <a:cs typeface="Cambria"/>
              </a:rPr>
              <a:t>Data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processed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at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transform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center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(core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processing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logic).</a:t>
            </a:r>
            <a:endParaRPr sz="2400">
              <a:latin typeface="Cambria"/>
              <a:cs typeface="Cambria"/>
            </a:endParaRPr>
          </a:p>
          <a:p>
            <a:pPr marL="712470" lvl="1" indent="-255904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105" dirty="0">
                <a:latin typeface="Cambria"/>
                <a:cs typeface="Cambria"/>
              </a:rPr>
              <a:t>Output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converted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back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external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representation.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20" dirty="0"/>
              <a:t> </a:t>
            </a:r>
            <a:r>
              <a:rPr sz="3200" spc="-455" dirty="0"/>
              <a:t>–</a:t>
            </a:r>
            <a:r>
              <a:rPr sz="3200" spc="254" dirty="0"/>
              <a:t> </a:t>
            </a:r>
            <a:r>
              <a:rPr sz="3200" spc="125" dirty="0"/>
              <a:t>8.</a:t>
            </a:r>
            <a:r>
              <a:rPr sz="3200" spc="229" dirty="0"/>
              <a:t> </a:t>
            </a:r>
            <a:r>
              <a:rPr sz="3200" spc="120" dirty="0"/>
              <a:t>Transform</a:t>
            </a:r>
            <a:r>
              <a:rPr sz="3200" spc="240" dirty="0"/>
              <a:t> </a:t>
            </a:r>
            <a:r>
              <a:rPr sz="3200" spc="105" dirty="0"/>
              <a:t>Mapping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07932"/>
            <a:ext cx="11238865" cy="463740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255270" indent="-244475">
              <a:lnSpc>
                <a:spcPct val="100000"/>
              </a:lnSpc>
              <a:spcBef>
                <a:spcPts val="1310"/>
              </a:spcBef>
              <a:buSzPct val="95833"/>
              <a:buFont typeface="Wingdings"/>
              <a:buChar char=""/>
              <a:tabLst>
                <a:tab pos="255270" algn="l"/>
              </a:tabLst>
            </a:pPr>
            <a:r>
              <a:rPr sz="2400" b="1" spc="100" dirty="0">
                <a:latin typeface="Times New Roman"/>
                <a:cs typeface="Times New Roman"/>
              </a:rPr>
              <a:t>Steps</a:t>
            </a:r>
            <a:r>
              <a:rPr sz="2400" b="1" spc="80" dirty="0">
                <a:latin typeface="Times New Roman"/>
                <a:cs typeface="Times New Roman"/>
              </a:rPr>
              <a:t> </a:t>
            </a:r>
            <a:r>
              <a:rPr sz="2400" b="1" spc="140" dirty="0">
                <a:latin typeface="Times New Roman"/>
                <a:cs typeface="Times New Roman"/>
              </a:rPr>
              <a:t>in</a:t>
            </a:r>
            <a:r>
              <a:rPr sz="2400" b="1" spc="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Transform</a:t>
            </a:r>
            <a:r>
              <a:rPr sz="2400" b="1" spc="145" dirty="0">
                <a:latin typeface="Times New Roman"/>
                <a:cs typeface="Times New Roman"/>
              </a:rPr>
              <a:t> </a:t>
            </a:r>
            <a:r>
              <a:rPr sz="2400" b="1" spc="90" dirty="0">
                <a:latin typeface="Times New Roman"/>
                <a:cs typeface="Times New Roman"/>
              </a:rPr>
              <a:t>Mapping</a:t>
            </a:r>
            <a:endParaRPr sz="24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050"/>
              </a:spcBef>
              <a:buFont typeface="Wingdings"/>
              <a:buChar char=""/>
              <a:tabLst>
                <a:tab pos="698500" algn="l"/>
              </a:tabLst>
            </a:pP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Identify</a:t>
            </a:r>
            <a:r>
              <a:rPr sz="2000" spc="15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Information</a:t>
            </a:r>
            <a:r>
              <a:rPr sz="2000" spc="15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FF1C05"/>
                </a:solidFill>
                <a:latin typeface="Cambria"/>
                <a:cs typeface="Cambria"/>
              </a:rPr>
              <a:t>Flow</a:t>
            </a:r>
            <a:r>
              <a:rPr sz="2000" spc="15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Determine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if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75" dirty="0">
                <a:latin typeface="Cambria"/>
                <a:cs typeface="Cambria"/>
              </a:rPr>
              <a:t>DFD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exhibits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transform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flow.</a:t>
            </a:r>
            <a:endParaRPr sz="2000">
              <a:latin typeface="Cambria"/>
              <a:cs typeface="Cambria"/>
            </a:endParaRPr>
          </a:p>
          <a:p>
            <a:pPr marL="699135" marR="5080" lvl="1" indent="-229235">
              <a:lnSpc>
                <a:spcPct val="140800"/>
              </a:lnSpc>
              <a:spcBef>
                <a:spcPts val="5"/>
              </a:spcBef>
              <a:buFont typeface="Wingdings"/>
              <a:buChar char=""/>
              <a:tabLst>
                <a:tab pos="699135" algn="l"/>
                <a:tab pos="1590675" algn="l"/>
                <a:tab pos="2300605" algn="l"/>
                <a:tab pos="3726179" algn="l"/>
                <a:tab pos="3997325" algn="l"/>
                <a:tab pos="5035550" algn="l"/>
                <a:tab pos="5883275" algn="l"/>
                <a:tab pos="6379845" algn="l"/>
                <a:tab pos="7310120" algn="l"/>
                <a:tab pos="8645525" algn="l"/>
                <a:tab pos="9738995" algn="l"/>
                <a:tab pos="10791825" algn="l"/>
              </a:tabLst>
            </a:pPr>
            <a:r>
              <a:rPr sz="2000" spc="45" dirty="0">
                <a:solidFill>
                  <a:srgbClr val="FF1C05"/>
                </a:solidFill>
                <a:latin typeface="Cambria"/>
                <a:cs typeface="Cambria"/>
              </a:rPr>
              <a:t>Define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000" spc="35" dirty="0">
                <a:solidFill>
                  <a:srgbClr val="FF1C05"/>
                </a:solidFill>
                <a:latin typeface="Cambria"/>
                <a:cs typeface="Cambria"/>
              </a:rPr>
              <a:t>Flow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000" spc="-10" dirty="0">
                <a:solidFill>
                  <a:srgbClr val="FF1C05"/>
                </a:solidFill>
                <a:latin typeface="Cambria"/>
                <a:cs typeface="Cambria"/>
              </a:rPr>
              <a:t>Boundaries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000" spc="-50" dirty="0">
                <a:latin typeface="Cambria"/>
                <a:cs typeface="Cambria"/>
              </a:rPr>
              <a:t>–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Identify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where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5" dirty="0">
                <a:latin typeface="Cambria"/>
                <a:cs typeface="Cambria"/>
              </a:rPr>
              <a:t>the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system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transitions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between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external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40" dirty="0">
                <a:latin typeface="Cambria"/>
                <a:cs typeface="Cambria"/>
              </a:rPr>
              <a:t>and </a:t>
            </a:r>
            <a:r>
              <a:rPr sz="2000" dirty="0">
                <a:latin typeface="Cambria"/>
                <a:cs typeface="Cambria"/>
              </a:rPr>
              <a:t>internal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data.</a:t>
            </a:r>
            <a:endParaRPr sz="200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980"/>
              </a:spcBef>
              <a:buFont typeface="Wingdings"/>
              <a:buChar char=""/>
              <a:tabLst>
                <a:tab pos="698500" algn="l"/>
              </a:tabLst>
            </a:pP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Identify</a:t>
            </a:r>
            <a:r>
              <a:rPr sz="2000" spc="16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Transform</a:t>
            </a:r>
            <a:r>
              <a:rPr sz="2000" spc="12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Center</a:t>
            </a:r>
            <a:r>
              <a:rPr sz="2000" spc="13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core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processing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stage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of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flow.</a:t>
            </a:r>
            <a:endParaRPr sz="2000">
              <a:latin typeface="Cambria"/>
              <a:cs typeface="Cambria"/>
            </a:endParaRPr>
          </a:p>
          <a:p>
            <a:pPr marL="697865" lvl="1" indent="-227965">
              <a:lnSpc>
                <a:spcPct val="100000"/>
              </a:lnSpc>
              <a:spcBef>
                <a:spcPts val="975"/>
              </a:spcBef>
              <a:buFont typeface="Wingdings"/>
              <a:buChar char=""/>
              <a:tabLst>
                <a:tab pos="697865" algn="l"/>
              </a:tabLst>
            </a:pP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Perform</a:t>
            </a:r>
            <a:r>
              <a:rPr sz="2000" spc="12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FF1C05"/>
                </a:solidFill>
                <a:latin typeface="Cambria"/>
                <a:cs typeface="Cambria"/>
              </a:rPr>
              <a:t>First-</a:t>
            </a:r>
            <a:r>
              <a:rPr sz="2000" spc="50" dirty="0">
                <a:solidFill>
                  <a:srgbClr val="FF1C05"/>
                </a:solidFill>
                <a:latin typeface="Cambria"/>
                <a:cs typeface="Cambria"/>
              </a:rPr>
              <a:t>Level</a:t>
            </a:r>
            <a:r>
              <a:rPr sz="2000" spc="12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Factoring</a:t>
            </a:r>
            <a:r>
              <a:rPr sz="2000" spc="9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Organize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architecture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in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top-</a:t>
            </a:r>
            <a:r>
              <a:rPr sz="2000" spc="70" dirty="0">
                <a:latin typeface="Cambria"/>
                <a:cs typeface="Cambria"/>
              </a:rPr>
              <a:t>down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manner:</a:t>
            </a:r>
            <a:endParaRPr sz="2000">
              <a:latin typeface="Cambria"/>
              <a:cs typeface="Cambria"/>
            </a:endParaRPr>
          </a:p>
          <a:p>
            <a:pPr marL="1155700" lvl="2" indent="-227965">
              <a:lnSpc>
                <a:spcPct val="100000"/>
              </a:lnSpc>
              <a:spcBef>
                <a:spcPts val="830"/>
              </a:spcBef>
              <a:buFont typeface="Wingdings"/>
              <a:buChar char=""/>
              <a:tabLst>
                <a:tab pos="1155700" algn="l"/>
              </a:tabLst>
            </a:pPr>
            <a:r>
              <a:rPr sz="1700" spc="10" dirty="0">
                <a:latin typeface="Cambria"/>
                <a:cs typeface="Cambria"/>
              </a:rPr>
              <a:t>Top-Level</a:t>
            </a:r>
            <a:r>
              <a:rPr sz="1700" spc="310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Components</a:t>
            </a:r>
            <a:r>
              <a:rPr sz="1700" spc="270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handle</a:t>
            </a:r>
            <a:r>
              <a:rPr sz="1700" spc="280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decision-</a:t>
            </a:r>
            <a:r>
              <a:rPr sz="1700" spc="40" dirty="0">
                <a:latin typeface="Cambria"/>
                <a:cs typeface="Cambria"/>
              </a:rPr>
              <a:t>making.</a:t>
            </a:r>
            <a:endParaRPr sz="1700">
              <a:latin typeface="Cambria"/>
              <a:cs typeface="Cambria"/>
            </a:endParaRPr>
          </a:p>
          <a:p>
            <a:pPr marL="1155700" lvl="2" indent="-227965">
              <a:lnSpc>
                <a:spcPct val="100000"/>
              </a:lnSpc>
              <a:spcBef>
                <a:spcPts val="815"/>
              </a:spcBef>
              <a:buFont typeface="Wingdings"/>
              <a:buChar char=""/>
              <a:tabLst>
                <a:tab pos="1155700" algn="l"/>
              </a:tabLst>
            </a:pPr>
            <a:r>
              <a:rPr sz="1700" spc="60" dirty="0">
                <a:latin typeface="Cambria"/>
                <a:cs typeface="Cambria"/>
              </a:rPr>
              <a:t>Middle-</a:t>
            </a:r>
            <a:r>
              <a:rPr sz="1700" spc="10" dirty="0">
                <a:latin typeface="Cambria"/>
                <a:cs typeface="Cambria"/>
              </a:rPr>
              <a:t>Level</a:t>
            </a:r>
            <a:r>
              <a:rPr sz="1700" spc="250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Components</a:t>
            </a:r>
            <a:r>
              <a:rPr sz="1700" spc="180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manage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control</a:t>
            </a:r>
            <a:r>
              <a:rPr sz="1700" spc="22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logic.</a:t>
            </a:r>
            <a:endParaRPr sz="1700">
              <a:latin typeface="Cambria"/>
              <a:cs typeface="Cambria"/>
            </a:endParaRPr>
          </a:p>
          <a:p>
            <a:pPr marL="1155700" lvl="2" indent="-227965">
              <a:lnSpc>
                <a:spcPct val="100000"/>
              </a:lnSpc>
              <a:spcBef>
                <a:spcPts val="815"/>
              </a:spcBef>
              <a:buFont typeface="Wingdings"/>
              <a:buChar char=""/>
              <a:tabLst>
                <a:tab pos="1155700" algn="l"/>
              </a:tabLst>
            </a:pPr>
            <a:r>
              <a:rPr sz="1700" spc="55" dirty="0">
                <a:latin typeface="Cambria"/>
                <a:cs typeface="Cambria"/>
              </a:rPr>
              <a:t>Low-</a:t>
            </a:r>
            <a:r>
              <a:rPr sz="1700" spc="10" dirty="0">
                <a:latin typeface="Cambria"/>
                <a:cs typeface="Cambria"/>
              </a:rPr>
              <a:t>Level</a:t>
            </a:r>
            <a:r>
              <a:rPr sz="1700" spc="229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Components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perform</a:t>
            </a:r>
            <a:r>
              <a:rPr sz="1700" spc="220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data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input,</a:t>
            </a:r>
            <a:r>
              <a:rPr sz="1700" spc="165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computation,</a:t>
            </a:r>
            <a:r>
              <a:rPr sz="1700" spc="204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and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output.</a:t>
            </a:r>
            <a:endParaRPr sz="170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965"/>
              </a:spcBef>
              <a:buFont typeface="Wingdings"/>
              <a:buChar char=""/>
              <a:tabLst>
                <a:tab pos="698500" algn="l"/>
              </a:tabLst>
            </a:pP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Second-</a:t>
            </a:r>
            <a:r>
              <a:rPr sz="2000" spc="50" dirty="0">
                <a:solidFill>
                  <a:srgbClr val="FF1C05"/>
                </a:solidFill>
                <a:latin typeface="Cambria"/>
                <a:cs typeface="Cambria"/>
              </a:rPr>
              <a:t>Level</a:t>
            </a:r>
            <a:r>
              <a:rPr sz="2000" spc="14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Factoring</a:t>
            </a:r>
            <a:r>
              <a:rPr sz="2000" spc="14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135" dirty="0">
                <a:latin typeface="Cambria"/>
                <a:cs typeface="Cambria"/>
              </a:rPr>
              <a:t> Map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individual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175" dirty="0">
                <a:latin typeface="Cambria"/>
                <a:cs typeface="Cambria"/>
              </a:rPr>
              <a:t>DFD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transformations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into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software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modules.</a:t>
            </a:r>
            <a:endParaRPr sz="200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905"/>
              </a:spcBef>
              <a:buFont typeface="Wingdings"/>
              <a:buChar char=""/>
              <a:tabLst>
                <a:tab pos="698500" algn="l"/>
              </a:tabLst>
            </a:pP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Refine</a:t>
            </a:r>
            <a:r>
              <a:rPr sz="2000" spc="20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1C05"/>
                </a:solidFill>
                <a:latin typeface="Cambria"/>
                <a:cs typeface="Cambria"/>
              </a:rPr>
              <a:t>Architecture</a:t>
            </a:r>
            <a:r>
              <a:rPr sz="2000" spc="21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Improve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cohesion,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reduce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coupling,</a:t>
            </a:r>
            <a:r>
              <a:rPr sz="2000" spc="254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and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enhance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maintainability.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20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25" dirty="0"/>
              <a:t>8.</a:t>
            </a:r>
            <a:r>
              <a:rPr sz="3200" spc="229" dirty="0"/>
              <a:t> </a:t>
            </a:r>
            <a:r>
              <a:rPr sz="3200" spc="120" dirty="0"/>
              <a:t>Transform</a:t>
            </a:r>
            <a:r>
              <a:rPr sz="3200" spc="240" dirty="0"/>
              <a:t> </a:t>
            </a:r>
            <a:r>
              <a:rPr sz="3200" spc="114" dirty="0"/>
              <a:t>Mapping</a:t>
            </a:r>
            <a:r>
              <a:rPr sz="3200" spc="26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5" dirty="0"/>
              <a:t>Example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1300" y="1047750"/>
            <a:ext cx="6867525" cy="554355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20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25" dirty="0"/>
              <a:t>8.</a:t>
            </a:r>
            <a:r>
              <a:rPr sz="3200" spc="229" dirty="0"/>
              <a:t> </a:t>
            </a:r>
            <a:r>
              <a:rPr sz="3200" spc="120" dirty="0"/>
              <a:t>Transform</a:t>
            </a:r>
            <a:r>
              <a:rPr sz="3200" spc="240" dirty="0"/>
              <a:t> </a:t>
            </a:r>
            <a:r>
              <a:rPr sz="3200" spc="114" dirty="0"/>
              <a:t>Mapping</a:t>
            </a:r>
            <a:r>
              <a:rPr sz="3200" spc="26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5" dirty="0"/>
              <a:t>Example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952500"/>
            <a:ext cx="6934200" cy="5581650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660893" y="1512697"/>
          <a:ext cx="4064000" cy="3039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1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8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3460">
                <a:tc>
                  <a:txBody>
                    <a:bodyPr/>
                    <a:lstStyle/>
                    <a:p>
                      <a:pPr marL="228600" marR="206375" indent="134620">
                        <a:lnSpc>
                          <a:spcPct val="100899"/>
                        </a:lnSpc>
                        <a:spcBef>
                          <a:spcPts val="209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Input Domain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64722"/>
                    </a:solidFill>
                  </a:tcPr>
                </a:tc>
                <a:tc>
                  <a:txBody>
                    <a:bodyPr/>
                    <a:lstStyle/>
                    <a:p>
                      <a:pPr marL="375920" marR="184150" indent="-170815">
                        <a:lnSpc>
                          <a:spcPct val="100899"/>
                        </a:lnSpc>
                        <a:spcBef>
                          <a:spcPts val="209"/>
                        </a:spcBef>
                      </a:pPr>
                      <a:r>
                        <a:rPr sz="1800" b="1" spc="-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Transform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Centre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64722"/>
                    </a:solidFill>
                  </a:tcPr>
                </a:tc>
                <a:tc>
                  <a:txBody>
                    <a:bodyPr/>
                    <a:lstStyle/>
                    <a:p>
                      <a:pPr marL="277495" marR="249554" indent="42545">
                        <a:lnSpc>
                          <a:spcPct val="100899"/>
                        </a:lnSpc>
                        <a:spcBef>
                          <a:spcPts val="209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Output Domain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64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825">
                <a:tc>
                  <a:txBody>
                    <a:bodyPr/>
                    <a:lstStyle/>
                    <a:p>
                      <a:pPr marL="315595" marR="266065" indent="-33020" algn="just">
                        <a:lnSpc>
                          <a:spcPct val="1008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Collect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Work </a:t>
                      </a:r>
                      <a:r>
                        <a:rPr sz="1800" spc="35" dirty="0">
                          <a:latin typeface="Cambria"/>
                          <a:cs typeface="Cambria"/>
                        </a:rPr>
                        <a:t>Hours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tc>
                  <a:txBody>
                    <a:bodyPr/>
                    <a:lstStyle/>
                    <a:p>
                      <a:pPr marL="541655" marR="235585" indent="-284480">
                        <a:lnSpc>
                          <a:spcPct val="1008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Calculate </a:t>
                      </a:r>
                      <a:r>
                        <a:rPr sz="1800" spc="35" dirty="0">
                          <a:latin typeface="Cambria"/>
                          <a:cs typeface="Cambria"/>
                        </a:rPr>
                        <a:t>Pay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tc>
                  <a:txBody>
                    <a:bodyPr/>
                    <a:lstStyle/>
                    <a:p>
                      <a:pPr marL="234315" marR="200660" indent="-6985">
                        <a:lnSpc>
                          <a:spcPct val="1008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Generate </a:t>
                      </a:r>
                      <a:r>
                        <a:rPr sz="1800" spc="65" dirty="0">
                          <a:latin typeface="Cambria"/>
                          <a:cs typeface="Cambria"/>
                        </a:rPr>
                        <a:t>Pay</a:t>
                      </a:r>
                      <a:r>
                        <a:rPr sz="18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slips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C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 marL="396875" marR="189865" indent="-186055">
                        <a:lnSpc>
                          <a:spcPct val="100800"/>
                        </a:lnSpc>
                        <a:spcBef>
                          <a:spcPts val="234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Validate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Data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tc>
                  <a:txBody>
                    <a:bodyPr/>
                    <a:lstStyle/>
                    <a:p>
                      <a:pPr marL="277495" marR="247015" indent="31115">
                        <a:lnSpc>
                          <a:spcPct val="100800"/>
                        </a:lnSpc>
                        <a:spcBef>
                          <a:spcPts val="234"/>
                        </a:spcBef>
                      </a:pPr>
                      <a:r>
                        <a:rPr sz="1800" spc="55" dirty="0">
                          <a:latin typeface="Cambria"/>
                          <a:cs typeface="Cambria"/>
                        </a:rPr>
                        <a:t>Update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Records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4" dirty="0"/>
              <a:t> </a:t>
            </a:r>
            <a:r>
              <a:rPr sz="3200" spc="180" dirty="0"/>
              <a:t>Concepts</a:t>
            </a:r>
            <a:r>
              <a:rPr sz="3200" spc="220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25" dirty="0"/>
              <a:t>8.</a:t>
            </a:r>
            <a:r>
              <a:rPr sz="3200" spc="229" dirty="0"/>
              <a:t> </a:t>
            </a:r>
            <a:r>
              <a:rPr sz="3200" spc="120" dirty="0"/>
              <a:t>Transform</a:t>
            </a:r>
            <a:r>
              <a:rPr sz="3200" spc="240" dirty="0"/>
              <a:t> </a:t>
            </a:r>
            <a:r>
              <a:rPr sz="3200" spc="114" dirty="0"/>
              <a:t>Mapping</a:t>
            </a:r>
            <a:r>
              <a:rPr sz="3200" spc="26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5" dirty="0"/>
              <a:t>Example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352550" y="1266825"/>
            <a:ext cx="9293225" cy="3523615"/>
            <a:chOff x="1352550" y="1266825"/>
            <a:chExt cx="9293225" cy="3523615"/>
          </a:xfrm>
        </p:grpSpPr>
        <p:sp>
          <p:nvSpPr>
            <p:cNvPr id="4" name="object 4"/>
            <p:cNvSpPr/>
            <p:nvPr/>
          </p:nvSpPr>
          <p:spPr>
            <a:xfrm>
              <a:off x="8315325" y="4229100"/>
              <a:ext cx="2320925" cy="551815"/>
            </a:xfrm>
            <a:custGeom>
              <a:avLst/>
              <a:gdLst/>
              <a:ahLst/>
              <a:cxnLst/>
              <a:rect l="l" t="t" r="r" b="b"/>
              <a:pathLst>
                <a:path w="2320925" h="551814">
                  <a:moveTo>
                    <a:pt x="1162050" y="0"/>
                  </a:moveTo>
                  <a:lnTo>
                    <a:pt x="1162050" y="375793"/>
                  </a:lnTo>
                  <a:lnTo>
                    <a:pt x="2320925" y="375793"/>
                  </a:lnTo>
                  <a:lnTo>
                    <a:pt x="2320925" y="551561"/>
                  </a:lnTo>
                </a:path>
                <a:path w="2320925" h="551814">
                  <a:moveTo>
                    <a:pt x="1158875" y="0"/>
                  </a:moveTo>
                  <a:lnTo>
                    <a:pt x="1158875" y="375793"/>
                  </a:lnTo>
                  <a:lnTo>
                    <a:pt x="0" y="375793"/>
                  </a:lnTo>
                  <a:lnTo>
                    <a:pt x="0" y="551561"/>
                  </a:lnTo>
                </a:path>
              </a:pathLst>
            </a:custGeom>
            <a:ln w="19050">
              <a:solidFill>
                <a:srgbClr val="E7B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0750" y="2476500"/>
              <a:ext cx="3476625" cy="551815"/>
            </a:xfrm>
            <a:custGeom>
              <a:avLst/>
              <a:gdLst/>
              <a:ahLst/>
              <a:cxnLst/>
              <a:rect l="l" t="t" r="r" b="b"/>
              <a:pathLst>
                <a:path w="3476625" h="551814">
                  <a:moveTo>
                    <a:pt x="0" y="0"/>
                  </a:moveTo>
                  <a:lnTo>
                    <a:pt x="0" y="375792"/>
                  </a:lnTo>
                  <a:lnTo>
                    <a:pt x="3476498" y="375792"/>
                  </a:lnTo>
                  <a:lnTo>
                    <a:pt x="3476498" y="551561"/>
                  </a:lnTo>
                </a:path>
              </a:pathLst>
            </a:custGeom>
            <a:ln w="19050">
              <a:solidFill>
                <a:srgbClr val="CAA0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98845" y="4229100"/>
              <a:ext cx="0" cy="551815"/>
            </a:xfrm>
            <a:custGeom>
              <a:avLst/>
              <a:gdLst/>
              <a:ahLst/>
              <a:cxnLst/>
              <a:rect l="l" t="t" r="r" b="b"/>
              <a:pathLst>
                <a:path h="551814">
                  <a:moveTo>
                    <a:pt x="0" y="0"/>
                  </a:moveTo>
                  <a:lnTo>
                    <a:pt x="0" y="551561"/>
                  </a:lnTo>
                </a:path>
              </a:pathLst>
            </a:custGeom>
            <a:ln w="19050">
              <a:solidFill>
                <a:srgbClr val="E7B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98845" y="2476500"/>
              <a:ext cx="0" cy="551815"/>
            </a:xfrm>
            <a:custGeom>
              <a:avLst/>
              <a:gdLst/>
              <a:ahLst/>
              <a:cxnLst/>
              <a:rect l="l" t="t" r="r" b="b"/>
              <a:pathLst>
                <a:path h="551814">
                  <a:moveTo>
                    <a:pt x="0" y="0"/>
                  </a:moveTo>
                  <a:lnTo>
                    <a:pt x="0" y="551561"/>
                  </a:lnTo>
                </a:path>
              </a:pathLst>
            </a:custGeom>
            <a:ln w="19050">
              <a:solidFill>
                <a:srgbClr val="CAA0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62075" y="4229100"/>
              <a:ext cx="2320925" cy="551815"/>
            </a:xfrm>
            <a:custGeom>
              <a:avLst/>
              <a:gdLst/>
              <a:ahLst/>
              <a:cxnLst/>
              <a:rect l="l" t="t" r="r" b="b"/>
              <a:pathLst>
                <a:path w="2320925" h="551814">
                  <a:moveTo>
                    <a:pt x="1162050" y="0"/>
                  </a:moveTo>
                  <a:lnTo>
                    <a:pt x="1162050" y="375793"/>
                  </a:lnTo>
                  <a:lnTo>
                    <a:pt x="2320925" y="375793"/>
                  </a:lnTo>
                  <a:lnTo>
                    <a:pt x="2320925" y="551561"/>
                  </a:lnTo>
                </a:path>
                <a:path w="2320925" h="551814">
                  <a:moveTo>
                    <a:pt x="1158875" y="0"/>
                  </a:moveTo>
                  <a:lnTo>
                    <a:pt x="1158875" y="375793"/>
                  </a:lnTo>
                  <a:lnTo>
                    <a:pt x="0" y="375793"/>
                  </a:lnTo>
                  <a:lnTo>
                    <a:pt x="0" y="551561"/>
                  </a:lnTo>
                </a:path>
              </a:pathLst>
            </a:custGeom>
            <a:ln w="19050">
              <a:solidFill>
                <a:srgbClr val="E7B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24125" y="2476500"/>
              <a:ext cx="3476625" cy="551815"/>
            </a:xfrm>
            <a:custGeom>
              <a:avLst/>
              <a:gdLst/>
              <a:ahLst/>
              <a:cxnLst/>
              <a:rect l="l" t="t" r="r" b="b"/>
              <a:pathLst>
                <a:path w="3476625" h="551814">
                  <a:moveTo>
                    <a:pt x="3476498" y="0"/>
                  </a:moveTo>
                  <a:lnTo>
                    <a:pt x="3476498" y="375792"/>
                  </a:lnTo>
                  <a:lnTo>
                    <a:pt x="0" y="375792"/>
                  </a:lnTo>
                  <a:lnTo>
                    <a:pt x="0" y="551561"/>
                  </a:lnTo>
                </a:path>
              </a:pathLst>
            </a:custGeom>
            <a:ln w="19050">
              <a:solidFill>
                <a:srgbClr val="CAA0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48250" y="12763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59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4" y="1200150"/>
                  </a:lnTo>
                  <a:lnTo>
                    <a:pt x="1775459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5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48250" y="12763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1775459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59" y="1200150"/>
                  </a:lnTo>
                  <a:lnTo>
                    <a:pt x="120014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57800" y="14763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59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4" y="1200150"/>
                  </a:lnTo>
                  <a:lnTo>
                    <a:pt x="1775459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5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57800" y="14763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1775459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59" y="1200150"/>
                  </a:lnTo>
                  <a:lnTo>
                    <a:pt x="120014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97246" y="1876107"/>
            <a:ext cx="163576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60" dirty="0">
                <a:latin typeface="Trebuchet MS"/>
                <a:cs typeface="Trebuchet MS"/>
              </a:rPr>
              <a:t>Payroll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System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562100" y="3019425"/>
            <a:ext cx="2124075" cy="1419225"/>
            <a:chOff x="1562100" y="3019425"/>
            <a:chExt cx="2124075" cy="1419225"/>
          </a:xfrm>
        </p:grpSpPr>
        <p:sp>
          <p:nvSpPr>
            <p:cNvPr id="16" name="object 16"/>
            <p:cNvSpPr/>
            <p:nvPr/>
          </p:nvSpPr>
          <p:spPr>
            <a:xfrm>
              <a:off x="1571625" y="30289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60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4" y="1200150"/>
                  </a:lnTo>
                  <a:lnTo>
                    <a:pt x="1775460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60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71625" y="30289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1775460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60" y="1200150"/>
                  </a:lnTo>
                  <a:lnTo>
                    <a:pt x="120014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81175" y="32289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60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4" y="1200150"/>
                  </a:lnTo>
                  <a:lnTo>
                    <a:pt x="1775460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6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81175" y="32289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1775460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60" y="1200150"/>
                  </a:lnTo>
                  <a:lnTo>
                    <a:pt x="120014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933575" y="3634041"/>
            <a:ext cx="160147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40" dirty="0">
                <a:latin typeface="Trebuchet MS"/>
                <a:cs typeface="Trebuchet MS"/>
              </a:rPr>
              <a:t>Input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Modules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00050" y="4772025"/>
            <a:ext cx="2133600" cy="1428750"/>
            <a:chOff x="400050" y="4772025"/>
            <a:chExt cx="2133600" cy="1428750"/>
          </a:xfrm>
        </p:grpSpPr>
        <p:sp>
          <p:nvSpPr>
            <p:cNvPr id="22" name="object 22"/>
            <p:cNvSpPr/>
            <p:nvPr/>
          </p:nvSpPr>
          <p:spPr>
            <a:xfrm>
              <a:off x="409575" y="4781550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1774570" y="0"/>
                  </a:moveTo>
                  <a:lnTo>
                    <a:pt x="120967" y="0"/>
                  </a:lnTo>
                  <a:lnTo>
                    <a:pt x="73878" y="9497"/>
                  </a:lnTo>
                  <a:lnTo>
                    <a:pt x="35428" y="35401"/>
                  </a:lnTo>
                  <a:lnTo>
                    <a:pt x="9505" y="73830"/>
                  </a:lnTo>
                  <a:lnTo>
                    <a:pt x="0" y="120904"/>
                  </a:lnTo>
                  <a:lnTo>
                    <a:pt x="0" y="1088707"/>
                  </a:lnTo>
                  <a:lnTo>
                    <a:pt x="9505" y="1135796"/>
                  </a:lnTo>
                  <a:lnTo>
                    <a:pt x="35428" y="1174246"/>
                  </a:lnTo>
                  <a:lnTo>
                    <a:pt x="73878" y="1200169"/>
                  </a:lnTo>
                  <a:lnTo>
                    <a:pt x="120967" y="1209675"/>
                  </a:lnTo>
                  <a:lnTo>
                    <a:pt x="1774570" y="1209675"/>
                  </a:lnTo>
                  <a:lnTo>
                    <a:pt x="1821644" y="1200169"/>
                  </a:lnTo>
                  <a:lnTo>
                    <a:pt x="1860073" y="1174246"/>
                  </a:lnTo>
                  <a:lnTo>
                    <a:pt x="1885977" y="1135796"/>
                  </a:lnTo>
                  <a:lnTo>
                    <a:pt x="1895475" y="1088707"/>
                  </a:lnTo>
                  <a:lnTo>
                    <a:pt x="1895475" y="120904"/>
                  </a:lnTo>
                  <a:lnTo>
                    <a:pt x="1885977" y="73830"/>
                  </a:lnTo>
                  <a:lnTo>
                    <a:pt x="1860073" y="35401"/>
                  </a:lnTo>
                  <a:lnTo>
                    <a:pt x="1821644" y="9497"/>
                  </a:lnTo>
                  <a:lnTo>
                    <a:pt x="1774570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9575" y="4781550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0" y="120904"/>
                  </a:moveTo>
                  <a:lnTo>
                    <a:pt x="9505" y="73830"/>
                  </a:lnTo>
                  <a:lnTo>
                    <a:pt x="35428" y="35401"/>
                  </a:lnTo>
                  <a:lnTo>
                    <a:pt x="73878" y="9497"/>
                  </a:lnTo>
                  <a:lnTo>
                    <a:pt x="120967" y="0"/>
                  </a:lnTo>
                  <a:lnTo>
                    <a:pt x="1774570" y="0"/>
                  </a:lnTo>
                  <a:lnTo>
                    <a:pt x="1821644" y="9497"/>
                  </a:lnTo>
                  <a:lnTo>
                    <a:pt x="1860073" y="35401"/>
                  </a:lnTo>
                  <a:lnTo>
                    <a:pt x="1885977" y="73830"/>
                  </a:lnTo>
                  <a:lnTo>
                    <a:pt x="1895475" y="120904"/>
                  </a:lnTo>
                  <a:lnTo>
                    <a:pt x="1895475" y="1088707"/>
                  </a:lnTo>
                  <a:lnTo>
                    <a:pt x="1885977" y="1135796"/>
                  </a:lnTo>
                  <a:lnTo>
                    <a:pt x="1860073" y="1174246"/>
                  </a:lnTo>
                  <a:lnTo>
                    <a:pt x="1821644" y="1200169"/>
                  </a:lnTo>
                  <a:lnTo>
                    <a:pt x="1774570" y="1209675"/>
                  </a:lnTo>
                  <a:lnTo>
                    <a:pt x="120967" y="1209675"/>
                  </a:lnTo>
                  <a:lnTo>
                    <a:pt x="73878" y="1200169"/>
                  </a:lnTo>
                  <a:lnTo>
                    <a:pt x="35428" y="1174246"/>
                  </a:lnTo>
                  <a:lnTo>
                    <a:pt x="9505" y="1135796"/>
                  </a:lnTo>
                  <a:lnTo>
                    <a:pt x="0" y="1088707"/>
                  </a:lnTo>
                  <a:lnTo>
                    <a:pt x="0" y="12090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8650" y="4981575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1774570" y="0"/>
                  </a:moveTo>
                  <a:lnTo>
                    <a:pt x="120967" y="0"/>
                  </a:lnTo>
                  <a:lnTo>
                    <a:pt x="73878" y="9497"/>
                  </a:lnTo>
                  <a:lnTo>
                    <a:pt x="35428" y="35401"/>
                  </a:lnTo>
                  <a:lnTo>
                    <a:pt x="9505" y="73830"/>
                  </a:lnTo>
                  <a:lnTo>
                    <a:pt x="0" y="120904"/>
                  </a:lnTo>
                  <a:lnTo>
                    <a:pt x="0" y="1088707"/>
                  </a:lnTo>
                  <a:lnTo>
                    <a:pt x="9505" y="1135796"/>
                  </a:lnTo>
                  <a:lnTo>
                    <a:pt x="35428" y="1174246"/>
                  </a:lnTo>
                  <a:lnTo>
                    <a:pt x="73878" y="1200169"/>
                  </a:lnTo>
                  <a:lnTo>
                    <a:pt x="120967" y="1209675"/>
                  </a:lnTo>
                  <a:lnTo>
                    <a:pt x="1774570" y="1209675"/>
                  </a:lnTo>
                  <a:lnTo>
                    <a:pt x="1821644" y="1200169"/>
                  </a:lnTo>
                  <a:lnTo>
                    <a:pt x="1860073" y="1174246"/>
                  </a:lnTo>
                  <a:lnTo>
                    <a:pt x="1885977" y="1135796"/>
                  </a:lnTo>
                  <a:lnTo>
                    <a:pt x="1895475" y="1088707"/>
                  </a:lnTo>
                  <a:lnTo>
                    <a:pt x="1895475" y="120904"/>
                  </a:lnTo>
                  <a:lnTo>
                    <a:pt x="1885977" y="73830"/>
                  </a:lnTo>
                  <a:lnTo>
                    <a:pt x="1860073" y="35401"/>
                  </a:lnTo>
                  <a:lnTo>
                    <a:pt x="1821644" y="9497"/>
                  </a:lnTo>
                  <a:lnTo>
                    <a:pt x="177457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8650" y="4981575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0" y="120904"/>
                  </a:moveTo>
                  <a:lnTo>
                    <a:pt x="9505" y="73830"/>
                  </a:lnTo>
                  <a:lnTo>
                    <a:pt x="35428" y="35401"/>
                  </a:lnTo>
                  <a:lnTo>
                    <a:pt x="73878" y="9497"/>
                  </a:lnTo>
                  <a:lnTo>
                    <a:pt x="120967" y="0"/>
                  </a:lnTo>
                  <a:lnTo>
                    <a:pt x="1774570" y="0"/>
                  </a:lnTo>
                  <a:lnTo>
                    <a:pt x="1821644" y="9497"/>
                  </a:lnTo>
                  <a:lnTo>
                    <a:pt x="1860073" y="35401"/>
                  </a:lnTo>
                  <a:lnTo>
                    <a:pt x="1885977" y="73830"/>
                  </a:lnTo>
                  <a:lnTo>
                    <a:pt x="1895475" y="120904"/>
                  </a:lnTo>
                  <a:lnTo>
                    <a:pt x="1895475" y="1088707"/>
                  </a:lnTo>
                  <a:lnTo>
                    <a:pt x="1885977" y="1135796"/>
                  </a:lnTo>
                  <a:lnTo>
                    <a:pt x="1860073" y="1174246"/>
                  </a:lnTo>
                  <a:lnTo>
                    <a:pt x="1821644" y="1200169"/>
                  </a:lnTo>
                  <a:lnTo>
                    <a:pt x="1774570" y="1209675"/>
                  </a:lnTo>
                  <a:lnTo>
                    <a:pt x="120967" y="1209675"/>
                  </a:lnTo>
                  <a:lnTo>
                    <a:pt x="73878" y="1200169"/>
                  </a:lnTo>
                  <a:lnTo>
                    <a:pt x="35428" y="1174246"/>
                  </a:lnTo>
                  <a:lnTo>
                    <a:pt x="9505" y="1135796"/>
                  </a:lnTo>
                  <a:lnTo>
                    <a:pt x="0" y="1088707"/>
                  </a:lnTo>
                  <a:lnTo>
                    <a:pt x="0" y="12090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51217" y="5252084"/>
            <a:ext cx="1447165" cy="612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2290"/>
              </a:lnSpc>
              <a:spcBef>
                <a:spcPts val="130"/>
              </a:spcBef>
            </a:pPr>
            <a:r>
              <a:rPr sz="2000" spc="-10" dirty="0">
                <a:latin typeface="Trebuchet MS"/>
                <a:cs typeface="Trebuchet MS"/>
              </a:rPr>
              <a:t>Collect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Work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ts val="2290"/>
              </a:lnSpc>
            </a:pPr>
            <a:r>
              <a:rPr sz="2000" spc="-10" dirty="0">
                <a:latin typeface="Trebuchet MS"/>
                <a:cs typeface="Trebuchet MS"/>
              </a:rPr>
              <a:t>Hours()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724150" y="4772025"/>
            <a:ext cx="2124075" cy="1428750"/>
            <a:chOff x="2724150" y="4772025"/>
            <a:chExt cx="2124075" cy="1428750"/>
          </a:xfrm>
        </p:grpSpPr>
        <p:sp>
          <p:nvSpPr>
            <p:cNvPr id="28" name="object 28"/>
            <p:cNvSpPr/>
            <p:nvPr/>
          </p:nvSpPr>
          <p:spPr>
            <a:xfrm>
              <a:off x="2733675" y="4781550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1774571" y="0"/>
                  </a:moveTo>
                  <a:lnTo>
                    <a:pt x="120904" y="0"/>
                  </a:lnTo>
                  <a:lnTo>
                    <a:pt x="73830" y="9497"/>
                  </a:lnTo>
                  <a:lnTo>
                    <a:pt x="35401" y="35401"/>
                  </a:lnTo>
                  <a:lnTo>
                    <a:pt x="9497" y="73830"/>
                  </a:lnTo>
                  <a:lnTo>
                    <a:pt x="0" y="120904"/>
                  </a:lnTo>
                  <a:lnTo>
                    <a:pt x="0" y="1088707"/>
                  </a:lnTo>
                  <a:lnTo>
                    <a:pt x="9497" y="1135796"/>
                  </a:lnTo>
                  <a:lnTo>
                    <a:pt x="35401" y="1174246"/>
                  </a:lnTo>
                  <a:lnTo>
                    <a:pt x="73830" y="1200169"/>
                  </a:lnTo>
                  <a:lnTo>
                    <a:pt x="120904" y="1209675"/>
                  </a:lnTo>
                  <a:lnTo>
                    <a:pt x="1774571" y="1209675"/>
                  </a:lnTo>
                  <a:lnTo>
                    <a:pt x="1821644" y="1200169"/>
                  </a:lnTo>
                  <a:lnTo>
                    <a:pt x="1860073" y="1174246"/>
                  </a:lnTo>
                  <a:lnTo>
                    <a:pt x="1885977" y="1135796"/>
                  </a:lnTo>
                  <a:lnTo>
                    <a:pt x="1895475" y="1088707"/>
                  </a:lnTo>
                  <a:lnTo>
                    <a:pt x="1895475" y="120904"/>
                  </a:lnTo>
                  <a:lnTo>
                    <a:pt x="1885977" y="73830"/>
                  </a:lnTo>
                  <a:lnTo>
                    <a:pt x="1860073" y="35401"/>
                  </a:lnTo>
                  <a:lnTo>
                    <a:pt x="1821644" y="9497"/>
                  </a:lnTo>
                  <a:lnTo>
                    <a:pt x="1774571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33675" y="4781550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0" y="120904"/>
                  </a:moveTo>
                  <a:lnTo>
                    <a:pt x="9497" y="73830"/>
                  </a:lnTo>
                  <a:lnTo>
                    <a:pt x="35401" y="35401"/>
                  </a:lnTo>
                  <a:lnTo>
                    <a:pt x="73830" y="9497"/>
                  </a:lnTo>
                  <a:lnTo>
                    <a:pt x="120904" y="0"/>
                  </a:lnTo>
                  <a:lnTo>
                    <a:pt x="1774571" y="0"/>
                  </a:lnTo>
                  <a:lnTo>
                    <a:pt x="1821644" y="9497"/>
                  </a:lnTo>
                  <a:lnTo>
                    <a:pt x="1860073" y="35401"/>
                  </a:lnTo>
                  <a:lnTo>
                    <a:pt x="1885977" y="73830"/>
                  </a:lnTo>
                  <a:lnTo>
                    <a:pt x="1895475" y="120904"/>
                  </a:lnTo>
                  <a:lnTo>
                    <a:pt x="1895475" y="1088707"/>
                  </a:lnTo>
                  <a:lnTo>
                    <a:pt x="1885977" y="1135796"/>
                  </a:lnTo>
                  <a:lnTo>
                    <a:pt x="1860073" y="1174246"/>
                  </a:lnTo>
                  <a:lnTo>
                    <a:pt x="1821644" y="1200169"/>
                  </a:lnTo>
                  <a:lnTo>
                    <a:pt x="1774571" y="1209675"/>
                  </a:lnTo>
                  <a:lnTo>
                    <a:pt x="120904" y="1209675"/>
                  </a:lnTo>
                  <a:lnTo>
                    <a:pt x="73830" y="1200169"/>
                  </a:lnTo>
                  <a:lnTo>
                    <a:pt x="35401" y="1174246"/>
                  </a:lnTo>
                  <a:lnTo>
                    <a:pt x="9497" y="1135796"/>
                  </a:lnTo>
                  <a:lnTo>
                    <a:pt x="0" y="1088707"/>
                  </a:lnTo>
                  <a:lnTo>
                    <a:pt x="0" y="12090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43225" y="4981575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1774571" y="0"/>
                  </a:moveTo>
                  <a:lnTo>
                    <a:pt x="120904" y="0"/>
                  </a:lnTo>
                  <a:lnTo>
                    <a:pt x="73830" y="9497"/>
                  </a:lnTo>
                  <a:lnTo>
                    <a:pt x="35401" y="35401"/>
                  </a:lnTo>
                  <a:lnTo>
                    <a:pt x="9497" y="73830"/>
                  </a:lnTo>
                  <a:lnTo>
                    <a:pt x="0" y="120904"/>
                  </a:lnTo>
                  <a:lnTo>
                    <a:pt x="0" y="1088707"/>
                  </a:lnTo>
                  <a:lnTo>
                    <a:pt x="9497" y="1135796"/>
                  </a:lnTo>
                  <a:lnTo>
                    <a:pt x="35401" y="1174246"/>
                  </a:lnTo>
                  <a:lnTo>
                    <a:pt x="73830" y="1200169"/>
                  </a:lnTo>
                  <a:lnTo>
                    <a:pt x="120904" y="1209675"/>
                  </a:lnTo>
                  <a:lnTo>
                    <a:pt x="1774571" y="1209675"/>
                  </a:lnTo>
                  <a:lnTo>
                    <a:pt x="1821644" y="1200169"/>
                  </a:lnTo>
                  <a:lnTo>
                    <a:pt x="1860073" y="1174246"/>
                  </a:lnTo>
                  <a:lnTo>
                    <a:pt x="1885977" y="1135796"/>
                  </a:lnTo>
                  <a:lnTo>
                    <a:pt x="1895475" y="1088707"/>
                  </a:lnTo>
                  <a:lnTo>
                    <a:pt x="1895475" y="120904"/>
                  </a:lnTo>
                  <a:lnTo>
                    <a:pt x="1885977" y="73830"/>
                  </a:lnTo>
                  <a:lnTo>
                    <a:pt x="1860073" y="35401"/>
                  </a:lnTo>
                  <a:lnTo>
                    <a:pt x="1821644" y="9497"/>
                  </a:lnTo>
                  <a:lnTo>
                    <a:pt x="177457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43225" y="4981575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0" y="120904"/>
                  </a:moveTo>
                  <a:lnTo>
                    <a:pt x="9497" y="73830"/>
                  </a:lnTo>
                  <a:lnTo>
                    <a:pt x="35401" y="35401"/>
                  </a:lnTo>
                  <a:lnTo>
                    <a:pt x="73830" y="9497"/>
                  </a:lnTo>
                  <a:lnTo>
                    <a:pt x="120904" y="0"/>
                  </a:lnTo>
                  <a:lnTo>
                    <a:pt x="1774571" y="0"/>
                  </a:lnTo>
                  <a:lnTo>
                    <a:pt x="1821644" y="9497"/>
                  </a:lnTo>
                  <a:lnTo>
                    <a:pt x="1860073" y="35401"/>
                  </a:lnTo>
                  <a:lnTo>
                    <a:pt x="1885977" y="73830"/>
                  </a:lnTo>
                  <a:lnTo>
                    <a:pt x="1895475" y="120904"/>
                  </a:lnTo>
                  <a:lnTo>
                    <a:pt x="1895475" y="1088707"/>
                  </a:lnTo>
                  <a:lnTo>
                    <a:pt x="1885977" y="1135796"/>
                  </a:lnTo>
                  <a:lnTo>
                    <a:pt x="1860073" y="1174246"/>
                  </a:lnTo>
                  <a:lnTo>
                    <a:pt x="1821644" y="1200169"/>
                  </a:lnTo>
                  <a:lnTo>
                    <a:pt x="1774571" y="1209675"/>
                  </a:lnTo>
                  <a:lnTo>
                    <a:pt x="120904" y="1209675"/>
                  </a:lnTo>
                  <a:lnTo>
                    <a:pt x="73830" y="1200169"/>
                  </a:lnTo>
                  <a:lnTo>
                    <a:pt x="35401" y="1174246"/>
                  </a:lnTo>
                  <a:lnTo>
                    <a:pt x="9497" y="1135796"/>
                  </a:lnTo>
                  <a:lnTo>
                    <a:pt x="0" y="1088707"/>
                  </a:lnTo>
                  <a:lnTo>
                    <a:pt x="0" y="12090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074670" y="5392420"/>
            <a:ext cx="16338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65" dirty="0">
                <a:latin typeface="Trebuchet MS"/>
                <a:cs typeface="Trebuchet MS"/>
              </a:rPr>
              <a:t>Validate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Data()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038725" y="3019425"/>
            <a:ext cx="2124075" cy="1419225"/>
            <a:chOff x="5038725" y="3019425"/>
            <a:chExt cx="2124075" cy="1419225"/>
          </a:xfrm>
        </p:grpSpPr>
        <p:sp>
          <p:nvSpPr>
            <p:cNvPr id="34" name="object 34"/>
            <p:cNvSpPr/>
            <p:nvPr/>
          </p:nvSpPr>
          <p:spPr>
            <a:xfrm>
              <a:off x="5048250" y="30289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59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4" y="1200150"/>
                  </a:lnTo>
                  <a:lnTo>
                    <a:pt x="1775459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5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48250" y="30289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1775459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59" y="1200150"/>
                  </a:lnTo>
                  <a:lnTo>
                    <a:pt x="120014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257800" y="32289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59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4" y="1200150"/>
                  </a:lnTo>
                  <a:lnTo>
                    <a:pt x="1775459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5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57800" y="32289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1775459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59" y="1200150"/>
                  </a:lnTo>
                  <a:lnTo>
                    <a:pt x="120014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370829" y="3494341"/>
            <a:ext cx="1682750" cy="611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2290"/>
              </a:lnSpc>
              <a:spcBef>
                <a:spcPts val="125"/>
              </a:spcBef>
            </a:pPr>
            <a:r>
              <a:rPr sz="2000" spc="-45" dirty="0">
                <a:latin typeface="Trebuchet MS"/>
                <a:cs typeface="Trebuchet MS"/>
              </a:rPr>
              <a:t>Transformation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ts val="2290"/>
              </a:lnSpc>
            </a:pPr>
            <a:r>
              <a:rPr sz="2000" spc="-10" dirty="0">
                <a:latin typeface="Trebuchet MS"/>
                <a:cs typeface="Trebuchet MS"/>
              </a:rPr>
              <a:t>Centre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038725" y="4772025"/>
            <a:ext cx="2124075" cy="1428750"/>
            <a:chOff x="5038725" y="4772025"/>
            <a:chExt cx="2124075" cy="1428750"/>
          </a:xfrm>
        </p:grpSpPr>
        <p:sp>
          <p:nvSpPr>
            <p:cNvPr id="40" name="object 40"/>
            <p:cNvSpPr/>
            <p:nvPr/>
          </p:nvSpPr>
          <p:spPr>
            <a:xfrm>
              <a:off x="5048250" y="4781550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1774571" y="0"/>
                  </a:moveTo>
                  <a:lnTo>
                    <a:pt x="120903" y="0"/>
                  </a:lnTo>
                  <a:lnTo>
                    <a:pt x="73830" y="9497"/>
                  </a:lnTo>
                  <a:lnTo>
                    <a:pt x="35401" y="35401"/>
                  </a:lnTo>
                  <a:lnTo>
                    <a:pt x="9497" y="73830"/>
                  </a:lnTo>
                  <a:lnTo>
                    <a:pt x="0" y="120904"/>
                  </a:lnTo>
                  <a:lnTo>
                    <a:pt x="0" y="1088707"/>
                  </a:lnTo>
                  <a:lnTo>
                    <a:pt x="9497" y="1135796"/>
                  </a:lnTo>
                  <a:lnTo>
                    <a:pt x="35401" y="1174246"/>
                  </a:lnTo>
                  <a:lnTo>
                    <a:pt x="73830" y="1200169"/>
                  </a:lnTo>
                  <a:lnTo>
                    <a:pt x="120903" y="1209675"/>
                  </a:lnTo>
                  <a:lnTo>
                    <a:pt x="1774571" y="1209675"/>
                  </a:lnTo>
                  <a:lnTo>
                    <a:pt x="1821644" y="1200169"/>
                  </a:lnTo>
                  <a:lnTo>
                    <a:pt x="1860073" y="1174246"/>
                  </a:lnTo>
                  <a:lnTo>
                    <a:pt x="1885977" y="1135796"/>
                  </a:lnTo>
                  <a:lnTo>
                    <a:pt x="1895475" y="1088707"/>
                  </a:lnTo>
                  <a:lnTo>
                    <a:pt x="1895475" y="120904"/>
                  </a:lnTo>
                  <a:lnTo>
                    <a:pt x="1885977" y="73830"/>
                  </a:lnTo>
                  <a:lnTo>
                    <a:pt x="1860073" y="35401"/>
                  </a:lnTo>
                  <a:lnTo>
                    <a:pt x="1821644" y="9497"/>
                  </a:lnTo>
                  <a:lnTo>
                    <a:pt x="1774571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48250" y="4781550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0" y="120904"/>
                  </a:moveTo>
                  <a:lnTo>
                    <a:pt x="9497" y="73830"/>
                  </a:lnTo>
                  <a:lnTo>
                    <a:pt x="35401" y="35401"/>
                  </a:lnTo>
                  <a:lnTo>
                    <a:pt x="73830" y="9497"/>
                  </a:lnTo>
                  <a:lnTo>
                    <a:pt x="120903" y="0"/>
                  </a:lnTo>
                  <a:lnTo>
                    <a:pt x="1774571" y="0"/>
                  </a:lnTo>
                  <a:lnTo>
                    <a:pt x="1821644" y="9497"/>
                  </a:lnTo>
                  <a:lnTo>
                    <a:pt x="1860073" y="35401"/>
                  </a:lnTo>
                  <a:lnTo>
                    <a:pt x="1885977" y="73830"/>
                  </a:lnTo>
                  <a:lnTo>
                    <a:pt x="1895475" y="120904"/>
                  </a:lnTo>
                  <a:lnTo>
                    <a:pt x="1895475" y="1088707"/>
                  </a:lnTo>
                  <a:lnTo>
                    <a:pt x="1885977" y="1135796"/>
                  </a:lnTo>
                  <a:lnTo>
                    <a:pt x="1860073" y="1174246"/>
                  </a:lnTo>
                  <a:lnTo>
                    <a:pt x="1821644" y="1200169"/>
                  </a:lnTo>
                  <a:lnTo>
                    <a:pt x="1774571" y="1209675"/>
                  </a:lnTo>
                  <a:lnTo>
                    <a:pt x="120903" y="1209675"/>
                  </a:lnTo>
                  <a:lnTo>
                    <a:pt x="73830" y="1200169"/>
                  </a:lnTo>
                  <a:lnTo>
                    <a:pt x="35401" y="1174246"/>
                  </a:lnTo>
                  <a:lnTo>
                    <a:pt x="9497" y="1135796"/>
                  </a:lnTo>
                  <a:lnTo>
                    <a:pt x="0" y="1088707"/>
                  </a:lnTo>
                  <a:lnTo>
                    <a:pt x="0" y="12090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57800" y="4981575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1774571" y="0"/>
                  </a:moveTo>
                  <a:lnTo>
                    <a:pt x="120903" y="0"/>
                  </a:lnTo>
                  <a:lnTo>
                    <a:pt x="73830" y="9497"/>
                  </a:lnTo>
                  <a:lnTo>
                    <a:pt x="35401" y="35401"/>
                  </a:lnTo>
                  <a:lnTo>
                    <a:pt x="9497" y="73830"/>
                  </a:lnTo>
                  <a:lnTo>
                    <a:pt x="0" y="120904"/>
                  </a:lnTo>
                  <a:lnTo>
                    <a:pt x="0" y="1088707"/>
                  </a:lnTo>
                  <a:lnTo>
                    <a:pt x="9497" y="1135796"/>
                  </a:lnTo>
                  <a:lnTo>
                    <a:pt x="35401" y="1174246"/>
                  </a:lnTo>
                  <a:lnTo>
                    <a:pt x="73830" y="1200169"/>
                  </a:lnTo>
                  <a:lnTo>
                    <a:pt x="120903" y="1209675"/>
                  </a:lnTo>
                  <a:lnTo>
                    <a:pt x="1774571" y="1209675"/>
                  </a:lnTo>
                  <a:lnTo>
                    <a:pt x="1821644" y="1200169"/>
                  </a:lnTo>
                  <a:lnTo>
                    <a:pt x="1860073" y="1174246"/>
                  </a:lnTo>
                  <a:lnTo>
                    <a:pt x="1885977" y="1135796"/>
                  </a:lnTo>
                  <a:lnTo>
                    <a:pt x="1895475" y="1088707"/>
                  </a:lnTo>
                  <a:lnTo>
                    <a:pt x="1895475" y="120904"/>
                  </a:lnTo>
                  <a:lnTo>
                    <a:pt x="1885977" y="73830"/>
                  </a:lnTo>
                  <a:lnTo>
                    <a:pt x="1860073" y="35401"/>
                  </a:lnTo>
                  <a:lnTo>
                    <a:pt x="1821644" y="9497"/>
                  </a:lnTo>
                  <a:lnTo>
                    <a:pt x="177457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257800" y="4981575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0" y="120904"/>
                  </a:moveTo>
                  <a:lnTo>
                    <a:pt x="9497" y="73830"/>
                  </a:lnTo>
                  <a:lnTo>
                    <a:pt x="35401" y="35401"/>
                  </a:lnTo>
                  <a:lnTo>
                    <a:pt x="73830" y="9497"/>
                  </a:lnTo>
                  <a:lnTo>
                    <a:pt x="120903" y="0"/>
                  </a:lnTo>
                  <a:lnTo>
                    <a:pt x="1774571" y="0"/>
                  </a:lnTo>
                  <a:lnTo>
                    <a:pt x="1821644" y="9497"/>
                  </a:lnTo>
                  <a:lnTo>
                    <a:pt x="1860073" y="35401"/>
                  </a:lnTo>
                  <a:lnTo>
                    <a:pt x="1885977" y="73830"/>
                  </a:lnTo>
                  <a:lnTo>
                    <a:pt x="1895475" y="120904"/>
                  </a:lnTo>
                  <a:lnTo>
                    <a:pt x="1895475" y="1088707"/>
                  </a:lnTo>
                  <a:lnTo>
                    <a:pt x="1885977" y="1135796"/>
                  </a:lnTo>
                  <a:lnTo>
                    <a:pt x="1860073" y="1174246"/>
                  </a:lnTo>
                  <a:lnTo>
                    <a:pt x="1821644" y="1200169"/>
                  </a:lnTo>
                  <a:lnTo>
                    <a:pt x="1774571" y="1209675"/>
                  </a:lnTo>
                  <a:lnTo>
                    <a:pt x="120903" y="1209675"/>
                  </a:lnTo>
                  <a:lnTo>
                    <a:pt x="73830" y="1200169"/>
                  </a:lnTo>
                  <a:lnTo>
                    <a:pt x="35401" y="1174246"/>
                  </a:lnTo>
                  <a:lnTo>
                    <a:pt x="9497" y="1135796"/>
                  </a:lnTo>
                  <a:lnTo>
                    <a:pt x="0" y="1088707"/>
                  </a:lnTo>
                  <a:lnTo>
                    <a:pt x="0" y="12090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372353" y="5392420"/>
            <a:ext cx="168148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latin typeface="Trebuchet MS"/>
                <a:cs typeface="Trebuchet MS"/>
              </a:rPr>
              <a:t>Calculate</a:t>
            </a:r>
            <a:r>
              <a:rPr sz="2000" spc="-21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Pay()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515350" y="3019425"/>
            <a:ext cx="2124075" cy="1419225"/>
            <a:chOff x="8515350" y="3019425"/>
            <a:chExt cx="2124075" cy="1419225"/>
          </a:xfrm>
        </p:grpSpPr>
        <p:sp>
          <p:nvSpPr>
            <p:cNvPr id="46" name="object 46"/>
            <p:cNvSpPr/>
            <p:nvPr/>
          </p:nvSpPr>
          <p:spPr>
            <a:xfrm>
              <a:off x="8524875" y="30289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59" y="0"/>
                  </a:moveTo>
                  <a:lnTo>
                    <a:pt x="120015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5" y="1200150"/>
                  </a:lnTo>
                  <a:lnTo>
                    <a:pt x="1775459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5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524875" y="30289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5" y="0"/>
                  </a:lnTo>
                  <a:lnTo>
                    <a:pt x="1775459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59" y="1200150"/>
                  </a:lnTo>
                  <a:lnTo>
                    <a:pt x="120015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734425" y="32289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59" y="0"/>
                  </a:moveTo>
                  <a:lnTo>
                    <a:pt x="120015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5" y="1200150"/>
                  </a:lnTo>
                  <a:lnTo>
                    <a:pt x="1775459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5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734425" y="32289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5" y="0"/>
                  </a:lnTo>
                  <a:lnTo>
                    <a:pt x="1775459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59" y="1200150"/>
                  </a:lnTo>
                  <a:lnTo>
                    <a:pt x="120015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9204325" y="3494341"/>
            <a:ext cx="981075" cy="611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8425">
              <a:lnSpc>
                <a:spcPts val="2290"/>
              </a:lnSpc>
              <a:spcBef>
                <a:spcPts val="125"/>
              </a:spcBef>
            </a:pPr>
            <a:r>
              <a:rPr sz="2000" spc="-10" dirty="0">
                <a:latin typeface="Trebuchet MS"/>
                <a:cs typeface="Trebuchet MS"/>
              </a:rPr>
              <a:t>Output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ts val="2290"/>
              </a:lnSpc>
            </a:pPr>
            <a:r>
              <a:rPr sz="2000" spc="-10" dirty="0">
                <a:latin typeface="Trebuchet MS"/>
                <a:cs typeface="Trebuchet MS"/>
              </a:rPr>
              <a:t>Modules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353300" y="4772025"/>
            <a:ext cx="2133600" cy="1428750"/>
            <a:chOff x="7353300" y="4772025"/>
            <a:chExt cx="2133600" cy="1428750"/>
          </a:xfrm>
        </p:grpSpPr>
        <p:sp>
          <p:nvSpPr>
            <p:cNvPr id="52" name="object 52"/>
            <p:cNvSpPr/>
            <p:nvPr/>
          </p:nvSpPr>
          <p:spPr>
            <a:xfrm>
              <a:off x="7362825" y="4781550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1774571" y="0"/>
                  </a:moveTo>
                  <a:lnTo>
                    <a:pt x="120903" y="0"/>
                  </a:lnTo>
                  <a:lnTo>
                    <a:pt x="73830" y="9497"/>
                  </a:lnTo>
                  <a:lnTo>
                    <a:pt x="35401" y="35401"/>
                  </a:lnTo>
                  <a:lnTo>
                    <a:pt x="9497" y="73830"/>
                  </a:lnTo>
                  <a:lnTo>
                    <a:pt x="0" y="120904"/>
                  </a:lnTo>
                  <a:lnTo>
                    <a:pt x="0" y="1088707"/>
                  </a:lnTo>
                  <a:lnTo>
                    <a:pt x="9497" y="1135796"/>
                  </a:lnTo>
                  <a:lnTo>
                    <a:pt x="35401" y="1174246"/>
                  </a:lnTo>
                  <a:lnTo>
                    <a:pt x="73830" y="1200169"/>
                  </a:lnTo>
                  <a:lnTo>
                    <a:pt x="120903" y="1209675"/>
                  </a:lnTo>
                  <a:lnTo>
                    <a:pt x="1774571" y="1209675"/>
                  </a:lnTo>
                  <a:lnTo>
                    <a:pt x="1821644" y="1200169"/>
                  </a:lnTo>
                  <a:lnTo>
                    <a:pt x="1860073" y="1174246"/>
                  </a:lnTo>
                  <a:lnTo>
                    <a:pt x="1885977" y="1135796"/>
                  </a:lnTo>
                  <a:lnTo>
                    <a:pt x="1895475" y="1088707"/>
                  </a:lnTo>
                  <a:lnTo>
                    <a:pt x="1895475" y="120904"/>
                  </a:lnTo>
                  <a:lnTo>
                    <a:pt x="1885977" y="73830"/>
                  </a:lnTo>
                  <a:lnTo>
                    <a:pt x="1860073" y="35401"/>
                  </a:lnTo>
                  <a:lnTo>
                    <a:pt x="1821644" y="9497"/>
                  </a:lnTo>
                  <a:lnTo>
                    <a:pt x="1774571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362825" y="4781550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0" y="120904"/>
                  </a:moveTo>
                  <a:lnTo>
                    <a:pt x="9497" y="73830"/>
                  </a:lnTo>
                  <a:lnTo>
                    <a:pt x="35401" y="35401"/>
                  </a:lnTo>
                  <a:lnTo>
                    <a:pt x="73830" y="9497"/>
                  </a:lnTo>
                  <a:lnTo>
                    <a:pt x="120903" y="0"/>
                  </a:lnTo>
                  <a:lnTo>
                    <a:pt x="1774571" y="0"/>
                  </a:lnTo>
                  <a:lnTo>
                    <a:pt x="1821644" y="9497"/>
                  </a:lnTo>
                  <a:lnTo>
                    <a:pt x="1860073" y="35401"/>
                  </a:lnTo>
                  <a:lnTo>
                    <a:pt x="1885977" y="73830"/>
                  </a:lnTo>
                  <a:lnTo>
                    <a:pt x="1895475" y="120904"/>
                  </a:lnTo>
                  <a:lnTo>
                    <a:pt x="1895475" y="1088707"/>
                  </a:lnTo>
                  <a:lnTo>
                    <a:pt x="1885977" y="1135796"/>
                  </a:lnTo>
                  <a:lnTo>
                    <a:pt x="1860073" y="1174246"/>
                  </a:lnTo>
                  <a:lnTo>
                    <a:pt x="1821644" y="1200169"/>
                  </a:lnTo>
                  <a:lnTo>
                    <a:pt x="1774571" y="1209675"/>
                  </a:lnTo>
                  <a:lnTo>
                    <a:pt x="120903" y="1209675"/>
                  </a:lnTo>
                  <a:lnTo>
                    <a:pt x="73830" y="1200169"/>
                  </a:lnTo>
                  <a:lnTo>
                    <a:pt x="35401" y="1174246"/>
                  </a:lnTo>
                  <a:lnTo>
                    <a:pt x="9497" y="1135796"/>
                  </a:lnTo>
                  <a:lnTo>
                    <a:pt x="0" y="1088707"/>
                  </a:lnTo>
                  <a:lnTo>
                    <a:pt x="0" y="12090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581900" y="4981575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1774571" y="0"/>
                  </a:moveTo>
                  <a:lnTo>
                    <a:pt x="120903" y="0"/>
                  </a:lnTo>
                  <a:lnTo>
                    <a:pt x="73830" y="9497"/>
                  </a:lnTo>
                  <a:lnTo>
                    <a:pt x="35401" y="35401"/>
                  </a:lnTo>
                  <a:lnTo>
                    <a:pt x="9497" y="73830"/>
                  </a:lnTo>
                  <a:lnTo>
                    <a:pt x="0" y="120904"/>
                  </a:lnTo>
                  <a:lnTo>
                    <a:pt x="0" y="1088707"/>
                  </a:lnTo>
                  <a:lnTo>
                    <a:pt x="9497" y="1135796"/>
                  </a:lnTo>
                  <a:lnTo>
                    <a:pt x="35401" y="1174246"/>
                  </a:lnTo>
                  <a:lnTo>
                    <a:pt x="73830" y="1200169"/>
                  </a:lnTo>
                  <a:lnTo>
                    <a:pt x="120903" y="1209675"/>
                  </a:lnTo>
                  <a:lnTo>
                    <a:pt x="1774571" y="1209675"/>
                  </a:lnTo>
                  <a:lnTo>
                    <a:pt x="1821644" y="1200169"/>
                  </a:lnTo>
                  <a:lnTo>
                    <a:pt x="1860073" y="1174246"/>
                  </a:lnTo>
                  <a:lnTo>
                    <a:pt x="1885977" y="1135796"/>
                  </a:lnTo>
                  <a:lnTo>
                    <a:pt x="1895475" y="1088707"/>
                  </a:lnTo>
                  <a:lnTo>
                    <a:pt x="1895475" y="120904"/>
                  </a:lnTo>
                  <a:lnTo>
                    <a:pt x="1885977" y="73830"/>
                  </a:lnTo>
                  <a:lnTo>
                    <a:pt x="1860073" y="35401"/>
                  </a:lnTo>
                  <a:lnTo>
                    <a:pt x="1821644" y="9497"/>
                  </a:lnTo>
                  <a:lnTo>
                    <a:pt x="177457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581900" y="4981575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0" y="120904"/>
                  </a:moveTo>
                  <a:lnTo>
                    <a:pt x="9497" y="73830"/>
                  </a:lnTo>
                  <a:lnTo>
                    <a:pt x="35401" y="35401"/>
                  </a:lnTo>
                  <a:lnTo>
                    <a:pt x="73830" y="9497"/>
                  </a:lnTo>
                  <a:lnTo>
                    <a:pt x="120903" y="0"/>
                  </a:lnTo>
                  <a:lnTo>
                    <a:pt x="1774571" y="0"/>
                  </a:lnTo>
                  <a:lnTo>
                    <a:pt x="1821644" y="9497"/>
                  </a:lnTo>
                  <a:lnTo>
                    <a:pt x="1860073" y="35401"/>
                  </a:lnTo>
                  <a:lnTo>
                    <a:pt x="1885977" y="73830"/>
                  </a:lnTo>
                  <a:lnTo>
                    <a:pt x="1895475" y="120904"/>
                  </a:lnTo>
                  <a:lnTo>
                    <a:pt x="1895475" y="1088707"/>
                  </a:lnTo>
                  <a:lnTo>
                    <a:pt x="1885977" y="1135796"/>
                  </a:lnTo>
                  <a:lnTo>
                    <a:pt x="1860073" y="1174246"/>
                  </a:lnTo>
                  <a:lnTo>
                    <a:pt x="1821644" y="1200169"/>
                  </a:lnTo>
                  <a:lnTo>
                    <a:pt x="1774571" y="1209675"/>
                  </a:lnTo>
                  <a:lnTo>
                    <a:pt x="120903" y="1209675"/>
                  </a:lnTo>
                  <a:lnTo>
                    <a:pt x="73830" y="1200169"/>
                  </a:lnTo>
                  <a:lnTo>
                    <a:pt x="35401" y="1174246"/>
                  </a:lnTo>
                  <a:lnTo>
                    <a:pt x="9497" y="1135796"/>
                  </a:lnTo>
                  <a:lnTo>
                    <a:pt x="0" y="1088707"/>
                  </a:lnTo>
                  <a:lnTo>
                    <a:pt x="0" y="12090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793101" y="5252084"/>
            <a:ext cx="1475105" cy="612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2290"/>
              </a:lnSpc>
              <a:spcBef>
                <a:spcPts val="130"/>
              </a:spcBef>
            </a:pPr>
            <a:r>
              <a:rPr sz="2000" spc="-60" dirty="0">
                <a:latin typeface="Trebuchet MS"/>
                <a:cs typeface="Trebuchet MS"/>
              </a:rPr>
              <a:t>Generate</a:t>
            </a:r>
            <a:r>
              <a:rPr sz="2000" spc="-10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Pay</a:t>
            </a:r>
            <a:endParaRPr sz="2000">
              <a:latin typeface="Trebuchet MS"/>
              <a:cs typeface="Trebuchet MS"/>
            </a:endParaRPr>
          </a:p>
          <a:p>
            <a:pPr marL="1905" algn="ctr">
              <a:lnSpc>
                <a:spcPts val="2290"/>
              </a:lnSpc>
            </a:pPr>
            <a:r>
              <a:rPr sz="2000" spc="-10" dirty="0">
                <a:latin typeface="Trebuchet MS"/>
                <a:cs typeface="Trebuchet MS"/>
              </a:rPr>
              <a:t>slips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9677400" y="4772025"/>
            <a:ext cx="2124075" cy="1428750"/>
            <a:chOff x="9677400" y="4772025"/>
            <a:chExt cx="2124075" cy="1428750"/>
          </a:xfrm>
        </p:grpSpPr>
        <p:sp>
          <p:nvSpPr>
            <p:cNvPr id="58" name="object 58"/>
            <p:cNvSpPr/>
            <p:nvPr/>
          </p:nvSpPr>
          <p:spPr>
            <a:xfrm>
              <a:off x="9686925" y="4781550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1774571" y="0"/>
                  </a:moveTo>
                  <a:lnTo>
                    <a:pt x="120903" y="0"/>
                  </a:lnTo>
                  <a:lnTo>
                    <a:pt x="73830" y="9497"/>
                  </a:lnTo>
                  <a:lnTo>
                    <a:pt x="35401" y="35401"/>
                  </a:lnTo>
                  <a:lnTo>
                    <a:pt x="9497" y="73830"/>
                  </a:lnTo>
                  <a:lnTo>
                    <a:pt x="0" y="120904"/>
                  </a:lnTo>
                  <a:lnTo>
                    <a:pt x="0" y="1088707"/>
                  </a:lnTo>
                  <a:lnTo>
                    <a:pt x="9497" y="1135796"/>
                  </a:lnTo>
                  <a:lnTo>
                    <a:pt x="35401" y="1174246"/>
                  </a:lnTo>
                  <a:lnTo>
                    <a:pt x="73830" y="1200169"/>
                  </a:lnTo>
                  <a:lnTo>
                    <a:pt x="120903" y="1209675"/>
                  </a:lnTo>
                  <a:lnTo>
                    <a:pt x="1774571" y="1209675"/>
                  </a:lnTo>
                  <a:lnTo>
                    <a:pt x="1821644" y="1200169"/>
                  </a:lnTo>
                  <a:lnTo>
                    <a:pt x="1860073" y="1174246"/>
                  </a:lnTo>
                  <a:lnTo>
                    <a:pt x="1885977" y="1135796"/>
                  </a:lnTo>
                  <a:lnTo>
                    <a:pt x="1895475" y="1088707"/>
                  </a:lnTo>
                  <a:lnTo>
                    <a:pt x="1895475" y="120904"/>
                  </a:lnTo>
                  <a:lnTo>
                    <a:pt x="1885977" y="73830"/>
                  </a:lnTo>
                  <a:lnTo>
                    <a:pt x="1860073" y="35401"/>
                  </a:lnTo>
                  <a:lnTo>
                    <a:pt x="1821644" y="9497"/>
                  </a:lnTo>
                  <a:lnTo>
                    <a:pt x="1774571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686925" y="4781550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0" y="120904"/>
                  </a:moveTo>
                  <a:lnTo>
                    <a:pt x="9497" y="73830"/>
                  </a:lnTo>
                  <a:lnTo>
                    <a:pt x="35401" y="35401"/>
                  </a:lnTo>
                  <a:lnTo>
                    <a:pt x="73830" y="9497"/>
                  </a:lnTo>
                  <a:lnTo>
                    <a:pt x="120903" y="0"/>
                  </a:lnTo>
                  <a:lnTo>
                    <a:pt x="1774571" y="0"/>
                  </a:lnTo>
                  <a:lnTo>
                    <a:pt x="1821644" y="9497"/>
                  </a:lnTo>
                  <a:lnTo>
                    <a:pt x="1860073" y="35401"/>
                  </a:lnTo>
                  <a:lnTo>
                    <a:pt x="1885977" y="73830"/>
                  </a:lnTo>
                  <a:lnTo>
                    <a:pt x="1895475" y="120904"/>
                  </a:lnTo>
                  <a:lnTo>
                    <a:pt x="1895475" y="1088707"/>
                  </a:lnTo>
                  <a:lnTo>
                    <a:pt x="1885977" y="1135796"/>
                  </a:lnTo>
                  <a:lnTo>
                    <a:pt x="1860073" y="1174246"/>
                  </a:lnTo>
                  <a:lnTo>
                    <a:pt x="1821644" y="1200169"/>
                  </a:lnTo>
                  <a:lnTo>
                    <a:pt x="1774571" y="1209675"/>
                  </a:lnTo>
                  <a:lnTo>
                    <a:pt x="120903" y="1209675"/>
                  </a:lnTo>
                  <a:lnTo>
                    <a:pt x="73830" y="1200169"/>
                  </a:lnTo>
                  <a:lnTo>
                    <a:pt x="35401" y="1174246"/>
                  </a:lnTo>
                  <a:lnTo>
                    <a:pt x="9497" y="1135796"/>
                  </a:lnTo>
                  <a:lnTo>
                    <a:pt x="0" y="1088707"/>
                  </a:lnTo>
                  <a:lnTo>
                    <a:pt x="0" y="12090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896475" y="4981575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1774571" y="0"/>
                  </a:moveTo>
                  <a:lnTo>
                    <a:pt x="120903" y="0"/>
                  </a:lnTo>
                  <a:lnTo>
                    <a:pt x="73830" y="9497"/>
                  </a:lnTo>
                  <a:lnTo>
                    <a:pt x="35401" y="35401"/>
                  </a:lnTo>
                  <a:lnTo>
                    <a:pt x="9497" y="73830"/>
                  </a:lnTo>
                  <a:lnTo>
                    <a:pt x="0" y="120904"/>
                  </a:lnTo>
                  <a:lnTo>
                    <a:pt x="0" y="1088707"/>
                  </a:lnTo>
                  <a:lnTo>
                    <a:pt x="9497" y="1135796"/>
                  </a:lnTo>
                  <a:lnTo>
                    <a:pt x="35401" y="1174246"/>
                  </a:lnTo>
                  <a:lnTo>
                    <a:pt x="73830" y="1200169"/>
                  </a:lnTo>
                  <a:lnTo>
                    <a:pt x="120903" y="1209675"/>
                  </a:lnTo>
                  <a:lnTo>
                    <a:pt x="1774571" y="1209675"/>
                  </a:lnTo>
                  <a:lnTo>
                    <a:pt x="1821644" y="1200169"/>
                  </a:lnTo>
                  <a:lnTo>
                    <a:pt x="1860073" y="1174246"/>
                  </a:lnTo>
                  <a:lnTo>
                    <a:pt x="1885977" y="1135796"/>
                  </a:lnTo>
                  <a:lnTo>
                    <a:pt x="1895475" y="1088707"/>
                  </a:lnTo>
                  <a:lnTo>
                    <a:pt x="1895475" y="120904"/>
                  </a:lnTo>
                  <a:lnTo>
                    <a:pt x="1885977" y="73830"/>
                  </a:lnTo>
                  <a:lnTo>
                    <a:pt x="1860073" y="35401"/>
                  </a:lnTo>
                  <a:lnTo>
                    <a:pt x="1821644" y="9497"/>
                  </a:lnTo>
                  <a:lnTo>
                    <a:pt x="177457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896475" y="4981575"/>
              <a:ext cx="1895475" cy="1209675"/>
            </a:xfrm>
            <a:custGeom>
              <a:avLst/>
              <a:gdLst/>
              <a:ahLst/>
              <a:cxnLst/>
              <a:rect l="l" t="t" r="r" b="b"/>
              <a:pathLst>
                <a:path w="1895475" h="1209675">
                  <a:moveTo>
                    <a:pt x="0" y="120904"/>
                  </a:moveTo>
                  <a:lnTo>
                    <a:pt x="9497" y="73830"/>
                  </a:lnTo>
                  <a:lnTo>
                    <a:pt x="35401" y="35401"/>
                  </a:lnTo>
                  <a:lnTo>
                    <a:pt x="73830" y="9497"/>
                  </a:lnTo>
                  <a:lnTo>
                    <a:pt x="120903" y="0"/>
                  </a:lnTo>
                  <a:lnTo>
                    <a:pt x="1774571" y="0"/>
                  </a:lnTo>
                  <a:lnTo>
                    <a:pt x="1821644" y="9497"/>
                  </a:lnTo>
                  <a:lnTo>
                    <a:pt x="1860073" y="35401"/>
                  </a:lnTo>
                  <a:lnTo>
                    <a:pt x="1885977" y="73830"/>
                  </a:lnTo>
                  <a:lnTo>
                    <a:pt x="1895475" y="120904"/>
                  </a:lnTo>
                  <a:lnTo>
                    <a:pt x="1895475" y="1088707"/>
                  </a:lnTo>
                  <a:lnTo>
                    <a:pt x="1885977" y="1135796"/>
                  </a:lnTo>
                  <a:lnTo>
                    <a:pt x="1860073" y="1174246"/>
                  </a:lnTo>
                  <a:lnTo>
                    <a:pt x="1821644" y="1200169"/>
                  </a:lnTo>
                  <a:lnTo>
                    <a:pt x="1774571" y="1209675"/>
                  </a:lnTo>
                  <a:lnTo>
                    <a:pt x="120903" y="1209675"/>
                  </a:lnTo>
                  <a:lnTo>
                    <a:pt x="73830" y="1200169"/>
                  </a:lnTo>
                  <a:lnTo>
                    <a:pt x="35401" y="1174246"/>
                  </a:lnTo>
                  <a:lnTo>
                    <a:pt x="9497" y="1135796"/>
                  </a:lnTo>
                  <a:lnTo>
                    <a:pt x="0" y="1088707"/>
                  </a:lnTo>
                  <a:lnTo>
                    <a:pt x="0" y="12090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0384155" y="5252084"/>
            <a:ext cx="931544" cy="612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4135">
              <a:lnSpc>
                <a:spcPts val="2290"/>
              </a:lnSpc>
              <a:spcBef>
                <a:spcPts val="130"/>
              </a:spcBef>
            </a:pPr>
            <a:r>
              <a:rPr sz="2000" spc="-10" dirty="0">
                <a:latin typeface="Trebuchet MS"/>
                <a:cs typeface="Trebuchet MS"/>
              </a:rPr>
              <a:t>Update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ts val="2290"/>
              </a:lnSpc>
            </a:pPr>
            <a:r>
              <a:rPr sz="2000" spc="-10" dirty="0">
                <a:latin typeface="Trebuchet MS"/>
                <a:cs typeface="Trebuchet MS"/>
              </a:rPr>
              <a:t>Records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25" dirty="0"/>
              <a:t>8.</a:t>
            </a:r>
            <a:r>
              <a:rPr sz="3200" spc="225" dirty="0"/>
              <a:t> </a:t>
            </a:r>
            <a:r>
              <a:rPr sz="3200" spc="150" dirty="0"/>
              <a:t>Transaction</a:t>
            </a:r>
            <a:r>
              <a:rPr sz="3200" spc="240" dirty="0"/>
              <a:t> </a:t>
            </a:r>
            <a:r>
              <a:rPr sz="3200" spc="105" dirty="0"/>
              <a:t>Mapping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1008261"/>
            <a:ext cx="11240770" cy="45167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41300" marR="5080" indent="-232410" algn="just">
              <a:lnSpc>
                <a:spcPct val="150400"/>
              </a:lnSpc>
              <a:spcBef>
                <a:spcPts val="60"/>
              </a:spcBef>
              <a:buSzPct val="96153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dirty="0">
                <a:latin typeface="Cambria"/>
                <a:cs typeface="Cambria"/>
              </a:rPr>
              <a:t>	Transaction</a:t>
            </a:r>
            <a:r>
              <a:rPr sz="2600" spc="275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mapping</a:t>
            </a:r>
            <a:r>
              <a:rPr sz="2600" spc="260" dirty="0">
                <a:latin typeface="Cambria"/>
                <a:cs typeface="Cambria"/>
              </a:rPr>
              <a:t> </a:t>
            </a:r>
            <a:r>
              <a:rPr sz="2600" spc="45" dirty="0">
                <a:latin typeface="Cambria"/>
                <a:cs typeface="Cambria"/>
              </a:rPr>
              <a:t>applies</a:t>
            </a:r>
            <a:r>
              <a:rPr sz="2600" spc="250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when</a:t>
            </a:r>
            <a:r>
              <a:rPr sz="2600" spc="22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21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system</a:t>
            </a:r>
            <a:r>
              <a:rPr sz="2600" spc="21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exhibits</a:t>
            </a:r>
            <a:r>
              <a:rPr sz="2600" spc="21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</a:t>
            </a:r>
            <a:r>
              <a:rPr sz="2600" spc="2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transaction</a:t>
            </a:r>
            <a:r>
              <a:rPr sz="2600" spc="290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flow, </a:t>
            </a:r>
            <a:r>
              <a:rPr sz="2600" dirty="0">
                <a:latin typeface="Cambria"/>
                <a:cs typeface="Cambria"/>
              </a:rPr>
              <a:t>where</a:t>
            </a:r>
            <a:r>
              <a:rPr sz="2600" spc="90" dirty="0">
                <a:latin typeface="Cambria"/>
                <a:cs typeface="Cambria"/>
              </a:rPr>
              <a:t>  </a:t>
            </a:r>
            <a:r>
              <a:rPr sz="2600" spc="55" dirty="0">
                <a:solidFill>
                  <a:srgbClr val="FF1C05"/>
                </a:solidFill>
                <a:latin typeface="Cambria"/>
                <a:cs typeface="Cambria"/>
              </a:rPr>
              <a:t>multiple</a:t>
            </a:r>
            <a:r>
              <a:rPr sz="2600" spc="9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possible</a:t>
            </a:r>
            <a:r>
              <a:rPr sz="2600" spc="7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execution</a:t>
            </a:r>
            <a:r>
              <a:rPr sz="2600" spc="6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paths</a:t>
            </a:r>
            <a:r>
              <a:rPr sz="2600" spc="6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exist</a:t>
            </a:r>
            <a:r>
              <a:rPr sz="2600" spc="9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based</a:t>
            </a:r>
            <a:r>
              <a:rPr sz="2600" spc="7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600" spc="50" dirty="0">
                <a:solidFill>
                  <a:srgbClr val="FF1C05"/>
                </a:solidFill>
                <a:latin typeface="Cambria"/>
                <a:cs typeface="Cambria"/>
              </a:rPr>
              <a:t>on</a:t>
            </a:r>
            <a:r>
              <a:rPr sz="2600" spc="7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user</a:t>
            </a:r>
            <a:r>
              <a:rPr sz="2600" spc="9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or</a:t>
            </a:r>
            <a:r>
              <a:rPr sz="2600" spc="7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600" spc="-10" dirty="0">
                <a:solidFill>
                  <a:srgbClr val="FF1C05"/>
                </a:solidFill>
                <a:latin typeface="Cambria"/>
                <a:cs typeface="Cambria"/>
              </a:rPr>
              <a:t>system actions</a:t>
            </a:r>
            <a:r>
              <a:rPr sz="2600" spc="-10" dirty="0">
                <a:latin typeface="Cambria"/>
                <a:cs typeface="Cambria"/>
              </a:rPr>
              <a:t>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600">
              <a:latin typeface="Cambria"/>
              <a:cs typeface="Cambria"/>
            </a:endParaRPr>
          </a:p>
          <a:p>
            <a:pPr marL="274320" indent="-265430">
              <a:lnSpc>
                <a:spcPct val="100000"/>
              </a:lnSpc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b="1" dirty="0">
                <a:latin typeface="Times New Roman"/>
                <a:cs typeface="Times New Roman"/>
              </a:rPr>
              <a:t>Characteristics</a:t>
            </a:r>
            <a:r>
              <a:rPr sz="2600" b="1" spc="180" dirty="0">
                <a:latin typeface="Times New Roman"/>
                <a:cs typeface="Times New Roman"/>
              </a:rPr>
              <a:t> </a:t>
            </a:r>
            <a:r>
              <a:rPr sz="2600" b="1" spc="130" dirty="0">
                <a:latin typeface="Times New Roman"/>
                <a:cs typeface="Times New Roman"/>
              </a:rPr>
              <a:t>of</a:t>
            </a:r>
            <a:r>
              <a:rPr sz="2600" b="1" spc="180" dirty="0">
                <a:latin typeface="Times New Roman"/>
                <a:cs typeface="Times New Roman"/>
              </a:rPr>
              <a:t> </a:t>
            </a:r>
            <a:r>
              <a:rPr sz="2600" b="1" spc="45" dirty="0">
                <a:latin typeface="Times New Roman"/>
                <a:cs typeface="Times New Roman"/>
              </a:rPr>
              <a:t>Transaction</a:t>
            </a:r>
            <a:r>
              <a:rPr sz="2600" b="1" spc="114" dirty="0">
                <a:latin typeface="Times New Roman"/>
                <a:cs typeface="Times New Roman"/>
              </a:rPr>
              <a:t> </a:t>
            </a:r>
            <a:r>
              <a:rPr sz="2600" b="1" spc="80" dirty="0">
                <a:latin typeface="Times New Roman"/>
                <a:cs typeface="Times New Roman"/>
              </a:rPr>
              <a:t>Flow</a:t>
            </a:r>
            <a:endParaRPr sz="26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1535"/>
              </a:spcBef>
              <a:buSzPct val="95348"/>
              <a:buFont typeface="Wingdings"/>
              <a:buChar char=""/>
              <a:tabLst>
                <a:tab pos="697865" algn="l"/>
              </a:tabLst>
            </a:pPr>
            <a:r>
              <a:rPr sz="2150" spc="50" dirty="0">
                <a:latin typeface="Cambria"/>
                <a:cs typeface="Cambria"/>
              </a:rPr>
              <a:t>System</a:t>
            </a:r>
            <a:r>
              <a:rPr sz="2150" spc="150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behaviour</a:t>
            </a:r>
            <a:r>
              <a:rPr sz="2150" spc="13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is</a:t>
            </a:r>
            <a:r>
              <a:rPr sz="2150" spc="13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triggered</a:t>
            </a:r>
            <a:r>
              <a:rPr sz="2150" spc="190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by</a:t>
            </a:r>
            <a:r>
              <a:rPr sz="2150" spc="190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an</a:t>
            </a:r>
            <a:r>
              <a:rPr sz="2150" spc="14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external</a:t>
            </a:r>
            <a:r>
              <a:rPr sz="2150" spc="18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transaction</a:t>
            </a:r>
            <a:r>
              <a:rPr sz="2150" spc="190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(e.g.,</a:t>
            </a:r>
            <a:r>
              <a:rPr sz="2150" spc="16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user</a:t>
            </a:r>
            <a:r>
              <a:rPr sz="2150" spc="200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input,</a:t>
            </a:r>
            <a:r>
              <a:rPr sz="2150" spc="200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an</a:t>
            </a:r>
            <a:r>
              <a:rPr sz="2150" spc="145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event).</a:t>
            </a:r>
            <a:endParaRPr sz="2150">
              <a:latin typeface="Cambria"/>
              <a:cs typeface="Cambria"/>
            </a:endParaRPr>
          </a:p>
          <a:p>
            <a:pPr marL="697865" lvl="1" indent="-227965">
              <a:lnSpc>
                <a:spcPct val="100000"/>
              </a:lnSpc>
              <a:spcBef>
                <a:spcPts val="1325"/>
              </a:spcBef>
              <a:buSzPct val="95348"/>
              <a:buFont typeface="Wingdings"/>
              <a:buChar char=""/>
              <a:tabLst>
                <a:tab pos="697865" algn="l"/>
              </a:tabLst>
            </a:pPr>
            <a:r>
              <a:rPr sz="2150" dirty="0">
                <a:latin typeface="Cambria"/>
                <a:cs typeface="Cambria"/>
              </a:rPr>
              <a:t>The</a:t>
            </a:r>
            <a:r>
              <a:rPr sz="2150" spc="23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system</a:t>
            </a:r>
            <a:r>
              <a:rPr sz="2150" spc="24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branches</a:t>
            </a:r>
            <a:r>
              <a:rPr sz="2150" spc="22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into</a:t>
            </a:r>
            <a:r>
              <a:rPr sz="2150" spc="24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different</a:t>
            </a:r>
            <a:r>
              <a:rPr sz="2150" spc="25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execution</a:t>
            </a:r>
            <a:r>
              <a:rPr sz="2150" spc="254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paths</a:t>
            </a:r>
            <a:r>
              <a:rPr sz="2150" spc="24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based</a:t>
            </a:r>
            <a:r>
              <a:rPr sz="2150" spc="295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on</a:t>
            </a:r>
            <a:r>
              <a:rPr sz="2150" spc="24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95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type</a:t>
            </a:r>
            <a:r>
              <a:rPr sz="2150" spc="195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of</a:t>
            </a:r>
            <a:r>
              <a:rPr sz="2150" spc="254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transaction.</a:t>
            </a:r>
            <a:endParaRPr sz="2150">
              <a:latin typeface="Cambria"/>
              <a:cs typeface="Cambria"/>
            </a:endParaRPr>
          </a:p>
          <a:p>
            <a:pPr marL="697865" lvl="1" indent="-227965">
              <a:lnSpc>
                <a:spcPct val="100000"/>
              </a:lnSpc>
              <a:spcBef>
                <a:spcPts val="1400"/>
              </a:spcBef>
              <a:buSzPct val="95348"/>
              <a:buFont typeface="Wingdings"/>
              <a:buChar char=""/>
              <a:tabLst>
                <a:tab pos="697865" algn="l"/>
              </a:tabLst>
            </a:pPr>
            <a:r>
              <a:rPr sz="2150" spc="345" dirty="0">
                <a:latin typeface="Cambria"/>
                <a:cs typeface="Cambria"/>
              </a:rPr>
              <a:t>A</a:t>
            </a:r>
            <a:r>
              <a:rPr sz="2150" spc="16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transaction</a:t>
            </a:r>
            <a:r>
              <a:rPr sz="2150" spc="18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centre</a:t>
            </a:r>
            <a:r>
              <a:rPr sz="2150" spc="18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controls</a:t>
            </a:r>
            <a:r>
              <a:rPr sz="2150" spc="155" dirty="0">
                <a:latin typeface="Cambria"/>
                <a:cs typeface="Cambria"/>
              </a:rPr>
              <a:t> </a:t>
            </a:r>
            <a:r>
              <a:rPr sz="2150" spc="45" dirty="0">
                <a:latin typeface="Cambria"/>
                <a:cs typeface="Cambria"/>
              </a:rPr>
              <a:t>decision</a:t>
            </a:r>
            <a:r>
              <a:rPr sz="2150" spc="140" dirty="0">
                <a:latin typeface="Cambria"/>
                <a:cs typeface="Cambria"/>
              </a:rPr>
              <a:t> </a:t>
            </a:r>
            <a:r>
              <a:rPr sz="2150" spc="80" dirty="0">
                <a:latin typeface="Cambria"/>
                <a:cs typeface="Cambria"/>
              </a:rPr>
              <a:t>making</a:t>
            </a:r>
            <a:r>
              <a:rPr sz="2150" spc="195" dirty="0">
                <a:latin typeface="Cambria"/>
                <a:cs typeface="Cambria"/>
              </a:rPr>
              <a:t> </a:t>
            </a:r>
            <a:r>
              <a:rPr sz="2150" spc="85" dirty="0">
                <a:latin typeface="Cambria"/>
                <a:cs typeface="Cambria"/>
              </a:rPr>
              <a:t>and</a:t>
            </a:r>
            <a:r>
              <a:rPr sz="2150" spc="15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routes</a:t>
            </a:r>
            <a:r>
              <a:rPr sz="2150" spc="16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requests</a:t>
            </a:r>
            <a:r>
              <a:rPr sz="2150" spc="170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accordingly.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25" dirty="0"/>
              <a:t>8.</a:t>
            </a:r>
            <a:r>
              <a:rPr sz="3200" spc="225" dirty="0"/>
              <a:t> </a:t>
            </a:r>
            <a:r>
              <a:rPr sz="3200" spc="150" dirty="0"/>
              <a:t>Transaction</a:t>
            </a:r>
            <a:r>
              <a:rPr sz="3200" spc="240" dirty="0"/>
              <a:t> </a:t>
            </a:r>
            <a:r>
              <a:rPr sz="3200" spc="105" dirty="0"/>
              <a:t>Mapping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0242"/>
            <a:ext cx="11236325" cy="5184140"/>
          </a:xfrm>
          <a:prstGeom prst="rect">
            <a:avLst/>
          </a:prstGeom>
        </p:spPr>
        <p:txBody>
          <a:bodyPr vert="horz" wrap="square" lIns="0" tIns="235585" rIns="0" bIns="0" rtlCol="0">
            <a:spAutoFit/>
          </a:bodyPr>
          <a:lstStyle/>
          <a:p>
            <a:pPr marL="274320" indent="-264795">
              <a:lnSpc>
                <a:spcPct val="100000"/>
              </a:lnSpc>
              <a:spcBef>
                <a:spcPts val="185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b="1" spc="105" dirty="0">
                <a:latin typeface="Times New Roman"/>
                <a:cs typeface="Times New Roman"/>
              </a:rPr>
              <a:t>Steps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60" dirty="0">
                <a:latin typeface="Times New Roman"/>
                <a:cs typeface="Times New Roman"/>
              </a:rPr>
              <a:t>in</a:t>
            </a:r>
            <a:r>
              <a:rPr sz="2600" b="1" spc="-40" dirty="0">
                <a:latin typeface="Times New Roman"/>
                <a:cs typeface="Times New Roman"/>
              </a:rPr>
              <a:t> </a:t>
            </a:r>
            <a:r>
              <a:rPr sz="2600" b="1" spc="45" dirty="0">
                <a:latin typeface="Times New Roman"/>
                <a:cs typeface="Times New Roman"/>
              </a:rPr>
              <a:t>Transaction</a:t>
            </a:r>
            <a:r>
              <a:rPr sz="2600" b="1" spc="-40" dirty="0">
                <a:latin typeface="Times New Roman"/>
                <a:cs typeface="Times New Roman"/>
              </a:rPr>
              <a:t> </a:t>
            </a:r>
            <a:r>
              <a:rPr sz="2600" b="1" spc="100" dirty="0">
                <a:latin typeface="Times New Roman"/>
                <a:cs typeface="Times New Roman"/>
              </a:rPr>
              <a:t>Mapping</a:t>
            </a:r>
            <a:endParaRPr sz="2600">
              <a:latin typeface="Times New Roman"/>
              <a:cs typeface="Times New Roman"/>
            </a:endParaRPr>
          </a:p>
          <a:p>
            <a:pPr marL="697865" marR="6985" lvl="1" indent="-227965">
              <a:lnSpc>
                <a:spcPct val="154200"/>
              </a:lnSpc>
              <a:spcBef>
                <a:spcPts val="65"/>
              </a:spcBef>
              <a:buSzPct val="95348"/>
              <a:buFont typeface="Wingdings"/>
              <a:buChar char=""/>
              <a:tabLst>
                <a:tab pos="699135" algn="l"/>
                <a:tab pos="1894839" algn="l"/>
                <a:tab pos="2453640" algn="l"/>
                <a:tab pos="4115435" algn="l"/>
                <a:tab pos="5124450" algn="l"/>
                <a:tab pos="5417820" algn="l"/>
                <a:tab pos="6039485" algn="l"/>
                <a:tab pos="7146290" algn="l"/>
                <a:tab pos="7783195" algn="l"/>
                <a:tab pos="8930005" algn="l"/>
                <a:tab pos="10335895" algn="l"/>
                <a:tab pos="11082655" algn="l"/>
              </a:tabLst>
            </a:pPr>
            <a:r>
              <a:rPr sz="2150" b="1" spc="90" dirty="0">
                <a:latin typeface="Times New Roman"/>
                <a:cs typeface="Times New Roman"/>
              </a:rPr>
              <a:t>Identify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b="1" spc="70" dirty="0">
                <a:latin typeface="Times New Roman"/>
                <a:cs typeface="Times New Roman"/>
              </a:rPr>
              <a:t>the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b="1" spc="45" dirty="0">
                <a:latin typeface="Times New Roman"/>
                <a:cs typeface="Times New Roman"/>
              </a:rPr>
              <a:t>Transaction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b="1" spc="45" dirty="0">
                <a:latin typeface="Times New Roman"/>
                <a:cs typeface="Times New Roman"/>
              </a:rPr>
              <a:t>Center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spc="-50" dirty="0">
                <a:latin typeface="Cambria"/>
                <a:cs typeface="Cambria"/>
              </a:rPr>
              <a:t>–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The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70" dirty="0">
                <a:latin typeface="Cambria"/>
                <a:cs typeface="Cambria"/>
              </a:rPr>
              <a:t>module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that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controls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0" dirty="0">
                <a:latin typeface="Cambria"/>
                <a:cs typeface="Cambria"/>
              </a:rPr>
              <a:t>branching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0" dirty="0">
                <a:latin typeface="Cambria"/>
                <a:cs typeface="Cambria"/>
              </a:rPr>
              <a:t>(e.g.,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50" dirty="0">
                <a:latin typeface="Cambria"/>
                <a:cs typeface="Cambria"/>
              </a:rPr>
              <a:t>a 	</a:t>
            </a:r>
            <a:r>
              <a:rPr sz="2150" dirty="0">
                <a:latin typeface="Cambria"/>
                <a:cs typeface="Cambria"/>
              </a:rPr>
              <a:t>request</a:t>
            </a:r>
            <a:r>
              <a:rPr sz="2150" spc="204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handler).</a:t>
            </a:r>
            <a:endParaRPr sz="2150">
              <a:latin typeface="Cambria"/>
              <a:cs typeface="Cambria"/>
            </a:endParaRPr>
          </a:p>
          <a:p>
            <a:pPr marL="697865" marR="6985" lvl="1" indent="-227965">
              <a:lnSpc>
                <a:spcPct val="151400"/>
              </a:lnSpc>
              <a:spcBef>
                <a:spcPts val="75"/>
              </a:spcBef>
              <a:buSzPct val="95348"/>
              <a:buFont typeface="Wingdings"/>
              <a:buChar char=""/>
              <a:tabLst>
                <a:tab pos="699135" algn="l"/>
                <a:tab pos="1774189" algn="l"/>
                <a:tab pos="2680335" algn="l"/>
                <a:tab pos="4500880" algn="l"/>
                <a:tab pos="4829810" algn="l"/>
                <a:tab pos="6001385" algn="l"/>
                <a:tab pos="7186295" algn="l"/>
                <a:tab pos="8333740" algn="l"/>
                <a:tab pos="9006205" algn="l"/>
                <a:tab pos="10151745" algn="l"/>
              </a:tabLst>
            </a:pPr>
            <a:r>
              <a:rPr sz="2150" b="1" spc="140" dirty="0">
                <a:latin typeface="Times New Roman"/>
                <a:cs typeface="Times New Roman"/>
              </a:rPr>
              <a:t>Define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b="1" spc="55" dirty="0">
                <a:latin typeface="Times New Roman"/>
                <a:cs typeface="Times New Roman"/>
              </a:rPr>
              <a:t>Input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b="1" spc="50" dirty="0">
                <a:latin typeface="Times New Roman"/>
                <a:cs typeface="Times New Roman"/>
              </a:rPr>
              <a:t>Transactions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spc="-50" dirty="0">
                <a:latin typeface="Cambria"/>
                <a:cs typeface="Cambria"/>
              </a:rPr>
              <a:t>–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0" dirty="0">
                <a:latin typeface="Cambria"/>
                <a:cs typeface="Cambria"/>
              </a:rPr>
              <a:t>Identify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external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triggers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that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activate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different 	</a:t>
            </a:r>
            <a:r>
              <a:rPr sz="2150" dirty="0">
                <a:latin typeface="Cambria"/>
                <a:cs typeface="Cambria"/>
              </a:rPr>
              <a:t>processing</a:t>
            </a:r>
            <a:r>
              <a:rPr sz="2150" spc="495" dirty="0">
                <a:latin typeface="Cambria"/>
                <a:cs typeface="Cambria"/>
              </a:rPr>
              <a:t> </a:t>
            </a:r>
            <a:r>
              <a:rPr sz="2150" spc="45" dirty="0">
                <a:latin typeface="Cambria"/>
                <a:cs typeface="Cambria"/>
              </a:rPr>
              <a:t>paths.</a:t>
            </a:r>
            <a:endParaRPr sz="215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1400"/>
              </a:spcBef>
              <a:buSzPct val="95348"/>
              <a:buFont typeface="Wingdings"/>
              <a:buChar char=""/>
              <a:tabLst>
                <a:tab pos="698500" algn="l"/>
              </a:tabLst>
            </a:pPr>
            <a:r>
              <a:rPr sz="2150" b="1" spc="75" dirty="0">
                <a:latin typeface="Times New Roman"/>
                <a:cs typeface="Times New Roman"/>
              </a:rPr>
              <a:t>Establish</a:t>
            </a:r>
            <a:r>
              <a:rPr sz="2150" b="1" spc="150" dirty="0">
                <a:latin typeface="Times New Roman"/>
                <a:cs typeface="Times New Roman"/>
              </a:rPr>
              <a:t> </a:t>
            </a:r>
            <a:r>
              <a:rPr sz="2150" b="1" spc="80" dirty="0">
                <a:latin typeface="Times New Roman"/>
                <a:cs typeface="Times New Roman"/>
              </a:rPr>
              <a:t>Processing</a:t>
            </a:r>
            <a:r>
              <a:rPr sz="2150" b="1" spc="145" dirty="0">
                <a:latin typeface="Times New Roman"/>
                <a:cs typeface="Times New Roman"/>
              </a:rPr>
              <a:t> </a:t>
            </a:r>
            <a:r>
              <a:rPr sz="2150" b="1" spc="70" dirty="0">
                <a:latin typeface="Times New Roman"/>
                <a:cs typeface="Times New Roman"/>
              </a:rPr>
              <a:t>Paths </a:t>
            </a:r>
            <a:r>
              <a:rPr sz="2150" dirty="0">
                <a:latin typeface="Cambria"/>
                <a:cs typeface="Cambria"/>
              </a:rPr>
              <a:t>–</a:t>
            </a:r>
            <a:r>
              <a:rPr sz="2150" spc="165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Each</a:t>
            </a:r>
            <a:r>
              <a:rPr sz="2150" spc="15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transaction</a:t>
            </a:r>
            <a:r>
              <a:rPr sz="2150" spc="185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type</a:t>
            </a:r>
            <a:r>
              <a:rPr sz="2150" spc="13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has</a:t>
            </a:r>
            <a:r>
              <a:rPr sz="2150" spc="14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165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unique</a:t>
            </a:r>
            <a:r>
              <a:rPr sz="2150" spc="19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execution</a:t>
            </a:r>
            <a:r>
              <a:rPr sz="2150" spc="145" dirty="0">
                <a:latin typeface="Cambria"/>
                <a:cs typeface="Cambria"/>
              </a:rPr>
              <a:t> </a:t>
            </a:r>
            <a:r>
              <a:rPr sz="2150" spc="80" dirty="0">
                <a:latin typeface="Cambria"/>
                <a:cs typeface="Cambria"/>
              </a:rPr>
              <a:t>flow.</a:t>
            </a:r>
            <a:endParaRPr sz="2150">
              <a:latin typeface="Cambria"/>
              <a:cs typeface="Cambria"/>
            </a:endParaRPr>
          </a:p>
          <a:p>
            <a:pPr marL="697865" marR="5715" lvl="1" indent="-227965">
              <a:lnSpc>
                <a:spcPct val="154300"/>
              </a:lnSpc>
              <a:buSzPct val="95348"/>
              <a:buFont typeface="Wingdings"/>
              <a:buChar char=""/>
              <a:tabLst>
                <a:tab pos="699135" algn="l"/>
                <a:tab pos="1469390" algn="l"/>
                <a:tab pos="2395220" algn="l"/>
                <a:tab pos="2824480" algn="l"/>
                <a:tab pos="4090670" algn="l"/>
                <a:tab pos="5452110" algn="l"/>
                <a:tab pos="5771515" algn="l"/>
                <a:tab pos="6805930" algn="l"/>
                <a:tab pos="8057515" algn="l"/>
                <a:tab pos="8480425" algn="l"/>
                <a:tab pos="9509760" algn="l"/>
                <a:tab pos="10248265" algn="l"/>
                <a:tab pos="10975975" algn="l"/>
              </a:tabLst>
            </a:pPr>
            <a:r>
              <a:rPr sz="2150" b="1" spc="75" dirty="0">
                <a:latin typeface="Times New Roman"/>
                <a:cs typeface="Times New Roman"/>
              </a:rPr>
              <a:t>Map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b="1" spc="120" dirty="0">
                <a:latin typeface="Times New Roman"/>
                <a:cs typeface="Times New Roman"/>
              </a:rPr>
              <a:t>DFDs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b="1" spc="45" dirty="0">
                <a:latin typeface="Times New Roman"/>
                <a:cs typeface="Times New Roman"/>
              </a:rPr>
              <a:t>to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b="1" spc="-10" dirty="0">
                <a:latin typeface="Times New Roman"/>
                <a:cs typeface="Times New Roman"/>
              </a:rPr>
              <a:t>Program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b="1" spc="-10" dirty="0">
                <a:latin typeface="Times New Roman"/>
                <a:cs typeface="Times New Roman"/>
              </a:rPr>
              <a:t>Structure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spc="-50" dirty="0">
                <a:latin typeface="Cambria"/>
                <a:cs typeface="Cambria"/>
              </a:rPr>
              <a:t>–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95" dirty="0">
                <a:latin typeface="Cambria"/>
                <a:cs typeface="Cambria"/>
              </a:rPr>
              <a:t>Assign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60" dirty="0">
                <a:latin typeface="Cambria"/>
                <a:cs typeface="Cambria"/>
              </a:rPr>
              <a:t>modules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to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5" dirty="0">
                <a:latin typeface="Cambria"/>
                <a:cs typeface="Cambria"/>
              </a:rPr>
              <a:t>handle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each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0" dirty="0">
                <a:latin typeface="Cambria"/>
                <a:cs typeface="Cambria"/>
              </a:rPr>
              <a:t>type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5" dirty="0">
                <a:latin typeface="Cambria"/>
                <a:cs typeface="Cambria"/>
              </a:rPr>
              <a:t>of 	</a:t>
            </a:r>
            <a:r>
              <a:rPr sz="2150" spc="-10" dirty="0">
                <a:latin typeface="Cambria"/>
                <a:cs typeface="Cambria"/>
              </a:rPr>
              <a:t>transaction.</a:t>
            </a:r>
            <a:endParaRPr sz="2150">
              <a:latin typeface="Cambria"/>
              <a:cs typeface="Cambria"/>
            </a:endParaRPr>
          </a:p>
          <a:p>
            <a:pPr marL="697865" marR="5080" lvl="1" indent="-227965">
              <a:lnSpc>
                <a:spcPct val="151400"/>
              </a:lnSpc>
              <a:spcBef>
                <a:spcPts val="75"/>
              </a:spcBef>
              <a:buSzPct val="95348"/>
              <a:buFont typeface="Wingdings"/>
              <a:buChar char=""/>
              <a:tabLst>
                <a:tab pos="699135" algn="l"/>
                <a:tab pos="1744345" algn="l"/>
                <a:tab pos="3086100" algn="l"/>
                <a:tab pos="4862195" algn="l"/>
                <a:tab pos="5193030" algn="l"/>
                <a:tab pos="6544309" algn="l"/>
                <a:tab pos="7092315" algn="l"/>
                <a:tab pos="9090025" algn="l"/>
                <a:tab pos="10748645" algn="l"/>
              </a:tabLst>
            </a:pPr>
            <a:r>
              <a:rPr sz="2150" b="1" spc="105" dirty="0">
                <a:latin typeface="Times New Roman"/>
                <a:cs typeface="Times New Roman"/>
              </a:rPr>
              <a:t>Refine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b="1" spc="80" dirty="0">
                <a:latin typeface="Times New Roman"/>
                <a:cs typeface="Times New Roman"/>
              </a:rPr>
              <a:t>Software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b="1" spc="45" dirty="0">
                <a:latin typeface="Times New Roman"/>
                <a:cs typeface="Times New Roman"/>
              </a:rPr>
              <a:t>Architecture</a:t>
            </a:r>
            <a:r>
              <a:rPr sz="2150" b="1" dirty="0">
                <a:latin typeface="Times New Roman"/>
                <a:cs typeface="Times New Roman"/>
              </a:rPr>
              <a:t>	</a:t>
            </a:r>
            <a:r>
              <a:rPr sz="2150" spc="-50" dirty="0">
                <a:latin typeface="Cambria"/>
                <a:cs typeface="Cambria"/>
              </a:rPr>
              <a:t>–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80" dirty="0">
                <a:latin typeface="Cambria"/>
                <a:cs typeface="Cambria"/>
              </a:rPr>
              <a:t>Optimize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for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5" dirty="0">
                <a:latin typeface="Cambria"/>
                <a:cs typeface="Cambria"/>
              </a:rPr>
              <a:t>independence,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60" dirty="0">
                <a:latin typeface="Cambria"/>
                <a:cs typeface="Cambria"/>
              </a:rPr>
              <a:t>modularity,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65" dirty="0">
                <a:latin typeface="Cambria"/>
                <a:cs typeface="Cambria"/>
              </a:rPr>
              <a:t>and 	</a:t>
            </a:r>
            <a:r>
              <a:rPr sz="2150" spc="-10" dirty="0">
                <a:latin typeface="Cambria"/>
                <a:cs typeface="Cambria"/>
              </a:rPr>
              <a:t>scalability.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25" dirty="0"/>
              <a:t>8.</a:t>
            </a:r>
            <a:r>
              <a:rPr sz="3200" spc="225" dirty="0"/>
              <a:t> </a:t>
            </a:r>
            <a:r>
              <a:rPr sz="3200" spc="150" dirty="0"/>
              <a:t>Transaction</a:t>
            </a:r>
            <a:r>
              <a:rPr sz="3200" spc="240" dirty="0"/>
              <a:t> </a:t>
            </a:r>
            <a:r>
              <a:rPr sz="3200" spc="114" dirty="0"/>
              <a:t>Mapping</a:t>
            </a:r>
            <a:r>
              <a:rPr sz="3200" spc="29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5" dirty="0"/>
              <a:t>Example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288" y="1287478"/>
            <a:ext cx="9886068" cy="5303821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25" dirty="0"/>
              <a:t>8.</a:t>
            </a:r>
            <a:r>
              <a:rPr sz="3200" spc="225" dirty="0"/>
              <a:t> </a:t>
            </a:r>
            <a:r>
              <a:rPr sz="3200" spc="150" dirty="0"/>
              <a:t>Transaction</a:t>
            </a:r>
            <a:r>
              <a:rPr sz="3200" spc="240" dirty="0"/>
              <a:t> </a:t>
            </a:r>
            <a:r>
              <a:rPr sz="3200" spc="114" dirty="0"/>
              <a:t>Mapping</a:t>
            </a:r>
            <a:r>
              <a:rPr sz="3200" spc="29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5" dirty="0"/>
              <a:t>Example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805" y="1285969"/>
            <a:ext cx="6205183" cy="46766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49640" y="1580197"/>
            <a:ext cx="86677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0" dirty="0">
                <a:latin typeface="Times New Roman"/>
                <a:cs typeface="Times New Roman"/>
              </a:rPr>
              <a:t>Center</a:t>
            </a:r>
            <a:r>
              <a:rPr sz="2000" spc="-10" dirty="0">
                <a:latin typeface="Cambria"/>
                <a:cs typeface="Cambria"/>
              </a:rPr>
              <a:t>: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38918" y="1580197"/>
            <a:ext cx="8191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20" dirty="0">
                <a:latin typeface="Cambria"/>
                <a:cs typeface="Cambria"/>
              </a:rPr>
              <a:t>”Menu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77525" y="1580197"/>
            <a:ext cx="10325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latin typeface="Cambria"/>
                <a:cs typeface="Cambria"/>
              </a:rPr>
              <a:t>Selection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31406" y="1580197"/>
            <a:ext cx="1392555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0" dirty="0">
                <a:latin typeface="Times New Roman"/>
                <a:cs typeface="Times New Roman"/>
              </a:rPr>
              <a:t>Transaction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mbria"/>
                <a:cs typeface="Cambria"/>
              </a:rPr>
              <a:t>Process”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31406" y="2495867"/>
            <a:ext cx="4780280" cy="9448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"/>
                <a:cs typeface="Cambria"/>
              </a:rPr>
              <a:t>The</a:t>
            </a:r>
            <a:r>
              <a:rPr sz="2000" spc="225" dirty="0">
                <a:latin typeface="Cambria"/>
                <a:cs typeface="Cambria"/>
              </a:rPr>
              <a:t>   </a:t>
            </a:r>
            <a:r>
              <a:rPr sz="2000" dirty="0">
                <a:latin typeface="Cambria"/>
                <a:cs typeface="Cambria"/>
              </a:rPr>
              <a:t>system</a:t>
            </a:r>
            <a:r>
              <a:rPr sz="2000" spc="220" dirty="0">
                <a:latin typeface="Cambria"/>
                <a:cs typeface="Cambria"/>
              </a:rPr>
              <a:t>   </a:t>
            </a:r>
            <a:r>
              <a:rPr sz="2000" b="1" spc="50" dirty="0">
                <a:latin typeface="Times New Roman"/>
                <a:cs typeface="Times New Roman"/>
              </a:rPr>
              <a:t>branches</a:t>
            </a:r>
            <a:r>
              <a:rPr sz="2000" b="1" spc="170" dirty="0">
                <a:latin typeface="Times New Roman"/>
                <a:cs typeface="Times New Roman"/>
              </a:rPr>
              <a:t>   </a:t>
            </a:r>
            <a:r>
              <a:rPr sz="2000" b="1" spc="85" dirty="0">
                <a:latin typeface="Times New Roman"/>
                <a:cs typeface="Times New Roman"/>
              </a:rPr>
              <a:t>into</a:t>
            </a:r>
            <a:r>
              <a:rPr sz="2000" b="1" spc="170" dirty="0">
                <a:latin typeface="Times New Roman"/>
                <a:cs typeface="Times New Roman"/>
              </a:rPr>
              <a:t>   </a:t>
            </a:r>
            <a:r>
              <a:rPr sz="2000" b="1" spc="55" dirty="0">
                <a:latin typeface="Times New Roman"/>
                <a:cs typeface="Times New Roman"/>
              </a:rPr>
              <a:t>different </a:t>
            </a:r>
            <a:r>
              <a:rPr sz="2000" b="1" dirty="0">
                <a:latin typeface="Times New Roman"/>
                <a:cs typeface="Times New Roman"/>
              </a:rPr>
              <a:t>transactions</a:t>
            </a:r>
            <a:r>
              <a:rPr sz="2000" b="1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"/>
                <a:cs typeface="Cambria"/>
              </a:rPr>
              <a:t>(Withdraw,</a:t>
            </a:r>
            <a:r>
              <a:rPr sz="2000" spc="35" dirty="0">
                <a:latin typeface="Cambria"/>
                <a:cs typeface="Cambria"/>
              </a:rPr>
              <a:t>  </a:t>
            </a:r>
            <a:r>
              <a:rPr sz="2000" spc="45" dirty="0">
                <a:latin typeface="Cambria"/>
                <a:cs typeface="Cambria"/>
              </a:rPr>
              <a:t>Deposit,</a:t>
            </a:r>
            <a:r>
              <a:rPr sz="2000" spc="30" dirty="0">
                <a:latin typeface="Cambria"/>
                <a:cs typeface="Cambria"/>
              </a:rPr>
              <a:t>  </a:t>
            </a:r>
            <a:r>
              <a:rPr sz="2000" spc="-10" dirty="0">
                <a:latin typeface="Cambria"/>
                <a:cs typeface="Cambria"/>
              </a:rPr>
              <a:t>Balance </a:t>
            </a:r>
            <a:r>
              <a:rPr sz="2000" dirty="0">
                <a:latin typeface="Cambria"/>
                <a:cs typeface="Cambria"/>
              </a:rPr>
              <a:t>Inquiry)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based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on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user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selection.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25" dirty="0"/>
              <a:t>8.</a:t>
            </a:r>
            <a:r>
              <a:rPr sz="3200" spc="225" dirty="0"/>
              <a:t> </a:t>
            </a:r>
            <a:r>
              <a:rPr sz="3200" spc="150" dirty="0"/>
              <a:t>Transaction</a:t>
            </a:r>
            <a:r>
              <a:rPr sz="3200" spc="240" dirty="0"/>
              <a:t> </a:t>
            </a:r>
            <a:r>
              <a:rPr sz="3200" spc="114" dirty="0"/>
              <a:t>Mapping</a:t>
            </a:r>
            <a:r>
              <a:rPr sz="3200" spc="29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5" dirty="0"/>
              <a:t>Example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395" y="1671213"/>
            <a:ext cx="5700323" cy="42914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886575" y="2324100"/>
            <a:ext cx="4213225" cy="2133600"/>
            <a:chOff x="6886575" y="2324100"/>
            <a:chExt cx="4213225" cy="2133600"/>
          </a:xfrm>
        </p:grpSpPr>
        <p:sp>
          <p:nvSpPr>
            <p:cNvPr id="5" name="object 5"/>
            <p:cNvSpPr/>
            <p:nvPr/>
          </p:nvSpPr>
          <p:spPr>
            <a:xfrm>
              <a:off x="6896100" y="4114800"/>
              <a:ext cx="4194175" cy="333375"/>
            </a:xfrm>
            <a:custGeom>
              <a:avLst/>
              <a:gdLst/>
              <a:ahLst/>
              <a:cxnLst/>
              <a:rect l="l" t="t" r="r" b="b"/>
              <a:pathLst>
                <a:path w="4194175" h="333375">
                  <a:moveTo>
                    <a:pt x="2095500" y="0"/>
                  </a:moveTo>
                  <a:lnTo>
                    <a:pt x="2095500" y="226822"/>
                  </a:lnTo>
                  <a:lnTo>
                    <a:pt x="4194175" y="226822"/>
                  </a:lnTo>
                  <a:lnTo>
                    <a:pt x="4194175" y="332867"/>
                  </a:lnTo>
                </a:path>
                <a:path w="4194175" h="333375">
                  <a:moveTo>
                    <a:pt x="2095500" y="0"/>
                  </a:moveTo>
                  <a:lnTo>
                    <a:pt x="2095500" y="226822"/>
                  </a:lnTo>
                  <a:lnTo>
                    <a:pt x="2795016" y="226822"/>
                  </a:lnTo>
                  <a:lnTo>
                    <a:pt x="2795016" y="332867"/>
                  </a:lnTo>
                </a:path>
                <a:path w="4194175" h="333375">
                  <a:moveTo>
                    <a:pt x="2099691" y="0"/>
                  </a:moveTo>
                  <a:lnTo>
                    <a:pt x="2099691" y="226822"/>
                  </a:lnTo>
                  <a:lnTo>
                    <a:pt x="1400175" y="226822"/>
                  </a:lnTo>
                  <a:lnTo>
                    <a:pt x="1400175" y="332867"/>
                  </a:lnTo>
                </a:path>
                <a:path w="4194175" h="333375">
                  <a:moveTo>
                    <a:pt x="2098675" y="0"/>
                  </a:moveTo>
                  <a:lnTo>
                    <a:pt x="2098675" y="226822"/>
                  </a:lnTo>
                  <a:lnTo>
                    <a:pt x="0" y="226822"/>
                  </a:lnTo>
                  <a:lnTo>
                    <a:pt x="0" y="332867"/>
                  </a:lnTo>
                </a:path>
              </a:pathLst>
            </a:custGeom>
            <a:ln w="19050">
              <a:solidFill>
                <a:srgbClr val="E7B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99220" y="3057525"/>
              <a:ext cx="0" cy="333375"/>
            </a:xfrm>
            <a:custGeom>
              <a:avLst/>
              <a:gdLst/>
              <a:ahLst/>
              <a:cxnLst/>
              <a:rect l="l" t="t" r="r" b="b"/>
              <a:pathLst>
                <a:path h="333375">
                  <a:moveTo>
                    <a:pt x="0" y="0"/>
                  </a:moveTo>
                  <a:lnTo>
                    <a:pt x="0" y="332866"/>
                  </a:lnTo>
                </a:path>
              </a:pathLst>
            </a:custGeom>
            <a:ln w="19050">
              <a:solidFill>
                <a:srgbClr val="CAA0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0100" y="2333625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1070609" y="0"/>
                  </a:moveTo>
                  <a:lnTo>
                    <a:pt x="72390" y="0"/>
                  </a:lnTo>
                  <a:lnTo>
                    <a:pt x="44201" y="5685"/>
                  </a:lnTo>
                  <a:lnTo>
                    <a:pt x="21193" y="21193"/>
                  </a:lnTo>
                  <a:lnTo>
                    <a:pt x="5685" y="44201"/>
                  </a:lnTo>
                  <a:lnTo>
                    <a:pt x="0" y="72389"/>
                  </a:lnTo>
                  <a:lnTo>
                    <a:pt x="0" y="651510"/>
                  </a:lnTo>
                  <a:lnTo>
                    <a:pt x="5685" y="679698"/>
                  </a:lnTo>
                  <a:lnTo>
                    <a:pt x="21193" y="702706"/>
                  </a:lnTo>
                  <a:lnTo>
                    <a:pt x="44201" y="718214"/>
                  </a:lnTo>
                  <a:lnTo>
                    <a:pt x="72390" y="723900"/>
                  </a:lnTo>
                  <a:lnTo>
                    <a:pt x="1070609" y="723900"/>
                  </a:lnTo>
                  <a:lnTo>
                    <a:pt x="1098798" y="718214"/>
                  </a:lnTo>
                  <a:lnTo>
                    <a:pt x="1121806" y="702706"/>
                  </a:lnTo>
                  <a:lnTo>
                    <a:pt x="1137314" y="679698"/>
                  </a:lnTo>
                  <a:lnTo>
                    <a:pt x="1143000" y="651510"/>
                  </a:lnTo>
                  <a:lnTo>
                    <a:pt x="1143000" y="72389"/>
                  </a:lnTo>
                  <a:lnTo>
                    <a:pt x="1137314" y="44201"/>
                  </a:lnTo>
                  <a:lnTo>
                    <a:pt x="1121806" y="21193"/>
                  </a:lnTo>
                  <a:lnTo>
                    <a:pt x="1098798" y="5685"/>
                  </a:lnTo>
                  <a:lnTo>
                    <a:pt x="107060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20100" y="2333625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0" y="72389"/>
                  </a:moveTo>
                  <a:lnTo>
                    <a:pt x="5685" y="44201"/>
                  </a:lnTo>
                  <a:lnTo>
                    <a:pt x="21193" y="21193"/>
                  </a:lnTo>
                  <a:lnTo>
                    <a:pt x="44201" y="5685"/>
                  </a:lnTo>
                  <a:lnTo>
                    <a:pt x="72390" y="0"/>
                  </a:lnTo>
                  <a:lnTo>
                    <a:pt x="1070609" y="0"/>
                  </a:lnTo>
                  <a:lnTo>
                    <a:pt x="1098798" y="5685"/>
                  </a:lnTo>
                  <a:lnTo>
                    <a:pt x="1121806" y="21193"/>
                  </a:lnTo>
                  <a:lnTo>
                    <a:pt x="1137314" y="44201"/>
                  </a:lnTo>
                  <a:lnTo>
                    <a:pt x="1143000" y="72389"/>
                  </a:lnTo>
                  <a:lnTo>
                    <a:pt x="1143000" y="651510"/>
                  </a:lnTo>
                  <a:lnTo>
                    <a:pt x="1137314" y="679698"/>
                  </a:lnTo>
                  <a:lnTo>
                    <a:pt x="1121806" y="702706"/>
                  </a:lnTo>
                  <a:lnTo>
                    <a:pt x="1098798" y="718214"/>
                  </a:lnTo>
                  <a:lnTo>
                    <a:pt x="1070609" y="723900"/>
                  </a:lnTo>
                  <a:lnTo>
                    <a:pt x="72390" y="723900"/>
                  </a:lnTo>
                  <a:lnTo>
                    <a:pt x="44201" y="718214"/>
                  </a:lnTo>
                  <a:lnTo>
                    <a:pt x="21193" y="702706"/>
                  </a:lnTo>
                  <a:lnTo>
                    <a:pt x="5685" y="679698"/>
                  </a:lnTo>
                  <a:lnTo>
                    <a:pt x="0" y="651510"/>
                  </a:lnTo>
                  <a:lnTo>
                    <a:pt x="0" y="7238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53450" y="2447925"/>
              <a:ext cx="1143000" cy="733425"/>
            </a:xfrm>
            <a:custGeom>
              <a:avLst/>
              <a:gdLst/>
              <a:ahLst/>
              <a:cxnLst/>
              <a:rect l="l" t="t" r="r" b="b"/>
              <a:pathLst>
                <a:path w="1143000" h="733425">
                  <a:moveTo>
                    <a:pt x="1069594" y="0"/>
                  </a:moveTo>
                  <a:lnTo>
                    <a:pt x="73405" y="0"/>
                  </a:lnTo>
                  <a:lnTo>
                    <a:pt x="44844" y="5770"/>
                  </a:lnTo>
                  <a:lnTo>
                    <a:pt x="21510" y="21494"/>
                  </a:lnTo>
                  <a:lnTo>
                    <a:pt x="5772" y="44791"/>
                  </a:lnTo>
                  <a:lnTo>
                    <a:pt x="0" y="73278"/>
                  </a:lnTo>
                  <a:lnTo>
                    <a:pt x="0" y="660019"/>
                  </a:lnTo>
                  <a:lnTo>
                    <a:pt x="5772" y="688580"/>
                  </a:lnTo>
                  <a:lnTo>
                    <a:pt x="21510" y="711914"/>
                  </a:lnTo>
                  <a:lnTo>
                    <a:pt x="44844" y="727652"/>
                  </a:lnTo>
                  <a:lnTo>
                    <a:pt x="73405" y="733425"/>
                  </a:lnTo>
                  <a:lnTo>
                    <a:pt x="1069594" y="733425"/>
                  </a:lnTo>
                  <a:lnTo>
                    <a:pt x="1098155" y="727652"/>
                  </a:lnTo>
                  <a:lnTo>
                    <a:pt x="1121489" y="711914"/>
                  </a:lnTo>
                  <a:lnTo>
                    <a:pt x="1137227" y="688580"/>
                  </a:lnTo>
                  <a:lnTo>
                    <a:pt x="1143000" y="660019"/>
                  </a:lnTo>
                  <a:lnTo>
                    <a:pt x="1143000" y="73278"/>
                  </a:lnTo>
                  <a:lnTo>
                    <a:pt x="1137227" y="44791"/>
                  </a:lnTo>
                  <a:lnTo>
                    <a:pt x="1121489" y="21494"/>
                  </a:lnTo>
                  <a:lnTo>
                    <a:pt x="1098155" y="5770"/>
                  </a:lnTo>
                  <a:lnTo>
                    <a:pt x="106959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53450" y="2447925"/>
              <a:ext cx="1143000" cy="733425"/>
            </a:xfrm>
            <a:custGeom>
              <a:avLst/>
              <a:gdLst/>
              <a:ahLst/>
              <a:cxnLst/>
              <a:rect l="l" t="t" r="r" b="b"/>
              <a:pathLst>
                <a:path w="1143000" h="733425">
                  <a:moveTo>
                    <a:pt x="0" y="73278"/>
                  </a:moveTo>
                  <a:lnTo>
                    <a:pt x="5772" y="44791"/>
                  </a:lnTo>
                  <a:lnTo>
                    <a:pt x="21510" y="21494"/>
                  </a:lnTo>
                  <a:lnTo>
                    <a:pt x="44844" y="5770"/>
                  </a:lnTo>
                  <a:lnTo>
                    <a:pt x="73405" y="0"/>
                  </a:lnTo>
                  <a:lnTo>
                    <a:pt x="1069594" y="0"/>
                  </a:lnTo>
                  <a:lnTo>
                    <a:pt x="1098155" y="5770"/>
                  </a:lnTo>
                  <a:lnTo>
                    <a:pt x="1121489" y="21494"/>
                  </a:lnTo>
                  <a:lnTo>
                    <a:pt x="1137227" y="44791"/>
                  </a:lnTo>
                  <a:lnTo>
                    <a:pt x="1143000" y="73278"/>
                  </a:lnTo>
                  <a:lnTo>
                    <a:pt x="1143000" y="660019"/>
                  </a:lnTo>
                  <a:lnTo>
                    <a:pt x="1137227" y="688580"/>
                  </a:lnTo>
                  <a:lnTo>
                    <a:pt x="1121489" y="711914"/>
                  </a:lnTo>
                  <a:lnTo>
                    <a:pt x="1098155" y="727652"/>
                  </a:lnTo>
                  <a:lnTo>
                    <a:pt x="1069594" y="733425"/>
                  </a:lnTo>
                  <a:lnTo>
                    <a:pt x="73405" y="733425"/>
                  </a:lnTo>
                  <a:lnTo>
                    <a:pt x="44844" y="727652"/>
                  </a:lnTo>
                  <a:lnTo>
                    <a:pt x="21510" y="711914"/>
                  </a:lnTo>
                  <a:lnTo>
                    <a:pt x="5772" y="688580"/>
                  </a:lnTo>
                  <a:lnTo>
                    <a:pt x="0" y="660019"/>
                  </a:lnTo>
                  <a:lnTo>
                    <a:pt x="0" y="73278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782050" y="2716212"/>
            <a:ext cx="69278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Trebuchet MS"/>
                <a:cs typeface="Trebuchet MS"/>
              </a:rPr>
              <a:t>ATM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System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410575" y="3381375"/>
            <a:ext cx="1295400" cy="866775"/>
            <a:chOff x="8410575" y="3381375"/>
            <a:chExt cx="1295400" cy="866775"/>
          </a:xfrm>
        </p:grpSpPr>
        <p:sp>
          <p:nvSpPr>
            <p:cNvPr id="13" name="object 13"/>
            <p:cNvSpPr/>
            <p:nvPr/>
          </p:nvSpPr>
          <p:spPr>
            <a:xfrm>
              <a:off x="8420100" y="3390900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1070609" y="0"/>
                  </a:moveTo>
                  <a:lnTo>
                    <a:pt x="72390" y="0"/>
                  </a:lnTo>
                  <a:lnTo>
                    <a:pt x="44201" y="5685"/>
                  </a:lnTo>
                  <a:lnTo>
                    <a:pt x="21193" y="21193"/>
                  </a:lnTo>
                  <a:lnTo>
                    <a:pt x="5685" y="44201"/>
                  </a:lnTo>
                  <a:lnTo>
                    <a:pt x="0" y="72389"/>
                  </a:lnTo>
                  <a:lnTo>
                    <a:pt x="0" y="651510"/>
                  </a:lnTo>
                  <a:lnTo>
                    <a:pt x="5685" y="679698"/>
                  </a:lnTo>
                  <a:lnTo>
                    <a:pt x="21193" y="702706"/>
                  </a:lnTo>
                  <a:lnTo>
                    <a:pt x="44201" y="718214"/>
                  </a:lnTo>
                  <a:lnTo>
                    <a:pt x="72390" y="723900"/>
                  </a:lnTo>
                  <a:lnTo>
                    <a:pt x="1070609" y="723900"/>
                  </a:lnTo>
                  <a:lnTo>
                    <a:pt x="1098798" y="718214"/>
                  </a:lnTo>
                  <a:lnTo>
                    <a:pt x="1121806" y="702706"/>
                  </a:lnTo>
                  <a:lnTo>
                    <a:pt x="1137314" y="679698"/>
                  </a:lnTo>
                  <a:lnTo>
                    <a:pt x="1143000" y="651510"/>
                  </a:lnTo>
                  <a:lnTo>
                    <a:pt x="1143000" y="72389"/>
                  </a:lnTo>
                  <a:lnTo>
                    <a:pt x="1137314" y="44201"/>
                  </a:lnTo>
                  <a:lnTo>
                    <a:pt x="1121806" y="21193"/>
                  </a:lnTo>
                  <a:lnTo>
                    <a:pt x="1098798" y="5685"/>
                  </a:lnTo>
                  <a:lnTo>
                    <a:pt x="107060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20100" y="3390900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0" y="72389"/>
                  </a:moveTo>
                  <a:lnTo>
                    <a:pt x="5685" y="44201"/>
                  </a:lnTo>
                  <a:lnTo>
                    <a:pt x="21193" y="21193"/>
                  </a:lnTo>
                  <a:lnTo>
                    <a:pt x="44201" y="5685"/>
                  </a:lnTo>
                  <a:lnTo>
                    <a:pt x="72390" y="0"/>
                  </a:lnTo>
                  <a:lnTo>
                    <a:pt x="1070609" y="0"/>
                  </a:lnTo>
                  <a:lnTo>
                    <a:pt x="1098798" y="5685"/>
                  </a:lnTo>
                  <a:lnTo>
                    <a:pt x="1121806" y="21193"/>
                  </a:lnTo>
                  <a:lnTo>
                    <a:pt x="1137314" y="44201"/>
                  </a:lnTo>
                  <a:lnTo>
                    <a:pt x="1143000" y="72389"/>
                  </a:lnTo>
                  <a:lnTo>
                    <a:pt x="1143000" y="651510"/>
                  </a:lnTo>
                  <a:lnTo>
                    <a:pt x="1137314" y="679698"/>
                  </a:lnTo>
                  <a:lnTo>
                    <a:pt x="1121806" y="702706"/>
                  </a:lnTo>
                  <a:lnTo>
                    <a:pt x="1098798" y="718214"/>
                  </a:lnTo>
                  <a:lnTo>
                    <a:pt x="1070609" y="723900"/>
                  </a:lnTo>
                  <a:lnTo>
                    <a:pt x="72390" y="723900"/>
                  </a:lnTo>
                  <a:lnTo>
                    <a:pt x="44201" y="718214"/>
                  </a:lnTo>
                  <a:lnTo>
                    <a:pt x="21193" y="702706"/>
                  </a:lnTo>
                  <a:lnTo>
                    <a:pt x="5685" y="679698"/>
                  </a:lnTo>
                  <a:lnTo>
                    <a:pt x="0" y="651510"/>
                  </a:lnTo>
                  <a:lnTo>
                    <a:pt x="0" y="7238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53450" y="3514725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1070609" y="0"/>
                  </a:moveTo>
                  <a:lnTo>
                    <a:pt x="72390" y="0"/>
                  </a:lnTo>
                  <a:lnTo>
                    <a:pt x="44201" y="5685"/>
                  </a:lnTo>
                  <a:lnTo>
                    <a:pt x="21193" y="21193"/>
                  </a:lnTo>
                  <a:lnTo>
                    <a:pt x="5685" y="44201"/>
                  </a:lnTo>
                  <a:lnTo>
                    <a:pt x="0" y="72389"/>
                  </a:lnTo>
                  <a:lnTo>
                    <a:pt x="0" y="651510"/>
                  </a:lnTo>
                  <a:lnTo>
                    <a:pt x="5685" y="679698"/>
                  </a:lnTo>
                  <a:lnTo>
                    <a:pt x="21193" y="702706"/>
                  </a:lnTo>
                  <a:lnTo>
                    <a:pt x="44201" y="718214"/>
                  </a:lnTo>
                  <a:lnTo>
                    <a:pt x="72390" y="723900"/>
                  </a:lnTo>
                  <a:lnTo>
                    <a:pt x="1070609" y="723900"/>
                  </a:lnTo>
                  <a:lnTo>
                    <a:pt x="1098798" y="718214"/>
                  </a:lnTo>
                  <a:lnTo>
                    <a:pt x="1121806" y="702706"/>
                  </a:lnTo>
                  <a:lnTo>
                    <a:pt x="1137314" y="679698"/>
                  </a:lnTo>
                  <a:lnTo>
                    <a:pt x="1143000" y="651510"/>
                  </a:lnTo>
                  <a:lnTo>
                    <a:pt x="1143000" y="72389"/>
                  </a:lnTo>
                  <a:lnTo>
                    <a:pt x="1137314" y="44201"/>
                  </a:lnTo>
                  <a:lnTo>
                    <a:pt x="1121806" y="21193"/>
                  </a:lnTo>
                  <a:lnTo>
                    <a:pt x="1098798" y="5685"/>
                  </a:lnTo>
                  <a:lnTo>
                    <a:pt x="107060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53450" y="3514725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0" y="72389"/>
                  </a:moveTo>
                  <a:lnTo>
                    <a:pt x="5685" y="44201"/>
                  </a:lnTo>
                  <a:lnTo>
                    <a:pt x="21193" y="21193"/>
                  </a:lnTo>
                  <a:lnTo>
                    <a:pt x="44201" y="5685"/>
                  </a:lnTo>
                  <a:lnTo>
                    <a:pt x="72390" y="0"/>
                  </a:lnTo>
                  <a:lnTo>
                    <a:pt x="1070609" y="0"/>
                  </a:lnTo>
                  <a:lnTo>
                    <a:pt x="1098798" y="5685"/>
                  </a:lnTo>
                  <a:lnTo>
                    <a:pt x="1121806" y="21193"/>
                  </a:lnTo>
                  <a:lnTo>
                    <a:pt x="1137314" y="44201"/>
                  </a:lnTo>
                  <a:lnTo>
                    <a:pt x="1143000" y="72389"/>
                  </a:lnTo>
                  <a:lnTo>
                    <a:pt x="1143000" y="651510"/>
                  </a:lnTo>
                  <a:lnTo>
                    <a:pt x="1137314" y="679698"/>
                  </a:lnTo>
                  <a:lnTo>
                    <a:pt x="1121806" y="702706"/>
                  </a:lnTo>
                  <a:lnTo>
                    <a:pt x="1098798" y="718214"/>
                  </a:lnTo>
                  <a:lnTo>
                    <a:pt x="1070609" y="723900"/>
                  </a:lnTo>
                  <a:lnTo>
                    <a:pt x="72390" y="723900"/>
                  </a:lnTo>
                  <a:lnTo>
                    <a:pt x="44201" y="718214"/>
                  </a:lnTo>
                  <a:lnTo>
                    <a:pt x="21193" y="702706"/>
                  </a:lnTo>
                  <a:lnTo>
                    <a:pt x="5685" y="679698"/>
                  </a:lnTo>
                  <a:lnTo>
                    <a:pt x="0" y="651510"/>
                  </a:lnTo>
                  <a:lnTo>
                    <a:pt x="0" y="72389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690991" y="3568319"/>
            <a:ext cx="873760" cy="594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130"/>
              </a:lnSpc>
              <a:spcBef>
                <a:spcPts val="125"/>
              </a:spcBef>
            </a:pPr>
            <a:r>
              <a:rPr sz="950" dirty="0">
                <a:latin typeface="Trebuchet MS"/>
                <a:cs typeface="Trebuchet MS"/>
              </a:rPr>
              <a:t>Menu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Selection</a:t>
            </a:r>
            <a:endParaRPr sz="950">
              <a:latin typeface="Trebuchet MS"/>
              <a:cs typeface="Trebuchet MS"/>
            </a:endParaRPr>
          </a:p>
          <a:p>
            <a:pPr marL="95250" marR="83820" indent="121285">
              <a:lnSpc>
                <a:spcPct val="95700"/>
              </a:lnSpc>
              <a:spcBef>
                <a:spcPts val="40"/>
              </a:spcBef>
            </a:pPr>
            <a:r>
              <a:rPr sz="950" spc="-10" dirty="0">
                <a:latin typeface="Trebuchet MS"/>
                <a:cs typeface="Trebuchet MS"/>
              </a:rPr>
              <a:t>Process (Transaction Dispatcher)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315075" y="4438650"/>
            <a:ext cx="1285875" cy="866775"/>
            <a:chOff x="6315075" y="4438650"/>
            <a:chExt cx="1285875" cy="866775"/>
          </a:xfrm>
        </p:grpSpPr>
        <p:sp>
          <p:nvSpPr>
            <p:cNvPr id="19" name="object 19"/>
            <p:cNvSpPr/>
            <p:nvPr/>
          </p:nvSpPr>
          <p:spPr>
            <a:xfrm>
              <a:off x="6324600" y="4448175"/>
              <a:ext cx="1143000" cy="733425"/>
            </a:xfrm>
            <a:custGeom>
              <a:avLst/>
              <a:gdLst/>
              <a:ahLst/>
              <a:cxnLst/>
              <a:rect l="l" t="t" r="r" b="b"/>
              <a:pathLst>
                <a:path w="1143000" h="733425">
                  <a:moveTo>
                    <a:pt x="1069594" y="0"/>
                  </a:moveTo>
                  <a:lnTo>
                    <a:pt x="73278" y="0"/>
                  </a:lnTo>
                  <a:lnTo>
                    <a:pt x="44791" y="5770"/>
                  </a:lnTo>
                  <a:lnTo>
                    <a:pt x="21494" y="21494"/>
                  </a:lnTo>
                  <a:lnTo>
                    <a:pt x="5770" y="44791"/>
                  </a:lnTo>
                  <a:lnTo>
                    <a:pt x="0" y="73279"/>
                  </a:lnTo>
                  <a:lnTo>
                    <a:pt x="0" y="660145"/>
                  </a:lnTo>
                  <a:lnTo>
                    <a:pt x="5770" y="688633"/>
                  </a:lnTo>
                  <a:lnTo>
                    <a:pt x="21494" y="711930"/>
                  </a:lnTo>
                  <a:lnTo>
                    <a:pt x="44791" y="727654"/>
                  </a:lnTo>
                  <a:lnTo>
                    <a:pt x="73278" y="733425"/>
                  </a:lnTo>
                  <a:lnTo>
                    <a:pt x="1069594" y="733425"/>
                  </a:lnTo>
                  <a:lnTo>
                    <a:pt x="1098155" y="727654"/>
                  </a:lnTo>
                  <a:lnTo>
                    <a:pt x="1121489" y="711930"/>
                  </a:lnTo>
                  <a:lnTo>
                    <a:pt x="1137227" y="688633"/>
                  </a:lnTo>
                  <a:lnTo>
                    <a:pt x="1143000" y="660145"/>
                  </a:lnTo>
                  <a:lnTo>
                    <a:pt x="1143000" y="73279"/>
                  </a:lnTo>
                  <a:lnTo>
                    <a:pt x="1137227" y="44791"/>
                  </a:lnTo>
                  <a:lnTo>
                    <a:pt x="1121489" y="21494"/>
                  </a:lnTo>
                  <a:lnTo>
                    <a:pt x="1098155" y="5770"/>
                  </a:lnTo>
                  <a:lnTo>
                    <a:pt x="1069594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24600" y="4448175"/>
              <a:ext cx="1143000" cy="733425"/>
            </a:xfrm>
            <a:custGeom>
              <a:avLst/>
              <a:gdLst/>
              <a:ahLst/>
              <a:cxnLst/>
              <a:rect l="l" t="t" r="r" b="b"/>
              <a:pathLst>
                <a:path w="1143000" h="733425">
                  <a:moveTo>
                    <a:pt x="0" y="73279"/>
                  </a:moveTo>
                  <a:lnTo>
                    <a:pt x="5770" y="44791"/>
                  </a:lnTo>
                  <a:lnTo>
                    <a:pt x="21494" y="21494"/>
                  </a:lnTo>
                  <a:lnTo>
                    <a:pt x="44791" y="5770"/>
                  </a:lnTo>
                  <a:lnTo>
                    <a:pt x="73278" y="0"/>
                  </a:lnTo>
                  <a:lnTo>
                    <a:pt x="1069594" y="0"/>
                  </a:lnTo>
                  <a:lnTo>
                    <a:pt x="1098155" y="5770"/>
                  </a:lnTo>
                  <a:lnTo>
                    <a:pt x="1121489" y="21494"/>
                  </a:lnTo>
                  <a:lnTo>
                    <a:pt x="1137227" y="44791"/>
                  </a:lnTo>
                  <a:lnTo>
                    <a:pt x="1143000" y="73279"/>
                  </a:lnTo>
                  <a:lnTo>
                    <a:pt x="1143000" y="660145"/>
                  </a:lnTo>
                  <a:lnTo>
                    <a:pt x="1137227" y="688633"/>
                  </a:lnTo>
                  <a:lnTo>
                    <a:pt x="1121489" y="711930"/>
                  </a:lnTo>
                  <a:lnTo>
                    <a:pt x="1098155" y="727654"/>
                  </a:lnTo>
                  <a:lnTo>
                    <a:pt x="1069594" y="733425"/>
                  </a:lnTo>
                  <a:lnTo>
                    <a:pt x="73278" y="733425"/>
                  </a:lnTo>
                  <a:lnTo>
                    <a:pt x="44791" y="727654"/>
                  </a:lnTo>
                  <a:lnTo>
                    <a:pt x="21494" y="711930"/>
                  </a:lnTo>
                  <a:lnTo>
                    <a:pt x="5770" y="688633"/>
                  </a:lnTo>
                  <a:lnTo>
                    <a:pt x="0" y="660145"/>
                  </a:lnTo>
                  <a:lnTo>
                    <a:pt x="0" y="7327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48425" y="4572000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1070609" y="0"/>
                  </a:moveTo>
                  <a:lnTo>
                    <a:pt x="72390" y="0"/>
                  </a:lnTo>
                  <a:lnTo>
                    <a:pt x="44201" y="5685"/>
                  </a:lnTo>
                  <a:lnTo>
                    <a:pt x="21193" y="21193"/>
                  </a:lnTo>
                  <a:lnTo>
                    <a:pt x="5685" y="44201"/>
                  </a:lnTo>
                  <a:lnTo>
                    <a:pt x="0" y="72389"/>
                  </a:lnTo>
                  <a:lnTo>
                    <a:pt x="0" y="651510"/>
                  </a:lnTo>
                  <a:lnTo>
                    <a:pt x="5685" y="679698"/>
                  </a:lnTo>
                  <a:lnTo>
                    <a:pt x="21193" y="702706"/>
                  </a:lnTo>
                  <a:lnTo>
                    <a:pt x="44201" y="718214"/>
                  </a:lnTo>
                  <a:lnTo>
                    <a:pt x="72390" y="723900"/>
                  </a:lnTo>
                  <a:lnTo>
                    <a:pt x="1070609" y="723900"/>
                  </a:lnTo>
                  <a:lnTo>
                    <a:pt x="1098798" y="718214"/>
                  </a:lnTo>
                  <a:lnTo>
                    <a:pt x="1121806" y="702706"/>
                  </a:lnTo>
                  <a:lnTo>
                    <a:pt x="1137314" y="679698"/>
                  </a:lnTo>
                  <a:lnTo>
                    <a:pt x="1143000" y="651510"/>
                  </a:lnTo>
                  <a:lnTo>
                    <a:pt x="1143000" y="72389"/>
                  </a:lnTo>
                  <a:lnTo>
                    <a:pt x="1137314" y="44201"/>
                  </a:lnTo>
                  <a:lnTo>
                    <a:pt x="1121806" y="21193"/>
                  </a:lnTo>
                  <a:lnTo>
                    <a:pt x="1098798" y="5685"/>
                  </a:lnTo>
                  <a:lnTo>
                    <a:pt x="107060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48425" y="4572000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0" y="72389"/>
                  </a:moveTo>
                  <a:lnTo>
                    <a:pt x="5685" y="44201"/>
                  </a:lnTo>
                  <a:lnTo>
                    <a:pt x="21193" y="21193"/>
                  </a:lnTo>
                  <a:lnTo>
                    <a:pt x="44201" y="5685"/>
                  </a:lnTo>
                  <a:lnTo>
                    <a:pt x="72390" y="0"/>
                  </a:lnTo>
                  <a:lnTo>
                    <a:pt x="1070609" y="0"/>
                  </a:lnTo>
                  <a:lnTo>
                    <a:pt x="1098798" y="5685"/>
                  </a:lnTo>
                  <a:lnTo>
                    <a:pt x="1121806" y="21193"/>
                  </a:lnTo>
                  <a:lnTo>
                    <a:pt x="1137314" y="44201"/>
                  </a:lnTo>
                  <a:lnTo>
                    <a:pt x="1143000" y="72389"/>
                  </a:lnTo>
                  <a:lnTo>
                    <a:pt x="1143000" y="651510"/>
                  </a:lnTo>
                  <a:lnTo>
                    <a:pt x="1137314" y="679698"/>
                  </a:lnTo>
                  <a:lnTo>
                    <a:pt x="1121806" y="702706"/>
                  </a:lnTo>
                  <a:lnTo>
                    <a:pt x="1098798" y="718214"/>
                  </a:lnTo>
                  <a:lnTo>
                    <a:pt x="1070609" y="723900"/>
                  </a:lnTo>
                  <a:lnTo>
                    <a:pt x="72390" y="723900"/>
                  </a:lnTo>
                  <a:lnTo>
                    <a:pt x="44201" y="718214"/>
                  </a:lnTo>
                  <a:lnTo>
                    <a:pt x="21193" y="702706"/>
                  </a:lnTo>
                  <a:lnTo>
                    <a:pt x="5685" y="679698"/>
                  </a:lnTo>
                  <a:lnTo>
                    <a:pt x="0" y="651510"/>
                  </a:lnTo>
                  <a:lnTo>
                    <a:pt x="0" y="72389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91883" y="4768786"/>
            <a:ext cx="677545" cy="31813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99695" marR="5080" indent="-87630">
              <a:lnSpc>
                <a:spcPts val="1130"/>
              </a:lnSpc>
              <a:spcBef>
                <a:spcPts val="170"/>
              </a:spcBef>
            </a:pPr>
            <a:r>
              <a:rPr sz="950" spc="-10" dirty="0">
                <a:latin typeface="Trebuchet MS"/>
                <a:cs typeface="Trebuchet MS"/>
              </a:rPr>
              <a:t>Transaction Modules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715250" y="4438650"/>
            <a:ext cx="1285875" cy="866775"/>
            <a:chOff x="7715250" y="4438650"/>
            <a:chExt cx="1285875" cy="866775"/>
          </a:xfrm>
        </p:grpSpPr>
        <p:sp>
          <p:nvSpPr>
            <p:cNvPr id="25" name="object 25"/>
            <p:cNvSpPr/>
            <p:nvPr/>
          </p:nvSpPr>
          <p:spPr>
            <a:xfrm>
              <a:off x="7724775" y="4448175"/>
              <a:ext cx="1143000" cy="733425"/>
            </a:xfrm>
            <a:custGeom>
              <a:avLst/>
              <a:gdLst/>
              <a:ahLst/>
              <a:cxnLst/>
              <a:rect l="l" t="t" r="r" b="b"/>
              <a:pathLst>
                <a:path w="1143000" h="733425">
                  <a:moveTo>
                    <a:pt x="1069594" y="0"/>
                  </a:moveTo>
                  <a:lnTo>
                    <a:pt x="73405" y="0"/>
                  </a:lnTo>
                  <a:lnTo>
                    <a:pt x="44844" y="5770"/>
                  </a:lnTo>
                  <a:lnTo>
                    <a:pt x="21510" y="21494"/>
                  </a:lnTo>
                  <a:lnTo>
                    <a:pt x="5772" y="44791"/>
                  </a:lnTo>
                  <a:lnTo>
                    <a:pt x="0" y="73279"/>
                  </a:lnTo>
                  <a:lnTo>
                    <a:pt x="0" y="660145"/>
                  </a:lnTo>
                  <a:lnTo>
                    <a:pt x="5772" y="688633"/>
                  </a:lnTo>
                  <a:lnTo>
                    <a:pt x="21510" y="711930"/>
                  </a:lnTo>
                  <a:lnTo>
                    <a:pt x="44844" y="727654"/>
                  </a:lnTo>
                  <a:lnTo>
                    <a:pt x="73405" y="733425"/>
                  </a:lnTo>
                  <a:lnTo>
                    <a:pt x="1069594" y="733425"/>
                  </a:lnTo>
                  <a:lnTo>
                    <a:pt x="1098155" y="727654"/>
                  </a:lnTo>
                  <a:lnTo>
                    <a:pt x="1121489" y="711930"/>
                  </a:lnTo>
                  <a:lnTo>
                    <a:pt x="1137227" y="688633"/>
                  </a:lnTo>
                  <a:lnTo>
                    <a:pt x="1143000" y="660145"/>
                  </a:lnTo>
                  <a:lnTo>
                    <a:pt x="1143000" y="73279"/>
                  </a:lnTo>
                  <a:lnTo>
                    <a:pt x="1137227" y="44791"/>
                  </a:lnTo>
                  <a:lnTo>
                    <a:pt x="1121489" y="21494"/>
                  </a:lnTo>
                  <a:lnTo>
                    <a:pt x="1098155" y="5770"/>
                  </a:lnTo>
                  <a:lnTo>
                    <a:pt x="1069594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24775" y="4448175"/>
              <a:ext cx="1143000" cy="733425"/>
            </a:xfrm>
            <a:custGeom>
              <a:avLst/>
              <a:gdLst/>
              <a:ahLst/>
              <a:cxnLst/>
              <a:rect l="l" t="t" r="r" b="b"/>
              <a:pathLst>
                <a:path w="1143000" h="733425">
                  <a:moveTo>
                    <a:pt x="0" y="73279"/>
                  </a:moveTo>
                  <a:lnTo>
                    <a:pt x="5772" y="44791"/>
                  </a:lnTo>
                  <a:lnTo>
                    <a:pt x="21510" y="21494"/>
                  </a:lnTo>
                  <a:lnTo>
                    <a:pt x="44844" y="5770"/>
                  </a:lnTo>
                  <a:lnTo>
                    <a:pt x="73405" y="0"/>
                  </a:lnTo>
                  <a:lnTo>
                    <a:pt x="1069594" y="0"/>
                  </a:lnTo>
                  <a:lnTo>
                    <a:pt x="1098155" y="5770"/>
                  </a:lnTo>
                  <a:lnTo>
                    <a:pt x="1121489" y="21494"/>
                  </a:lnTo>
                  <a:lnTo>
                    <a:pt x="1137227" y="44791"/>
                  </a:lnTo>
                  <a:lnTo>
                    <a:pt x="1143000" y="73279"/>
                  </a:lnTo>
                  <a:lnTo>
                    <a:pt x="1143000" y="660145"/>
                  </a:lnTo>
                  <a:lnTo>
                    <a:pt x="1137227" y="688633"/>
                  </a:lnTo>
                  <a:lnTo>
                    <a:pt x="1121489" y="711930"/>
                  </a:lnTo>
                  <a:lnTo>
                    <a:pt x="1098155" y="727654"/>
                  </a:lnTo>
                  <a:lnTo>
                    <a:pt x="1069594" y="733425"/>
                  </a:lnTo>
                  <a:lnTo>
                    <a:pt x="73405" y="733425"/>
                  </a:lnTo>
                  <a:lnTo>
                    <a:pt x="44844" y="727654"/>
                  </a:lnTo>
                  <a:lnTo>
                    <a:pt x="21510" y="711930"/>
                  </a:lnTo>
                  <a:lnTo>
                    <a:pt x="5772" y="688633"/>
                  </a:lnTo>
                  <a:lnTo>
                    <a:pt x="0" y="660145"/>
                  </a:lnTo>
                  <a:lnTo>
                    <a:pt x="0" y="7327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848600" y="4572000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1070609" y="0"/>
                  </a:moveTo>
                  <a:lnTo>
                    <a:pt x="72390" y="0"/>
                  </a:lnTo>
                  <a:lnTo>
                    <a:pt x="44201" y="5685"/>
                  </a:lnTo>
                  <a:lnTo>
                    <a:pt x="21193" y="21193"/>
                  </a:lnTo>
                  <a:lnTo>
                    <a:pt x="5685" y="44201"/>
                  </a:lnTo>
                  <a:lnTo>
                    <a:pt x="0" y="72389"/>
                  </a:lnTo>
                  <a:lnTo>
                    <a:pt x="0" y="651510"/>
                  </a:lnTo>
                  <a:lnTo>
                    <a:pt x="5685" y="679698"/>
                  </a:lnTo>
                  <a:lnTo>
                    <a:pt x="21193" y="702706"/>
                  </a:lnTo>
                  <a:lnTo>
                    <a:pt x="44201" y="718214"/>
                  </a:lnTo>
                  <a:lnTo>
                    <a:pt x="72390" y="723900"/>
                  </a:lnTo>
                  <a:lnTo>
                    <a:pt x="1070609" y="723900"/>
                  </a:lnTo>
                  <a:lnTo>
                    <a:pt x="1098798" y="718214"/>
                  </a:lnTo>
                  <a:lnTo>
                    <a:pt x="1121806" y="702706"/>
                  </a:lnTo>
                  <a:lnTo>
                    <a:pt x="1137314" y="679698"/>
                  </a:lnTo>
                  <a:lnTo>
                    <a:pt x="1143000" y="651510"/>
                  </a:lnTo>
                  <a:lnTo>
                    <a:pt x="1143000" y="72389"/>
                  </a:lnTo>
                  <a:lnTo>
                    <a:pt x="1137314" y="44201"/>
                  </a:lnTo>
                  <a:lnTo>
                    <a:pt x="1121806" y="21193"/>
                  </a:lnTo>
                  <a:lnTo>
                    <a:pt x="1098798" y="5685"/>
                  </a:lnTo>
                  <a:lnTo>
                    <a:pt x="107060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848600" y="4572000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0" y="72389"/>
                  </a:moveTo>
                  <a:lnTo>
                    <a:pt x="5685" y="44201"/>
                  </a:lnTo>
                  <a:lnTo>
                    <a:pt x="21193" y="21193"/>
                  </a:lnTo>
                  <a:lnTo>
                    <a:pt x="44201" y="5685"/>
                  </a:lnTo>
                  <a:lnTo>
                    <a:pt x="72390" y="0"/>
                  </a:lnTo>
                  <a:lnTo>
                    <a:pt x="1070609" y="0"/>
                  </a:lnTo>
                  <a:lnTo>
                    <a:pt x="1098798" y="5685"/>
                  </a:lnTo>
                  <a:lnTo>
                    <a:pt x="1121806" y="21193"/>
                  </a:lnTo>
                  <a:lnTo>
                    <a:pt x="1137314" y="44201"/>
                  </a:lnTo>
                  <a:lnTo>
                    <a:pt x="1143000" y="72389"/>
                  </a:lnTo>
                  <a:lnTo>
                    <a:pt x="1143000" y="651510"/>
                  </a:lnTo>
                  <a:lnTo>
                    <a:pt x="1137314" y="679698"/>
                  </a:lnTo>
                  <a:lnTo>
                    <a:pt x="1121806" y="702706"/>
                  </a:lnTo>
                  <a:lnTo>
                    <a:pt x="1098798" y="718214"/>
                  </a:lnTo>
                  <a:lnTo>
                    <a:pt x="1070609" y="723900"/>
                  </a:lnTo>
                  <a:lnTo>
                    <a:pt x="72390" y="723900"/>
                  </a:lnTo>
                  <a:lnTo>
                    <a:pt x="44201" y="718214"/>
                  </a:lnTo>
                  <a:lnTo>
                    <a:pt x="21193" y="702706"/>
                  </a:lnTo>
                  <a:lnTo>
                    <a:pt x="5685" y="679698"/>
                  </a:lnTo>
                  <a:lnTo>
                    <a:pt x="0" y="651510"/>
                  </a:lnTo>
                  <a:lnTo>
                    <a:pt x="0" y="72389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152765" y="4838636"/>
            <a:ext cx="55308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Trebuchet MS"/>
                <a:cs typeface="Trebuchet MS"/>
              </a:rPr>
              <a:t>Withdraw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115425" y="4438650"/>
            <a:ext cx="1285875" cy="866775"/>
            <a:chOff x="9115425" y="4438650"/>
            <a:chExt cx="1285875" cy="866775"/>
          </a:xfrm>
        </p:grpSpPr>
        <p:sp>
          <p:nvSpPr>
            <p:cNvPr id="31" name="object 31"/>
            <p:cNvSpPr/>
            <p:nvPr/>
          </p:nvSpPr>
          <p:spPr>
            <a:xfrm>
              <a:off x="9124950" y="4448175"/>
              <a:ext cx="1143000" cy="733425"/>
            </a:xfrm>
            <a:custGeom>
              <a:avLst/>
              <a:gdLst/>
              <a:ahLst/>
              <a:cxnLst/>
              <a:rect l="l" t="t" r="r" b="b"/>
              <a:pathLst>
                <a:path w="1143000" h="733425">
                  <a:moveTo>
                    <a:pt x="1069594" y="0"/>
                  </a:moveTo>
                  <a:lnTo>
                    <a:pt x="73405" y="0"/>
                  </a:lnTo>
                  <a:lnTo>
                    <a:pt x="44844" y="5770"/>
                  </a:lnTo>
                  <a:lnTo>
                    <a:pt x="21510" y="21494"/>
                  </a:lnTo>
                  <a:lnTo>
                    <a:pt x="5772" y="44791"/>
                  </a:lnTo>
                  <a:lnTo>
                    <a:pt x="0" y="73279"/>
                  </a:lnTo>
                  <a:lnTo>
                    <a:pt x="0" y="660145"/>
                  </a:lnTo>
                  <a:lnTo>
                    <a:pt x="5772" y="688633"/>
                  </a:lnTo>
                  <a:lnTo>
                    <a:pt x="21510" y="711930"/>
                  </a:lnTo>
                  <a:lnTo>
                    <a:pt x="44844" y="727654"/>
                  </a:lnTo>
                  <a:lnTo>
                    <a:pt x="73405" y="733425"/>
                  </a:lnTo>
                  <a:lnTo>
                    <a:pt x="1069594" y="733425"/>
                  </a:lnTo>
                  <a:lnTo>
                    <a:pt x="1098155" y="727654"/>
                  </a:lnTo>
                  <a:lnTo>
                    <a:pt x="1121489" y="711930"/>
                  </a:lnTo>
                  <a:lnTo>
                    <a:pt x="1137227" y="688633"/>
                  </a:lnTo>
                  <a:lnTo>
                    <a:pt x="1143000" y="660145"/>
                  </a:lnTo>
                  <a:lnTo>
                    <a:pt x="1143000" y="73279"/>
                  </a:lnTo>
                  <a:lnTo>
                    <a:pt x="1137227" y="44791"/>
                  </a:lnTo>
                  <a:lnTo>
                    <a:pt x="1121489" y="21494"/>
                  </a:lnTo>
                  <a:lnTo>
                    <a:pt x="1098155" y="5770"/>
                  </a:lnTo>
                  <a:lnTo>
                    <a:pt x="1069594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124950" y="4448175"/>
              <a:ext cx="1143000" cy="733425"/>
            </a:xfrm>
            <a:custGeom>
              <a:avLst/>
              <a:gdLst/>
              <a:ahLst/>
              <a:cxnLst/>
              <a:rect l="l" t="t" r="r" b="b"/>
              <a:pathLst>
                <a:path w="1143000" h="733425">
                  <a:moveTo>
                    <a:pt x="0" y="73279"/>
                  </a:moveTo>
                  <a:lnTo>
                    <a:pt x="5772" y="44791"/>
                  </a:lnTo>
                  <a:lnTo>
                    <a:pt x="21510" y="21494"/>
                  </a:lnTo>
                  <a:lnTo>
                    <a:pt x="44844" y="5770"/>
                  </a:lnTo>
                  <a:lnTo>
                    <a:pt x="73405" y="0"/>
                  </a:lnTo>
                  <a:lnTo>
                    <a:pt x="1069594" y="0"/>
                  </a:lnTo>
                  <a:lnTo>
                    <a:pt x="1098155" y="5770"/>
                  </a:lnTo>
                  <a:lnTo>
                    <a:pt x="1121489" y="21494"/>
                  </a:lnTo>
                  <a:lnTo>
                    <a:pt x="1137227" y="44791"/>
                  </a:lnTo>
                  <a:lnTo>
                    <a:pt x="1143000" y="73279"/>
                  </a:lnTo>
                  <a:lnTo>
                    <a:pt x="1143000" y="660145"/>
                  </a:lnTo>
                  <a:lnTo>
                    <a:pt x="1137227" y="688633"/>
                  </a:lnTo>
                  <a:lnTo>
                    <a:pt x="1121489" y="711930"/>
                  </a:lnTo>
                  <a:lnTo>
                    <a:pt x="1098155" y="727654"/>
                  </a:lnTo>
                  <a:lnTo>
                    <a:pt x="1069594" y="733425"/>
                  </a:lnTo>
                  <a:lnTo>
                    <a:pt x="73405" y="733425"/>
                  </a:lnTo>
                  <a:lnTo>
                    <a:pt x="44844" y="727654"/>
                  </a:lnTo>
                  <a:lnTo>
                    <a:pt x="21510" y="711930"/>
                  </a:lnTo>
                  <a:lnTo>
                    <a:pt x="5772" y="688633"/>
                  </a:lnTo>
                  <a:lnTo>
                    <a:pt x="0" y="660145"/>
                  </a:lnTo>
                  <a:lnTo>
                    <a:pt x="0" y="7327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248775" y="4572000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1070609" y="0"/>
                  </a:moveTo>
                  <a:lnTo>
                    <a:pt x="72390" y="0"/>
                  </a:lnTo>
                  <a:lnTo>
                    <a:pt x="44201" y="5685"/>
                  </a:lnTo>
                  <a:lnTo>
                    <a:pt x="21193" y="21193"/>
                  </a:lnTo>
                  <a:lnTo>
                    <a:pt x="5685" y="44201"/>
                  </a:lnTo>
                  <a:lnTo>
                    <a:pt x="0" y="72389"/>
                  </a:lnTo>
                  <a:lnTo>
                    <a:pt x="0" y="651510"/>
                  </a:lnTo>
                  <a:lnTo>
                    <a:pt x="5685" y="679698"/>
                  </a:lnTo>
                  <a:lnTo>
                    <a:pt x="21193" y="702706"/>
                  </a:lnTo>
                  <a:lnTo>
                    <a:pt x="44201" y="718214"/>
                  </a:lnTo>
                  <a:lnTo>
                    <a:pt x="72390" y="723900"/>
                  </a:lnTo>
                  <a:lnTo>
                    <a:pt x="1070609" y="723900"/>
                  </a:lnTo>
                  <a:lnTo>
                    <a:pt x="1098798" y="718214"/>
                  </a:lnTo>
                  <a:lnTo>
                    <a:pt x="1121806" y="702706"/>
                  </a:lnTo>
                  <a:lnTo>
                    <a:pt x="1137314" y="679698"/>
                  </a:lnTo>
                  <a:lnTo>
                    <a:pt x="1143000" y="651510"/>
                  </a:lnTo>
                  <a:lnTo>
                    <a:pt x="1143000" y="72389"/>
                  </a:lnTo>
                  <a:lnTo>
                    <a:pt x="1137314" y="44201"/>
                  </a:lnTo>
                  <a:lnTo>
                    <a:pt x="1121806" y="21193"/>
                  </a:lnTo>
                  <a:lnTo>
                    <a:pt x="1098798" y="5685"/>
                  </a:lnTo>
                  <a:lnTo>
                    <a:pt x="107060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248775" y="4572000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0" y="72389"/>
                  </a:moveTo>
                  <a:lnTo>
                    <a:pt x="5685" y="44201"/>
                  </a:lnTo>
                  <a:lnTo>
                    <a:pt x="21193" y="21193"/>
                  </a:lnTo>
                  <a:lnTo>
                    <a:pt x="44201" y="5685"/>
                  </a:lnTo>
                  <a:lnTo>
                    <a:pt x="72390" y="0"/>
                  </a:lnTo>
                  <a:lnTo>
                    <a:pt x="1070609" y="0"/>
                  </a:lnTo>
                  <a:lnTo>
                    <a:pt x="1098798" y="5685"/>
                  </a:lnTo>
                  <a:lnTo>
                    <a:pt x="1121806" y="21193"/>
                  </a:lnTo>
                  <a:lnTo>
                    <a:pt x="1137314" y="44201"/>
                  </a:lnTo>
                  <a:lnTo>
                    <a:pt x="1143000" y="72389"/>
                  </a:lnTo>
                  <a:lnTo>
                    <a:pt x="1143000" y="651510"/>
                  </a:lnTo>
                  <a:lnTo>
                    <a:pt x="1137314" y="679698"/>
                  </a:lnTo>
                  <a:lnTo>
                    <a:pt x="1121806" y="702706"/>
                  </a:lnTo>
                  <a:lnTo>
                    <a:pt x="1098798" y="718214"/>
                  </a:lnTo>
                  <a:lnTo>
                    <a:pt x="1070609" y="723900"/>
                  </a:lnTo>
                  <a:lnTo>
                    <a:pt x="72390" y="723900"/>
                  </a:lnTo>
                  <a:lnTo>
                    <a:pt x="44201" y="718214"/>
                  </a:lnTo>
                  <a:lnTo>
                    <a:pt x="21193" y="702706"/>
                  </a:lnTo>
                  <a:lnTo>
                    <a:pt x="5685" y="679698"/>
                  </a:lnTo>
                  <a:lnTo>
                    <a:pt x="0" y="651510"/>
                  </a:lnTo>
                  <a:lnTo>
                    <a:pt x="0" y="72389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9602469" y="4838636"/>
            <a:ext cx="45593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Trebuchet MS"/>
                <a:cs typeface="Trebuchet MS"/>
              </a:rPr>
              <a:t>Deposit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0515600" y="4438650"/>
            <a:ext cx="1285875" cy="866775"/>
            <a:chOff x="10515600" y="4438650"/>
            <a:chExt cx="1285875" cy="866775"/>
          </a:xfrm>
        </p:grpSpPr>
        <p:sp>
          <p:nvSpPr>
            <p:cNvPr id="37" name="object 37"/>
            <p:cNvSpPr/>
            <p:nvPr/>
          </p:nvSpPr>
          <p:spPr>
            <a:xfrm>
              <a:off x="10525125" y="4448175"/>
              <a:ext cx="1143000" cy="733425"/>
            </a:xfrm>
            <a:custGeom>
              <a:avLst/>
              <a:gdLst/>
              <a:ahLst/>
              <a:cxnLst/>
              <a:rect l="l" t="t" r="r" b="b"/>
              <a:pathLst>
                <a:path w="1143000" h="733425">
                  <a:moveTo>
                    <a:pt x="1069594" y="0"/>
                  </a:moveTo>
                  <a:lnTo>
                    <a:pt x="73405" y="0"/>
                  </a:lnTo>
                  <a:lnTo>
                    <a:pt x="44844" y="5770"/>
                  </a:lnTo>
                  <a:lnTo>
                    <a:pt x="21510" y="21494"/>
                  </a:lnTo>
                  <a:lnTo>
                    <a:pt x="5772" y="44791"/>
                  </a:lnTo>
                  <a:lnTo>
                    <a:pt x="0" y="73279"/>
                  </a:lnTo>
                  <a:lnTo>
                    <a:pt x="0" y="660145"/>
                  </a:lnTo>
                  <a:lnTo>
                    <a:pt x="5772" y="688633"/>
                  </a:lnTo>
                  <a:lnTo>
                    <a:pt x="21510" y="711930"/>
                  </a:lnTo>
                  <a:lnTo>
                    <a:pt x="44844" y="727654"/>
                  </a:lnTo>
                  <a:lnTo>
                    <a:pt x="73405" y="733425"/>
                  </a:lnTo>
                  <a:lnTo>
                    <a:pt x="1069594" y="733425"/>
                  </a:lnTo>
                  <a:lnTo>
                    <a:pt x="1098155" y="727654"/>
                  </a:lnTo>
                  <a:lnTo>
                    <a:pt x="1121489" y="711930"/>
                  </a:lnTo>
                  <a:lnTo>
                    <a:pt x="1137227" y="688633"/>
                  </a:lnTo>
                  <a:lnTo>
                    <a:pt x="1143000" y="660145"/>
                  </a:lnTo>
                  <a:lnTo>
                    <a:pt x="1143000" y="73279"/>
                  </a:lnTo>
                  <a:lnTo>
                    <a:pt x="1137227" y="44791"/>
                  </a:lnTo>
                  <a:lnTo>
                    <a:pt x="1121489" y="21494"/>
                  </a:lnTo>
                  <a:lnTo>
                    <a:pt x="1098155" y="5770"/>
                  </a:lnTo>
                  <a:lnTo>
                    <a:pt x="1069594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525125" y="4448175"/>
              <a:ext cx="1143000" cy="733425"/>
            </a:xfrm>
            <a:custGeom>
              <a:avLst/>
              <a:gdLst/>
              <a:ahLst/>
              <a:cxnLst/>
              <a:rect l="l" t="t" r="r" b="b"/>
              <a:pathLst>
                <a:path w="1143000" h="733425">
                  <a:moveTo>
                    <a:pt x="0" y="73279"/>
                  </a:moveTo>
                  <a:lnTo>
                    <a:pt x="5772" y="44791"/>
                  </a:lnTo>
                  <a:lnTo>
                    <a:pt x="21510" y="21494"/>
                  </a:lnTo>
                  <a:lnTo>
                    <a:pt x="44844" y="5770"/>
                  </a:lnTo>
                  <a:lnTo>
                    <a:pt x="73405" y="0"/>
                  </a:lnTo>
                  <a:lnTo>
                    <a:pt x="1069594" y="0"/>
                  </a:lnTo>
                  <a:lnTo>
                    <a:pt x="1098155" y="5770"/>
                  </a:lnTo>
                  <a:lnTo>
                    <a:pt x="1121489" y="21494"/>
                  </a:lnTo>
                  <a:lnTo>
                    <a:pt x="1137227" y="44791"/>
                  </a:lnTo>
                  <a:lnTo>
                    <a:pt x="1143000" y="73279"/>
                  </a:lnTo>
                  <a:lnTo>
                    <a:pt x="1143000" y="660145"/>
                  </a:lnTo>
                  <a:lnTo>
                    <a:pt x="1137227" y="688633"/>
                  </a:lnTo>
                  <a:lnTo>
                    <a:pt x="1121489" y="711930"/>
                  </a:lnTo>
                  <a:lnTo>
                    <a:pt x="1098155" y="727654"/>
                  </a:lnTo>
                  <a:lnTo>
                    <a:pt x="1069594" y="733425"/>
                  </a:lnTo>
                  <a:lnTo>
                    <a:pt x="73405" y="733425"/>
                  </a:lnTo>
                  <a:lnTo>
                    <a:pt x="44844" y="727654"/>
                  </a:lnTo>
                  <a:lnTo>
                    <a:pt x="21510" y="711930"/>
                  </a:lnTo>
                  <a:lnTo>
                    <a:pt x="5772" y="688633"/>
                  </a:lnTo>
                  <a:lnTo>
                    <a:pt x="0" y="660145"/>
                  </a:lnTo>
                  <a:lnTo>
                    <a:pt x="0" y="7327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648950" y="4572000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1070609" y="0"/>
                  </a:moveTo>
                  <a:lnTo>
                    <a:pt x="72390" y="0"/>
                  </a:lnTo>
                  <a:lnTo>
                    <a:pt x="44201" y="5685"/>
                  </a:lnTo>
                  <a:lnTo>
                    <a:pt x="21193" y="21193"/>
                  </a:lnTo>
                  <a:lnTo>
                    <a:pt x="5685" y="44201"/>
                  </a:lnTo>
                  <a:lnTo>
                    <a:pt x="0" y="72389"/>
                  </a:lnTo>
                  <a:lnTo>
                    <a:pt x="0" y="651510"/>
                  </a:lnTo>
                  <a:lnTo>
                    <a:pt x="5685" y="679698"/>
                  </a:lnTo>
                  <a:lnTo>
                    <a:pt x="21193" y="702706"/>
                  </a:lnTo>
                  <a:lnTo>
                    <a:pt x="44201" y="718214"/>
                  </a:lnTo>
                  <a:lnTo>
                    <a:pt x="72390" y="723900"/>
                  </a:lnTo>
                  <a:lnTo>
                    <a:pt x="1070609" y="723900"/>
                  </a:lnTo>
                  <a:lnTo>
                    <a:pt x="1098798" y="718214"/>
                  </a:lnTo>
                  <a:lnTo>
                    <a:pt x="1121806" y="702706"/>
                  </a:lnTo>
                  <a:lnTo>
                    <a:pt x="1137314" y="679698"/>
                  </a:lnTo>
                  <a:lnTo>
                    <a:pt x="1143000" y="651510"/>
                  </a:lnTo>
                  <a:lnTo>
                    <a:pt x="1143000" y="72389"/>
                  </a:lnTo>
                  <a:lnTo>
                    <a:pt x="1137314" y="44201"/>
                  </a:lnTo>
                  <a:lnTo>
                    <a:pt x="1121806" y="21193"/>
                  </a:lnTo>
                  <a:lnTo>
                    <a:pt x="1098798" y="5685"/>
                  </a:lnTo>
                  <a:lnTo>
                    <a:pt x="107060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0648950" y="4572000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0" y="72389"/>
                  </a:moveTo>
                  <a:lnTo>
                    <a:pt x="5685" y="44201"/>
                  </a:lnTo>
                  <a:lnTo>
                    <a:pt x="21193" y="21193"/>
                  </a:lnTo>
                  <a:lnTo>
                    <a:pt x="44201" y="5685"/>
                  </a:lnTo>
                  <a:lnTo>
                    <a:pt x="72390" y="0"/>
                  </a:lnTo>
                  <a:lnTo>
                    <a:pt x="1070609" y="0"/>
                  </a:lnTo>
                  <a:lnTo>
                    <a:pt x="1098798" y="5685"/>
                  </a:lnTo>
                  <a:lnTo>
                    <a:pt x="1121806" y="21193"/>
                  </a:lnTo>
                  <a:lnTo>
                    <a:pt x="1137314" y="44201"/>
                  </a:lnTo>
                  <a:lnTo>
                    <a:pt x="1143000" y="72389"/>
                  </a:lnTo>
                  <a:lnTo>
                    <a:pt x="1143000" y="651510"/>
                  </a:lnTo>
                  <a:lnTo>
                    <a:pt x="1137314" y="679698"/>
                  </a:lnTo>
                  <a:lnTo>
                    <a:pt x="1121806" y="702706"/>
                  </a:lnTo>
                  <a:lnTo>
                    <a:pt x="1098798" y="718214"/>
                  </a:lnTo>
                  <a:lnTo>
                    <a:pt x="1070609" y="723900"/>
                  </a:lnTo>
                  <a:lnTo>
                    <a:pt x="72390" y="723900"/>
                  </a:lnTo>
                  <a:lnTo>
                    <a:pt x="44201" y="718214"/>
                  </a:lnTo>
                  <a:lnTo>
                    <a:pt x="21193" y="702706"/>
                  </a:lnTo>
                  <a:lnTo>
                    <a:pt x="5685" y="679698"/>
                  </a:lnTo>
                  <a:lnTo>
                    <a:pt x="0" y="651510"/>
                  </a:lnTo>
                  <a:lnTo>
                    <a:pt x="0" y="72389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0773156" y="4838636"/>
            <a:ext cx="909319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Trebuchet MS"/>
                <a:cs typeface="Trebuchet MS"/>
              </a:rPr>
              <a:t>Balance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Enquiry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5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25" dirty="0"/>
              <a:t>8.</a:t>
            </a:r>
            <a:r>
              <a:rPr sz="3200" spc="225" dirty="0"/>
              <a:t> </a:t>
            </a:r>
            <a:r>
              <a:rPr sz="3200" spc="150" dirty="0"/>
              <a:t>Transaction</a:t>
            </a:r>
            <a:r>
              <a:rPr sz="3200" spc="240" dirty="0"/>
              <a:t> </a:t>
            </a:r>
            <a:r>
              <a:rPr sz="3200" spc="114" dirty="0"/>
              <a:t>Mapping</a:t>
            </a:r>
            <a:r>
              <a:rPr sz="3200" spc="295" dirty="0"/>
              <a:t> </a:t>
            </a:r>
            <a:r>
              <a:rPr sz="3200" spc="80" dirty="0"/>
              <a:t>-</a:t>
            </a:r>
            <a:r>
              <a:rPr sz="3200" spc="245" dirty="0"/>
              <a:t> </a:t>
            </a:r>
            <a:r>
              <a:rPr sz="3200" spc="145" dirty="0"/>
              <a:t>Example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2314575" y="1209675"/>
            <a:ext cx="7355205" cy="3725545"/>
            <a:chOff x="2314575" y="1209675"/>
            <a:chExt cx="7355205" cy="3725545"/>
          </a:xfrm>
        </p:grpSpPr>
        <p:sp>
          <p:nvSpPr>
            <p:cNvPr id="4" name="object 4"/>
            <p:cNvSpPr/>
            <p:nvPr/>
          </p:nvSpPr>
          <p:spPr>
            <a:xfrm>
              <a:off x="2324100" y="4343400"/>
              <a:ext cx="7336155" cy="582295"/>
            </a:xfrm>
            <a:custGeom>
              <a:avLst/>
              <a:gdLst/>
              <a:ahLst/>
              <a:cxnLst/>
              <a:rect l="l" t="t" r="r" b="b"/>
              <a:pathLst>
                <a:path w="7336155" h="582295">
                  <a:moveTo>
                    <a:pt x="3667125" y="0"/>
                  </a:moveTo>
                  <a:lnTo>
                    <a:pt x="3667125" y="396620"/>
                  </a:lnTo>
                  <a:lnTo>
                    <a:pt x="7336155" y="396620"/>
                  </a:lnTo>
                  <a:lnTo>
                    <a:pt x="7336155" y="582041"/>
                  </a:lnTo>
                </a:path>
                <a:path w="7336155" h="582295">
                  <a:moveTo>
                    <a:pt x="3667125" y="0"/>
                  </a:moveTo>
                  <a:lnTo>
                    <a:pt x="3667125" y="396620"/>
                  </a:lnTo>
                  <a:lnTo>
                    <a:pt x="4890134" y="396620"/>
                  </a:lnTo>
                  <a:lnTo>
                    <a:pt x="4890134" y="582041"/>
                  </a:lnTo>
                </a:path>
                <a:path w="7336155" h="582295">
                  <a:moveTo>
                    <a:pt x="3670935" y="0"/>
                  </a:moveTo>
                  <a:lnTo>
                    <a:pt x="3670935" y="396620"/>
                  </a:lnTo>
                  <a:lnTo>
                    <a:pt x="2447925" y="396620"/>
                  </a:lnTo>
                  <a:lnTo>
                    <a:pt x="2447925" y="582041"/>
                  </a:lnTo>
                </a:path>
                <a:path w="7336155" h="582295">
                  <a:moveTo>
                    <a:pt x="3669029" y="0"/>
                  </a:moveTo>
                  <a:lnTo>
                    <a:pt x="3669029" y="396620"/>
                  </a:lnTo>
                  <a:lnTo>
                    <a:pt x="0" y="396620"/>
                  </a:lnTo>
                  <a:lnTo>
                    <a:pt x="0" y="582041"/>
                  </a:lnTo>
                </a:path>
              </a:pathLst>
            </a:custGeom>
            <a:ln w="19050">
              <a:solidFill>
                <a:srgbClr val="E7B7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89320" y="2495550"/>
              <a:ext cx="0" cy="582295"/>
            </a:xfrm>
            <a:custGeom>
              <a:avLst/>
              <a:gdLst/>
              <a:ahLst/>
              <a:cxnLst/>
              <a:rect l="l" t="t" r="r" b="b"/>
              <a:pathLst>
                <a:path h="582294">
                  <a:moveTo>
                    <a:pt x="0" y="0"/>
                  </a:moveTo>
                  <a:lnTo>
                    <a:pt x="0" y="582040"/>
                  </a:lnTo>
                </a:path>
              </a:pathLst>
            </a:custGeom>
            <a:ln w="19050">
              <a:solidFill>
                <a:srgbClr val="CAA0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91100" y="1219200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1872615" y="0"/>
                  </a:moveTo>
                  <a:lnTo>
                    <a:pt x="127635" y="0"/>
                  </a:lnTo>
                  <a:lnTo>
                    <a:pt x="77956" y="10031"/>
                  </a:lnTo>
                  <a:lnTo>
                    <a:pt x="37385" y="37385"/>
                  </a:lnTo>
                  <a:lnTo>
                    <a:pt x="10031" y="77956"/>
                  </a:lnTo>
                  <a:lnTo>
                    <a:pt x="0" y="127635"/>
                  </a:lnTo>
                  <a:lnTo>
                    <a:pt x="0" y="1148714"/>
                  </a:lnTo>
                  <a:lnTo>
                    <a:pt x="10031" y="1198393"/>
                  </a:lnTo>
                  <a:lnTo>
                    <a:pt x="37385" y="1238964"/>
                  </a:lnTo>
                  <a:lnTo>
                    <a:pt x="77956" y="1266318"/>
                  </a:lnTo>
                  <a:lnTo>
                    <a:pt x="127635" y="1276350"/>
                  </a:lnTo>
                  <a:lnTo>
                    <a:pt x="1872615" y="1276350"/>
                  </a:lnTo>
                  <a:lnTo>
                    <a:pt x="1922293" y="1266318"/>
                  </a:lnTo>
                  <a:lnTo>
                    <a:pt x="1962864" y="1238964"/>
                  </a:lnTo>
                  <a:lnTo>
                    <a:pt x="1990218" y="1198393"/>
                  </a:lnTo>
                  <a:lnTo>
                    <a:pt x="2000250" y="1148714"/>
                  </a:lnTo>
                  <a:lnTo>
                    <a:pt x="2000250" y="127635"/>
                  </a:lnTo>
                  <a:lnTo>
                    <a:pt x="1990218" y="77956"/>
                  </a:lnTo>
                  <a:lnTo>
                    <a:pt x="1962864" y="37385"/>
                  </a:lnTo>
                  <a:lnTo>
                    <a:pt x="1922293" y="10031"/>
                  </a:lnTo>
                  <a:lnTo>
                    <a:pt x="1872615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91100" y="1219200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0" y="127635"/>
                  </a:moveTo>
                  <a:lnTo>
                    <a:pt x="10031" y="77956"/>
                  </a:lnTo>
                  <a:lnTo>
                    <a:pt x="37385" y="37385"/>
                  </a:lnTo>
                  <a:lnTo>
                    <a:pt x="77956" y="10031"/>
                  </a:lnTo>
                  <a:lnTo>
                    <a:pt x="127635" y="0"/>
                  </a:lnTo>
                  <a:lnTo>
                    <a:pt x="1872615" y="0"/>
                  </a:lnTo>
                  <a:lnTo>
                    <a:pt x="1922293" y="10031"/>
                  </a:lnTo>
                  <a:lnTo>
                    <a:pt x="1962864" y="37385"/>
                  </a:lnTo>
                  <a:lnTo>
                    <a:pt x="1990218" y="77956"/>
                  </a:lnTo>
                  <a:lnTo>
                    <a:pt x="2000250" y="127635"/>
                  </a:lnTo>
                  <a:lnTo>
                    <a:pt x="2000250" y="1148714"/>
                  </a:lnTo>
                  <a:lnTo>
                    <a:pt x="1990218" y="1198393"/>
                  </a:lnTo>
                  <a:lnTo>
                    <a:pt x="1962864" y="1238964"/>
                  </a:lnTo>
                  <a:lnTo>
                    <a:pt x="1922293" y="1266318"/>
                  </a:lnTo>
                  <a:lnTo>
                    <a:pt x="1872615" y="1276350"/>
                  </a:lnTo>
                  <a:lnTo>
                    <a:pt x="127635" y="1276350"/>
                  </a:lnTo>
                  <a:lnTo>
                    <a:pt x="77956" y="1266318"/>
                  </a:lnTo>
                  <a:lnTo>
                    <a:pt x="37385" y="1238964"/>
                  </a:lnTo>
                  <a:lnTo>
                    <a:pt x="10031" y="1198393"/>
                  </a:lnTo>
                  <a:lnTo>
                    <a:pt x="0" y="1148714"/>
                  </a:lnTo>
                  <a:lnTo>
                    <a:pt x="0" y="12763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10175" y="1428750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1872615" y="0"/>
                  </a:moveTo>
                  <a:lnTo>
                    <a:pt x="127635" y="0"/>
                  </a:lnTo>
                  <a:lnTo>
                    <a:pt x="77956" y="10031"/>
                  </a:lnTo>
                  <a:lnTo>
                    <a:pt x="37385" y="37385"/>
                  </a:lnTo>
                  <a:lnTo>
                    <a:pt x="10031" y="77956"/>
                  </a:lnTo>
                  <a:lnTo>
                    <a:pt x="0" y="127635"/>
                  </a:lnTo>
                  <a:lnTo>
                    <a:pt x="0" y="1148714"/>
                  </a:lnTo>
                  <a:lnTo>
                    <a:pt x="10031" y="1198393"/>
                  </a:lnTo>
                  <a:lnTo>
                    <a:pt x="37385" y="1238964"/>
                  </a:lnTo>
                  <a:lnTo>
                    <a:pt x="77956" y="1266318"/>
                  </a:lnTo>
                  <a:lnTo>
                    <a:pt x="127635" y="1276350"/>
                  </a:lnTo>
                  <a:lnTo>
                    <a:pt x="1872615" y="1276350"/>
                  </a:lnTo>
                  <a:lnTo>
                    <a:pt x="1922293" y="1266318"/>
                  </a:lnTo>
                  <a:lnTo>
                    <a:pt x="1962864" y="1238964"/>
                  </a:lnTo>
                  <a:lnTo>
                    <a:pt x="1990218" y="1198393"/>
                  </a:lnTo>
                  <a:lnTo>
                    <a:pt x="2000250" y="1148714"/>
                  </a:lnTo>
                  <a:lnTo>
                    <a:pt x="2000250" y="127635"/>
                  </a:lnTo>
                  <a:lnTo>
                    <a:pt x="1990218" y="77956"/>
                  </a:lnTo>
                  <a:lnTo>
                    <a:pt x="1962864" y="37385"/>
                  </a:lnTo>
                  <a:lnTo>
                    <a:pt x="1922293" y="10031"/>
                  </a:lnTo>
                  <a:lnTo>
                    <a:pt x="187261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10175" y="1428750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0" y="127635"/>
                  </a:moveTo>
                  <a:lnTo>
                    <a:pt x="10031" y="77956"/>
                  </a:lnTo>
                  <a:lnTo>
                    <a:pt x="37385" y="37385"/>
                  </a:lnTo>
                  <a:lnTo>
                    <a:pt x="77956" y="10031"/>
                  </a:lnTo>
                  <a:lnTo>
                    <a:pt x="127635" y="0"/>
                  </a:lnTo>
                  <a:lnTo>
                    <a:pt x="1872615" y="0"/>
                  </a:lnTo>
                  <a:lnTo>
                    <a:pt x="1922293" y="10031"/>
                  </a:lnTo>
                  <a:lnTo>
                    <a:pt x="1962864" y="37385"/>
                  </a:lnTo>
                  <a:lnTo>
                    <a:pt x="1990218" y="77956"/>
                  </a:lnTo>
                  <a:lnTo>
                    <a:pt x="2000250" y="127635"/>
                  </a:lnTo>
                  <a:lnTo>
                    <a:pt x="2000250" y="1148714"/>
                  </a:lnTo>
                  <a:lnTo>
                    <a:pt x="1990218" y="1198393"/>
                  </a:lnTo>
                  <a:lnTo>
                    <a:pt x="1962864" y="1238964"/>
                  </a:lnTo>
                  <a:lnTo>
                    <a:pt x="1922293" y="1266318"/>
                  </a:lnTo>
                  <a:lnTo>
                    <a:pt x="1872615" y="1276350"/>
                  </a:lnTo>
                  <a:lnTo>
                    <a:pt x="127635" y="1276350"/>
                  </a:lnTo>
                  <a:lnTo>
                    <a:pt x="77956" y="1266318"/>
                  </a:lnTo>
                  <a:lnTo>
                    <a:pt x="37385" y="1238964"/>
                  </a:lnTo>
                  <a:lnTo>
                    <a:pt x="10031" y="1198393"/>
                  </a:lnTo>
                  <a:lnTo>
                    <a:pt x="0" y="1148714"/>
                  </a:lnTo>
                  <a:lnTo>
                    <a:pt x="0" y="127635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609844" y="1892363"/>
            <a:ext cx="12217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rebuchet MS"/>
                <a:cs typeface="Trebuchet MS"/>
              </a:rPr>
              <a:t>ATM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System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981575" y="3067050"/>
            <a:ext cx="2238375" cy="1495425"/>
            <a:chOff x="4981575" y="3067050"/>
            <a:chExt cx="2238375" cy="1495425"/>
          </a:xfrm>
        </p:grpSpPr>
        <p:sp>
          <p:nvSpPr>
            <p:cNvPr id="12" name="object 12"/>
            <p:cNvSpPr/>
            <p:nvPr/>
          </p:nvSpPr>
          <p:spPr>
            <a:xfrm>
              <a:off x="4991100" y="3076575"/>
              <a:ext cx="2000250" cy="1266825"/>
            </a:xfrm>
            <a:custGeom>
              <a:avLst/>
              <a:gdLst/>
              <a:ahLst/>
              <a:cxnLst/>
              <a:rect l="l" t="t" r="r" b="b"/>
              <a:pathLst>
                <a:path w="2000250" h="1266825">
                  <a:moveTo>
                    <a:pt x="1873630" y="0"/>
                  </a:moveTo>
                  <a:lnTo>
                    <a:pt x="126746" y="0"/>
                  </a:lnTo>
                  <a:lnTo>
                    <a:pt x="77420" y="9963"/>
                  </a:lnTo>
                  <a:lnTo>
                    <a:pt x="37131" y="37131"/>
                  </a:lnTo>
                  <a:lnTo>
                    <a:pt x="9963" y="77420"/>
                  </a:lnTo>
                  <a:lnTo>
                    <a:pt x="0" y="126746"/>
                  </a:lnTo>
                  <a:lnTo>
                    <a:pt x="0" y="1140079"/>
                  </a:lnTo>
                  <a:lnTo>
                    <a:pt x="9963" y="1189404"/>
                  </a:lnTo>
                  <a:lnTo>
                    <a:pt x="37131" y="1229693"/>
                  </a:lnTo>
                  <a:lnTo>
                    <a:pt x="77420" y="1256861"/>
                  </a:lnTo>
                  <a:lnTo>
                    <a:pt x="126746" y="1266825"/>
                  </a:lnTo>
                  <a:lnTo>
                    <a:pt x="1873630" y="1266825"/>
                  </a:lnTo>
                  <a:lnTo>
                    <a:pt x="1922883" y="1256861"/>
                  </a:lnTo>
                  <a:lnTo>
                    <a:pt x="1963134" y="1229693"/>
                  </a:lnTo>
                  <a:lnTo>
                    <a:pt x="1990288" y="1189404"/>
                  </a:lnTo>
                  <a:lnTo>
                    <a:pt x="2000250" y="1140079"/>
                  </a:lnTo>
                  <a:lnTo>
                    <a:pt x="2000250" y="126746"/>
                  </a:lnTo>
                  <a:lnTo>
                    <a:pt x="1990288" y="77420"/>
                  </a:lnTo>
                  <a:lnTo>
                    <a:pt x="1963134" y="37131"/>
                  </a:lnTo>
                  <a:lnTo>
                    <a:pt x="1922883" y="9963"/>
                  </a:lnTo>
                  <a:lnTo>
                    <a:pt x="1873630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91100" y="3076575"/>
              <a:ext cx="2000250" cy="1266825"/>
            </a:xfrm>
            <a:custGeom>
              <a:avLst/>
              <a:gdLst/>
              <a:ahLst/>
              <a:cxnLst/>
              <a:rect l="l" t="t" r="r" b="b"/>
              <a:pathLst>
                <a:path w="2000250" h="1266825">
                  <a:moveTo>
                    <a:pt x="0" y="126746"/>
                  </a:moveTo>
                  <a:lnTo>
                    <a:pt x="9963" y="77420"/>
                  </a:lnTo>
                  <a:lnTo>
                    <a:pt x="37131" y="37131"/>
                  </a:lnTo>
                  <a:lnTo>
                    <a:pt x="77420" y="9963"/>
                  </a:lnTo>
                  <a:lnTo>
                    <a:pt x="126746" y="0"/>
                  </a:lnTo>
                  <a:lnTo>
                    <a:pt x="1873630" y="0"/>
                  </a:lnTo>
                  <a:lnTo>
                    <a:pt x="1922883" y="9963"/>
                  </a:lnTo>
                  <a:lnTo>
                    <a:pt x="1963134" y="37131"/>
                  </a:lnTo>
                  <a:lnTo>
                    <a:pt x="1990288" y="77420"/>
                  </a:lnTo>
                  <a:lnTo>
                    <a:pt x="2000250" y="126746"/>
                  </a:lnTo>
                  <a:lnTo>
                    <a:pt x="2000250" y="1140079"/>
                  </a:lnTo>
                  <a:lnTo>
                    <a:pt x="1990288" y="1189404"/>
                  </a:lnTo>
                  <a:lnTo>
                    <a:pt x="1963134" y="1229693"/>
                  </a:lnTo>
                  <a:lnTo>
                    <a:pt x="1922883" y="1256861"/>
                  </a:lnTo>
                  <a:lnTo>
                    <a:pt x="1873630" y="1266825"/>
                  </a:lnTo>
                  <a:lnTo>
                    <a:pt x="126746" y="1266825"/>
                  </a:lnTo>
                  <a:lnTo>
                    <a:pt x="77420" y="1256861"/>
                  </a:lnTo>
                  <a:lnTo>
                    <a:pt x="37131" y="1229693"/>
                  </a:lnTo>
                  <a:lnTo>
                    <a:pt x="9963" y="1189404"/>
                  </a:lnTo>
                  <a:lnTo>
                    <a:pt x="0" y="1140079"/>
                  </a:lnTo>
                  <a:lnTo>
                    <a:pt x="0" y="12674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10175" y="3286125"/>
              <a:ext cx="2000250" cy="1266825"/>
            </a:xfrm>
            <a:custGeom>
              <a:avLst/>
              <a:gdLst/>
              <a:ahLst/>
              <a:cxnLst/>
              <a:rect l="l" t="t" r="r" b="b"/>
              <a:pathLst>
                <a:path w="2000250" h="1266825">
                  <a:moveTo>
                    <a:pt x="1873630" y="0"/>
                  </a:moveTo>
                  <a:lnTo>
                    <a:pt x="126746" y="0"/>
                  </a:lnTo>
                  <a:lnTo>
                    <a:pt x="77420" y="9963"/>
                  </a:lnTo>
                  <a:lnTo>
                    <a:pt x="37131" y="37131"/>
                  </a:lnTo>
                  <a:lnTo>
                    <a:pt x="9963" y="77420"/>
                  </a:lnTo>
                  <a:lnTo>
                    <a:pt x="0" y="126746"/>
                  </a:lnTo>
                  <a:lnTo>
                    <a:pt x="0" y="1140079"/>
                  </a:lnTo>
                  <a:lnTo>
                    <a:pt x="9963" y="1189404"/>
                  </a:lnTo>
                  <a:lnTo>
                    <a:pt x="37131" y="1229693"/>
                  </a:lnTo>
                  <a:lnTo>
                    <a:pt x="77420" y="1256861"/>
                  </a:lnTo>
                  <a:lnTo>
                    <a:pt x="126746" y="1266825"/>
                  </a:lnTo>
                  <a:lnTo>
                    <a:pt x="1873630" y="1266825"/>
                  </a:lnTo>
                  <a:lnTo>
                    <a:pt x="1922883" y="1256861"/>
                  </a:lnTo>
                  <a:lnTo>
                    <a:pt x="1963134" y="1229693"/>
                  </a:lnTo>
                  <a:lnTo>
                    <a:pt x="1990288" y="1189404"/>
                  </a:lnTo>
                  <a:lnTo>
                    <a:pt x="2000250" y="1140079"/>
                  </a:lnTo>
                  <a:lnTo>
                    <a:pt x="2000250" y="126746"/>
                  </a:lnTo>
                  <a:lnTo>
                    <a:pt x="1990288" y="77420"/>
                  </a:lnTo>
                  <a:lnTo>
                    <a:pt x="1963134" y="37131"/>
                  </a:lnTo>
                  <a:lnTo>
                    <a:pt x="1922883" y="9963"/>
                  </a:lnTo>
                  <a:lnTo>
                    <a:pt x="187363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10175" y="3286125"/>
              <a:ext cx="2000250" cy="1266825"/>
            </a:xfrm>
            <a:custGeom>
              <a:avLst/>
              <a:gdLst/>
              <a:ahLst/>
              <a:cxnLst/>
              <a:rect l="l" t="t" r="r" b="b"/>
              <a:pathLst>
                <a:path w="2000250" h="1266825">
                  <a:moveTo>
                    <a:pt x="0" y="126746"/>
                  </a:moveTo>
                  <a:lnTo>
                    <a:pt x="9963" y="77420"/>
                  </a:lnTo>
                  <a:lnTo>
                    <a:pt x="37131" y="37131"/>
                  </a:lnTo>
                  <a:lnTo>
                    <a:pt x="77420" y="9963"/>
                  </a:lnTo>
                  <a:lnTo>
                    <a:pt x="126746" y="0"/>
                  </a:lnTo>
                  <a:lnTo>
                    <a:pt x="1873630" y="0"/>
                  </a:lnTo>
                  <a:lnTo>
                    <a:pt x="1922883" y="9963"/>
                  </a:lnTo>
                  <a:lnTo>
                    <a:pt x="1963134" y="37131"/>
                  </a:lnTo>
                  <a:lnTo>
                    <a:pt x="1990288" y="77420"/>
                  </a:lnTo>
                  <a:lnTo>
                    <a:pt x="2000250" y="126746"/>
                  </a:lnTo>
                  <a:lnTo>
                    <a:pt x="2000250" y="1140079"/>
                  </a:lnTo>
                  <a:lnTo>
                    <a:pt x="1990288" y="1189404"/>
                  </a:lnTo>
                  <a:lnTo>
                    <a:pt x="1963134" y="1229693"/>
                  </a:lnTo>
                  <a:lnTo>
                    <a:pt x="1922883" y="1256861"/>
                  </a:lnTo>
                  <a:lnTo>
                    <a:pt x="1873630" y="1266825"/>
                  </a:lnTo>
                  <a:lnTo>
                    <a:pt x="126746" y="1266825"/>
                  </a:lnTo>
                  <a:lnTo>
                    <a:pt x="77420" y="1256861"/>
                  </a:lnTo>
                  <a:lnTo>
                    <a:pt x="37131" y="1229693"/>
                  </a:lnTo>
                  <a:lnTo>
                    <a:pt x="9963" y="1189404"/>
                  </a:lnTo>
                  <a:lnTo>
                    <a:pt x="0" y="1140079"/>
                  </a:lnTo>
                  <a:lnTo>
                    <a:pt x="0" y="126746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39409" y="3370262"/>
            <a:ext cx="1560195" cy="10541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065" marR="5080" algn="ctr">
              <a:lnSpc>
                <a:spcPct val="91600"/>
              </a:lnSpc>
              <a:spcBef>
                <a:spcPts val="280"/>
              </a:spcBef>
            </a:pPr>
            <a:r>
              <a:rPr sz="1800" dirty="0">
                <a:latin typeface="Trebuchet MS"/>
                <a:cs typeface="Trebuchet MS"/>
              </a:rPr>
              <a:t>Menu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Selection Process (Transaction Dispatcher)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14450" y="4914900"/>
            <a:ext cx="2238375" cy="1504950"/>
            <a:chOff x="1314450" y="4914900"/>
            <a:chExt cx="2238375" cy="1504950"/>
          </a:xfrm>
        </p:grpSpPr>
        <p:sp>
          <p:nvSpPr>
            <p:cNvPr id="18" name="object 18"/>
            <p:cNvSpPr/>
            <p:nvPr/>
          </p:nvSpPr>
          <p:spPr>
            <a:xfrm>
              <a:off x="1323975" y="4924425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1872614" y="0"/>
                  </a:moveTo>
                  <a:lnTo>
                    <a:pt x="127634" y="0"/>
                  </a:lnTo>
                  <a:lnTo>
                    <a:pt x="77956" y="10031"/>
                  </a:lnTo>
                  <a:lnTo>
                    <a:pt x="37385" y="37385"/>
                  </a:lnTo>
                  <a:lnTo>
                    <a:pt x="10031" y="77956"/>
                  </a:lnTo>
                  <a:lnTo>
                    <a:pt x="0" y="127635"/>
                  </a:lnTo>
                  <a:lnTo>
                    <a:pt x="0" y="1148715"/>
                  </a:lnTo>
                  <a:lnTo>
                    <a:pt x="10031" y="1198393"/>
                  </a:lnTo>
                  <a:lnTo>
                    <a:pt x="37385" y="1238964"/>
                  </a:lnTo>
                  <a:lnTo>
                    <a:pt x="77956" y="1266318"/>
                  </a:lnTo>
                  <a:lnTo>
                    <a:pt x="127634" y="1276350"/>
                  </a:lnTo>
                  <a:lnTo>
                    <a:pt x="1872614" y="1276350"/>
                  </a:lnTo>
                  <a:lnTo>
                    <a:pt x="1922293" y="1266318"/>
                  </a:lnTo>
                  <a:lnTo>
                    <a:pt x="1962864" y="1238964"/>
                  </a:lnTo>
                  <a:lnTo>
                    <a:pt x="1990218" y="1198393"/>
                  </a:lnTo>
                  <a:lnTo>
                    <a:pt x="2000250" y="1148715"/>
                  </a:lnTo>
                  <a:lnTo>
                    <a:pt x="2000250" y="127635"/>
                  </a:lnTo>
                  <a:lnTo>
                    <a:pt x="1990218" y="77956"/>
                  </a:lnTo>
                  <a:lnTo>
                    <a:pt x="1962864" y="37385"/>
                  </a:lnTo>
                  <a:lnTo>
                    <a:pt x="1922293" y="10031"/>
                  </a:lnTo>
                  <a:lnTo>
                    <a:pt x="1872614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3975" y="4924425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0" y="127635"/>
                  </a:moveTo>
                  <a:lnTo>
                    <a:pt x="10031" y="77956"/>
                  </a:lnTo>
                  <a:lnTo>
                    <a:pt x="37385" y="37385"/>
                  </a:lnTo>
                  <a:lnTo>
                    <a:pt x="77956" y="10031"/>
                  </a:lnTo>
                  <a:lnTo>
                    <a:pt x="127634" y="0"/>
                  </a:lnTo>
                  <a:lnTo>
                    <a:pt x="1872614" y="0"/>
                  </a:lnTo>
                  <a:lnTo>
                    <a:pt x="1922293" y="10031"/>
                  </a:lnTo>
                  <a:lnTo>
                    <a:pt x="1962864" y="37385"/>
                  </a:lnTo>
                  <a:lnTo>
                    <a:pt x="1990218" y="77956"/>
                  </a:lnTo>
                  <a:lnTo>
                    <a:pt x="2000250" y="127635"/>
                  </a:lnTo>
                  <a:lnTo>
                    <a:pt x="2000250" y="1148715"/>
                  </a:lnTo>
                  <a:lnTo>
                    <a:pt x="1990218" y="1198393"/>
                  </a:lnTo>
                  <a:lnTo>
                    <a:pt x="1962864" y="1238964"/>
                  </a:lnTo>
                  <a:lnTo>
                    <a:pt x="1922293" y="1266318"/>
                  </a:lnTo>
                  <a:lnTo>
                    <a:pt x="1872614" y="1276350"/>
                  </a:lnTo>
                  <a:lnTo>
                    <a:pt x="127634" y="1276350"/>
                  </a:lnTo>
                  <a:lnTo>
                    <a:pt x="77956" y="1266318"/>
                  </a:lnTo>
                  <a:lnTo>
                    <a:pt x="37385" y="1238964"/>
                  </a:lnTo>
                  <a:lnTo>
                    <a:pt x="10031" y="1198393"/>
                  </a:lnTo>
                  <a:lnTo>
                    <a:pt x="0" y="1148715"/>
                  </a:lnTo>
                  <a:lnTo>
                    <a:pt x="0" y="12763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43050" y="5133975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1872614" y="0"/>
                  </a:moveTo>
                  <a:lnTo>
                    <a:pt x="127635" y="0"/>
                  </a:lnTo>
                  <a:lnTo>
                    <a:pt x="77956" y="10031"/>
                  </a:lnTo>
                  <a:lnTo>
                    <a:pt x="37385" y="37385"/>
                  </a:lnTo>
                  <a:lnTo>
                    <a:pt x="10031" y="77956"/>
                  </a:lnTo>
                  <a:lnTo>
                    <a:pt x="0" y="127634"/>
                  </a:lnTo>
                  <a:lnTo>
                    <a:pt x="0" y="1148715"/>
                  </a:lnTo>
                  <a:lnTo>
                    <a:pt x="10031" y="1198393"/>
                  </a:lnTo>
                  <a:lnTo>
                    <a:pt x="37385" y="1238964"/>
                  </a:lnTo>
                  <a:lnTo>
                    <a:pt x="77956" y="1266318"/>
                  </a:lnTo>
                  <a:lnTo>
                    <a:pt x="127635" y="1276350"/>
                  </a:lnTo>
                  <a:lnTo>
                    <a:pt x="1872614" y="1276350"/>
                  </a:lnTo>
                  <a:lnTo>
                    <a:pt x="1922293" y="1266318"/>
                  </a:lnTo>
                  <a:lnTo>
                    <a:pt x="1962864" y="1238964"/>
                  </a:lnTo>
                  <a:lnTo>
                    <a:pt x="1990218" y="1198393"/>
                  </a:lnTo>
                  <a:lnTo>
                    <a:pt x="2000250" y="1148715"/>
                  </a:lnTo>
                  <a:lnTo>
                    <a:pt x="2000250" y="127634"/>
                  </a:lnTo>
                  <a:lnTo>
                    <a:pt x="1990218" y="77956"/>
                  </a:lnTo>
                  <a:lnTo>
                    <a:pt x="1962864" y="37385"/>
                  </a:lnTo>
                  <a:lnTo>
                    <a:pt x="1922293" y="10031"/>
                  </a:lnTo>
                  <a:lnTo>
                    <a:pt x="187261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43050" y="5133975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0" y="127634"/>
                  </a:moveTo>
                  <a:lnTo>
                    <a:pt x="10031" y="77956"/>
                  </a:lnTo>
                  <a:lnTo>
                    <a:pt x="37385" y="37385"/>
                  </a:lnTo>
                  <a:lnTo>
                    <a:pt x="77956" y="10031"/>
                  </a:lnTo>
                  <a:lnTo>
                    <a:pt x="127635" y="0"/>
                  </a:lnTo>
                  <a:lnTo>
                    <a:pt x="1872614" y="0"/>
                  </a:lnTo>
                  <a:lnTo>
                    <a:pt x="1922293" y="10031"/>
                  </a:lnTo>
                  <a:lnTo>
                    <a:pt x="1962864" y="37385"/>
                  </a:lnTo>
                  <a:lnTo>
                    <a:pt x="1990218" y="77956"/>
                  </a:lnTo>
                  <a:lnTo>
                    <a:pt x="2000250" y="127634"/>
                  </a:lnTo>
                  <a:lnTo>
                    <a:pt x="2000250" y="1148715"/>
                  </a:lnTo>
                  <a:lnTo>
                    <a:pt x="1990218" y="1198393"/>
                  </a:lnTo>
                  <a:lnTo>
                    <a:pt x="1962864" y="1238964"/>
                  </a:lnTo>
                  <a:lnTo>
                    <a:pt x="1922293" y="1266318"/>
                  </a:lnTo>
                  <a:lnTo>
                    <a:pt x="1872614" y="1276350"/>
                  </a:lnTo>
                  <a:lnTo>
                    <a:pt x="127635" y="1276350"/>
                  </a:lnTo>
                  <a:lnTo>
                    <a:pt x="77956" y="1266318"/>
                  </a:lnTo>
                  <a:lnTo>
                    <a:pt x="37385" y="1238964"/>
                  </a:lnTo>
                  <a:lnTo>
                    <a:pt x="10031" y="1198393"/>
                  </a:lnTo>
                  <a:lnTo>
                    <a:pt x="0" y="1148715"/>
                  </a:lnTo>
                  <a:lnTo>
                    <a:pt x="0" y="12763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836801" y="5477192"/>
            <a:ext cx="1424940" cy="5486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9720" marR="5715" indent="-287655">
              <a:lnSpc>
                <a:spcPts val="1950"/>
              </a:lnSpc>
              <a:spcBef>
                <a:spcPts val="340"/>
              </a:spcBef>
            </a:pPr>
            <a:r>
              <a:rPr sz="1800" dirty="0">
                <a:latin typeface="Trebuchet MS"/>
                <a:cs typeface="Trebuchet MS"/>
              </a:rPr>
              <a:t>Menu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Process Request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762375" y="4914900"/>
            <a:ext cx="2238375" cy="1504950"/>
            <a:chOff x="3762375" y="4914900"/>
            <a:chExt cx="2238375" cy="1504950"/>
          </a:xfrm>
        </p:grpSpPr>
        <p:sp>
          <p:nvSpPr>
            <p:cNvPr id="24" name="object 24"/>
            <p:cNvSpPr/>
            <p:nvPr/>
          </p:nvSpPr>
          <p:spPr>
            <a:xfrm>
              <a:off x="3771900" y="4924425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1872614" y="0"/>
                  </a:moveTo>
                  <a:lnTo>
                    <a:pt x="127635" y="0"/>
                  </a:lnTo>
                  <a:lnTo>
                    <a:pt x="77956" y="10031"/>
                  </a:lnTo>
                  <a:lnTo>
                    <a:pt x="37385" y="37385"/>
                  </a:lnTo>
                  <a:lnTo>
                    <a:pt x="10031" y="77956"/>
                  </a:lnTo>
                  <a:lnTo>
                    <a:pt x="0" y="127635"/>
                  </a:lnTo>
                  <a:lnTo>
                    <a:pt x="0" y="1148715"/>
                  </a:lnTo>
                  <a:lnTo>
                    <a:pt x="10031" y="1198393"/>
                  </a:lnTo>
                  <a:lnTo>
                    <a:pt x="37385" y="1238964"/>
                  </a:lnTo>
                  <a:lnTo>
                    <a:pt x="77956" y="1266318"/>
                  </a:lnTo>
                  <a:lnTo>
                    <a:pt x="127635" y="1276350"/>
                  </a:lnTo>
                  <a:lnTo>
                    <a:pt x="1872614" y="1276350"/>
                  </a:lnTo>
                  <a:lnTo>
                    <a:pt x="1922293" y="1266318"/>
                  </a:lnTo>
                  <a:lnTo>
                    <a:pt x="1962864" y="1238964"/>
                  </a:lnTo>
                  <a:lnTo>
                    <a:pt x="1990218" y="1198393"/>
                  </a:lnTo>
                  <a:lnTo>
                    <a:pt x="2000250" y="1148715"/>
                  </a:lnTo>
                  <a:lnTo>
                    <a:pt x="2000250" y="127635"/>
                  </a:lnTo>
                  <a:lnTo>
                    <a:pt x="1990218" y="77956"/>
                  </a:lnTo>
                  <a:lnTo>
                    <a:pt x="1962864" y="37385"/>
                  </a:lnTo>
                  <a:lnTo>
                    <a:pt x="1922293" y="10031"/>
                  </a:lnTo>
                  <a:lnTo>
                    <a:pt x="1872614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71900" y="4924425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0" y="127635"/>
                  </a:moveTo>
                  <a:lnTo>
                    <a:pt x="10031" y="77956"/>
                  </a:lnTo>
                  <a:lnTo>
                    <a:pt x="37385" y="37385"/>
                  </a:lnTo>
                  <a:lnTo>
                    <a:pt x="77956" y="10031"/>
                  </a:lnTo>
                  <a:lnTo>
                    <a:pt x="127635" y="0"/>
                  </a:lnTo>
                  <a:lnTo>
                    <a:pt x="1872614" y="0"/>
                  </a:lnTo>
                  <a:lnTo>
                    <a:pt x="1922293" y="10031"/>
                  </a:lnTo>
                  <a:lnTo>
                    <a:pt x="1962864" y="37385"/>
                  </a:lnTo>
                  <a:lnTo>
                    <a:pt x="1990218" y="77956"/>
                  </a:lnTo>
                  <a:lnTo>
                    <a:pt x="2000250" y="127635"/>
                  </a:lnTo>
                  <a:lnTo>
                    <a:pt x="2000250" y="1148715"/>
                  </a:lnTo>
                  <a:lnTo>
                    <a:pt x="1990218" y="1198393"/>
                  </a:lnTo>
                  <a:lnTo>
                    <a:pt x="1962864" y="1238964"/>
                  </a:lnTo>
                  <a:lnTo>
                    <a:pt x="1922293" y="1266318"/>
                  </a:lnTo>
                  <a:lnTo>
                    <a:pt x="1872614" y="1276350"/>
                  </a:lnTo>
                  <a:lnTo>
                    <a:pt x="127635" y="1276350"/>
                  </a:lnTo>
                  <a:lnTo>
                    <a:pt x="77956" y="1266318"/>
                  </a:lnTo>
                  <a:lnTo>
                    <a:pt x="37385" y="1238964"/>
                  </a:lnTo>
                  <a:lnTo>
                    <a:pt x="10031" y="1198393"/>
                  </a:lnTo>
                  <a:lnTo>
                    <a:pt x="0" y="1148715"/>
                  </a:lnTo>
                  <a:lnTo>
                    <a:pt x="0" y="12763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90975" y="5133975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1872614" y="0"/>
                  </a:moveTo>
                  <a:lnTo>
                    <a:pt x="127635" y="0"/>
                  </a:lnTo>
                  <a:lnTo>
                    <a:pt x="77956" y="10031"/>
                  </a:lnTo>
                  <a:lnTo>
                    <a:pt x="37385" y="37385"/>
                  </a:lnTo>
                  <a:lnTo>
                    <a:pt x="10031" y="77956"/>
                  </a:lnTo>
                  <a:lnTo>
                    <a:pt x="0" y="127634"/>
                  </a:lnTo>
                  <a:lnTo>
                    <a:pt x="0" y="1148715"/>
                  </a:lnTo>
                  <a:lnTo>
                    <a:pt x="10031" y="1198393"/>
                  </a:lnTo>
                  <a:lnTo>
                    <a:pt x="37385" y="1238964"/>
                  </a:lnTo>
                  <a:lnTo>
                    <a:pt x="77956" y="1266318"/>
                  </a:lnTo>
                  <a:lnTo>
                    <a:pt x="127635" y="1276350"/>
                  </a:lnTo>
                  <a:lnTo>
                    <a:pt x="1872614" y="1276350"/>
                  </a:lnTo>
                  <a:lnTo>
                    <a:pt x="1922293" y="1266318"/>
                  </a:lnTo>
                  <a:lnTo>
                    <a:pt x="1962864" y="1238964"/>
                  </a:lnTo>
                  <a:lnTo>
                    <a:pt x="1990218" y="1198393"/>
                  </a:lnTo>
                  <a:lnTo>
                    <a:pt x="2000250" y="1148715"/>
                  </a:lnTo>
                  <a:lnTo>
                    <a:pt x="2000250" y="127634"/>
                  </a:lnTo>
                  <a:lnTo>
                    <a:pt x="1990218" y="77956"/>
                  </a:lnTo>
                  <a:lnTo>
                    <a:pt x="1962864" y="37385"/>
                  </a:lnTo>
                  <a:lnTo>
                    <a:pt x="1922293" y="10031"/>
                  </a:lnTo>
                  <a:lnTo>
                    <a:pt x="187261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90975" y="5133975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0" y="127634"/>
                  </a:moveTo>
                  <a:lnTo>
                    <a:pt x="10031" y="77956"/>
                  </a:lnTo>
                  <a:lnTo>
                    <a:pt x="37385" y="37385"/>
                  </a:lnTo>
                  <a:lnTo>
                    <a:pt x="77956" y="10031"/>
                  </a:lnTo>
                  <a:lnTo>
                    <a:pt x="127635" y="0"/>
                  </a:lnTo>
                  <a:lnTo>
                    <a:pt x="1872614" y="0"/>
                  </a:lnTo>
                  <a:lnTo>
                    <a:pt x="1922293" y="10031"/>
                  </a:lnTo>
                  <a:lnTo>
                    <a:pt x="1962864" y="37385"/>
                  </a:lnTo>
                  <a:lnTo>
                    <a:pt x="1990218" y="77956"/>
                  </a:lnTo>
                  <a:lnTo>
                    <a:pt x="2000250" y="127634"/>
                  </a:lnTo>
                  <a:lnTo>
                    <a:pt x="2000250" y="1148715"/>
                  </a:lnTo>
                  <a:lnTo>
                    <a:pt x="1990218" y="1198393"/>
                  </a:lnTo>
                  <a:lnTo>
                    <a:pt x="1962864" y="1238964"/>
                  </a:lnTo>
                  <a:lnTo>
                    <a:pt x="1922293" y="1266318"/>
                  </a:lnTo>
                  <a:lnTo>
                    <a:pt x="1872614" y="1276350"/>
                  </a:lnTo>
                  <a:lnTo>
                    <a:pt x="127635" y="1276350"/>
                  </a:lnTo>
                  <a:lnTo>
                    <a:pt x="77956" y="1266318"/>
                  </a:lnTo>
                  <a:lnTo>
                    <a:pt x="37385" y="1238964"/>
                  </a:lnTo>
                  <a:lnTo>
                    <a:pt x="10031" y="1198393"/>
                  </a:lnTo>
                  <a:lnTo>
                    <a:pt x="0" y="1148715"/>
                  </a:lnTo>
                  <a:lnTo>
                    <a:pt x="0" y="12763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510404" y="5602922"/>
            <a:ext cx="970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Trebuchet MS"/>
                <a:cs typeface="Trebuchet MS"/>
              </a:rPr>
              <a:t>Withdraw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00775" y="4914900"/>
            <a:ext cx="2247900" cy="1504950"/>
            <a:chOff x="6200775" y="4914900"/>
            <a:chExt cx="2247900" cy="1504950"/>
          </a:xfrm>
        </p:grpSpPr>
        <p:sp>
          <p:nvSpPr>
            <p:cNvPr id="30" name="object 30"/>
            <p:cNvSpPr/>
            <p:nvPr/>
          </p:nvSpPr>
          <p:spPr>
            <a:xfrm>
              <a:off x="6210300" y="4924425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1872615" y="0"/>
                  </a:moveTo>
                  <a:lnTo>
                    <a:pt x="127635" y="0"/>
                  </a:lnTo>
                  <a:lnTo>
                    <a:pt x="77956" y="10031"/>
                  </a:lnTo>
                  <a:lnTo>
                    <a:pt x="37385" y="37385"/>
                  </a:lnTo>
                  <a:lnTo>
                    <a:pt x="10031" y="77956"/>
                  </a:lnTo>
                  <a:lnTo>
                    <a:pt x="0" y="127635"/>
                  </a:lnTo>
                  <a:lnTo>
                    <a:pt x="0" y="1148715"/>
                  </a:lnTo>
                  <a:lnTo>
                    <a:pt x="10031" y="1198393"/>
                  </a:lnTo>
                  <a:lnTo>
                    <a:pt x="37385" y="1238964"/>
                  </a:lnTo>
                  <a:lnTo>
                    <a:pt x="77956" y="1266318"/>
                  </a:lnTo>
                  <a:lnTo>
                    <a:pt x="127635" y="1276350"/>
                  </a:lnTo>
                  <a:lnTo>
                    <a:pt x="1872615" y="1276350"/>
                  </a:lnTo>
                  <a:lnTo>
                    <a:pt x="1922293" y="1266318"/>
                  </a:lnTo>
                  <a:lnTo>
                    <a:pt x="1962864" y="1238964"/>
                  </a:lnTo>
                  <a:lnTo>
                    <a:pt x="1990218" y="1198393"/>
                  </a:lnTo>
                  <a:lnTo>
                    <a:pt x="2000250" y="1148715"/>
                  </a:lnTo>
                  <a:lnTo>
                    <a:pt x="2000250" y="127635"/>
                  </a:lnTo>
                  <a:lnTo>
                    <a:pt x="1990218" y="77956"/>
                  </a:lnTo>
                  <a:lnTo>
                    <a:pt x="1962864" y="37385"/>
                  </a:lnTo>
                  <a:lnTo>
                    <a:pt x="1922293" y="10031"/>
                  </a:lnTo>
                  <a:lnTo>
                    <a:pt x="1872615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10300" y="4924425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0" y="127635"/>
                  </a:moveTo>
                  <a:lnTo>
                    <a:pt x="10031" y="77956"/>
                  </a:lnTo>
                  <a:lnTo>
                    <a:pt x="37385" y="37385"/>
                  </a:lnTo>
                  <a:lnTo>
                    <a:pt x="77956" y="10031"/>
                  </a:lnTo>
                  <a:lnTo>
                    <a:pt x="127635" y="0"/>
                  </a:lnTo>
                  <a:lnTo>
                    <a:pt x="1872615" y="0"/>
                  </a:lnTo>
                  <a:lnTo>
                    <a:pt x="1922293" y="10031"/>
                  </a:lnTo>
                  <a:lnTo>
                    <a:pt x="1962864" y="37385"/>
                  </a:lnTo>
                  <a:lnTo>
                    <a:pt x="1990218" y="77956"/>
                  </a:lnTo>
                  <a:lnTo>
                    <a:pt x="2000250" y="127635"/>
                  </a:lnTo>
                  <a:lnTo>
                    <a:pt x="2000250" y="1148715"/>
                  </a:lnTo>
                  <a:lnTo>
                    <a:pt x="1990218" y="1198393"/>
                  </a:lnTo>
                  <a:lnTo>
                    <a:pt x="1962864" y="1238964"/>
                  </a:lnTo>
                  <a:lnTo>
                    <a:pt x="1922293" y="1266318"/>
                  </a:lnTo>
                  <a:lnTo>
                    <a:pt x="1872615" y="1276350"/>
                  </a:lnTo>
                  <a:lnTo>
                    <a:pt x="127635" y="1276350"/>
                  </a:lnTo>
                  <a:lnTo>
                    <a:pt x="77956" y="1266318"/>
                  </a:lnTo>
                  <a:lnTo>
                    <a:pt x="37385" y="1238964"/>
                  </a:lnTo>
                  <a:lnTo>
                    <a:pt x="10031" y="1198393"/>
                  </a:lnTo>
                  <a:lnTo>
                    <a:pt x="0" y="1148715"/>
                  </a:lnTo>
                  <a:lnTo>
                    <a:pt x="0" y="12763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38900" y="5133975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1872615" y="0"/>
                  </a:moveTo>
                  <a:lnTo>
                    <a:pt x="127634" y="0"/>
                  </a:lnTo>
                  <a:lnTo>
                    <a:pt x="77956" y="10031"/>
                  </a:lnTo>
                  <a:lnTo>
                    <a:pt x="37385" y="37385"/>
                  </a:lnTo>
                  <a:lnTo>
                    <a:pt x="10031" y="77956"/>
                  </a:lnTo>
                  <a:lnTo>
                    <a:pt x="0" y="127634"/>
                  </a:lnTo>
                  <a:lnTo>
                    <a:pt x="0" y="1148715"/>
                  </a:lnTo>
                  <a:lnTo>
                    <a:pt x="10031" y="1198393"/>
                  </a:lnTo>
                  <a:lnTo>
                    <a:pt x="37385" y="1238964"/>
                  </a:lnTo>
                  <a:lnTo>
                    <a:pt x="77956" y="1266318"/>
                  </a:lnTo>
                  <a:lnTo>
                    <a:pt x="127634" y="1276350"/>
                  </a:lnTo>
                  <a:lnTo>
                    <a:pt x="1872615" y="1276350"/>
                  </a:lnTo>
                  <a:lnTo>
                    <a:pt x="1922293" y="1266318"/>
                  </a:lnTo>
                  <a:lnTo>
                    <a:pt x="1962864" y="1238964"/>
                  </a:lnTo>
                  <a:lnTo>
                    <a:pt x="1990218" y="1198393"/>
                  </a:lnTo>
                  <a:lnTo>
                    <a:pt x="2000250" y="1148715"/>
                  </a:lnTo>
                  <a:lnTo>
                    <a:pt x="2000250" y="127634"/>
                  </a:lnTo>
                  <a:lnTo>
                    <a:pt x="1990218" y="77956"/>
                  </a:lnTo>
                  <a:lnTo>
                    <a:pt x="1962864" y="37385"/>
                  </a:lnTo>
                  <a:lnTo>
                    <a:pt x="1922293" y="10031"/>
                  </a:lnTo>
                  <a:lnTo>
                    <a:pt x="187261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38900" y="5133975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0" y="127634"/>
                  </a:moveTo>
                  <a:lnTo>
                    <a:pt x="10031" y="77956"/>
                  </a:lnTo>
                  <a:lnTo>
                    <a:pt x="37385" y="37385"/>
                  </a:lnTo>
                  <a:lnTo>
                    <a:pt x="77956" y="10031"/>
                  </a:lnTo>
                  <a:lnTo>
                    <a:pt x="127634" y="0"/>
                  </a:lnTo>
                  <a:lnTo>
                    <a:pt x="1872615" y="0"/>
                  </a:lnTo>
                  <a:lnTo>
                    <a:pt x="1922293" y="10031"/>
                  </a:lnTo>
                  <a:lnTo>
                    <a:pt x="1962864" y="37385"/>
                  </a:lnTo>
                  <a:lnTo>
                    <a:pt x="1990218" y="77956"/>
                  </a:lnTo>
                  <a:lnTo>
                    <a:pt x="2000250" y="127634"/>
                  </a:lnTo>
                  <a:lnTo>
                    <a:pt x="2000250" y="1148715"/>
                  </a:lnTo>
                  <a:lnTo>
                    <a:pt x="1990218" y="1198393"/>
                  </a:lnTo>
                  <a:lnTo>
                    <a:pt x="1962864" y="1238964"/>
                  </a:lnTo>
                  <a:lnTo>
                    <a:pt x="1922293" y="1266318"/>
                  </a:lnTo>
                  <a:lnTo>
                    <a:pt x="1872615" y="1276350"/>
                  </a:lnTo>
                  <a:lnTo>
                    <a:pt x="127634" y="1276350"/>
                  </a:lnTo>
                  <a:lnTo>
                    <a:pt x="77956" y="1266318"/>
                  </a:lnTo>
                  <a:lnTo>
                    <a:pt x="37385" y="1238964"/>
                  </a:lnTo>
                  <a:lnTo>
                    <a:pt x="10031" y="1198393"/>
                  </a:lnTo>
                  <a:lnTo>
                    <a:pt x="0" y="1148715"/>
                  </a:lnTo>
                  <a:lnTo>
                    <a:pt x="0" y="12763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043801" y="5602922"/>
            <a:ext cx="795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Deposit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648700" y="4914900"/>
            <a:ext cx="2247900" cy="1504950"/>
            <a:chOff x="8648700" y="4914900"/>
            <a:chExt cx="2247900" cy="1504950"/>
          </a:xfrm>
        </p:grpSpPr>
        <p:sp>
          <p:nvSpPr>
            <p:cNvPr id="36" name="object 36"/>
            <p:cNvSpPr/>
            <p:nvPr/>
          </p:nvSpPr>
          <p:spPr>
            <a:xfrm>
              <a:off x="8658225" y="4924425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1872615" y="0"/>
                  </a:moveTo>
                  <a:lnTo>
                    <a:pt x="127634" y="0"/>
                  </a:lnTo>
                  <a:lnTo>
                    <a:pt x="77956" y="10031"/>
                  </a:lnTo>
                  <a:lnTo>
                    <a:pt x="37385" y="37385"/>
                  </a:lnTo>
                  <a:lnTo>
                    <a:pt x="10031" y="77956"/>
                  </a:lnTo>
                  <a:lnTo>
                    <a:pt x="0" y="127635"/>
                  </a:lnTo>
                  <a:lnTo>
                    <a:pt x="0" y="1148715"/>
                  </a:lnTo>
                  <a:lnTo>
                    <a:pt x="10031" y="1198393"/>
                  </a:lnTo>
                  <a:lnTo>
                    <a:pt x="37385" y="1238964"/>
                  </a:lnTo>
                  <a:lnTo>
                    <a:pt x="77956" y="1266318"/>
                  </a:lnTo>
                  <a:lnTo>
                    <a:pt x="127634" y="1276350"/>
                  </a:lnTo>
                  <a:lnTo>
                    <a:pt x="1872615" y="1276350"/>
                  </a:lnTo>
                  <a:lnTo>
                    <a:pt x="1922293" y="1266318"/>
                  </a:lnTo>
                  <a:lnTo>
                    <a:pt x="1962864" y="1238964"/>
                  </a:lnTo>
                  <a:lnTo>
                    <a:pt x="1990218" y="1198393"/>
                  </a:lnTo>
                  <a:lnTo>
                    <a:pt x="2000250" y="1148715"/>
                  </a:lnTo>
                  <a:lnTo>
                    <a:pt x="2000250" y="127635"/>
                  </a:lnTo>
                  <a:lnTo>
                    <a:pt x="1990218" y="77956"/>
                  </a:lnTo>
                  <a:lnTo>
                    <a:pt x="1962864" y="37385"/>
                  </a:lnTo>
                  <a:lnTo>
                    <a:pt x="1922293" y="10031"/>
                  </a:lnTo>
                  <a:lnTo>
                    <a:pt x="1872615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658225" y="4924425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0" y="127635"/>
                  </a:moveTo>
                  <a:lnTo>
                    <a:pt x="10031" y="77956"/>
                  </a:lnTo>
                  <a:lnTo>
                    <a:pt x="37385" y="37385"/>
                  </a:lnTo>
                  <a:lnTo>
                    <a:pt x="77956" y="10031"/>
                  </a:lnTo>
                  <a:lnTo>
                    <a:pt x="127634" y="0"/>
                  </a:lnTo>
                  <a:lnTo>
                    <a:pt x="1872615" y="0"/>
                  </a:lnTo>
                  <a:lnTo>
                    <a:pt x="1922293" y="10031"/>
                  </a:lnTo>
                  <a:lnTo>
                    <a:pt x="1962864" y="37385"/>
                  </a:lnTo>
                  <a:lnTo>
                    <a:pt x="1990218" y="77956"/>
                  </a:lnTo>
                  <a:lnTo>
                    <a:pt x="2000250" y="127635"/>
                  </a:lnTo>
                  <a:lnTo>
                    <a:pt x="2000250" y="1148715"/>
                  </a:lnTo>
                  <a:lnTo>
                    <a:pt x="1990218" y="1198393"/>
                  </a:lnTo>
                  <a:lnTo>
                    <a:pt x="1962864" y="1238964"/>
                  </a:lnTo>
                  <a:lnTo>
                    <a:pt x="1922293" y="1266318"/>
                  </a:lnTo>
                  <a:lnTo>
                    <a:pt x="1872615" y="1276350"/>
                  </a:lnTo>
                  <a:lnTo>
                    <a:pt x="127634" y="1276350"/>
                  </a:lnTo>
                  <a:lnTo>
                    <a:pt x="77956" y="1266318"/>
                  </a:lnTo>
                  <a:lnTo>
                    <a:pt x="37385" y="1238964"/>
                  </a:lnTo>
                  <a:lnTo>
                    <a:pt x="10031" y="1198393"/>
                  </a:lnTo>
                  <a:lnTo>
                    <a:pt x="0" y="1148715"/>
                  </a:lnTo>
                  <a:lnTo>
                    <a:pt x="0" y="12763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886825" y="5133975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1872615" y="0"/>
                  </a:moveTo>
                  <a:lnTo>
                    <a:pt x="127634" y="0"/>
                  </a:lnTo>
                  <a:lnTo>
                    <a:pt x="77956" y="10031"/>
                  </a:lnTo>
                  <a:lnTo>
                    <a:pt x="37385" y="37385"/>
                  </a:lnTo>
                  <a:lnTo>
                    <a:pt x="10031" y="77956"/>
                  </a:lnTo>
                  <a:lnTo>
                    <a:pt x="0" y="127634"/>
                  </a:lnTo>
                  <a:lnTo>
                    <a:pt x="0" y="1148715"/>
                  </a:lnTo>
                  <a:lnTo>
                    <a:pt x="10031" y="1198393"/>
                  </a:lnTo>
                  <a:lnTo>
                    <a:pt x="37385" y="1238964"/>
                  </a:lnTo>
                  <a:lnTo>
                    <a:pt x="77956" y="1266318"/>
                  </a:lnTo>
                  <a:lnTo>
                    <a:pt x="127634" y="1276350"/>
                  </a:lnTo>
                  <a:lnTo>
                    <a:pt x="1872615" y="1276350"/>
                  </a:lnTo>
                  <a:lnTo>
                    <a:pt x="1922293" y="1266318"/>
                  </a:lnTo>
                  <a:lnTo>
                    <a:pt x="1962864" y="1238964"/>
                  </a:lnTo>
                  <a:lnTo>
                    <a:pt x="1990218" y="1198393"/>
                  </a:lnTo>
                  <a:lnTo>
                    <a:pt x="2000250" y="1148715"/>
                  </a:lnTo>
                  <a:lnTo>
                    <a:pt x="2000250" y="127634"/>
                  </a:lnTo>
                  <a:lnTo>
                    <a:pt x="1990218" y="77956"/>
                  </a:lnTo>
                  <a:lnTo>
                    <a:pt x="1962864" y="37385"/>
                  </a:lnTo>
                  <a:lnTo>
                    <a:pt x="1922293" y="10031"/>
                  </a:lnTo>
                  <a:lnTo>
                    <a:pt x="187261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886825" y="5133975"/>
              <a:ext cx="2000250" cy="1276350"/>
            </a:xfrm>
            <a:custGeom>
              <a:avLst/>
              <a:gdLst/>
              <a:ahLst/>
              <a:cxnLst/>
              <a:rect l="l" t="t" r="r" b="b"/>
              <a:pathLst>
                <a:path w="2000250" h="1276350">
                  <a:moveTo>
                    <a:pt x="0" y="127634"/>
                  </a:moveTo>
                  <a:lnTo>
                    <a:pt x="10031" y="77956"/>
                  </a:lnTo>
                  <a:lnTo>
                    <a:pt x="37385" y="37385"/>
                  </a:lnTo>
                  <a:lnTo>
                    <a:pt x="77956" y="10031"/>
                  </a:lnTo>
                  <a:lnTo>
                    <a:pt x="127634" y="0"/>
                  </a:lnTo>
                  <a:lnTo>
                    <a:pt x="1872615" y="0"/>
                  </a:lnTo>
                  <a:lnTo>
                    <a:pt x="1922293" y="10031"/>
                  </a:lnTo>
                  <a:lnTo>
                    <a:pt x="1962864" y="37385"/>
                  </a:lnTo>
                  <a:lnTo>
                    <a:pt x="1990218" y="77956"/>
                  </a:lnTo>
                  <a:lnTo>
                    <a:pt x="2000250" y="127634"/>
                  </a:lnTo>
                  <a:lnTo>
                    <a:pt x="2000250" y="1148715"/>
                  </a:lnTo>
                  <a:lnTo>
                    <a:pt x="1990218" y="1198393"/>
                  </a:lnTo>
                  <a:lnTo>
                    <a:pt x="1962864" y="1238964"/>
                  </a:lnTo>
                  <a:lnTo>
                    <a:pt x="1922293" y="1266318"/>
                  </a:lnTo>
                  <a:lnTo>
                    <a:pt x="1872615" y="1276350"/>
                  </a:lnTo>
                  <a:lnTo>
                    <a:pt x="127634" y="1276350"/>
                  </a:lnTo>
                  <a:lnTo>
                    <a:pt x="77956" y="1266318"/>
                  </a:lnTo>
                  <a:lnTo>
                    <a:pt x="37385" y="1238964"/>
                  </a:lnTo>
                  <a:lnTo>
                    <a:pt x="10031" y="1198393"/>
                  </a:lnTo>
                  <a:lnTo>
                    <a:pt x="0" y="1148715"/>
                  </a:lnTo>
                  <a:lnTo>
                    <a:pt x="0" y="12763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9077070" y="5602922"/>
            <a:ext cx="1623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Balance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Enquiry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0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80" dirty="0"/>
              <a:t>9.</a:t>
            </a:r>
            <a:r>
              <a:rPr sz="3200" spc="220" dirty="0"/>
              <a:t> </a:t>
            </a:r>
            <a:r>
              <a:rPr sz="3200" spc="90" dirty="0"/>
              <a:t>Refactoring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2515" cy="3240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715" indent="-229235">
              <a:lnSpc>
                <a:spcPct val="1548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  <a:tab pos="2309495" algn="l"/>
                <a:tab pos="2757805" algn="l"/>
                <a:tab pos="3129280" algn="l"/>
                <a:tab pos="5628640" algn="l"/>
                <a:tab pos="7364730" algn="l"/>
                <a:tab pos="8174990" algn="l"/>
                <a:tab pos="9857740" algn="l"/>
              </a:tabLst>
            </a:pPr>
            <a:r>
              <a:rPr sz="2750" spc="40" dirty="0">
                <a:latin typeface="Cambria"/>
                <a:cs typeface="Cambria"/>
              </a:rPr>
              <a:t>	Refactoring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is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5" dirty="0">
                <a:solidFill>
                  <a:srgbClr val="FF1C05"/>
                </a:solidFill>
                <a:latin typeface="Cambria"/>
                <a:cs typeface="Cambria"/>
              </a:rPr>
              <a:t>reorganization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1C05"/>
                </a:solidFill>
                <a:latin typeface="Cambria"/>
                <a:cs typeface="Cambria"/>
              </a:rPr>
              <a:t>technique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20" dirty="0">
                <a:latin typeface="Cambria"/>
                <a:cs typeface="Cambria"/>
              </a:rPr>
              <a:t>that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5" dirty="0">
                <a:solidFill>
                  <a:srgbClr val="FF1C05"/>
                </a:solidFill>
                <a:latin typeface="Cambria"/>
                <a:cs typeface="Cambria"/>
              </a:rPr>
              <a:t>improves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1C05"/>
                </a:solidFill>
                <a:latin typeface="Cambria"/>
                <a:cs typeface="Cambria"/>
              </a:rPr>
              <a:t>software </a:t>
            </a:r>
            <a:r>
              <a:rPr sz="2750" spc="75" dirty="0">
                <a:solidFill>
                  <a:srgbClr val="FF1C05"/>
                </a:solidFill>
                <a:latin typeface="Cambria"/>
                <a:cs typeface="Cambria"/>
              </a:rPr>
              <a:t>design</a:t>
            </a:r>
            <a:r>
              <a:rPr sz="2750" spc="13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or</a:t>
            </a:r>
            <a:r>
              <a:rPr sz="2750" spc="13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60" dirty="0">
                <a:solidFill>
                  <a:srgbClr val="FF1C05"/>
                </a:solidFill>
                <a:latin typeface="Cambria"/>
                <a:cs typeface="Cambria"/>
              </a:rPr>
              <a:t>code</a:t>
            </a:r>
            <a:r>
              <a:rPr sz="2750" spc="8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75" dirty="0">
                <a:solidFill>
                  <a:srgbClr val="FF1C05"/>
                </a:solidFill>
                <a:latin typeface="Cambria"/>
                <a:cs typeface="Cambria"/>
              </a:rPr>
              <a:t>without</a:t>
            </a:r>
            <a:r>
              <a:rPr sz="2750" spc="10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90" dirty="0">
                <a:solidFill>
                  <a:srgbClr val="FF1C05"/>
                </a:solidFill>
                <a:latin typeface="Cambria"/>
                <a:cs typeface="Cambria"/>
              </a:rPr>
              <a:t>changing</a:t>
            </a:r>
            <a:r>
              <a:rPr sz="2750" spc="114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its</a:t>
            </a:r>
            <a:r>
              <a:rPr sz="2750" spc="11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60" dirty="0">
                <a:solidFill>
                  <a:srgbClr val="FF1C05"/>
                </a:solidFill>
                <a:latin typeface="Cambria"/>
                <a:cs typeface="Cambria"/>
              </a:rPr>
              <a:t>functionality</a:t>
            </a:r>
            <a:r>
              <a:rPr sz="2750" spc="10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or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behavior.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10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41300" marR="5080" indent="-229235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640" algn="l"/>
              </a:tabLst>
            </a:pPr>
            <a:r>
              <a:rPr sz="2750" spc="85" dirty="0">
                <a:latin typeface="Cambria"/>
                <a:cs typeface="Cambria"/>
              </a:rPr>
              <a:t>	Martin</a:t>
            </a:r>
            <a:r>
              <a:rPr sz="2750" spc="30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Fowler</a:t>
            </a:r>
            <a:r>
              <a:rPr sz="2750" spc="34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defines</a:t>
            </a:r>
            <a:r>
              <a:rPr sz="2750" spc="31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refactoring</a:t>
            </a:r>
            <a:r>
              <a:rPr sz="2750" spc="35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as</a:t>
            </a:r>
            <a:r>
              <a:rPr sz="2750" spc="305" dirty="0">
                <a:latin typeface="Cambria"/>
                <a:cs typeface="Cambria"/>
              </a:rPr>
              <a:t> </a:t>
            </a:r>
            <a:r>
              <a:rPr sz="2750" spc="110" dirty="0">
                <a:solidFill>
                  <a:srgbClr val="FF1C05"/>
                </a:solidFill>
                <a:latin typeface="Cambria"/>
                <a:cs typeface="Cambria"/>
              </a:rPr>
              <a:t>modifying</a:t>
            </a:r>
            <a:r>
              <a:rPr sz="2750" spc="35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a</a:t>
            </a:r>
            <a:r>
              <a:rPr sz="2750" spc="34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software</a:t>
            </a:r>
            <a:r>
              <a:rPr sz="2750" spc="37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FF1C05"/>
                </a:solidFill>
                <a:latin typeface="Cambria"/>
                <a:cs typeface="Cambria"/>
              </a:rPr>
              <a:t>system</a:t>
            </a:r>
            <a:r>
              <a:rPr sz="2750" spc="32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-25" dirty="0">
                <a:solidFill>
                  <a:srgbClr val="FF1C05"/>
                </a:solidFill>
                <a:latin typeface="Cambria"/>
                <a:cs typeface="Cambria"/>
              </a:rPr>
              <a:t>to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enhance</a:t>
            </a:r>
            <a:r>
              <a:rPr sz="2750" spc="27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its</a:t>
            </a:r>
            <a:r>
              <a:rPr sz="2750" spc="24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internal</a:t>
            </a:r>
            <a:r>
              <a:rPr sz="2750" spc="204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structure</a:t>
            </a:r>
            <a:r>
              <a:rPr sz="2750" spc="26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80" dirty="0">
                <a:solidFill>
                  <a:srgbClr val="FF1C05"/>
                </a:solidFill>
                <a:latin typeface="Cambria"/>
                <a:cs typeface="Cambria"/>
              </a:rPr>
              <a:t>while</a:t>
            </a:r>
            <a:r>
              <a:rPr sz="2750" spc="21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maintaining</a:t>
            </a:r>
            <a:r>
              <a:rPr sz="2750" spc="29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external</a:t>
            </a:r>
            <a:r>
              <a:rPr sz="2750" spc="254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FF1C05"/>
                </a:solidFill>
                <a:latin typeface="Cambria"/>
                <a:cs typeface="Cambria"/>
              </a:rPr>
              <a:t>behavior</a:t>
            </a:r>
            <a:r>
              <a:rPr sz="2750" spc="5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0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80" dirty="0"/>
              <a:t>9.</a:t>
            </a:r>
            <a:r>
              <a:rPr sz="3200" spc="220" dirty="0"/>
              <a:t> </a:t>
            </a:r>
            <a:r>
              <a:rPr sz="3200" spc="90" dirty="0"/>
              <a:t>Refactoring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10044430" cy="5179060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92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b="1" spc="100" dirty="0">
                <a:latin typeface="Times New Roman"/>
                <a:cs typeface="Times New Roman"/>
              </a:rPr>
              <a:t>Purpose</a:t>
            </a:r>
            <a:r>
              <a:rPr sz="2750" b="1" spc="60" dirty="0">
                <a:latin typeface="Times New Roman"/>
                <a:cs typeface="Times New Roman"/>
              </a:rPr>
              <a:t> </a:t>
            </a:r>
            <a:r>
              <a:rPr sz="2750" b="1" spc="175" dirty="0">
                <a:latin typeface="Times New Roman"/>
                <a:cs typeface="Times New Roman"/>
              </a:rPr>
              <a:t>of</a:t>
            </a:r>
            <a:r>
              <a:rPr sz="2750" b="1" spc="10" dirty="0">
                <a:latin typeface="Times New Roman"/>
                <a:cs typeface="Times New Roman"/>
              </a:rPr>
              <a:t> </a:t>
            </a:r>
            <a:r>
              <a:rPr sz="2750" b="1" spc="75" dirty="0">
                <a:latin typeface="Times New Roman"/>
                <a:cs typeface="Times New Roman"/>
              </a:rPr>
              <a:t>Refactoring</a:t>
            </a:r>
            <a:endParaRPr sz="2750">
              <a:latin typeface="Times New Roman"/>
              <a:cs typeface="Times New Roman"/>
            </a:endParaRPr>
          </a:p>
          <a:p>
            <a:pPr marL="712470" lvl="1" indent="-244475">
              <a:lnSpc>
                <a:spcPct val="100000"/>
              </a:lnSpc>
              <a:spcBef>
                <a:spcPts val="156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Eliminates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redundancy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unused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design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elements.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Improves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efficiency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by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optimizing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algorithms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structures.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10" dirty="0">
                <a:latin typeface="Cambria"/>
                <a:cs typeface="Cambria"/>
              </a:rPr>
              <a:t>Enhances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spc="10" dirty="0">
                <a:latin typeface="Cambria"/>
                <a:cs typeface="Cambria"/>
              </a:rPr>
              <a:t>readability,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10" dirty="0">
                <a:latin typeface="Cambria"/>
                <a:cs typeface="Cambria"/>
              </a:rPr>
              <a:t>maintainability,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10" dirty="0">
                <a:latin typeface="Cambria"/>
                <a:cs typeface="Cambria"/>
              </a:rPr>
              <a:t>scalability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of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10" dirty="0">
                <a:latin typeface="Cambria"/>
                <a:cs typeface="Cambria"/>
              </a:rPr>
              <a:t>the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software.</a:t>
            </a:r>
            <a:endParaRPr sz="2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305"/>
              </a:spcBef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marL="295275" indent="-282575">
              <a:lnSpc>
                <a:spcPct val="100000"/>
              </a:lnSpc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2750" b="1" spc="145" dirty="0">
                <a:latin typeface="Times New Roman"/>
                <a:cs typeface="Times New Roman"/>
              </a:rPr>
              <a:t>Identifying</a:t>
            </a:r>
            <a:r>
              <a:rPr sz="2750" b="1" spc="20" dirty="0">
                <a:latin typeface="Times New Roman"/>
                <a:cs typeface="Times New Roman"/>
              </a:rPr>
              <a:t> </a:t>
            </a:r>
            <a:r>
              <a:rPr sz="2750" b="1" spc="110" dirty="0">
                <a:latin typeface="Times New Roman"/>
                <a:cs typeface="Times New Roman"/>
              </a:rPr>
              <a:t>the</a:t>
            </a:r>
            <a:r>
              <a:rPr sz="2750" b="1" spc="60" dirty="0">
                <a:latin typeface="Times New Roman"/>
                <a:cs typeface="Times New Roman"/>
              </a:rPr>
              <a:t> </a:t>
            </a:r>
            <a:r>
              <a:rPr sz="2750" b="1" spc="220" dirty="0">
                <a:latin typeface="Times New Roman"/>
                <a:cs typeface="Times New Roman"/>
              </a:rPr>
              <a:t>Need</a:t>
            </a:r>
            <a:r>
              <a:rPr sz="2750" b="1" spc="5" dirty="0">
                <a:latin typeface="Times New Roman"/>
                <a:cs typeface="Times New Roman"/>
              </a:rPr>
              <a:t> </a:t>
            </a:r>
            <a:r>
              <a:rPr sz="2750" b="1" spc="55" dirty="0">
                <a:latin typeface="Times New Roman"/>
                <a:cs typeface="Times New Roman"/>
              </a:rPr>
              <a:t>for </a:t>
            </a:r>
            <a:r>
              <a:rPr sz="2750" b="1" spc="75" dirty="0">
                <a:latin typeface="Times New Roman"/>
                <a:cs typeface="Times New Roman"/>
              </a:rPr>
              <a:t>Refactoring</a:t>
            </a:r>
            <a:endParaRPr sz="2750">
              <a:latin typeface="Times New Roman"/>
              <a:cs typeface="Times New Roman"/>
            </a:endParaRPr>
          </a:p>
          <a:p>
            <a:pPr marL="712470" lvl="1" indent="-244475">
              <a:lnSpc>
                <a:spcPct val="100000"/>
              </a:lnSpc>
              <a:spcBef>
                <a:spcPts val="155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Detects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poorly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constructed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inappropriate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design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elements.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8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Identifies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low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cohesion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components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performing</a:t>
            </a:r>
            <a:r>
              <a:rPr sz="2400" spc="3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unrelated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functions.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0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Recognizes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unnecessary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complexities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system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design.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40" dirty="0"/>
              <a:t>Design</a:t>
            </a:r>
            <a:r>
              <a:rPr sz="3200" spc="250" dirty="0"/>
              <a:t> </a:t>
            </a:r>
            <a:r>
              <a:rPr sz="3200" spc="180" dirty="0"/>
              <a:t>Concepts</a:t>
            </a:r>
            <a:r>
              <a:rPr sz="3200" spc="210" dirty="0"/>
              <a:t> </a:t>
            </a:r>
            <a:r>
              <a:rPr sz="3200" spc="-455" dirty="0"/>
              <a:t>–</a:t>
            </a:r>
            <a:r>
              <a:rPr sz="3200" spc="250" dirty="0"/>
              <a:t> </a:t>
            </a:r>
            <a:r>
              <a:rPr sz="3200" spc="180" dirty="0"/>
              <a:t>9.</a:t>
            </a:r>
            <a:r>
              <a:rPr sz="3200" spc="220" dirty="0"/>
              <a:t> </a:t>
            </a:r>
            <a:r>
              <a:rPr sz="3200" spc="90" dirty="0"/>
              <a:t>Refactoring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88950" y="996844"/>
            <a:ext cx="11239500" cy="534479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575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b="1" spc="130" dirty="0">
                <a:latin typeface="Times New Roman"/>
                <a:cs typeface="Times New Roman"/>
              </a:rPr>
              <a:t>Benefits</a:t>
            </a:r>
            <a:r>
              <a:rPr sz="2750" b="1" spc="5" dirty="0">
                <a:latin typeface="Times New Roman"/>
                <a:cs typeface="Times New Roman"/>
              </a:rPr>
              <a:t> </a:t>
            </a:r>
            <a:r>
              <a:rPr sz="2750" b="1" spc="170" dirty="0">
                <a:latin typeface="Times New Roman"/>
                <a:cs typeface="Times New Roman"/>
              </a:rPr>
              <a:t>of</a:t>
            </a:r>
            <a:r>
              <a:rPr sz="2750" b="1" spc="15" dirty="0">
                <a:latin typeface="Times New Roman"/>
                <a:cs typeface="Times New Roman"/>
              </a:rPr>
              <a:t> </a:t>
            </a:r>
            <a:r>
              <a:rPr sz="2750" b="1" spc="75" dirty="0">
                <a:latin typeface="Times New Roman"/>
                <a:cs typeface="Times New Roman"/>
              </a:rPr>
              <a:t>Refactoring</a:t>
            </a:r>
            <a:endParaRPr sz="2750">
              <a:latin typeface="Times New Roman"/>
              <a:cs typeface="Times New Roman"/>
            </a:endParaRPr>
          </a:p>
          <a:p>
            <a:pPr marL="699135" marR="5080" lvl="1" indent="-231140">
              <a:lnSpc>
                <a:spcPct val="140800"/>
              </a:lnSpc>
              <a:spcBef>
                <a:spcPts val="80"/>
              </a:spcBef>
              <a:buSzPct val="95833"/>
              <a:buFont typeface="Wingdings"/>
              <a:buChar char=""/>
              <a:tabLst>
                <a:tab pos="699135" algn="l"/>
                <a:tab pos="712470" algn="l"/>
                <a:tab pos="1703705" algn="l"/>
                <a:tab pos="2161540" algn="l"/>
                <a:tab pos="3234690" algn="l"/>
                <a:tab pos="4614545" algn="l"/>
                <a:tab pos="5144135" algn="l"/>
                <a:tab pos="6530340" algn="l"/>
                <a:tab pos="7506334" algn="l"/>
                <a:tab pos="8844915" algn="l"/>
                <a:tab pos="10688320" algn="l"/>
              </a:tabLst>
            </a:pPr>
            <a:r>
              <a:rPr sz="2400" spc="-10" dirty="0">
                <a:latin typeface="Cambria"/>
                <a:cs typeface="Cambria"/>
              </a:rPr>
              <a:t>	Leads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higher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cohesion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5" dirty="0">
                <a:latin typeface="Cambria"/>
                <a:cs typeface="Cambria"/>
              </a:rPr>
              <a:t>by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breaking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60" dirty="0">
                <a:latin typeface="Cambria"/>
                <a:cs typeface="Cambria"/>
              </a:rPr>
              <a:t>down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complex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components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into </a:t>
            </a:r>
            <a:r>
              <a:rPr sz="2400" dirty="0">
                <a:latin typeface="Cambria"/>
                <a:cs typeface="Cambria"/>
              </a:rPr>
              <a:t>smaller,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well-</a:t>
            </a:r>
            <a:r>
              <a:rPr sz="2400" spc="45" dirty="0">
                <a:latin typeface="Cambria"/>
                <a:cs typeface="Cambria"/>
              </a:rPr>
              <a:t>defined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modules.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1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Results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software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easier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integrate,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test,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maintain.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10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Reduces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technical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debt,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making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future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modifications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smoother.</a:t>
            </a:r>
            <a:endParaRPr sz="2400">
              <a:latin typeface="Cambria"/>
              <a:cs typeface="Cambria"/>
            </a:endParaRPr>
          </a:p>
          <a:p>
            <a:pPr marL="295275" indent="-282575">
              <a:lnSpc>
                <a:spcPct val="100000"/>
              </a:lnSpc>
              <a:spcBef>
                <a:spcPts val="1350"/>
              </a:spcBef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2750" b="1" spc="90" dirty="0">
                <a:latin typeface="Times New Roman"/>
                <a:cs typeface="Times New Roman"/>
              </a:rPr>
              <a:t>Example</a:t>
            </a:r>
            <a:r>
              <a:rPr sz="2750" b="1" spc="10" dirty="0">
                <a:latin typeface="Times New Roman"/>
                <a:cs typeface="Times New Roman"/>
              </a:rPr>
              <a:t> </a:t>
            </a:r>
            <a:r>
              <a:rPr sz="2750" b="1" spc="175" dirty="0">
                <a:latin typeface="Times New Roman"/>
                <a:cs typeface="Times New Roman"/>
              </a:rPr>
              <a:t>of</a:t>
            </a:r>
            <a:r>
              <a:rPr sz="2750" b="1" spc="10" dirty="0">
                <a:latin typeface="Times New Roman"/>
                <a:cs typeface="Times New Roman"/>
              </a:rPr>
              <a:t> </a:t>
            </a:r>
            <a:r>
              <a:rPr sz="2750" b="1" spc="75" dirty="0">
                <a:latin typeface="Times New Roman"/>
                <a:cs typeface="Times New Roman"/>
              </a:rPr>
              <a:t>Refactoring</a:t>
            </a:r>
            <a:endParaRPr sz="2750">
              <a:latin typeface="Times New Roman"/>
              <a:cs typeface="Times New Roman"/>
            </a:endParaRPr>
          </a:p>
          <a:p>
            <a:pPr marL="712470" lvl="1" indent="-244475">
              <a:lnSpc>
                <a:spcPct val="100000"/>
              </a:lnSpc>
              <a:spcBef>
                <a:spcPts val="1255"/>
              </a:spcBef>
              <a:buSzPct val="95833"/>
              <a:buFont typeface="Wingdings"/>
              <a:buChar char=""/>
              <a:tabLst>
                <a:tab pos="712470" algn="l"/>
                <a:tab pos="1085850" algn="l"/>
                <a:tab pos="2745740" algn="l"/>
                <a:tab pos="4427855" algn="l"/>
                <a:tab pos="5255260" algn="l"/>
                <a:tab pos="6348095" algn="l"/>
                <a:tab pos="7424420" algn="l"/>
                <a:tab pos="8822690" algn="l"/>
                <a:tab pos="9176385" algn="l"/>
                <a:tab pos="10688320" algn="l"/>
              </a:tabLst>
            </a:pPr>
            <a:r>
              <a:rPr sz="2400" spc="31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component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performing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three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loosely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related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functions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refactored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into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Cambria"/>
                <a:cs typeface="Cambria"/>
              </a:rPr>
              <a:t>three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separate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components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with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high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cohesion.</a:t>
            </a:r>
            <a:endParaRPr sz="2400">
              <a:latin typeface="Cambria"/>
              <a:cs typeface="Cambria"/>
            </a:endParaRPr>
          </a:p>
          <a:p>
            <a:pPr marL="699135" marR="10795" lvl="1" indent="-231140">
              <a:lnSpc>
                <a:spcPts val="4060"/>
              </a:lnSpc>
              <a:spcBef>
                <a:spcPts val="55"/>
              </a:spcBef>
              <a:buSzPct val="95833"/>
              <a:buFont typeface="Wingdings"/>
              <a:buChar char=""/>
              <a:tabLst>
                <a:tab pos="699135" algn="l"/>
                <a:tab pos="712470" algn="l"/>
                <a:tab pos="1631950" algn="l"/>
                <a:tab pos="3243580" algn="l"/>
                <a:tab pos="5184140" algn="l"/>
                <a:tab pos="6833870" algn="l"/>
                <a:tab pos="8157845" algn="l"/>
                <a:tab pos="9010015" algn="l"/>
                <a:tab pos="10588625" algn="l"/>
              </a:tabLst>
            </a:pPr>
            <a:r>
              <a:rPr sz="2400" spc="-20" dirty="0">
                <a:latin typeface="Cambria"/>
                <a:cs typeface="Cambria"/>
              </a:rPr>
              <a:t>	This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improves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0" dirty="0">
                <a:latin typeface="Cambria"/>
                <a:cs typeface="Cambria"/>
              </a:rPr>
              <a:t>modularity,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simplifies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testing,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5" dirty="0">
                <a:latin typeface="Cambria"/>
                <a:cs typeface="Cambria"/>
              </a:rPr>
              <a:t>and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enhances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code </a:t>
            </a:r>
            <a:r>
              <a:rPr sz="2400" spc="-10" dirty="0">
                <a:latin typeface="Cambria"/>
                <a:cs typeface="Cambria"/>
              </a:rPr>
              <a:t>maintainability.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65" dirty="0"/>
              <a:t> </a:t>
            </a:r>
            <a:r>
              <a:rPr spc="135" dirty="0"/>
              <a:t>Interface</a:t>
            </a:r>
            <a:r>
              <a:rPr spc="350" dirty="0"/>
              <a:t> </a:t>
            </a:r>
            <a:r>
              <a:rPr spc="195" dirty="0"/>
              <a:t>Design</a:t>
            </a:r>
            <a:r>
              <a:rPr spc="335" dirty="0"/>
              <a:t> </a:t>
            </a:r>
            <a:r>
              <a:rPr spc="-560" dirty="0"/>
              <a:t>–</a:t>
            </a:r>
            <a:r>
              <a:rPr spc="340" dirty="0"/>
              <a:t> </a:t>
            </a:r>
            <a:r>
              <a:rPr spc="185" dirty="0"/>
              <a:t>Golden</a:t>
            </a:r>
            <a:r>
              <a:rPr spc="330" dirty="0"/>
              <a:t> </a:t>
            </a:r>
            <a:r>
              <a:rPr spc="215" dirty="0"/>
              <a:t>Rules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578" y="1057081"/>
            <a:ext cx="4110144" cy="6527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94326" y="1214056"/>
            <a:ext cx="241173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Place</a:t>
            </a:r>
            <a:r>
              <a:rPr sz="17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17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User</a:t>
            </a:r>
            <a:r>
              <a:rPr sz="1700" spc="1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1700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35" dirty="0">
                <a:solidFill>
                  <a:srgbClr val="FFFFFF"/>
                </a:solidFill>
                <a:latin typeface="Cambria"/>
                <a:cs typeface="Cambria"/>
              </a:rPr>
              <a:t>Control</a:t>
            </a:r>
            <a:endParaRPr sz="17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5787" y="1780952"/>
            <a:ext cx="7301000" cy="52895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746878" y="1807527"/>
            <a:ext cx="6801484" cy="44323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0" marR="5080" indent="-114935">
              <a:lnSpc>
                <a:spcPts val="1580"/>
              </a:lnSpc>
              <a:spcBef>
                <a:spcPts val="260"/>
              </a:spcBef>
              <a:buSzPct val="92857"/>
              <a:buChar char="•"/>
              <a:tabLst>
                <a:tab pos="127000" algn="l"/>
              </a:tabLst>
            </a:pPr>
            <a:r>
              <a:rPr sz="1400" dirty="0">
                <a:latin typeface="Cambria"/>
                <a:cs typeface="Cambria"/>
              </a:rPr>
              <a:t>Design</a:t>
            </a:r>
            <a:r>
              <a:rPr sz="1400" spc="3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interfaces</a:t>
            </a:r>
            <a:r>
              <a:rPr sz="1400" spc="3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that</a:t>
            </a:r>
            <a:r>
              <a:rPr sz="1400" spc="3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react</a:t>
            </a:r>
            <a:r>
              <a:rPr sz="1400" spc="3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3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user</a:t>
            </a:r>
            <a:r>
              <a:rPr sz="1400" spc="32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needs,</a:t>
            </a:r>
            <a:r>
              <a:rPr sz="1400" spc="32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enabling</a:t>
            </a:r>
            <a:r>
              <a:rPr sz="1400" spc="30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users</a:t>
            </a:r>
            <a:r>
              <a:rPr sz="1400" spc="3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3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feel</a:t>
            </a:r>
            <a:r>
              <a:rPr sz="1400" spc="3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in</a:t>
            </a:r>
            <a:r>
              <a:rPr sz="1400" spc="3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charge</a:t>
            </a:r>
            <a:r>
              <a:rPr sz="1400" spc="33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rather </a:t>
            </a:r>
            <a:r>
              <a:rPr sz="1400" dirty="0">
                <a:latin typeface="Cambria"/>
                <a:cs typeface="Cambria"/>
              </a:rPr>
              <a:t>than</a:t>
            </a:r>
            <a:r>
              <a:rPr sz="1400" spc="114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controlled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by</a:t>
            </a:r>
            <a:r>
              <a:rPr sz="1400" spc="114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the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system.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0525" y="1704911"/>
            <a:ext cx="4138676" cy="68103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37272" y="1907540"/>
            <a:ext cx="285178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85" dirty="0">
                <a:solidFill>
                  <a:srgbClr val="FFFFFF"/>
                </a:solidFill>
                <a:latin typeface="Times New Roman"/>
                <a:cs typeface="Times New Roman"/>
              </a:rPr>
              <a:t>Allow</a:t>
            </a:r>
            <a:r>
              <a:rPr sz="1400" b="1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14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1400" b="1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1400" b="1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400" b="1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0525" y="2371661"/>
            <a:ext cx="11406505" cy="690880"/>
            <a:chOff x="390525" y="2371661"/>
            <a:chExt cx="11406505" cy="69088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95787" y="2447705"/>
              <a:ext cx="7301000" cy="5384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0525" y="2371661"/>
              <a:ext cx="4138676" cy="69056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077277" y="2581592"/>
            <a:ext cx="27628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Define</a:t>
            </a:r>
            <a:r>
              <a:rPr sz="1400" b="1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interaction</a:t>
            </a:r>
            <a:r>
              <a:rPr sz="14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 modes</a:t>
            </a:r>
            <a:r>
              <a:rPr sz="1400" b="1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flexibly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95787" y="3123977"/>
            <a:ext cx="7301000" cy="52895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746878" y="2482278"/>
            <a:ext cx="6797675" cy="11176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0" marR="5080" indent="-114935">
              <a:lnSpc>
                <a:spcPts val="1580"/>
              </a:lnSpc>
              <a:spcBef>
                <a:spcPts val="260"/>
              </a:spcBef>
              <a:buSzPct val="92857"/>
              <a:buChar char="•"/>
              <a:tabLst>
                <a:tab pos="127000" algn="l"/>
              </a:tabLst>
            </a:pPr>
            <a:r>
              <a:rPr sz="1400" spc="85" dirty="0">
                <a:latin typeface="Cambria"/>
                <a:cs typeface="Cambria"/>
              </a:rPr>
              <a:t>Avoid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forcing</a:t>
            </a:r>
            <a:r>
              <a:rPr sz="1400" spc="1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users</a:t>
            </a:r>
            <a:r>
              <a:rPr sz="1400" spc="1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into</a:t>
            </a:r>
            <a:r>
              <a:rPr sz="1400" spc="1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unnecessary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or</a:t>
            </a:r>
            <a:r>
              <a:rPr sz="1400" spc="12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undesired</a:t>
            </a:r>
            <a:r>
              <a:rPr sz="1400" spc="12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actions;</a:t>
            </a:r>
            <a:r>
              <a:rPr sz="1400" spc="1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allow</a:t>
            </a:r>
            <a:r>
              <a:rPr sz="1400" spc="1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easy</a:t>
            </a:r>
            <a:r>
              <a:rPr sz="1400" spc="114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entry</a:t>
            </a:r>
            <a:r>
              <a:rPr sz="1400" spc="12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and</a:t>
            </a:r>
            <a:r>
              <a:rPr sz="1400" spc="114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exit </a:t>
            </a:r>
            <a:r>
              <a:rPr sz="1400" dirty="0">
                <a:latin typeface="Cambria"/>
                <a:cs typeface="Cambria"/>
              </a:rPr>
              <a:t>from</a:t>
            </a:r>
            <a:r>
              <a:rPr sz="1400" spc="1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modes</a:t>
            </a:r>
            <a:r>
              <a:rPr sz="1400" spc="16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(e.g.,</a:t>
            </a:r>
            <a:r>
              <a:rPr sz="1400" spc="18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spell-check</a:t>
            </a:r>
            <a:r>
              <a:rPr sz="1400" spc="204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mode).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75"/>
              </a:spcBef>
              <a:buFont typeface="Cambria"/>
              <a:buChar char="•"/>
            </a:pPr>
            <a:endParaRPr sz="1400">
              <a:latin typeface="Cambria"/>
              <a:cs typeface="Cambria"/>
            </a:endParaRPr>
          </a:p>
          <a:p>
            <a:pPr marL="126364" indent="-113664">
              <a:lnSpc>
                <a:spcPts val="1625"/>
              </a:lnSpc>
              <a:buSzPct val="92857"/>
              <a:buChar char="•"/>
              <a:tabLst>
                <a:tab pos="126364" algn="l"/>
                <a:tab pos="926465" algn="l"/>
                <a:tab pos="1757045" algn="l"/>
                <a:tab pos="2764155" algn="l"/>
                <a:tab pos="3609340" algn="l"/>
                <a:tab pos="4619625" algn="l"/>
                <a:tab pos="5346065" algn="l"/>
                <a:tab pos="5995670" algn="l"/>
                <a:tab pos="6628130" algn="l"/>
              </a:tabLst>
            </a:pPr>
            <a:r>
              <a:rPr sz="1400" spc="-10" dirty="0">
                <a:latin typeface="Cambria"/>
                <a:cs typeface="Cambria"/>
              </a:rPr>
              <a:t>Support</a:t>
            </a:r>
            <a:r>
              <a:rPr sz="1400" dirty="0">
                <a:latin typeface="Cambria"/>
                <a:cs typeface="Cambria"/>
              </a:rPr>
              <a:t>	</a:t>
            </a:r>
            <a:r>
              <a:rPr sz="1400" spc="-10" dirty="0">
                <a:latin typeface="Cambria"/>
                <a:cs typeface="Cambria"/>
              </a:rPr>
              <a:t>multiple</a:t>
            </a:r>
            <a:r>
              <a:rPr sz="1400" dirty="0">
                <a:latin typeface="Cambria"/>
                <a:cs typeface="Cambria"/>
              </a:rPr>
              <a:t>	</a:t>
            </a:r>
            <a:r>
              <a:rPr sz="1400" spc="-10" dirty="0">
                <a:latin typeface="Cambria"/>
                <a:cs typeface="Cambria"/>
              </a:rPr>
              <a:t>interaction</a:t>
            </a:r>
            <a:r>
              <a:rPr sz="1400" dirty="0">
                <a:latin typeface="Cambria"/>
                <a:cs typeface="Cambria"/>
              </a:rPr>
              <a:t>	</a:t>
            </a:r>
            <a:r>
              <a:rPr sz="1400" spc="-10" dirty="0">
                <a:latin typeface="Cambria"/>
                <a:cs typeface="Cambria"/>
              </a:rPr>
              <a:t>methods</a:t>
            </a:r>
            <a:r>
              <a:rPr sz="1400" dirty="0">
                <a:latin typeface="Cambria"/>
                <a:cs typeface="Cambria"/>
              </a:rPr>
              <a:t>	</a:t>
            </a:r>
            <a:r>
              <a:rPr sz="1400" spc="-10" dirty="0">
                <a:latin typeface="Cambria"/>
                <a:cs typeface="Cambria"/>
              </a:rPr>
              <a:t>(keyboard,</a:t>
            </a:r>
            <a:r>
              <a:rPr sz="1400" dirty="0">
                <a:latin typeface="Cambria"/>
                <a:cs typeface="Cambria"/>
              </a:rPr>
              <a:t>	</a:t>
            </a:r>
            <a:r>
              <a:rPr sz="1400" spc="-10" dirty="0">
                <a:latin typeface="Cambria"/>
                <a:cs typeface="Cambria"/>
              </a:rPr>
              <a:t>mouse,</a:t>
            </a:r>
            <a:r>
              <a:rPr sz="1400" dirty="0">
                <a:latin typeface="Cambria"/>
                <a:cs typeface="Cambria"/>
              </a:rPr>
              <a:t>	</a:t>
            </a:r>
            <a:r>
              <a:rPr sz="1400" spc="-10" dirty="0">
                <a:latin typeface="Cambria"/>
                <a:cs typeface="Cambria"/>
              </a:rPr>
              <a:t>touch,</a:t>
            </a:r>
            <a:r>
              <a:rPr sz="1400" dirty="0">
                <a:latin typeface="Cambria"/>
                <a:cs typeface="Cambria"/>
              </a:rPr>
              <a:t>	</a:t>
            </a:r>
            <a:r>
              <a:rPr sz="1400" spc="-10" dirty="0">
                <a:latin typeface="Cambria"/>
                <a:cs typeface="Cambria"/>
              </a:rPr>
              <a:t>voice)</a:t>
            </a:r>
            <a:r>
              <a:rPr sz="1400" dirty="0">
                <a:latin typeface="Cambria"/>
                <a:cs typeface="Cambria"/>
              </a:rPr>
              <a:t>	</a:t>
            </a:r>
            <a:r>
              <a:rPr sz="1400" spc="-25" dirty="0">
                <a:latin typeface="Cambria"/>
                <a:cs typeface="Cambria"/>
              </a:rPr>
              <a:t>to</a:t>
            </a:r>
            <a:endParaRPr sz="1400">
              <a:latin typeface="Cambria"/>
              <a:cs typeface="Cambria"/>
            </a:endParaRPr>
          </a:p>
          <a:p>
            <a:pPr marL="127000">
              <a:lnSpc>
                <a:spcPts val="1630"/>
              </a:lnSpc>
            </a:pPr>
            <a:r>
              <a:rPr sz="1400" dirty="0">
                <a:latin typeface="Cambria"/>
                <a:cs typeface="Cambria"/>
              </a:rPr>
              <a:t>accommodate</a:t>
            </a:r>
            <a:r>
              <a:rPr sz="1400" spc="1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diverse</a:t>
            </a:r>
            <a:r>
              <a:rPr sz="1400" spc="12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user</a:t>
            </a:r>
            <a:r>
              <a:rPr sz="1400" spc="17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preferences.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0525" y="3047936"/>
            <a:ext cx="4138676" cy="68103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008062" y="3256216"/>
            <a:ext cx="29038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1400" b="1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flexible</a:t>
            </a:r>
            <a:r>
              <a:rPr sz="1400" b="1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interaction</a:t>
            </a:r>
            <a:r>
              <a:rPr sz="1400" b="1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options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95787" y="3800252"/>
            <a:ext cx="7301000" cy="52895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746878" y="3831272"/>
            <a:ext cx="6801484" cy="44386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0" marR="5080" indent="-114935">
              <a:lnSpc>
                <a:spcPts val="1580"/>
              </a:lnSpc>
              <a:spcBef>
                <a:spcPts val="260"/>
              </a:spcBef>
              <a:buSzPct val="92857"/>
              <a:buChar char="•"/>
              <a:tabLst>
                <a:tab pos="127000" algn="l"/>
              </a:tabLst>
            </a:pPr>
            <a:r>
              <a:rPr sz="1400" spc="80" dirty="0">
                <a:latin typeface="Cambria"/>
                <a:cs typeface="Cambria"/>
              </a:rPr>
              <a:t>Allow</a:t>
            </a:r>
            <a:r>
              <a:rPr sz="1400" spc="38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users</a:t>
            </a:r>
            <a:r>
              <a:rPr sz="1400" spc="48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4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pause</a:t>
            </a:r>
            <a:r>
              <a:rPr sz="1400" spc="409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sequences,</a:t>
            </a:r>
            <a:r>
              <a:rPr sz="1400" spc="40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switch</a:t>
            </a:r>
            <a:r>
              <a:rPr sz="1400" spc="459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tasks,</a:t>
            </a:r>
            <a:r>
              <a:rPr sz="1400" spc="4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and</a:t>
            </a:r>
            <a:r>
              <a:rPr sz="1400" spc="430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undo</a:t>
            </a:r>
            <a:r>
              <a:rPr sz="1400" spc="39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actions</a:t>
            </a:r>
            <a:r>
              <a:rPr sz="1400" spc="4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without</a:t>
            </a:r>
            <a:r>
              <a:rPr sz="1400" spc="459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losing progress.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0525" y="3724211"/>
            <a:ext cx="4138676" cy="68103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28980" y="3930967"/>
            <a:ext cx="347027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Enable</a:t>
            </a:r>
            <a:r>
              <a:rPr sz="1400" b="1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interruptible</a:t>
            </a:r>
            <a:r>
              <a:rPr sz="1400" b="1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400" b="1" spc="70" dirty="0">
                <a:solidFill>
                  <a:srgbClr val="FFFFFF"/>
                </a:solidFill>
                <a:latin typeface="Times New Roman"/>
                <a:cs typeface="Times New Roman"/>
              </a:rPr>
              <a:t> undoable</a:t>
            </a:r>
            <a:r>
              <a:rPr sz="1400" b="1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actions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495787" y="4476527"/>
            <a:ext cx="7301000" cy="52895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746878" y="4506023"/>
            <a:ext cx="6802755" cy="44323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0" marR="5080" indent="-114935">
              <a:lnSpc>
                <a:spcPts val="1580"/>
              </a:lnSpc>
              <a:spcBef>
                <a:spcPts val="260"/>
              </a:spcBef>
              <a:buSzPct val="92857"/>
              <a:buChar char="•"/>
              <a:tabLst>
                <a:tab pos="127000" algn="l"/>
              </a:tabLst>
            </a:pPr>
            <a:r>
              <a:rPr sz="1400" dirty="0">
                <a:latin typeface="Cambria"/>
                <a:cs typeface="Cambria"/>
              </a:rPr>
              <a:t>Offer</a:t>
            </a:r>
            <a:r>
              <a:rPr sz="1400" spc="100" dirty="0">
                <a:latin typeface="Cambria"/>
                <a:cs typeface="Cambria"/>
              </a:rPr>
              <a:t>  </a:t>
            </a:r>
            <a:r>
              <a:rPr sz="1400" dirty="0">
                <a:latin typeface="Cambria"/>
                <a:cs typeface="Cambria"/>
              </a:rPr>
              <a:t>customization</a:t>
            </a:r>
            <a:r>
              <a:rPr sz="1400" spc="95" dirty="0">
                <a:latin typeface="Cambria"/>
                <a:cs typeface="Cambria"/>
              </a:rPr>
              <a:t>  </a:t>
            </a:r>
            <a:r>
              <a:rPr sz="1400" dirty="0">
                <a:latin typeface="Cambria"/>
                <a:cs typeface="Cambria"/>
              </a:rPr>
              <a:t>features</a:t>
            </a:r>
            <a:r>
              <a:rPr sz="1400" spc="110" dirty="0">
                <a:latin typeface="Cambria"/>
                <a:cs typeface="Cambria"/>
              </a:rPr>
              <a:t>  </a:t>
            </a:r>
            <a:r>
              <a:rPr sz="1400" dirty="0">
                <a:latin typeface="Cambria"/>
                <a:cs typeface="Cambria"/>
              </a:rPr>
              <a:t>like</a:t>
            </a:r>
            <a:r>
              <a:rPr sz="1400" spc="110" dirty="0">
                <a:latin typeface="Cambria"/>
                <a:cs typeface="Cambria"/>
              </a:rPr>
              <a:t>  </a:t>
            </a:r>
            <a:r>
              <a:rPr sz="1400" dirty="0">
                <a:latin typeface="Cambria"/>
                <a:cs typeface="Cambria"/>
              </a:rPr>
              <a:t>macros</a:t>
            </a:r>
            <a:r>
              <a:rPr sz="1400" spc="90" dirty="0">
                <a:latin typeface="Cambria"/>
                <a:cs typeface="Cambria"/>
              </a:rPr>
              <a:t> 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105" dirty="0">
                <a:latin typeface="Cambria"/>
                <a:cs typeface="Cambria"/>
              </a:rPr>
              <a:t>  </a:t>
            </a:r>
            <a:r>
              <a:rPr sz="1400" dirty="0">
                <a:latin typeface="Cambria"/>
                <a:cs typeface="Cambria"/>
              </a:rPr>
              <a:t>simplify</a:t>
            </a:r>
            <a:r>
              <a:rPr sz="1400" spc="110" dirty="0">
                <a:latin typeface="Cambria"/>
                <a:cs typeface="Cambria"/>
              </a:rPr>
              <a:t>  </a:t>
            </a:r>
            <a:r>
              <a:rPr sz="1400" dirty="0">
                <a:latin typeface="Cambria"/>
                <a:cs typeface="Cambria"/>
              </a:rPr>
              <a:t>repetitive</a:t>
            </a:r>
            <a:r>
              <a:rPr sz="1400" spc="110" dirty="0">
                <a:latin typeface="Cambria"/>
                <a:cs typeface="Cambria"/>
              </a:rPr>
              <a:t>  </a:t>
            </a:r>
            <a:r>
              <a:rPr sz="1400" dirty="0">
                <a:latin typeface="Cambria"/>
                <a:cs typeface="Cambria"/>
              </a:rPr>
              <a:t>tasks</a:t>
            </a:r>
            <a:r>
              <a:rPr sz="1400" spc="49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for</a:t>
            </a:r>
            <a:r>
              <a:rPr sz="1400" spc="120" dirty="0">
                <a:latin typeface="Cambria"/>
                <a:cs typeface="Cambria"/>
              </a:rPr>
              <a:t>  </a:t>
            </a:r>
            <a:r>
              <a:rPr sz="1400" spc="-10" dirty="0">
                <a:latin typeface="Cambria"/>
                <a:cs typeface="Cambria"/>
              </a:rPr>
              <a:t>skilled users.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90525" y="4390961"/>
            <a:ext cx="4138676" cy="690562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58507" y="4605908"/>
            <a:ext cx="3399154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Streamline</a:t>
            </a:r>
            <a:r>
              <a:rPr sz="1400" b="1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interaction</a:t>
            </a:r>
            <a:r>
              <a:rPr sz="1400" b="1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00" b="1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advanced</a:t>
            </a:r>
            <a:r>
              <a:rPr sz="1400" b="1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495787" y="5143341"/>
            <a:ext cx="7301000" cy="52895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4746878" y="5180647"/>
            <a:ext cx="6797675" cy="44386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0" marR="5080" indent="-114935">
              <a:lnSpc>
                <a:spcPts val="1580"/>
              </a:lnSpc>
              <a:spcBef>
                <a:spcPts val="260"/>
              </a:spcBef>
              <a:buChar char="•"/>
              <a:tabLst>
                <a:tab pos="127000" algn="l"/>
                <a:tab pos="170815" algn="l"/>
              </a:tabLst>
            </a:pPr>
            <a:r>
              <a:rPr sz="1400" dirty="0">
                <a:latin typeface="Cambria"/>
                <a:cs typeface="Cambria"/>
              </a:rPr>
              <a:t>	Shield</a:t>
            </a:r>
            <a:r>
              <a:rPr sz="1400" spc="3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casual</a:t>
            </a:r>
            <a:r>
              <a:rPr sz="1400" spc="3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users</a:t>
            </a:r>
            <a:r>
              <a:rPr sz="1400" spc="3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from</a:t>
            </a:r>
            <a:r>
              <a:rPr sz="1400" spc="2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system</a:t>
            </a:r>
            <a:r>
              <a:rPr sz="1400" spc="3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internals</a:t>
            </a:r>
            <a:r>
              <a:rPr sz="1400" spc="3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(e.g.,</a:t>
            </a:r>
            <a:r>
              <a:rPr sz="1400" spc="3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operating</a:t>
            </a:r>
            <a:r>
              <a:rPr sz="1400" spc="3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system</a:t>
            </a:r>
            <a:r>
              <a:rPr sz="1400" spc="30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commands)</a:t>
            </a:r>
            <a:r>
              <a:rPr sz="1400" spc="310" dirty="0">
                <a:latin typeface="Cambria"/>
                <a:cs typeface="Cambria"/>
              </a:rPr>
              <a:t> </a:t>
            </a:r>
            <a:r>
              <a:rPr sz="1400" spc="-25" dirty="0">
                <a:latin typeface="Cambria"/>
                <a:cs typeface="Cambria"/>
              </a:rPr>
              <a:t>and </a:t>
            </a:r>
            <a:r>
              <a:rPr sz="1400" dirty="0">
                <a:latin typeface="Cambria"/>
                <a:cs typeface="Cambria"/>
              </a:rPr>
              <a:t>focus</a:t>
            </a:r>
            <a:r>
              <a:rPr sz="1400" spc="10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on</a:t>
            </a:r>
            <a:r>
              <a:rPr sz="1400" spc="12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task-oriented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interactions.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90525" y="5067300"/>
            <a:ext cx="4138676" cy="690562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564386" y="5279961"/>
            <a:ext cx="17907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70" dirty="0">
                <a:solidFill>
                  <a:srgbClr val="FFFFFF"/>
                </a:solidFill>
                <a:latin typeface="Times New Roman"/>
                <a:cs typeface="Times New Roman"/>
              </a:rPr>
              <a:t>Hide</a:t>
            </a:r>
            <a:r>
              <a:rPr sz="1400" b="1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technical</a:t>
            </a:r>
            <a:r>
              <a:rPr sz="1400" b="1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details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495787" y="5819616"/>
            <a:ext cx="7301000" cy="52895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4746878" y="5855652"/>
            <a:ext cx="6802755" cy="443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6364" indent="-113664">
              <a:lnSpc>
                <a:spcPts val="1630"/>
              </a:lnSpc>
              <a:spcBef>
                <a:spcPts val="125"/>
              </a:spcBef>
              <a:buSzPct val="92857"/>
              <a:buChar char="•"/>
              <a:tabLst>
                <a:tab pos="126364" algn="l"/>
              </a:tabLst>
            </a:pPr>
            <a:r>
              <a:rPr sz="1400" spc="80" dirty="0">
                <a:latin typeface="Cambria"/>
                <a:cs typeface="Cambria"/>
              </a:rPr>
              <a:t>Allow</a:t>
            </a:r>
            <a:r>
              <a:rPr sz="1400" spc="36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users</a:t>
            </a:r>
            <a:r>
              <a:rPr sz="1400" spc="4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40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interact</a:t>
            </a:r>
            <a:r>
              <a:rPr sz="1400" spc="4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directly</a:t>
            </a:r>
            <a:r>
              <a:rPr sz="1400" spc="40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with</a:t>
            </a:r>
            <a:r>
              <a:rPr sz="1400" spc="4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on-screen</a:t>
            </a:r>
            <a:r>
              <a:rPr sz="1400" spc="4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objects</a:t>
            </a:r>
            <a:r>
              <a:rPr sz="1400" spc="42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(e.g.,</a:t>
            </a:r>
            <a:r>
              <a:rPr sz="1400" spc="409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resizing</a:t>
            </a:r>
            <a:r>
              <a:rPr sz="1400" spc="4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or</a:t>
            </a:r>
            <a:r>
              <a:rPr sz="1400" spc="425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moving</a:t>
            </a:r>
            <a:endParaRPr sz="1400">
              <a:latin typeface="Cambria"/>
              <a:cs typeface="Cambria"/>
            </a:endParaRPr>
          </a:p>
          <a:p>
            <a:pPr marL="127000">
              <a:lnSpc>
                <a:spcPts val="1630"/>
              </a:lnSpc>
            </a:pPr>
            <a:r>
              <a:rPr sz="1400" dirty="0">
                <a:latin typeface="Cambria"/>
                <a:cs typeface="Cambria"/>
              </a:rPr>
              <a:t>items)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for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sense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of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control.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90525" y="5743575"/>
            <a:ext cx="4138676" cy="681037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336675" y="5954712"/>
            <a:ext cx="22555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Enable</a:t>
            </a:r>
            <a:r>
              <a:rPr sz="1400" b="1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direct</a:t>
            </a:r>
            <a:r>
              <a:rPr sz="1400" b="1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manipulation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65" dirty="0"/>
              <a:t> </a:t>
            </a:r>
            <a:r>
              <a:rPr spc="135" dirty="0"/>
              <a:t>Interface</a:t>
            </a:r>
            <a:r>
              <a:rPr spc="350" dirty="0"/>
              <a:t> </a:t>
            </a:r>
            <a:r>
              <a:rPr spc="195" dirty="0"/>
              <a:t>Design</a:t>
            </a:r>
            <a:r>
              <a:rPr spc="335" dirty="0"/>
              <a:t> </a:t>
            </a:r>
            <a:r>
              <a:rPr spc="-560" dirty="0"/>
              <a:t>–</a:t>
            </a:r>
            <a:r>
              <a:rPr spc="340" dirty="0"/>
              <a:t> </a:t>
            </a:r>
            <a:r>
              <a:rPr spc="185" dirty="0"/>
              <a:t>Golden</a:t>
            </a:r>
            <a:r>
              <a:rPr spc="330" dirty="0"/>
              <a:t> </a:t>
            </a:r>
            <a:r>
              <a:rPr spc="215" dirty="0"/>
              <a:t>Rules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578" y="1066636"/>
            <a:ext cx="4110144" cy="8622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85640" y="1334452"/>
            <a:ext cx="322453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Reduce</a:t>
            </a:r>
            <a:r>
              <a:rPr sz="17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8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7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FFFF"/>
                </a:solidFill>
                <a:latin typeface="Times New Roman"/>
                <a:cs typeface="Times New Roman"/>
              </a:rPr>
              <a:t>User’s</a:t>
            </a:r>
            <a:r>
              <a:rPr sz="17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 Memory</a:t>
            </a:r>
            <a:r>
              <a:rPr sz="170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Load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90525" y="1923986"/>
            <a:ext cx="11406505" cy="4405630"/>
            <a:chOff x="390525" y="1923986"/>
            <a:chExt cx="11406505" cy="44056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5787" y="2028639"/>
              <a:ext cx="7301000" cy="7003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525" y="1923986"/>
              <a:ext cx="4138676" cy="9001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95787" y="2923989"/>
              <a:ext cx="7301000" cy="7003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0525" y="2828861"/>
              <a:ext cx="4138676" cy="9001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95787" y="3828864"/>
              <a:ext cx="7301000" cy="7003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0525" y="3724211"/>
              <a:ext cx="4138676" cy="9001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95787" y="4724341"/>
              <a:ext cx="7301000" cy="7003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0525" y="4629213"/>
              <a:ext cx="4138676" cy="9001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95787" y="5629152"/>
              <a:ext cx="7301000" cy="70033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746878" y="2090356"/>
            <a:ext cx="6793230" cy="413131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84150" marR="17145" indent="-172085">
              <a:lnSpc>
                <a:spcPts val="1880"/>
              </a:lnSpc>
              <a:spcBef>
                <a:spcPts val="320"/>
              </a:spcBef>
              <a:buFont typeface="Arial MT"/>
              <a:buChar char="•"/>
              <a:tabLst>
                <a:tab pos="184150" algn="l"/>
              </a:tabLst>
            </a:pPr>
            <a:r>
              <a:rPr sz="1700" spc="60" dirty="0">
                <a:latin typeface="Cambria"/>
                <a:cs typeface="Cambria"/>
              </a:rPr>
              <a:t>Use</a:t>
            </a:r>
            <a:r>
              <a:rPr sz="1700" spc="165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visual</a:t>
            </a:r>
            <a:r>
              <a:rPr sz="1700" spc="16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cues</a:t>
            </a:r>
            <a:r>
              <a:rPr sz="1700" spc="135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17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help</a:t>
            </a:r>
            <a:r>
              <a:rPr sz="1700" spc="14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users</a:t>
            </a:r>
            <a:r>
              <a:rPr sz="1700" spc="16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recognize</a:t>
            </a:r>
            <a:r>
              <a:rPr sz="1700" spc="145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past</a:t>
            </a:r>
            <a:r>
              <a:rPr sz="1700" spc="14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actions</a:t>
            </a:r>
            <a:r>
              <a:rPr sz="1700" spc="15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instead</a:t>
            </a:r>
            <a:r>
              <a:rPr sz="1700" spc="160" dirty="0">
                <a:latin typeface="Cambria"/>
                <a:cs typeface="Cambria"/>
              </a:rPr>
              <a:t>  </a:t>
            </a:r>
            <a:r>
              <a:rPr sz="1700" spc="-25" dirty="0">
                <a:latin typeface="Cambria"/>
                <a:cs typeface="Cambria"/>
              </a:rPr>
              <a:t>of </a:t>
            </a:r>
            <a:r>
              <a:rPr sz="1700" dirty="0">
                <a:latin typeface="Cambria"/>
                <a:cs typeface="Cambria"/>
              </a:rPr>
              <a:t>recalling</a:t>
            </a:r>
            <a:r>
              <a:rPr sz="1700" spc="22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them.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45"/>
              </a:spcBef>
              <a:buFont typeface="Arial MT"/>
              <a:buChar char="•"/>
            </a:pPr>
            <a:endParaRPr sz="1700">
              <a:latin typeface="Cambria"/>
              <a:cs typeface="Cambria"/>
            </a:endParaRPr>
          </a:p>
          <a:p>
            <a:pPr marL="184150" marR="5080" indent="-172085">
              <a:lnSpc>
                <a:spcPts val="1880"/>
              </a:lnSpc>
              <a:buFont typeface="Arial MT"/>
              <a:buChar char="•"/>
              <a:tabLst>
                <a:tab pos="184150" algn="l"/>
              </a:tabLst>
            </a:pPr>
            <a:r>
              <a:rPr sz="1700" dirty="0">
                <a:latin typeface="Cambria"/>
                <a:cs typeface="Cambria"/>
              </a:rPr>
              <a:t>Provide</a:t>
            </a:r>
            <a:r>
              <a:rPr sz="1700" spc="65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sensible</a:t>
            </a:r>
            <a:r>
              <a:rPr sz="1700" spc="4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default</a:t>
            </a:r>
            <a:r>
              <a:rPr sz="1700" spc="48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settings</a:t>
            </a:r>
            <a:r>
              <a:rPr sz="1700" spc="4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4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average</a:t>
            </a:r>
            <a:r>
              <a:rPr sz="1700" spc="4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users</a:t>
            </a:r>
            <a:r>
              <a:rPr sz="1700" spc="6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while</a:t>
            </a:r>
            <a:r>
              <a:rPr sz="1700" spc="70" dirty="0">
                <a:latin typeface="Cambria"/>
                <a:cs typeface="Cambria"/>
              </a:rPr>
              <a:t>  </a:t>
            </a:r>
            <a:r>
              <a:rPr sz="1700" spc="35" dirty="0">
                <a:latin typeface="Cambria"/>
                <a:cs typeface="Cambria"/>
              </a:rPr>
              <a:t>allowing </a:t>
            </a:r>
            <a:r>
              <a:rPr sz="1700" dirty="0">
                <a:latin typeface="Cambria"/>
                <a:cs typeface="Cambria"/>
              </a:rPr>
              <a:t>personalization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and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offering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reset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option.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40"/>
              </a:spcBef>
              <a:buFont typeface="Arial MT"/>
              <a:buChar char="•"/>
            </a:pPr>
            <a:endParaRPr sz="1700">
              <a:latin typeface="Cambria"/>
              <a:cs typeface="Cambria"/>
            </a:endParaRPr>
          </a:p>
          <a:p>
            <a:pPr marL="184150" marR="15875" indent="-172085">
              <a:lnSpc>
                <a:spcPts val="1880"/>
              </a:lnSpc>
              <a:buFont typeface="Arial MT"/>
              <a:buChar char="•"/>
              <a:tabLst>
                <a:tab pos="184150" algn="l"/>
              </a:tabLst>
            </a:pPr>
            <a:r>
              <a:rPr sz="1700" spc="60" dirty="0">
                <a:latin typeface="Cambria"/>
                <a:cs typeface="Cambria"/>
              </a:rPr>
              <a:t>Use</a:t>
            </a:r>
            <a:r>
              <a:rPr sz="1700" spc="2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mnemonics</a:t>
            </a:r>
            <a:r>
              <a:rPr sz="1700" spc="2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tied</a:t>
            </a:r>
            <a:r>
              <a:rPr sz="1700" spc="2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2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actions</a:t>
            </a:r>
            <a:r>
              <a:rPr sz="1700" spc="2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(e.g.,</a:t>
            </a:r>
            <a:r>
              <a:rPr sz="1700" spc="26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alt-</a:t>
            </a:r>
            <a:r>
              <a:rPr sz="1700" spc="75" dirty="0">
                <a:latin typeface="Cambria"/>
                <a:cs typeface="Cambria"/>
              </a:rPr>
              <a:t>P</a:t>
            </a:r>
            <a:r>
              <a:rPr sz="1700" spc="2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2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print)</a:t>
            </a:r>
            <a:r>
              <a:rPr sz="1700" spc="2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that</a:t>
            </a:r>
            <a:r>
              <a:rPr sz="1700" spc="2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are</a:t>
            </a:r>
            <a:r>
              <a:rPr sz="1700" spc="2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easy</a:t>
            </a:r>
            <a:r>
              <a:rPr sz="1700" spc="229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to </a:t>
            </a:r>
            <a:r>
              <a:rPr sz="1700" spc="-10" dirty="0">
                <a:latin typeface="Cambria"/>
                <a:cs typeface="Cambria"/>
              </a:rPr>
              <a:t>remember.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40"/>
              </a:spcBef>
              <a:buFont typeface="Arial MT"/>
              <a:buChar char="•"/>
            </a:pPr>
            <a:endParaRPr sz="1700">
              <a:latin typeface="Cambria"/>
              <a:cs typeface="Cambria"/>
            </a:endParaRPr>
          </a:p>
          <a:p>
            <a:pPr marL="184150" marR="5715" indent="-172085">
              <a:lnSpc>
                <a:spcPts val="1880"/>
              </a:lnSpc>
              <a:buFont typeface="Arial MT"/>
              <a:buChar char="•"/>
              <a:tabLst>
                <a:tab pos="184150" algn="l"/>
              </a:tabLst>
            </a:pPr>
            <a:r>
              <a:rPr sz="1700" dirty="0">
                <a:latin typeface="Cambria"/>
                <a:cs typeface="Cambria"/>
              </a:rPr>
              <a:t>Base</a:t>
            </a:r>
            <a:r>
              <a:rPr sz="1700" spc="36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interface</a:t>
            </a:r>
            <a:r>
              <a:rPr sz="1700" spc="3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layouts</a:t>
            </a:r>
            <a:r>
              <a:rPr sz="1700" spc="3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on</a:t>
            </a:r>
            <a:r>
              <a:rPr sz="1700" spc="40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familiar</a:t>
            </a:r>
            <a:r>
              <a:rPr sz="1700" spc="3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concepts</a:t>
            </a:r>
            <a:r>
              <a:rPr sz="1700" spc="35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(e.g.,</a:t>
            </a:r>
            <a:r>
              <a:rPr sz="1700" spc="3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checkbook</a:t>
            </a:r>
            <a:r>
              <a:rPr sz="1700" spc="3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380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bill </a:t>
            </a:r>
            <a:r>
              <a:rPr sz="1700" dirty="0">
                <a:latin typeface="Cambria"/>
                <a:cs typeface="Cambria"/>
              </a:rPr>
              <a:t>payments)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1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reduce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need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memorization.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40"/>
              </a:spcBef>
              <a:buFont typeface="Arial MT"/>
              <a:buChar char="•"/>
            </a:pPr>
            <a:endParaRPr sz="1700">
              <a:latin typeface="Cambria"/>
              <a:cs typeface="Cambria"/>
            </a:endParaRPr>
          </a:p>
          <a:p>
            <a:pPr marL="184150" marR="15875" indent="-172085">
              <a:lnSpc>
                <a:spcPts val="1880"/>
              </a:lnSpc>
              <a:buFont typeface="Arial MT"/>
              <a:buChar char="•"/>
              <a:tabLst>
                <a:tab pos="184150" algn="l"/>
              </a:tabLst>
            </a:pPr>
            <a:r>
              <a:rPr sz="1700" dirty="0">
                <a:latin typeface="Cambria"/>
                <a:cs typeface="Cambria"/>
              </a:rPr>
              <a:t>Present</a:t>
            </a:r>
            <a:r>
              <a:rPr sz="1700" spc="2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high-level</a:t>
            </a:r>
            <a:r>
              <a:rPr sz="1700" spc="2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overviews</a:t>
            </a:r>
            <a:r>
              <a:rPr sz="1700" spc="229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first</a:t>
            </a:r>
            <a:r>
              <a:rPr sz="1700" spc="19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and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reveal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details</a:t>
            </a:r>
            <a:r>
              <a:rPr sz="1700" spc="1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progressively</a:t>
            </a:r>
            <a:r>
              <a:rPr sz="1700" spc="265" dirty="0">
                <a:latin typeface="Cambria"/>
                <a:cs typeface="Cambria"/>
              </a:rPr>
              <a:t> </a:t>
            </a:r>
            <a:r>
              <a:rPr sz="1700" spc="-35" dirty="0">
                <a:latin typeface="Cambria"/>
                <a:cs typeface="Cambria"/>
              </a:rPr>
              <a:t>as </a:t>
            </a:r>
            <a:r>
              <a:rPr sz="1700" dirty="0">
                <a:latin typeface="Cambria"/>
                <a:cs typeface="Cambria"/>
              </a:rPr>
              <a:t>users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show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interest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(e.g.,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hierarchical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menus).</a:t>
            </a:r>
            <a:endParaRPr sz="1700">
              <a:latin typeface="Cambria"/>
              <a:cs typeface="Cambr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90525" y="5524500"/>
            <a:ext cx="4138676" cy="90011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96900" y="2086292"/>
            <a:ext cx="3728720" cy="40176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64795" marR="250825" algn="ctr">
              <a:lnSpc>
                <a:spcPts val="1880"/>
              </a:lnSpc>
              <a:spcBef>
                <a:spcPts val="320"/>
              </a:spcBef>
            </a:pPr>
            <a:r>
              <a:rPr sz="170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Minimize</a:t>
            </a:r>
            <a:r>
              <a:rPr sz="1700" b="1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FFFF"/>
                </a:solidFill>
                <a:latin typeface="Times New Roman"/>
                <a:cs typeface="Times New Roman"/>
              </a:rPr>
              <a:t>reliance</a:t>
            </a:r>
            <a:r>
              <a:rPr sz="1700" b="1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11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700" b="1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FFFF"/>
                </a:solidFill>
                <a:latin typeface="Times New Roman"/>
                <a:cs typeface="Times New Roman"/>
              </a:rPr>
              <a:t>short-</a:t>
            </a:r>
            <a:r>
              <a:rPr sz="17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term </a:t>
            </a:r>
            <a:r>
              <a:rPr sz="17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memory</a:t>
            </a:r>
            <a:endParaRPr sz="1700">
              <a:latin typeface="Times New Roman"/>
              <a:cs typeface="Times New Roman"/>
            </a:endParaRPr>
          </a:p>
          <a:p>
            <a:pPr marL="579755" marR="577215" indent="6985" algn="ctr">
              <a:lnSpc>
                <a:spcPts val="7090"/>
              </a:lnSpc>
              <a:spcBef>
                <a:spcPts val="150"/>
              </a:spcBef>
            </a:pPr>
            <a:r>
              <a:rPr sz="17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17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85" dirty="0">
                <a:solidFill>
                  <a:srgbClr val="FFFFFF"/>
                </a:solidFill>
                <a:latin typeface="Times New Roman"/>
                <a:cs typeface="Times New Roman"/>
              </a:rPr>
              <a:t>meaningful</a:t>
            </a:r>
            <a:r>
              <a:rPr sz="17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defaults </a:t>
            </a:r>
            <a:r>
              <a:rPr sz="1700" b="1" spc="100" dirty="0">
                <a:solidFill>
                  <a:srgbClr val="FFFFFF"/>
                </a:solidFill>
                <a:latin typeface="Times New Roman"/>
                <a:cs typeface="Times New Roman"/>
              </a:rPr>
              <a:t>Design</a:t>
            </a:r>
            <a:r>
              <a:rPr sz="17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65" dirty="0">
                <a:solidFill>
                  <a:srgbClr val="FFFFFF"/>
                </a:solidFill>
                <a:latin typeface="Times New Roman"/>
                <a:cs typeface="Times New Roman"/>
              </a:rPr>
              <a:t>intuitive</a:t>
            </a:r>
            <a:r>
              <a:rPr sz="17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shortcuts </a:t>
            </a:r>
            <a:r>
              <a:rPr sz="1700" b="1" spc="1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17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sz="1700" b="1" spc="75" dirty="0">
                <a:solidFill>
                  <a:srgbClr val="FFFFFF"/>
                </a:solidFill>
                <a:latin typeface="Times New Roman"/>
                <a:cs typeface="Times New Roman"/>
              </a:rPr>
              <a:t>world</a:t>
            </a:r>
            <a:r>
              <a:rPr sz="17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metaphors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7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Progressive</a:t>
            </a:r>
            <a:r>
              <a:rPr sz="1700" b="1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65" dirty="0">
                <a:solidFill>
                  <a:srgbClr val="FFFFFF"/>
                </a:solidFill>
                <a:latin typeface="Times New Roman"/>
                <a:cs typeface="Times New Roman"/>
              </a:rPr>
              <a:t>disclosure</a:t>
            </a:r>
            <a:r>
              <a:rPr sz="170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7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700" b="1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65" dirty="0"/>
              <a:t> </a:t>
            </a:r>
            <a:r>
              <a:rPr spc="135" dirty="0"/>
              <a:t>Interface</a:t>
            </a:r>
            <a:r>
              <a:rPr spc="350" dirty="0"/>
              <a:t> </a:t>
            </a:r>
            <a:r>
              <a:rPr spc="195" dirty="0"/>
              <a:t>Design</a:t>
            </a:r>
            <a:r>
              <a:rPr spc="335" dirty="0"/>
              <a:t> </a:t>
            </a:r>
            <a:r>
              <a:rPr spc="-560" dirty="0"/>
              <a:t>–</a:t>
            </a:r>
            <a:r>
              <a:rPr spc="340" dirty="0"/>
              <a:t> </a:t>
            </a:r>
            <a:r>
              <a:rPr spc="185" dirty="0"/>
              <a:t>Golden</a:t>
            </a:r>
            <a:r>
              <a:rPr spc="330" dirty="0"/>
              <a:t> </a:t>
            </a:r>
            <a:r>
              <a:rPr spc="215" dirty="0"/>
              <a:t>Rules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578" y="1066620"/>
            <a:ext cx="4110144" cy="7384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02734" y="1268412"/>
            <a:ext cx="300164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70" dirty="0">
                <a:solidFill>
                  <a:srgbClr val="FFFFFF"/>
                </a:solidFill>
                <a:latin typeface="Times New Roman"/>
                <a:cs typeface="Times New Roman"/>
              </a:rPr>
              <a:t>Make</a:t>
            </a:r>
            <a:r>
              <a:rPr sz="170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70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FFFFFF"/>
                </a:solidFill>
                <a:latin typeface="Times New Roman"/>
                <a:cs typeface="Times New Roman"/>
              </a:rPr>
              <a:t>Interface</a:t>
            </a:r>
            <a:r>
              <a:rPr sz="1700" b="1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Consistent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90525" y="1800161"/>
            <a:ext cx="11406505" cy="4538980"/>
            <a:chOff x="390525" y="1800161"/>
            <a:chExt cx="11406505" cy="45389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5787" y="1885746"/>
              <a:ext cx="7301000" cy="6051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525" y="1800161"/>
              <a:ext cx="4138676" cy="7762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95787" y="2657271"/>
              <a:ext cx="7301000" cy="60511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0525" y="2571686"/>
              <a:ext cx="4138676" cy="7762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95787" y="3428796"/>
              <a:ext cx="7301000" cy="60511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0525" y="3343211"/>
              <a:ext cx="4138676" cy="77628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95787" y="4190796"/>
              <a:ext cx="7301000" cy="60511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0525" y="4105211"/>
              <a:ext cx="4138676" cy="77628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95787" y="4962448"/>
              <a:ext cx="7301000" cy="60511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0525" y="4876800"/>
              <a:ext cx="4138676" cy="77628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95787" y="5733909"/>
              <a:ext cx="7301000" cy="60511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746878" y="1898586"/>
            <a:ext cx="6799580" cy="438531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84150" marR="5080" indent="-172085">
              <a:lnSpc>
                <a:spcPts val="1880"/>
              </a:lnSpc>
              <a:spcBef>
                <a:spcPts val="320"/>
              </a:spcBef>
              <a:buFont typeface="Arial MT"/>
              <a:buChar char="•"/>
              <a:tabLst>
                <a:tab pos="184150" algn="l"/>
              </a:tabLst>
            </a:pPr>
            <a:r>
              <a:rPr sz="1700" spc="90" dirty="0">
                <a:latin typeface="Cambria"/>
                <a:cs typeface="Cambria"/>
              </a:rPr>
              <a:t>Apply</a:t>
            </a:r>
            <a:r>
              <a:rPr sz="1700" spc="3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uniform</a:t>
            </a:r>
            <a:r>
              <a:rPr sz="1700" spc="3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design</a:t>
            </a:r>
            <a:r>
              <a:rPr sz="1700" spc="2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rules</a:t>
            </a:r>
            <a:r>
              <a:rPr sz="1700" spc="3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across</a:t>
            </a:r>
            <a:r>
              <a:rPr sz="1700" spc="3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all</a:t>
            </a:r>
            <a:r>
              <a:rPr sz="1700" spc="2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screens</a:t>
            </a:r>
            <a:r>
              <a:rPr sz="1700" spc="26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3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ensure</a:t>
            </a:r>
            <a:r>
              <a:rPr sz="1700" spc="3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clarity</a:t>
            </a:r>
            <a:r>
              <a:rPr sz="1700" spc="290" dirty="0">
                <a:latin typeface="Cambria"/>
                <a:cs typeface="Cambria"/>
              </a:rPr>
              <a:t> </a:t>
            </a:r>
            <a:r>
              <a:rPr sz="1700" spc="35" dirty="0">
                <a:latin typeface="Cambria"/>
                <a:cs typeface="Cambria"/>
              </a:rPr>
              <a:t>and </a:t>
            </a:r>
            <a:r>
              <a:rPr sz="1700" spc="-10" dirty="0">
                <a:latin typeface="Cambria"/>
                <a:cs typeface="Cambria"/>
              </a:rPr>
              <a:t>coherence.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•"/>
            </a:pPr>
            <a:endParaRPr sz="1700">
              <a:latin typeface="Cambria"/>
              <a:cs typeface="Cambria"/>
            </a:endParaRPr>
          </a:p>
          <a:p>
            <a:pPr marL="184150" marR="17780" indent="-172085">
              <a:lnSpc>
                <a:spcPts val="1880"/>
              </a:lnSpc>
              <a:buFont typeface="Arial MT"/>
              <a:buChar char="•"/>
              <a:tabLst>
                <a:tab pos="184150" algn="l"/>
              </a:tabLst>
            </a:pPr>
            <a:r>
              <a:rPr sz="1700" spc="60" dirty="0">
                <a:latin typeface="Cambria"/>
                <a:cs typeface="Cambria"/>
              </a:rPr>
              <a:t>Use</a:t>
            </a:r>
            <a:r>
              <a:rPr sz="1700" spc="2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26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consistent</a:t>
            </a:r>
            <a:r>
              <a:rPr sz="1700" spc="2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set</a:t>
            </a:r>
            <a:r>
              <a:rPr sz="1700" spc="3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30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input</a:t>
            </a:r>
            <a:r>
              <a:rPr sz="1700" spc="2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methods</a:t>
            </a:r>
            <a:r>
              <a:rPr sz="1700" spc="2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throughout</a:t>
            </a:r>
            <a:r>
              <a:rPr sz="1700" spc="3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229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application</a:t>
            </a:r>
            <a:r>
              <a:rPr sz="1700" spc="229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to </a:t>
            </a:r>
            <a:r>
              <a:rPr sz="1700" dirty="0">
                <a:latin typeface="Cambria"/>
                <a:cs typeface="Cambria"/>
              </a:rPr>
              <a:t>avoid</a:t>
            </a:r>
            <a:r>
              <a:rPr sz="1700" spc="28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confusion.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75"/>
              </a:spcBef>
              <a:buFont typeface="Arial MT"/>
              <a:buChar char="•"/>
            </a:pPr>
            <a:endParaRPr sz="1700">
              <a:latin typeface="Cambria"/>
              <a:cs typeface="Cambria"/>
            </a:endParaRPr>
          </a:p>
          <a:p>
            <a:pPr marL="184150" indent="-1714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1700" dirty="0">
                <a:latin typeface="Cambria"/>
                <a:cs typeface="Cambria"/>
              </a:rPr>
              <a:t>Define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and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implement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consistent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ways</a:t>
            </a:r>
            <a:r>
              <a:rPr sz="1700" spc="1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move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between</a:t>
            </a:r>
            <a:r>
              <a:rPr sz="1700" spc="204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tasks.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Font typeface="Arial MT"/>
              <a:buChar char="•"/>
            </a:pPr>
            <a:endParaRPr sz="1700">
              <a:latin typeface="Cambria"/>
              <a:cs typeface="Cambria"/>
            </a:endParaRPr>
          </a:p>
          <a:p>
            <a:pPr marL="184150" marR="10795" indent="-172085">
              <a:lnSpc>
                <a:spcPts val="188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1700" spc="60" dirty="0">
                <a:latin typeface="Cambria"/>
                <a:cs typeface="Cambria"/>
              </a:rPr>
              <a:t>Use</a:t>
            </a:r>
            <a:r>
              <a:rPr sz="1700" spc="4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indicators</a:t>
            </a:r>
            <a:r>
              <a:rPr sz="1700" spc="4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(titles,</a:t>
            </a:r>
            <a:r>
              <a:rPr sz="1700" spc="4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icons,</a:t>
            </a:r>
            <a:r>
              <a:rPr sz="1700" spc="4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colors)</a:t>
            </a:r>
            <a:r>
              <a:rPr sz="1700" spc="40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43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help</a:t>
            </a:r>
            <a:r>
              <a:rPr sz="1700" spc="3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users</a:t>
            </a:r>
            <a:r>
              <a:rPr sz="1700" spc="4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understand</a:t>
            </a:r>
            <a:r>
              <a:rPr sz="1700" spc="40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their </a:t>
            </a:r>
            <a:r>
              <a:rPr sz="1700" dirty="0">
                <a:latin typeface="Cambria"/>
                <a:cs typeface="Cambria"/>
              </a:rPr>
              <a:t>current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task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and</a:t>
            </a:r>
            <a:r>
              <a:rPr sz="1700" spc="6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navigate</a:t>
            </a:r>
            <a:r>
              <a:rPr sz="1700" spc="1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effectively.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Arial MT"/>
              <a:buChar char="•"/>
            </a:pPr>
            <a:endParaRPr sz="1700">
              <a:latin typeface="Cambria"/>
              <a:cs typeface="Cambria"/>
            </a:endParaRPr>
          </a:p>
          <a:p>
            <a:pPr marL="184150" marR="9525" indent="-172085">
              <a:lnSpc>
                <a:spcPts val="1880"/>
              </a:lnSpc>
              <a:spcBef>
                <a:spcPts val="5"/>
              </a:spcBef>
              <a:buFont typeface="Arial MT"/>
              <a:buChar char="•"/>
              <a:tabLst>
                <a:tab pos="184150" algn="l"/>
              </a:tabLst>
            </a:pPr>
            <a:r>
              <a:rPr sz="1700" dirty="0">
                <a:latin typeface="Cambria"/>
                <a:cs typeface="Cambria"/>
              </a:rPr>
              <a:t>Ensure</a:t>
            </a:r>
            <a:r>
              <a:rPr sz="1700" spc="2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all</a:t>
            </a:r>
            <a:r>
              <a:rPr sz="1700" spc="2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products</a:t>
            </a:r>
            <a:r>
              <a:rPr sz="1700" spc="2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2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family</a:t>
            </a:r>
            <a:r>
              <a:rPr sz="1700" spc="2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follow</a:t>
            </a:r>
            <a:r>
              <a:rPr sz="1700" spc="2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same</a:t>
            </a:r>
            <a:r>
              <a:rPr sz="1700" spc="2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design</a:t>
            </a:r>
            <a:r>
              <a:rPr sz="1700" spc="1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principles</a:t>
            </a:r>
            <a:r>
              <a:rPr sz="1700" spc="250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for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16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unified</a:t>
            </a:r>
            <a:r>
              <a:rPr sz="1700" spc="229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experience.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Arial MT"/>
              <a:buChar char="•"/>
            </a:pPr>
            <a:endParaRPr sz="1700">
              <a:latin typeface="Cambria"/>
              <a:cs typeface="Cambria"/>
            </a:endParaRPr>
          </a:p>
          <a:p>
            <a:pPr marL="184150" marR="9525" indent="-172085">
              <a:lnSpc>
                <a:spcPts val="1880"/>
              </a:lnSpc>
              <a:buFont typeface="Arial MT"/>
              <a:buChar char="•"/>
              <a:tabLst>
                <a:tab pos="184150" algn="l"/>
              </a:tabLst>
            </a:pPr>
            <a:r>
              <a:rPr sz="1700" spc="90" dirty="0">
                <a:latin typeface="Cambria"/>
                <a:cs typeface="Cambria"/>
              </a:rPr>
              <a:t>Avoid</a:t>
            </a:r>
            <a:r>
              <a:rPr sz="1700" spc="3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changing</a:t>
            </a:r>
            <a:r>
              <a:rPr sz="1700" spc="340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widely</a:t>
            </a:r>
            <a:r>
              <a:rPr sz="1700" spc="3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accepted</a:t>
            </a:r>
            <a:r>
              <a:rPr sz="1700" spc="3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interaction</a:t>
            </a:r>
            <a:r>
              <a:rPr sz="1700" spc="3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patterns</a:t>
            </a:r>
            <a:r>
              <a:rPr sz="1700" spc="3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(e.g.,</a:t>
            </a:r>
            <a:r>
              <a:rPr sz="1700" spc="3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alt-</a:t>
            </a:r>
            <a:r>
              <a:rPr sz="1700" spc="65" dirty="0">
                <a:latin typeface="Cambria"/>
                <a:cs typeface="Cambria"/>
              </a:rPr>
              <a:t>S</a:t>
            </a:r>
            <a:r>
              <a:rPr sz="1700" spc="330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for </a:t>
            </a:r>
            <a:r>
              <a:rPr sz="1700" dirty="0">
                <a:latin typeface="Cambria"/>
                <a:cs typeface="Cambria"/>
              </a:rPr>
              <a:t>save)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unless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necessary,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as</a:t>
            </a:r>
            <a:r>
              <a:rPr sz="1700" spc="1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changes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can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confuse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users.</a:t>
            </a:r>
            <a:endParaRPr sz="1700">
              <a:latin typeface="Cambria"/>
              <a:cs typeface="Cambri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90525" y="5648325"/>
            <a:ext cx="4138676" cy="776287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69365" marR="452120" indent="-810895">
              <a:lnSpc>
                <a:spcPts val="1880"/>
              </a:lnSpc>
              <a:spcBef>
                <a:spcPts val="320"/>
              </a:spcBef>
            </a:pPr>
            <a:r>
              <a:rPr spc="50" dirty="0"/>
              <a:t>Organize</a:t>
            </a:r>
            <a:r>
              <a:rPr spc="5" dirty="0"/>
              <a:t> </a:t>
            </a:r>
            <a:r>
              <a:rPr spc="80" dirty="0"/>
              <a:t>visual</a:t>
            </a:r>
            <a:r>
              <a:rPr spc="-5" dirty="0"/>
              <a:t> </a:t>
            </a:r>
            <a:r>
              <a:rPr spc="45" dirty="0"/>
              <a:t>information </a:t>
            </a:r>
            <a:r>
              <a:rPr spc="55" dirty="0"/>
              <a:t>consistently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pc="55" dirty="0"/>
          </a:p>
          <a:p>
            <a:pPr marL="1251585" marR="476250" indent="-770890">
              <a:lnSpc>
                <a:spcPts val="1880"/>
              </a:lnSpc>
            </a:pPr>
            <a:r>
              <a:rPr dirty="0"/>
              <a:t>Limit</a:t>
            </a:r>
            <a:r>
              <a:rPr spc="20" dirty="0"/>
              <a:t> </a:t>
            </a:r>
            <a:r>
              <a:rPr spc="50" dirty="0"/>
              <a:t>and</a:t>
            </a:r>
            <a:r>
              <a:rPr spc="75" dirty="0"/>
              <a:t> </a:t>
            </a:r>
            <a:r>
              <a:rPr spc="50" dirty="0"/>
              <a:t>standardize</a:t>
            </a:r>
            <a:r>
              <a:rPr spc="40" dirty="0"/>
              <a:t> </a:t>
            </a:r>
            <a:r>
              <a:rPr spc="60" dirty="0"/>
              <a:t>input </a:t>
            </a:r>
            <a:r>
              <a:rPr spc="55" dirty="0"/>
              <a:t>mechanisms</a:t>
            </a: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pc="55" dirty="0"/>
          </a:p>
          <a:p>
            <a:pPr marR="635" algn="ctr">
              <a:lnSpc>
                <a:spcPct val="100000"/>
              </a:lnSpc>
            </a:pPr>
            <a:r>
              <a:rPr spc="10" dirty="0"/>
              <a:t>Standardize</a:t>
            </a:r>
            <a:r>
              <a:rPr spc="360" dirty="0"/>
              <a:t> </a:t>
            </a:r>
            <a:r>
              <a:rPr spc="50" dirty="0"/>
              <a:t>navigation</a:t>
            </a:r>
          </a:p>
          <a:p>
            <a:pPr>
              <a:lnSpc>
                <a:spcPct val="100000"/>
              </a:lnSpc>
            </a:pPr>
            <a:endParaRPr spc="50" dirty="0"/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pc="50" dirty="0"/>
          </a:p>
          <a:p>
            <a:pPr algn="ctr">
              <a:lnSpc>
                <a:spcPct val="100000"/>
              </a:lnSpc>
            </a:pPr>
            <a:r>
              <a:rPr spc="45" dirty="0"/>
              <a:t>Provide</a:t>
            </a:r>
            <a:r>
              <a:rPr spc="20" dirty="0"/>
              <a:t> </a:t>
            </a:r>
            <a:r>
              <a:rPr spc="80" dirty="0"/>
              <a:t>meaningful</a:t>
            </a:r>
            <a:r>
              <a:rPr spc="5" dirty="0"/>
              <a:t> </a:t>
            </a:r>
            <a:r>
              <a:rPr spc="-10" dirty="0"/>
              <a:t>context</a:t>
            </a: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pc="-10" dirty="0"/>
          </a:p>
          <a:p>
            <a:pPr marL="1257300" marR="479425" indent="-774700">
              <a:lnSpc>
                <a:spcPts val="1880"/>
              </a:lnSpc>
              <a:spcBef>
                <a:spcPts val="5"/>
              </a:spcBef>
            </a:pPr>
            <a:r>
              <a:rPr spc="55" dirty="0"/>
              <a:t>Maintain</a:t>
            </a:r>
            <a:r>
              <a:rPr spc="-30" dirty="0"/>
              <a:t> </a:t>
            </a:r>
            <a:r>
              <a:rPr spc="65" dirty="0"/>
              <a:t>consistency </a:t>
            </a:r>
            <a:r>
              <a:rPr spc="-10" dirty="0"/>
              <a:t>across </a:t>
            </a:r>
            <a:r>
              <a:rPr spc="45" dirty="0"/>
              <a:t>applications</a:t>
            </a: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pc="45" dirty="0"/>
          </a:p>
          <a:p>
            <a:pPr algn="ctr">
              <a:lnSpc>
                <a:spcPct val="100000"/>
              </a:lnSpc>
            </a:pPr>
            <a:r>
              <a:rPr spc="50" dirty="0"/>
              <a:t>Respect</a:t>
            </a:r>
            <a:r>
              <a:rPr spc="45" dirty="0"/>
              <a:t> </a:t>
            </a:r>
            <a:r>
              <a:rPr spc="75" dirty="0"/>
              <a:t>established</a:t>
            </a:r>
            <a:r>
              <a:rPr spc="15" dirty="0"/>
              <a:t> </a:t>
            </a:r>
            <a:r>
              <a:rPr dirty="0"/>
              <a:t>user</a:t>
            </a:r>
            <a:r>
              <a:rPr spc="110" dirty="0"/>
              <a:t> </a:t>
            </a:r>
            <a:r>
              <a:rPr spc="40" dirty="0"/>
              <a:t>expectations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75" dirty="0"/>
              <a:t> </a:t>
            </a:r>
            <a:r>
              <a:rPr spc="135" dirty="0"/>
              <a:t>Interface</a:t>
            </a:r>
            <a:r>
              <a:rPr spc="355" dirty="0"/>
              <a:t> </a:t>
            </a:r>
            <a:r>
              <a:rPr spc="195" dirty="0"/>
              <a:t>Design</a:t>
            </a:r>
            <a:r>
              <a:rPr spc="330" dirty="0"/>
              <a:t> </a:t>
            </a:r>
            <a:r>
              <a:rPr spc="-560" dirty="0"/>
              <a:t>–</a:t>
            </a:r>
            <a:r>
              <a:rPr spc="345" dirty="0"/>
              <a:t> </a:t>
            </a:r>
            <a:r>
              <a:rPr spc="125" dirty="0"/>
              <a:t>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90675" y="1733550"/>
            <a:ext cx="8757285" cy="2226310"/>
            <a:chOff x="1590675" y="1733550"/>
            <a:chExt cx="8757285" cy="2226310"/>
          </a:xfrm>
        </p:grpSpPr>
        <p:sp>
          <p:nvSpPr>
            <p:cNvPr id="4" name="object 4"/>
            <p:cNvSpPr/>
            <p:nvPr/>
          </p:nvSpPr>
          <p:spPr>
            <a:xfrm>
              <a:off x="1600200" y="3257550"/>
              <a:ext cx="8738235" cy="692785"/>
            </a:xfrm>
            <a:custGeom>
              <a:avLst/>
              <a:gdLst/>
              <a:ahLst/>
              <a:cxnLst/>
              <a:rect l="l" t="t" r="r" b="b"/>
              <a:pathLst>
                <a:path w="8738235" h="692785">
                  <a:moveTo>
                    <a:pt x="4371975" y="0"/>
                  </a:moveTo>
                  <a:lnTo>
                    <a:pt x="4371975" y="472058"/>
                  </a:lnTo>
                  <a:lnTo>
                    <a:pt x="8738235" y="472058"/>
                  </a:lnTo>
                  <a:lnTo>
                    <a:pt x="8738235" y="692657"/>
                  </a:lnTo>
                </a:path>
                <a:path w="8738235" h="692785">
                  <a:moveTo>
                    <a:pt x="4371975" y="0"/>
                  </a:moveTo>
                  <a:lnTo>
                    <a:pt x="4371975" y="472058"/>
                  </a:lnTo>
                  <a:lnTo>
                    <a:pt x="5827395" y="472058"/>
                  </a:lnTo>
                  <a:lnTo>
                    <a:pt x="5827395" y="692657"/>
                  </a:lnTo>
                </a:path>
                <a:path w="8738235" h="692785">
                  <a:moveTo>
                    <a:pt x="4370070" y="0"/>
                  </a:moveTo>
                  <a:lnTo>
                    <a:pt x="4370070" y="472058"/>
                  </a:lnTo>
                  <a:lnTo>
                    <a:pt x="2914650" y="472058"/>
                  </a:lnTo>
                  <a:lnTo>
                    <a:pt x="2914650" y="692657"/>
                  </a:lnTo>
                </a:path>
                <a:path w="8738235" h="692785">
                  <a:moveTo>
                    <a:pt x="4366260" y="0"/>
                  </a:moveTo>
                  <a:lnTo>
                    <a:pt x="4366260" y="472058"/>
                  </a:lnTo>
                  <a:lnTo>
                    <a:pt x="0" y="472058"/>
                  </a:lnTo>
                  <a:lnTo>
                    <a:pt x="0" y="692657"/>
                  </a:lnTo>
                </a:path>
              </a:pathLst>
            </a:custGeom>
            <a:ln w="19050">
              <a:solidFill>
                <a:srgbClr val="CAA0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81550" y="17430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511" y="0"/>
                  </a:lnTo>
                  <a:lnTo>
                    <a:pt x="103615" y="7722"/>
                  </a:lnTo>
                  <a:lnTo>
                    <a:pt x="62023" y="29228"/>
                  </a:lnTo>
                  <a:lnTo>
                    <a:pt x="29228" y="62023"/>
                  </a:lnTo>
                  <a:lnTo>
                    <a:pt x="7722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2" y="1410859"/>
                  </a:lnTo>
                  <a:lnTo>
                    <a:pt x="29228" y="1452451"/>
                  </a:lnTo>
                  <a:lnTo>
                    <a:pt x="62023" y="1485246"/>
                  </a:lnTo>
                  <a:lnTo>
                    <a:pt x="103615" y="1506752"/>
                  </a:lnTo>
                  <a:lnTo>
                    <a:pt x="151511" y="1514475"/>
                  </a:lnTo>
                  <a:lnTo>
                    <a:pt x="2229739" y="1514475"/>
                  </a:lnTo>
                  <a:lnTo>
                    <a:pt x="2277634" y="1506752"/>
                  </a:lnTo>
                  <a:lnTo>
                    <a:pt x="2319226" y="1485246"/>
                  </a:lnTo>
                  <a:lnTo>
                    <a:pt x="2352021" y="1452451"/>
                  </a:lnTo>
                  <a:lnTo>
                    <a:pt x="2373527" y="1410859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81550" y="17430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2" y="103615"/>
                  </a:lnTo>
                  <a:lnTo>
                    <a:pt x="29228" y="62023"/>
                  </a:lnTo>
                  <a:lnTo>
                    <a:pt x="62023" y="29228"/>
                  </a:lnTo>
                  <a:lnTo>
                    <a:pt x="103615" y="7722"/>
                  </a:lnTo>
                  <a:lnTo>
                    <a:pt x="151511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59"/>
                  </a:lnTo>
                  <a:lnTo>
                    <a:pt x="2352021" y="1452451"/>
                  </a:lnTo>
                  <a:lnTo>
                    <a:pt x="2319226" y="1485246"/>
                  </a:lnTo>
                  <a:lnTo>
                    <a:pt x="2277634" y="1506752"/>
                  </a:lnTo>
                  <a:lnTo>
                    <a:pt x="2229739" y="1514475"/>
                  </a:lnTo>
                  <a:lnTo>
                    <a:pt x="151511" y="1514475"/>
                  </a:lnTo>
                  <a:lnTo>
                    <a:pt x="103615" y="1506752"/>
                  </a:lnTo>
                  <a:lnTo>
                    <a:pt x="62023" y="1485246"/>
                  </a:lnTo>
                  <a:lnTo>
                    <a:pt x="29228" y="1452451"/>
                  </a:lnTo>
                  <a:lnTo>
                    <a:pt x="7722" y="1410859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48250" y="2000250"/>
              <a:ext cx="2381250" cy="1504950"/>
            </a:xfrm>
            <a:custGeom>
              <a:avLst/>
              <a:gdLst/>
              <a:ahLst/>
              <a:cxnLst/>
              <a:rect l="l" t="t" r="r" b="b"/>
              <a:pathLst>
                <a:path w="2381250" h="1504950">
                  <a:moveTo>
                    <a:pt x="2230754" y="0"/>
                  </a:moveTo>
                  <a:lnTo>
                    <a:pt x="150495" y="0"/>
                  </a:lnTo>
                  <a:lnTo>
                    <a:pt x="102949" y="7677"/>
                  </a:lnTo>
                  <a:lnTo>
                    <a:pt x="61639" y="29053"/>
                  </a:lnTo>
                  <a:lnTo>
                    <a:pt x="29053" y="61639"/>
                  </a:lnTo>
                  <a:lnTo>
                    <a:pt x="7677" y="102949"/>
                  </a:lnTo>
                  <a:lnTo>
                    <a:pt x="0" y="150495"/>
                  </a:lnTo>
                  <a:lnTo>
                    <a:pt x="0" y="1354454"/>
                  </a:lnTo>
                  <a:lnTo>
                    <a:pt x="7677" y="1402000"/>
                  </a:lnTo>
                  <a:lnTo>
                    <a:pt x="29053" y="1443310"/>
                  </a:lnTo>
                  <a:lnTo>
                    <a:pt x="61639" y="1475896"/>
                  </a:lnTo>
                  <a:lnTo>
                    <a:pt x="102949" y="1497272"/>
                  </a:lnTo>
                  <a:lnTo>
                    <a:pt x="150495" y="1504950"/>
                  </a:lnTo>
                  <a:lnTo>
                    <a:pt x="2230754" y="1504950"/>
                  </a:lnTo>
                  <a:lnTo>
                    <a:pt x="2278300" y="1497272"/>
                  </a:lnTo>
                  <a:lnTo>
                    <a:pt x="2319610" y="1475896"/>
                  </a:lnTo>
                  <a:lnTo>
                    <a:pt x="2352196" y="1443310"/>
                  </a:lnTo>
                  <a:lnTo>
                    <a:pt x="2373572" y="1402000"/>
                  </a:lnTo>
                  <a:lnTo>
                    <a:pt x="2381250" y="1354454"/>
                  </a:lnTo>
                  <a:lnTo>
                    <a:pt x="2381250" y="150495"/>
                  </a:lnTo>
                  <a:lnTo>
                    <a:pt x="2373572" y="102949"/>
                  </a:lnTo>
                  <a:lnTo>
                    <a:pt x="2352196" y="61639"/>
                  </a:lnTo>
                  <a:lnTo>
                    <a:pt x="2319610" y="29053"/>
                  </a:lnTo>
                  <a:lnTo>
                    <a:pt x="2278300" y="7677"/>
                  </a:lnTo>
                  <a:lnTo>
                    <a:pt x="223075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48250" y="2000250"/>
              <a:ext cx="2381250" cy="1504950"/>
            </a:xfrm>
            <a:custGeom>
              <a:avLst/>
              <a:gdLst/>
              <a:ahLst/>
              <a:cxnLst/>
              <a:rect l="l" t="t" r="r" b="b"/>
              <a:pathLst>
                <a:path w="2381250" h="1504950">
                  <a:moveTo>
                    <a:pt x="0" y="150495"/>
                  </a:moveTo>
                  <a:lnTo>
                    <a:pt x="7677" y="102949"/>
                  </a:lnTo>
                  <a:lnTo>
                    <a:pt x="29053" y="61639"/>
                  </a:lnTo>
                  <a:lnTo>
                    <a:pt x="61639" y="29053"/>
                  </a:lnTo>
                  <a:lnTo>
                    <a:pt x="102949" y="7677"/>
                  </a:lnTo>
                  <a:lnTo>
                    <a:pt x="150495" y="0"/>
                  </a:lnTo>
                  <a:lnTo>
                    <a:pt x="2230754" y="0"/>
                  </a:lnTo>
                  <a:lnTo>
                    <a:pt x="2278300" y="7677"/>
                  </a:lnTo>
                  <a:lnTo>
                    <a:pt x="2319610" y="29053"/>
                  </a:lnTo>
                  <a:lnTo>
                    <a:pt x="2352196" y="61639"/>
                  </a:lnTo>
                  <a:lnTo>
                    <a:pt x="2373572" y="102949"/>
                  </a:lnTo>
                  <a:lnTo>
                    <a:pt x="2381250" y="150495"/>
                  </a:lnTo>
                  <a:lnTo>
                    <a:pt x="2381250" y="1354454"/>
                  </a:lnTo>
                  <a:lnTo>
                    <a:pt x="2373572" y="1402000"/>
                  </a:lnTo>
                  <a:lnTo>
                    <a:pt x="2352196" y="1443310"/>
                  </a:lnTo>
                  <a:lnTo>
                    <a:pt x="2319610" y="1475896"/>
                  </a:lnTo>
                  <a:lnTo>
                    <a:pt x="2278300" y="1497272"/>
                  </a:lnTo>
                  <a:lnTo>
                    <a:pt x="2230754" y="1504950"/>
                  </a:lnTo>
                  <a:lnTo>
                    <a:pt x="150495" y="1504950"/>
                  </a:lnTo>
                  <a:lnTo>
                    <a:pt x="102949" y="1497272"/>
                  </a:lnTo>
                  <a:lnTo>
                    <a:pt x="61639" y="1475896"/>
                  </a:lnTo>
                  <a:lnTo>
                    <a:pt x="29053" y="1443310"/>
                  </a:lnTo>
                  <a:lnTo>
                    <a:pt x="7677" y="1402000"/>
                  </a:lnTo>
                  <a:lnTo>
                    <a:pt x="0" y="1354454"/>
                  </a:lnTo>
                  <a:lnTo>
                    <a:pt x="0" y="150495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182870" y="2388298"/>
            <a:ext cx="2108200" cy="66230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indent="113664">
              <a:lnSpc>
                <a:spcPts val="2400"/>
              </a:lnSpc>
              <a:spcBef>
                <a:spcPts val="355"/>
              </a:spcBef>
            </a:pPr>
            <a:r>
              <a:rPr sz="2150" b="1" spc="-60" dirty="0">
                <a:latin typeface="Trebuchet MS"/>
                <a:cs typeface="Trebuchet MS"/>
              </a:rPr>
              <a:t>Four</a:t>
            </a:r>
            <a:r>
              <a:rPr sz="2150" b="1" spc="-165" dirty="0">
                <a:latin typeface="Trebuchet MS"/>
                <a:cs typeface="Trebuchet MS"/>
              </a:rPr>
              <a:t> </a:t>
            </a:r>
            <a:r>
              <a:rPr sz="2150" b="1" spc="70" dirty="0">
                <a:latin typeface="Trebuchet MS"/>
                <a:cs typeface="Trebuchet MS"/>
              </a:rPr>
              <a:t>Models</a:t>
            </a:r>
            <a:r>
              <a:rPr sz="2150" b="1" spc="-180" dirty="0">
                <a:latin typeface="Trebuchet MS"/>
                <a:cs typeface="Trebuchet MS"/>
              </a:rPr>
              <a:t> </a:t>
            </a:r>
            <a:r>
              <a:rPr sz="2150" b="1" spc="-25" dirty="0">
                <a:latin typeface="Trebuchet MS"/>
                <a:cs typeface="Trebuchet MS"/>
              </a:rPr>
              <a:t>in Interface</a:t>
            </a:r>
            <a:r>
              <a:rPr sz="2150" b="1" spc="-155" dirty="0">
                <a:latin typeface="Trebuchet MS"/>
                <a:cs typeface="Trebuchet MS"/>
              </a:rPr>
              <a:t> </a:t>
            </a:r>
            <a:r>
              <a:rPr sz="2150" b="1" spc="-10" dirty="0">
                <a:latin typeface="Trebuchet MS"/>
                <a:cs typeface="Trebuchet MS"/>
              </a:rPr>
              <a:t>Design</a:t>
            </a:r>
            <a:endParaRPr sz="215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0050" y="3943350"/>
            <a:ext cx="2667000" cy="1781175"/>
            <a:chOff x="400050" y="3943350"/>
            <a:chExt cx="2667000" cy="1781175"/>
          </a:xfrm>
        </p:grpSpPr>
        <p:sp>
          <p:nvSpPr>
            <p:cNvPr id="11" name="object 11"/>
            <p:cNvSpPr/>
            <p:nvPr/>
          </p:nvSpPr>
          <p:spPr>
            <a:xfrm>
              <a:off x="409575" y="39528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447" y="0"/>
                  </a:lnTo>
                  <a:lnTo>
                    <a:pt x="103578" y="7722"/>
                  </a:lnTo>
                  <a:lnTo>
                    <a:pt x="62004" y="29228"/>
                  </a:lnTo>
                  <a:lnTo>
                    <a:pt x="29220" y="62023"/>
                  </a:lnTo>
                  <a:lnTo>
                    <a:pt x="7720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0" y="1410859"/>
                  </a:lnTo>
                  <a:lnTo>
                    <a:pt x="29220" y="1452451"/>
                  </a:lnTo>
                  <a:lnTo>
                    <a:pt x="62004" y="1485246"/>
                  </a:lnTo>
                  <a:lnTo>
                    <a:pt x="103578" y="1506752"/>
                  </a:lnTo>
                  <a:lnTo>
                    <a:pt x="151447" y="1514475"/>
                  </a:lnTo>
                  <a:lnTo>
                    <a:pt x="2229739" y="1514475"/>
                  </a:lnTo>
                  <a:lnTo>
                    <a:pt x="2277634" y="1506752"/>
                  </a:lnTo>
                  <a:lnTo>
                    <a:pt x="2319226" y="1485246"/>
                  </a:lnTo>
                  <a:lnTo>
                    <a:pt x="2352021" y="1452451"/>
                  </a:lnTo>
                  <a:lnTo>
                    <a:pt x="2373527" y="1410859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9575" y="39528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0" y="103615"/>
                  </a:lnTo>
                  <a:lnTo>
                    <a:pt x="29220" y="62023"/>
                  </a:lnTo>
                  <a:lnTo>
                    <a:pt x="62004" y="29228"/>
                  </a:lnTo>
                  <a:lnTo>
                    <a:pt x="103578" y="7722"/>
                  </a:lnTo>
                  <a:lnTo>
                    <a:pt x="151447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59"/>
                  </a:lnTo>
                  <a:lnTo>
                    <a:pt x="2352021" y="1452451"/>
                  </a:lnTo>
                  <a:lnTo>
                    <a:pt x="2319226" y="1485246"/>
                  </a:lnTo>
                  <a:lnTo>
                    <a:pt x="2277634" y="1506752"/>
                  </a:lnTo>
                  <a:lnTo>
                    <a:pt x="2229739" y="1514475"/>
                  </a:lnTo>
                  <a:lnTo>
                    <a:pt x="151447" y="1514475"/>
                  </a:lnTo>
                  <a:lnTo>
                    <a:pt x="103578" y="1506752"/>
                  </a:lnTo>
                  <a:lnTo>
                    <a:pt x="62004" y="1485246"/>
                  </a:lnTo>
                  <a:lnTo>
                    <a:pt x="29220" y="1452451"/>
                  </a:lnTo>
                  <a:lnTo>
                    <a:pt x="7720" y="1410859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6275" y="420052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447" y="0"/>
                  </a:lnTo>
                  <a:lnTo>
                    <a:pt x="103578" y="7722"/>
                  </a:lnTo>
                  <a:lnTo>
                    <a:pt x="62004" y="29228"/>
                  </a:lnTo>
                  <a:lnTo>
                    <a:pt x="29220" y="62023"/>
                  </a:lnTo>
                  <a:lnTo>
                    <a:pt x="7720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0" y="1410864"/>
                  </a:lnTo>
                  <a:lnTo>
                    <a:pt x="29220" y="1452456"/>
                  </a:lnTo>
                  <a:lnTo>
                    <a:pt x="62004" y="1485250"/>
                  </a:lnTo>
                  <a:lnTo>
                    <a:pt x="103578" y="1506753"/>
                  </a:lnTo>
                  <a:lnTo>
                    <a:pt x="151447" y="1514475"/>
                  </a:lnTo>
                  <a:lnTo>
                    <a:pt x="2229739" y="1514475"/>
                  </a:lnTo>
                  <a:lnTo>
                    <a:pt x="2277634" y="1506753"/>
                  </a:lnTo>
                  <a:lnTo>
                    <a:pt x="2319226" y="1485250"/>
                  </a:lnTo>
                  <a:lnTo>
                    <a:pt x="2352021" y="1452456"/>
                  </a:lnTo>
                  <a:lnTo>
                    <a:pt x="2373527" y="1410864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6275" y="420052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0" y="103615"/>
                  </a:lnTo>
                  <a:lnTo>
                    <a:pt x="29220" y="62023"/>
                  </a:lnTo>
                  <a:lnTo>
                    <a:pt x="62004" y="29228"/>
                  </a:lnTo>
                  <a:lnTo>
                    <a:pt x="103578" y="7722"/>
                  </a:lnTo>
                  <a:lnTo>
                    <a:pt x="151447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64"/>
                  </a:lnTo>
                  <a:lnTo>
                    <a:pt x="2352021" y="1452456"/>
                  </a:lnTo>
                  <a:lnTo>
                    <a:pt x="2319226" y="1485250"/>
                  </a:lnTo>
                  <a:lnTo>
                    <a:pt x="2277634" y="1506753"/>
                  </a:lnTo>
                  <a:lnTo>
                    <a:pt x="2229739" y="1514475"/>
                  </a:lnTo>
                  <a:lnTo>
                    <a:pt x="151447" y="1514475"/>
                  </a:lnTo>
                  <a:lnTo>
                    <a:pt x="103578" y="1506753"/>
                  </a:lnTo>
                  <a:lnTo>
                    <a:pt x="62004" y="1485250"/>
                  </a:lnTo>
                  <a:lnTo>
                    <a:pt x="29220" y="1452456"/>
                  </a:lnTo>
                  <a:lnTo>
                    <a:pt x="7720" y="1410864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34427" y="4749863"/>
            <a:ext cx="146875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latin typeface="Trebuchet MS"/>
                <a:cs typeface="Trebuchet MS"/>
              </a:rPr>
              <a:t>User</a:t>
            </a:r>
            <a:r>
              <a:rPr sz="2150" b="1" spc="-60" dirty="0">
                <a:latin typeface="Trebuchet MS"/>
                <a:cs typeface="Trebuchet MS"/>
              </a:rPr>
              <a:t> </a:t>
            </a:r>
            <a:r>
              <a:rPr sz="2150" b="1" spc="-20" dirty="0">
                <a:latin typeface="Trebuchet MS"/>
                <a:cs typeface="Trebuchet MS"/>
              </a:rPr>
              <a:t>Model</a:t>
            </a:r>
            <a:endParaRPr sz="215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314700" y="3943350"/>
            <a:ext cx="2667000" cy="1781175"/>
            <a:chOff x="3314700" y="3943350"/>
            <a:chExt cx="2667000" cy="1781175"/>
          </a:xfrm>
        </p:grpSpPr>
        <p:sp>
          <p:nvSpPr>
            <p:cNvPr id="17" name="object 17"/>
            <p:cNvSpPr/>
            <p:nvPr/>
          </p:nvSpPr>
          <p:spPr>
            <a:xfrm>
              <a:off x="3324225" y="39528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511" y="0"/>
                  </a:lnTo>
                  <a:lnTo>
                    <a:pt x="103615" y="7722"/>
                  </a:lnTo>
                  <a:lnTo>
                    <a:pt x="62023" y="29228"/>
                  </a:lnTo>
                  <a:lnTo>
                    <a:pt x="29228" y="62023"/>
                  </a:lnTo>
                  <a:lnTo>
                    <a:pt x="7722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2" y="1410859"/>
                  </a:lnTo>
                  <a:lnTo>
                    <a:pt x="29228" y="1452451"/>
                  </a:lnTo>
                  <a:lnTo>
                    <a:pt x="62023" y="1485246"/>
                  </a:lnTo>
                  <a:lnTo>
                    <a:pt x="103615" y="1506752"/>
                  </a:lnTo>
                  <a:lnTo>
                    <a:pt x="151511" y="1514475"/>
                  </a:lnTo>
                  <a:lnTo>
                    <a:pt x="2229739" y="1514475"/>
                  </a:lnTo>
                  <a:lnTo>
                    <a:pt x="2277634" y="1506752"/>
                  </a:lnTo>
                  <a:lnTo>
                    <a:pt x="2319226" y="1485246"/>
                  </a:lnTo>
                  <a:lnTo>
                    <a:pt x="2352021" y="1452451"/>
                  </a:lnTo>
                  <a:lnTo>
                    <a:pt x="2373527" y="1410859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24225" y="39528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2" y="103615"/>
                  </a:lnTo>
                  <a:lnTo>
                    <a:pt x="29228" y="62023"/>
                  </a:lnTo>
                  <a:lnTo>
                    <a:pt x="62023" y="29228"/>
                  </a:lnTo>
                  <a:lnTo>
                    <a:pt x="103615" y="7722"/>
                  </a:lnTo>
                  <a:lnTo>
                    <a:pt x="151511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59"/>
                  </a:lnTo>
                  <a:lnTo>
                    <a:pt x="2352021" y="1452451"/>
                  </a:lnTo>
                  <a:lnTo>
                    <a:pt x="2319226" y="1485246"/>
                  </a:lnTo>
                  <a:lnTo>
                    <a:pt x="2277634" y="1506752"/>
                  </a:lnTo>
                  <a:lnTo>
                    <a:pt x="2229739" y="1514475"/>
                  </a:lnTo>
                  <a:lnTo>
                    <a:pt x="151511" y="1514475"/>
                  </a:lnTo>
                  <a:lnTo>
                    <a:pt x="103615" y="1506752"/>
                  </a:lnTo>
                  <a:lnTo>
                    <a:pt x="62023" y="1485246"/>
                  </a:lnTo>
                  <a:lnTo>
                    <a:pt x="29228" y="1452451"/>
                  </a:lnTo>
                  <a:lnTo>
                    <a:pt x="7722" y="1410859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90925" y="420052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511" y="0"/>
                  </a:lnTo>
                  <a:lnTo>
                    <a:pt x="103615" y="7722"/>
                  </a:lnTo>
                  <a:lnTo>
                    <a:pt x="62023" y="29228"/>
                  </a:lnTo>
                  <a:lnTo>
                    <a:pt x="29228" y="62023"/>
                  </a:lnTo>
                  <a:lnTo>
                    <a:pt x="7722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2" y="1410864"/>
                  </a:lnTo>
                  <a:lnTo>
                    <a:pt x="29228" y="1452456"/>
                  </a:lnTo>
                  <a:lnTo>
                    <a:pt x="62023" y="1485250"/>
                  </a:lnTo>
                  <a:lnTo>
                    <a:pt x="103615" y="1506753"/>
                  </a:lnTo>
                  <a:lnTo>
                    <a:pt x="151511" y="1514475"/>
                  </a:lnTo>
                  <a:lnTo>
                    <a:pt x="2229739" y="1514475"/>
                  </a:lnTo>
                  <a:lnTo>
                    <a:pt x="2277634" y="1506753"/>
                  </a:lnTo>
                  <a:lnTo>
                    <a:pt x="2319226" y="1485250"/>
                  </a:lnTo>
                  <a:lnTo>
                    <a:pt x="2352021" y="1452456"/>
                  </a:lnTo>
                  <a:lnTo>
                    <a:pt x="2373527" y="1410864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90925" y="420052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2" y="103615"/>
                  </a:lnTo>
                  <a:lnTo>
                    <a:pt x="29228" y="62023"/>
                  </a:lnTo>
                  <a:lnTo>
                    <a:pt x="62023" y="29228"/>
                  </a:lnTo>
                  <a:lnTo>
                    <a:pt x="103615" y="7722"/>
                  </a:lnTo>
                  <a:lnTo>
                    <a:pt x="151511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64"/>
                  </a:lnTo>
                  <a:lnTo>
                    <a:pt x="2352021" y="1452456"/>
                  </a:lnTo>
                  <a:lnTo>
                    <a:pt x="2319226" y="1485250"/>
                  </a:lnTo>
                  <a:lnTo>
                    <a:pt x="2277634" y="1506753"/>
                  </a:lnTo>
                  <a:lnTo>
                    <a:pt x="2229739" y="1514475"/>
                  </a:lnTo>
                  <a:lnTo>
                    <a:pt x="151511" y="1514475"/>
                  </a:lnTo>
                  <a:lnTo>
                    <a:pt x="103615" y="1506753"/>
                  </a:lnTo>
                  <a:lnTo>
                    <a:pt x="62023" y="1485250"/>
                  </a:lnTo>
                  <a:lnTo>
                    <a:pt x="29228" y="1452456"/>
                  </a:lnTo>
                  <a:lnTo>
                    <a:pt x="7722" y="1410864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907154" y="4749863"/>
            <a:ext cx="174752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latin typeface="Trebuchet MS"/>
                <a:cs typeface="Trebuchet MS"/>
              </a:rPr>
              <a:t>Design</a:t>
            </a:r>
            <a:r>
              <a:rPr sz="2150" b="1" spc="95" dirty="0">
                <a:latin typeface="Trebuchet MS"/>
                <a:cs typeface="Trebuchet MS"/>
              </a:rPr>
              <a:t> </a:t>
            </a:r>
            <a:r>
              <a:rPr sz="2150" b="1" spc="-10" dirty="0">
                <a:latin typeface="Trebuchet MS"/>
                <a:cs typeface="Trebuchet MS"/>
              </a:rPr>
              <a:t>Model</a:t>
            </a:r>
            <a:endParaRPr sz="215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229350" y="3943350"/>
            <a:ext cx="2657475" cy="1781175"/>
            <a:chOff x="6229350" y="3943350"/>
            <a:chExt cx="2657475" cy="1781175"/>
          </a:xfrm>
        </p:grpSpPr>
        <p:sp>
          <p:nvSpPr>
            <p:cNvPr id="23" name="object 23"/>
            <p:cNvSpPr/>
            <p:nvPr/>
          </p:nvSpPr>
          <p:spPr>
            <a:xfrm>
              <a:off x="6238875" y="39528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511" y="0"/>
                  </a:lnTo>
                  <a:lnTo>
                    <a:pt x="103615" y="7722"/>
                  </a:lnTo>
                  <a:lnTo>
                    <a:pt x="62023" y="29228"/>
                  </a:lnTo>
                  <a:lnTo>
                    <a:pt x="29228" y="62023"/>
                  </a:lnTo>
                  <a:lnTo>
                    <a:pt x="7722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2" y="1410859"/>
                  </a:lnTo>
                  <a:lnTo>
                    <a:pt x="29228" y="1452451"/>
                  </a:lnTo>
                  <a:lnTo>
                    <a:pt x="62023" y="1485246"/>
                  </a:lnTo>
                  <a:lnTo>
                    <a:pt x="103615" y="1506752"/>
                  </a:lnTo>
                  <a:lnTo>
                    <a:pt x="151511" y="1514475"/>
                  </a:lnTo>
                  <a:lnTo>
                    <a:pt x="2229739" y="1514475"/>
                  </a:lnTo>
                  <a:lnTo>
                    <a:pt x="2277634" y="1506752"/>
                  </a:lnTo>
                  <a:lnTo>
                    <a:pt x="2319226" y="1485246"/>
                  </a:lnTo>
                  <a:lnTo>
                    <a:pt x="2352021" y="1452451"/>
                  </a:lnTo>
                  <a:lnTo>
                    <a:pt x="2373527" y="1410859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38875" y="39528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2" y="103615"/>
                  </a:lnTo>
                  <a:lnTo>
                    <a:pt x="29228" y="62023"/>
                  </a:lnTo>
                  <a:lnTo>
                    <a:pt x="62023" y="29228"/>
                  </a:lnTo>
                  <a:lnTo>
                    <a:pt x="103615" y="7722"/>
                  </a:lnTo>
                  <a:lnTo>
                    <a:pt x="151511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59"/>
                  </a:lnTo>
                  <a:lnTo>
                    <a:pt x="2352021" y="1452451"/>
                  </a:lnTo>
                  <a:lnTo>
                    <a:pt x="2319226" y="1485246"/>
                  </a:lnTo>
                  <a:lnTo>
                    <a:pt x="2277634" y="1506752"/>
                  </a:lnTo>
                  <a:lnTo>
                    <a:pt x="2229739" y="1514475"/>
                  </a:lnTo>
                  <a:lnTo>
                    <a:pt x="151511" y="1514475"/>
                  </a:lnTo>
                  <a:lnTo>
                    <a:pt x="103615" y="1506752"/>
                  </a:lnTo>
                  <a:lnTo>
                    <a:pt x="62023" y="1485246"/>
                  </a:lnTo>
                  <a:lnTo>
                    <a:pt x="29228" y="1452451"/>
                  </a:lnTo>
                  <a:lnTo>
                    <a:pt x="7722" y="1410859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96050" y="420052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510" y="0"/>
                  </a:lnTo>
                  <a:lnTo>
                    <a:pt x="103615" y="7722"/>
                  </a:lnTo>
                  <a:lnTo>
                    <a:pt x="62023" y="29228"/>
                  </a:lnTo>
                  <a:lnTo>
                    <a:pt x="29228" y="62023"/>
                  </a:lnTo>
                  <a:lnTo>
                    <a:pt x="7722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2" y="1410864"/>
                  </a:lnTo>
                  <a:lnTo>
                    <a:pt x="29228" y="1452456"/>
                  </a:lnTo>
                  <a:lnTo>
                    <a:pt x="62023" y="1485250"/>
                  </a:lnTo>
                  <a:lnTo>
                    <a:pt x="103615" y="1506753"/>
                  </a:lnTo>
                  <a:lnTo>
                    <a:pt x="151510" y="1514475"/>
                  </a:lnTo>
                  <a:lnTo>
                    <a:pt x="2229739" y="1514475"/>
                  </a:lnTo>
                  <a:lnTo>
                    <a:pt x="2277634" y="1506753"/>
                  </a:lnTo>
                  <a:lnTo>
                    <a:pt x="2319226" y="1485250"/>
                  </a:lnTo>
                  <a:lnTo>
                    <a:pt x="2352021" y="1452456"/>
                  </a:lnTo>
                  <a:lnTo>
                    <a:pt x="2373527" y="1410864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96050" y="420052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2" y="103615"/>
                  </a:lnTo>
                  <a:lnTo>
                    <a:pt x="29228" y="62023"/>
                  </a:lnTo>
                  <a:lnTo>
                    <a:pt x="62023" y="29228"/>
                  </a:lnTo>
                  <a:lnTo>
                    <a:pt x="103615" y="7722"/>
                  </a:lnTo>
                  <a:lnTo>
                    <a:pt x="151510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64"/>
                  </a:lnTo>
                  <a:lnTo>
                    <a:pt x="2352021" y="1452456"/>
                  </a:lnTo>
                  <a:lnTo>
                    <a:pt x="2319226" y="1485250"/>
                  </a:lnTo>
                  <a:lnTo>
                    <a:pt x="2277634" y="1506753"/>
                  </a:lnTo>
                  <a:lnTo>
                    <a:pt x="2229739" y="1514475"/>
                  </a:lnTo>
                  <a:lnTo>
                    <a:pt x="151510" y="1514475"/>
                  </a:lnTo>
                  <a:lnTo>
                    <a:pt x="103615" y="1506753"/>
                  </a:lnTo>
                  <a:lnTo>
                    <a:pt x="62023" y="1485250"/>
                  </a:lnTo>
                  <a:lnTo>
                    <a:pt x="29228" y="1452456"/>
                  </a:lnTo>
                  <a:lnTo>
                    <a:pt x="7722" y="1410864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817359" y="4749863"/>
            <a:ext cx="175641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latin typeface="Trebuchet MS"/>
                <a:cs typeface="Trebuchet MS"/>
              </a:rPr>
              <a:t>Mental</a:t>
            </a:r>
            <a:r>
              <a:rPr sz="2150" b="1" spc="-15" dirty="0">
                <a:latin typeface="Trebuchet MS"/>
                <a:cs typeface="Trebuchet MS"/>
              </a:rPr>
              <a:t> </a:t>
            </a:r>
            <a:r>
              <a:rPr sz="2150" b="1" spc="-10" dirty="0">
                <a:latin typeface="Trebuchet MS"/>
                <a:cs typeface="Trebuchet MS"/>
              </a:rPr>
              <a:t>Model</a:t>
            </a:r>
            <a:endParaRPr sz="215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134475" y="3943350"/>
            <a:ext cx="2667000" cy="1781175"/>
            <a:chOff x="9134475" y="3943350"/>
            <a:chExt cx="2667000" cy="1781175"/>
          </a:xfrm>
        </p:grpSpPr>
        <p:sp>
          <p:nvSpPr>
            <p:cNvPr id="29" name="object 29"/>
            <p:cNvSpPr/>
            <p:nvPr/>
          </p:nvSpPr>
          <p:spPr>
            <a:xfrm>
              <a:off x="9144000" y="39528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510" y="0"/>
                  </a:lnTo>
                  <a:lnTo>
                    <a:pt x="103615" y="7722"/>
                  </a:lnTo>
                  <a:lnTo>
                    <a:pt x="62023" y="29228"/>
                  </a:lnTo>
                  <a:lnTo>
                    <a:pt x="29228" y="62023"/>
                  </a:lnTo>
                  <a:lnTo>
                    <a:pt x="7722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2" y="1410859"/>
                  </a:lnTo>
                  <a:lnTo>
                    <a:pt x="29228" y="1452451"/>
                  </a:lnTo>
                  <a:lnTo>
                    <a:pt x="62023" y="1485246"/>
                  </a:lnTo>
                  <a:lnTo>
                    <a:pt x="103615" y="1506752"/>
                  </a:lnTo>
                  <a:lnTo>
                    <a:pt x="151510" y="1514475"/>
                  </a:lnTo>
                  <a:lnTo>
                    <a:pt x="2229739" y="1514475"/>
                  </a:lnTo>
                  <a:lnTo>
                    <a:pt x="2277634" y="1506752"/>
                  </a:lnTo>
                  <a:lnTo>
                    <a:pt x="2319226" y="1485246"/>
                  </a:lnTo>
                  <a:lnTo>
                    <a:pt x="2352021" y="1452451"/>
                  </a:lnTo>
                  <a:lnTo>
                    <a:pt x="2373527" y="1410859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144000" y="39528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2" y="103615"/>
                  </a:lnTo>
                  <a:lnTo>
                    <a:pt x="29228" y="62023"/>
                  </a:lnTo>
                  <a:lnTo>
                    <a:pt x="62023" y="29228"/>
                  </a:lnTo>
                  <a:lnTo>
                    <a:pt x="103615" y="7722"/>
                  </a:lnTo>
                  <a:lnTo>
                    <a:pt x="151510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59"/>
                  </a:lnTo>
                  <a:lnTo>
                    <a:pt x="2352021" y="1452451"/>
                  </a:lnTo>
                  <a:lnTo>
                    <a:pt x="2319226" y="1485246"/>
                  </a:lnTo>
                  <a:lnTo>
                    <a:pt x="2277634" y="1506752"/>
                  </a:lnTo>
                  <a:lnTo>
                    <a:pt x="2229739" y="1514475"/>
                  </a:lnTo>
                  <a:lnTo>
                    <a:pt x="151510" y="1514475"/>
                  </a:lnTo>
                  <a:lnTo>
                    <a:pt x="103615" y="1506752"/>
                  </a:lnTo>
                  <a:lnTo>
                    <a:pt x="62023" y="1485246"/>
                  </a:lnTo>
                  <a:lnTo>
                    <a:pt x="29228" y="1452451"/>
                  </a:lnTo>
                  <a:lnTo>
                    <a:pt x="7722" y="1410859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410700" y="420052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510" y="0"/>
                  </a:lnTo>
                  <a:lnTo>
                    <a:pt x="103615" y="7722"/>
                  </a:lnTo>
                  <a:lnTo>
                    <a:pt x="62023" y="29228"/>
                  </a:lnTo>
                  <a:lnTo>
                    <a:pt x="29228" y="62023"/>
                  </a:lnTo>
                  <a:lnTo>
                    <a:pt x="7722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2" y="1410864"/>
                  </a:lnTo>
                  <a:lnTo>
                    <a:pt x="29228" y="1452456"/>
                  </a:lnTo>
                  <a:lnTo>
                    <a:pt x="62023" y="1485250"/>
                  </a:lnTo>
                  <a:lnTo>
                    <a:pt x="103615" y="1506753"/>
                  </a:lnTo>
                  <a:lnTo>
                    <a:pt x="151510" y="1514475"/>
                  </a:lnTo>
                  <a:lnTo>
                    <a:pt x="2229739" y="1514475"/>
                  </a:lnTo>
                  <a:lnTo>
                    <a:pt x="2277634" y="1506753"/>
                  </a:lnTo>
                  <a:lnTo>
                    <a:pt x="2319226" y="1485250"/>
                  </a:lnTo>
                  <a:lnTo>
                    <a:pt x="2352021" y="1452456"/>
                  </a:lnTo>
                  <a:lnTo>
                    <a:pt x="2373527" y="1410864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410700" y="420052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2" y="103615"/>
                  </a:lnTo>
                  <a:lnTo>
                    <a:pt x="29228" y="62023"/>
                  </a:lnTo>
                  <a:lnTo>
                    <a:pt x="62023" y="29228"/>
                  </a:lnTo>
                  <a:lnTo>
                    <a:pt x="103615" y="7722"/>
                  </a:lnTo>
                  <a:lnTo>
                    <a:pt x="151510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64"/>
                  </a:lnTo>
                  <a:lnTo>
                    <a:pt x="2352021" y="1452456"/>
                  </a:lnTo>
                  <a:lnTo>
                    <a:pt x="2319226" y="1485250"/>
                  </a:lnTo>
                  <a:lnTo>
                    <a:pt x="2277634" y="1506753"/>
                  </a:lnTo>
                  <a:lnTo>
                    <a:pt x="2229739" y="1514475"/>
                  </a:lnTo>
                  <a:lnTo>
                    <a:pt x="151510" y="1514475"/>
                  </a:lnTo>
                  <a:lnTo>
                    <a:pt x="103615" y="1506753"/>
                  </a:lnTo>
                  <a:lnTo>
                    <a:pt x="62023" y="1485250"/>
                  </a:lnTo>
                  <a:lnTo>
                    <a:pt x="29228" y="1452456"/>
                  </a:lnTo>
                  <a:lnTo>
                    <a:pt x="7722" y="1410864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573006" y="4596066"/>
            <a:ext cx="2070735" cy="6629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2490"/>
              </a:lnSpc>
              <a:spcBef>
                <a:spcPts val="125"/>
              </a:spcBef>
            </a:pPr>
            <a:r>
              <a:rPr sz="2150" b="1" spc="-10" dirty="0">
                <a:latin typeface="Trebuchet MS"/>
                <a:cs typeface="Trebuchet MS"/>
              </a:rPr>
              <a:t>Implementation</a:t>
            </a:r>
            <a:endParaRPr sz="2150">
              <a:latin typeface="Trebuchet MS"/>
              <a:cs typeface="Trebuchet MS"/>
            </a:endParaRPr>
          </a:p>
          <a:p>
            <a:pPr algn="ctr">
              <a:lnSpc>
                <a:spcPts val="2490"/>
              </a:lnSpc>
            </a:pPr>
            <a:r>
              <a:rPr sz="2150" b="1" spc="-10" dirty="0">
                <a:latin typeface="Trebuchet MS"/>
                <a:cs typeface="Trebuchet MS"/>
              </a:rPr>
              <a:t>Model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75" dirty="0"/>
              <a:t> </a:t>
            </a:r>
            <a:r>
              <a:rPr spc="135" dirty="0"/>
              <a:t>Interface</a:t>
            </a:r>
            <a:r>
              <a:rPr spc="355" dirty="0"/>
              <a:t> </a:t>
            </a:r>
            <a:r>
              <a:rPr spc="195" dirty="0"/>
              <a:t>Design</a:t>
            </a:r>
            <a:r>
              <a:rPr spc="330" dirty="0"/>
              <a:t> </a:t>
            </a:r>
            <a:r>
              <a:rPr spc="-560" dirty="0"/>
              <a:t>–</a:t>
            </a:r>
            <a:r>
              <a:rPr spc="345" dirty="0"/>
              <a:t> </a:t>
            </a:r>
            <a:r>
              <a:rPr spc="125" dirty="0"/>
              <a:t>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95800" y="1047750"/>
            <a:ext cx="7305675" cy="1362075"/>
            <a:chOff x="4495800" y="1047750"/>
            <a:chExt cx="7305675" cy="1362075"/>
          </a:xfrm>
        </p:grpSpPr>
        <p:sp>
          <p:nvSpPr>
            <p:cNvPr id="4" name="object 4"/>
            <p:cNvSpPr/>
            <p:nvPr/>
          </p:nvSpPr>
          <p:spPr>
            <a:xfrm>
              <a:off x="4505325" y="1057275"/>
              <a:ext cx="7286625" cy="1343025"/>
            </a:xfrm>
            <a:custGeom>
              <a:avLst/>
              <a:gdLst/>
              <a:ahLst/>
              <a:cxnLst/>
              <a:rect l="l" t="t" r="r" b="b"/>
              <a:pathLst>
                <a:path w="7286625" h="1343025">
                  <a:moveTo>
                    <a:pt x="7062724" y="0"/>
                  </a:moveTo>
                  <a:lnTo>
                    <a:pt x="0" y="0"/>
                  </a:lnTo>
                  <a:lnTo>
                    <a:pt x="0" y="1343025"/>
                  </a:lnTo>
                  <a:lnTo>
                    <a:pt x="7062724" y="1343025"/>
                  </a:lnTo>
                  <a:lnTo>
                    <a:pt x="7107859" y="1338477"/>
                  </a:lnTo>
                  <a:lnTo>
                    <a:pt x="7149893" y="1325435"/>
                  </a:lnTo>
                  <a:lnTo>
                    <a:pt x="7187927" y="1304797"/>
                  </a:lnTo>
                  <a:lnTo>
                    <a:pt x="7221061" y="1277461"/>
                  </a:lnTo>
                  <a:lnTo>
                    <a:pt x="7248397" y="1244327"/>
                  </a:lnTo>
                  <a:lnTo>
                    <a:pt x="7269035" y="1206293"/>
                  </a:lnTo>
                  <a:lnTo>
                    <a:pt x="7282077" y="1164259"/>
                  </a:lnTo>
                  <a:lnTo>
                    <a:pt x="7286625" y="1119124"/>
                  </a:lnTo>
                  <a:lnTo>
                    <a:pt x="7286625" y="223900"/>
                  </a:lnTo>
                  <a:lnTo>
                    <a:pt x="7282077" y="178765"/>
                  </a:lnTo>
                  <a:lnTo>
                    <a:pt x="7269035" y="136731"/>
                  </a:lnTo>
                  <a:lnTo>
                    <a:pt x="7248397" y="98697"/>
                  </a:lnTo>
                  <a:lnTo>
                    <a:pt x="7221061" y="65563"/>
                  </a:lnTo>
                  <a:lnTo>
                    <a:pt x="7187927" y="38227"/>
                  </a:lnTo>
                  <a:lnTo>
                    <a:pt x="7149893" y="17589"/>
                  </a:lnTo>
                  <a:lnTo>
                    <a:pt x="7107859" y="4547"/>
                  </a:lnTo>
                  <a:lnTo>
                    <a:pt x="7062724" y="0"/>
                  </a:lnTo>
                  <a:close/>
                </a:path>
              </a:pathLst>
            </a:custGeom>
            <a:solidFill>
              <a:srgbClr val="F8D4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05325" y="1057275"/>
              <a:ext cx="7286625" cy="1343025"/>
            </a:xfrm>
            <a:custGeom>
              <a:avLst/>
              <a:gdLst/>
              <a:ahLst/>
              <a:cxnLst/>
              <a:rect l="l" t="t" r="r" b="b"/>
              <a:pathLst>
                <a:path w="7286625" h="1343025">
                  <a:moveTo>
                    <a:pt x="7286625" y="223900"/>
                  </a:moveTo>
                  <a:lnTo>
                    <a:pt x="7286625" y="1119124"/>
                  </a:lnTo>
                  <a:lnTo>
                    <a:pt x="7282077" y="1164259"/>
                  </a:lnTo>
                  <a:lnTo>
                    <a:pt x="7269035" y="1206293"/>
                  </a:lnTo>
                  <a:lnTo>
                    <a:pt x="7248397" y="1244327"/>
                  </a:lnTo>
                  <a:lnTo>
                    <a:pt x="7221061" y="1277461"/>
                  </a:lnTo>
                  <a:lnTo>
                    <a:pt x="7187927" y="1304797"/>
                  </a:lnTo>
                  <a:lnTo>
                    <a:pt x="7149893" y="1325435"/>
                  </a:lnTo>
                  <a:lnTo>
                    <a:pt x="7107859" y="1338477"/>
                  </a:lnTo>
                  <a:lnTo>
                    <a:pt x="7062724" y="1343025"/>
                  </a:lnTo>
                  <a:lnTo>
                    <a:pt x="0" y="1343025"/>
                  </a:lnTo>
                  <a:lnTo>
                    <a:pt x="0" y="0"/>
                  </a:lnTo>
                  <a:lnTo>
                    <a:pt x="7062724" y="0"/>
                  </a:lnTo>
                  <a:lnTo>
                    <a:pt x="7107859" y="4547"/>
                  </a:lnTo>
                  <a:lnTo>
                    <a:pt x="7149893" y="17589"/>
                  </a:lnTo>
                  <a:lnTo>
                    <a:pt x="7187927" y="38227"/>
                  </a:lnTo>
                  <a:lnTo>
                    <a:pt x="7221061" y="65563"/>
                  </a:lnTo>
                  <a:lnTo>
                    <a:pt x="7248397" y="98697"/>
                  </a:lnTo>
                  <a:lnTo>
                    <a:pt x="7269035" y="136731"/>
                  </a:lnTo>
                  <a:lnTo>
                    <a:pt x="7282077" y="178765"/>
                  </a:lnTo>
                  <a:lnTo>
                    <a:pt x="7286625" y="223900"/>
                  </a:lnTo>
                  <a:close/>
                </a:path>
              </a:pathLst>
            </a:custGeom>
            <a:ln w="19050">
              <a:solidFill>
                <a:srgbClr val="F8D4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46878" y="1101823"/>
            <a:ext cx="5573395" cy="62547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229"/>
              </a:spcBef>
              <a:buChar char="•"/>
              <a:tabLst>
                <a:tab pos="126364" algn="l"/>
              </a:tabLst>
            </a:pPr>
            <a:r>
              <a:rPr sz="1200" dirty="0">
                <a:latin typeface="Cambria"/>
                <a:cs typeface="Cambria"/>
              </a:rPr>
              <a:t>Establishes</a:t>
            </a:r>
            <a:r>
              <a:rPr sz="1200" spc="10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profile</a:t>
            </a:r>
            <a:r>
              <a:rPr sz="1200" spc="1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of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end</a:t>
            </a:r>
            <a:r>
              <a:rPr sz="1200" spc="1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users,</a:t>
            </a:r>
            <a:r>
              <a:rPr sz="1200" spc="15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including</a:t>
            </a:r>
            <a:r>
              <a:rPr sz="1200" spc="15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demographics,</a:t>
            </a:r>
            <a:r>
              <a:rPr sz="1200" spc="1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abilities,</a:t>
            </a:r>
            <a:r>
              <a:rPr sz="1200" spc="15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15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goals.</a:t>
            </a:r>
            <a:endParaRPr sz="1200">
              <a:latin typeface="Cambria"/>
              <a:cs typeface="Cambria"/>
            </a:endParaRPr>
          </a:p>
          <a:p>
            <a:pPr marL="1270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Cambria"/>
                <a:cs typeface="Cambria"/>
              </a:rPr>
              <a:t>Users</a:t>
            </a:r>
            <a:r>
              <a:rPr sz="1200" spc="1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can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be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categorized</a:t>
            </a:r>
            <a:r>
              <a:rPr sz="1200" spc="95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as:</a:t>
            </a:r>
            <a:endParaRPr sz="1200">
              <a:latin typeface="Cambria"/>
              <a:cs typeface="Cambria"/>
            </a:endParaRPr>
          </a:p>
          <a:p>
            <a:pPr marL="240665" lvl="1" indent="-113664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240665" algn="l"/>
              </a:tabLst>
            </a:pPr>
            <a:r>
              <a:rPr sz="1200" b="1" spc="65" dirty="0">
                <a:latin typeface="Times New Roman"/>
                <a:cs typeface="Times New Roman"/>
              </a:rPr>
              <a:t>Novices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mbria"/>
                <a:cs typeface="Cambria"/>
              </a:rPr>
              <a:t>: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85" dirty="0">
                <a:latin typeface="Cambria"/>
                <a:cs typeface="Cambria"/>
              </a:rPr>
              <a:t>No</a:t>
            </a:r>
            <a:r>
              <a:rPr sz="1200" spc="1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syntactic</a:t>
            </a:r>
            <a:r>
              <a:rPr sz="1200" spc="1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or</a:t>
            </a:r>
            <a:r>
              <a:rPr sz="1200" spc="5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semantic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knowledge</a:t>
            </a:r>
            <a:r>
              <a:rPr sz="1200" spc="1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of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system.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61559" y="1718881"/>
            <a:ext cx="6644640" cy="58102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0" marR="5080" indent="-114300">
              <a:lnSpc>
                <a:spcPts val="1350"/>
              </a:lnSpc>
              <a:spcBef>
                <a:spcPts val="220"/>
              </a:spcBef>
              <a:buFont typeface="Cambria"/>
              <a:buChar char="•"/>
              <a:tabLst>
                <a:tab pos="127000" algn="l"/>
              </a:tabLst>
            </a:pPr>
            <a:r>
              <a:rPr sz="1200" b="1" spc="50" dirty="0">
                <a:latin typeface="Times New Roman"/>
                <a:cs typeface="Times New Roman"/>
              </a:rPr>
              <a:t>Knowledgeable,</a:t>
            </a:r>
            <a:r>
              <a:rPr sz="1200" b="1" spc="2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Intermittent</a:t>
            </a:r>
            <a:r>
              <a:rPr sz="1200" b="1" spc="2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Users</a:t>
            </a:r>
            <a:r>
              <a:rPr sz="1200" b="1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mbria"/>
                <a:cs typeface="Cambria"/>
              </a:rPr>
              <a:t>:</a:t>
            </a:r>
            <a:r>
              <a:rPr sz="1200" spc="3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Understand</a:t>
            </a:r>
            <a:r>
              <a:rPr sz="1200" spc="3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31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application</a:t>
            </a:r>
            <a:r>
              <a:rPr sz="1200" spc="3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but</a:t>
            </a:r>
            <a:r>
              <a:rPr sz="1200" spc="3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struggle</a:t>
            </a:r>
            <a:r>
              <a:rPr sz="1200" spc="4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with</a:t>
            </a:r>
            <a:r>
              <a:rPr sz="1200" spc="38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interface details.</a:t>
            </a:r>
            <a:endParaRPr sz="1200">
              <a:latin typeface="Cambria"/>
              <a:cs typeface="Cambria"/>
            </a:endParaRPr>
          </a:p>
          <a:p>
            <a:pPr marL="126364" indent="-113664">
              <a:lnSpc>
                <a:spcPct val="100000"/>
              </a:lnSpc>
              <a:spcBef>
                <a:spcPts val="110"/>
              </a:spcBef>
              <a:buFont typeface="Cambria"/>
              <a:buChar char="•"/>
              <a:tabLst>
                <a:tab pos="126364" algn="l"/>
              </a:tabLst>
            </a:pPr>
            <a:r>
              <a:rPr sz="1200" b="1" spc="50" dirty="0">
                <a:latin typeface="Times New Roman"/>
                <a:cs typeface="Times New Roman"/>
              </a:rPr>
              <a:t>Knowledgeable,</a:t>
            </a:r>
            <a:r>
              <a:rPr sz="1200" b="1" spc="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Frequent</a:t>
            </a:r>
            <a:r>
              <a:rPr sz="1200" b="1" spc="1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Users</a:t>
            </a:r>
            <a:r>
              <a:rPr sz="1200" b="1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mbria"/>
                <a:cs typeface="Cambria"/>
              </a:rPr>
              <a:t>:</a:t>
            </a:r>
            <a:r>
              <a:rPr sz="1200" spc="10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Skilled</a:t>
            </a:r>
            <a:r>
              <a:rPr sz="1200" spc="10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users</a:t>
            </a:r>
            <a:r>
              <a:rPr sz="1200" spc="1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who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seek</a:t>
            </a:r>
            <a:r>
              <a:rPr sz="1200" spc="114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shortcuts</a:t>
            </a:r>
            <a:r>
              <a:rPr sz="1200" spc="1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1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efficient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interactions.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0050" y="1047750"/>
            <a:ext cx="4114800" cy="1362075"/>
            <a:chOff x="400050" y="1047750"/>
            <a:chExt cx="4114800" cy="1362075"/>
          </a:xfrm>
        </p:grpSpPr>
        <p:sp>
          <p:nvSpPr>
            <p:cNvPr id="9" name="object 9"/>
            <p:cNvSpPr/>
            <p:nvPr/>
          </p:nvSpPr>
          <p:spPr>
            <a:xfrm>
              <a:off x="409575" y="1057275"/>
              <a:ext cx="4095750" cy="1343025"/>
            </a:xfrm>
            <a:custGeom>
              <a:avLst/>
              <a:gdLst/>
              <a:ahLst/>
              <a:cxnLst/>
              <a:rect l="l" t="t" r="r" b="b"/>
              <a:pathLst>
                <a:path w="4095750" h="1343025">
                  <a:moveTo>
                    <a:pt x="3871849" y="0"/>
                  </a:moveTo>
                  <a:lnTo>
                    <a:pt x="223837" y="0"/>
                  </a:lnTo>
                  <a:lnTo>
                    <a:pt x="178726" y="4547"/>
                  </a:lnTo>
                  <a:lnTo>
                    <a:pt x="136709" y="17589"/>
                  </a:lnTo>
                  <a:lnTo>
                    <a:pt x="98687" y="38227"/>
                  </a:lnTo>
                  <a:lnTo>
                    <a:pt x="65560" y="65563"/>
                  </a:lnTo>
                  <a:lnTo>
                    <a:pt x="38227" y="98697"/>
                  </a:lnTo>
                  <a:lnTo>
                    <a:pt x="17590" y="136731"/>
                  </a:lnTo>
                  <a:lnTo>
                    <a:pt x="4547" y="178765"/>
                  </a:lnTo>
                  <a:lnTo>
                    <a:pt x="0" y="223900"/>
                  </a:lnTo>
                  <a:lnTo>
                    <a:pt x="0" y="1119124"/>
                  </a:lnTo>
                  <a:lnTo>
                    <a:pt x="4547" y="1164259"/>
                  </a:lnTo>
                  <a:lnTo>
                    <a:pt x="17590" y="1206293"/>
                  </a:lnTo>
                  <a:lnTo>
                    <a:pt x="38227" y="1244327"/>
                  </a:lnTo>
                  <a:lnTo>
                    <a:pt x="65560" y="1277461"/>
                  </a:lnTo>
                  <a:lnTo>
                    <a:pt x="98687" y="1304797"/>
                  </a:lnTo>
                  <a:lnTo>
                    <a:pt x="136709" y="1325435"/>
                  </a:lnTo>
                  <a:lnTo>
                    <a:pt x="178726" y="1338477"/>
                  </a:lnTo>
                  <a:lnTo>
                    <a:pt x="223837" y="1343025"/>
                  </a:lnTo>
                  <a:lnTo>
                    <a:pt x="3871849" y="1343025"/>
                  </a:lnTo>
                  <a:lnTo>
                    <a:pt x="3916984" y="1338477"/>
                  </a:lnTo>
                  <a:lnTo>
                    <a:pt x="3959018" y="1325435"/>
                  </a:lnTo>
                  <a:lnTo>
                    <a:pt x="3997052" y="1304797"/>
                  </a:lnTo>
                  <a:lnTo>
                    <a:pt x="4030186" y="1277461"/>
                  </a:lnTo>
                  <a:lnTo>
                    <a:pt x="4057522" y="1244327"/>
                  </a:lnTo>
                  <a:lnTo>
                    <a:pt x="4078160" y="1206293"/>
                  </a:lnTo>
                  <a:lnTo>
                    <a:pt x="4091202" y="1164259"/>
                  </a:lnTo>
                  <a:lnTo>
                    <a:pt x="4095750" y="1119124"/>
                  </a:lnTo>
                  <a:lnTo>
                    <a:pt x="4095750" y="223900"/>
                  </a:lnTo>
                  <a:lnTo>
                    <a:pt x="4091202" y="178765"/>
                  </a:lnTo>
                  <a:lnTo>
                    <a:pt x="4078160" y="136731"/>
                  </a:lnTo>
                  <a:lnTo>
                    <a:pt x="4057522" y="98697"/>
                  </a:lnTo>
                  <a:lnTo>
                    <a:pt x="4030186" y="65563"/>
                  </a:lnTo>
                  <a:lnTo>
                    <a:pt x="3997052" y="38227"/>
                  </a:lnTo>
                  <a:lnTo>
                    <a:pt x="3959018" y="17589"/>
                  </a:lnTo>
                  <a:lnTo>
                    <a:pt x="3916984" y="4547"/>
                  </a:lnTo>
                  <a:lnTo>
                    <a:pt x="3871849" y="0"/>
                  </a:lnTo>
                  <a:close/>
                </a:path>
              </a:pathLst>
            </a:custGeom>
            <a:solidFill>
              <a:srgbClr val="EB6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9575" y="1057275"/>
              <a:ext cx="4095750" cy="1343025"/>
            </a:xfrm>
            <a:custGeom>
              <a:avLst/>
              <a:gdLst/>
              <a:ahLst/>
              <a:cxnLst/>
              <a:rect l="l" t="t" r="r" b="b"/>
              <a:pathLst>
                <a:path w="4095750" h="1343025">
                  <a:moveTo>
                    <a:pt x="0" y="223900"/>
                  </a:moveTo>
                  <a:lnTo>
                    <a:pt x="4547" y="178765"/>
                  </a:lnTo>
                  <a:lnTo>
                    <a:pt x="17590" y="136731"/>
                  </a:lnTo>
                  <a:lnTo>
                    <a:pt x="38227" y="98697"/>
                  </a:lnTo>
                  <a:lnTo>
                    <a:pt x="65560" y="65563"/>
                  </a:lnTo>
                  <a:lnTo>
                    <a:pt x="98687" y="38227"/>
                  </a:lnTo>
                  <a:lnTo>
                    <a:pt x="136709" y="17589"/>
                  </a:lnTo>
                  <a:lnTo>
                    <a:pt x="178726" y="4547"/>
                  </a:lnTo>
                  <a:lnTo>
                    <a:pt x="223837" y="0"/>
                  </a:lnTo>
                  <a:lnTo>
                    <a:pt x="3871849" y="0"/>
                  </a:lnTo>
                  <a:lnTo>
                    <a:pt x="3916984" y="4547"/>
                  </a:lnTo>
                  <a:lnTo>
                    <a:pt x="3959018" y="17589"/>
                  </a:lnTo>
                  <a:lnTo>
                    <a:pt x="3997052" y="38227"/>
                  </a:lnTo>
                  <a:lnTo>
                    <a:pt x="4030186" y="65563"/>
                  </a:lnTo>
                  <a:lnTo>
                    <a:pt x="4057522" y="98697"/>
                  </a:lnTo>
                  <a:lnTo>
                    <a:pt x="4078160" y="136731"/>
                  </a:lnTo>
                  <a:lnTo>
                    <a:pt x="4091202" y="178765"/>
                  </a:lnTo>
                  <a:lnTo>
                    <a:pt x="4095750" y="223900"/>
                  </a:lnTo>
                  <a:lnTo>
                    <a:pt x="4095750" y="1119124"/>
                  </a:lnTo>
                  <a:lnTo>
                    <a:pt x="4091202" y="1164259"/>
                  </a:lnTo>
                  <a:lnTo>
                    <a:pt x="4078160" y="1206293"/>
                  </a:lnTo>
                  <a:lnTo>
                    <a:pt x="4057522" y="1244327"/>
                  </a:lnTo>
                  <a:lnTo>
                    <a:pt x="4030186" y="1277461"/>
                  </a:lnTo>
                  <a:lnTo>
                    <a:pt x="3997052" y="1304797"/>
                  </a:lnTo>
                  <a:lnTo>
                    <a:pt x="3959018" y="1325435"/>
                  </a:lnTo>
                  <a:lnTo>
                    <a:pt x="3916984" y="1338477"/>
                  </a:lnTo>
                  <a:lnTo>
                    <a:pt x="3871849" y="1343025"/>
                  </a:lnTo>
                  <a:lnTo>
                    <a:pt x="223837" y="1343025"/>
                  </a:lnTo>
                  <a:lnTo>
                    <a:pt x="178726" y="1338477"/>
                  </a:lnTo>
                  <a:lnTo>
                    <a:pt x="136709" y="1325435"/>
                  </a:lnTo>
                  <a:lnTo>
                    <a:pt x="98687" y="1304797"/>
                  </a:lnTo>
                  <a:lnTo>
                    <a:pt x="65560" y="1277461"/>
                  </a:lnTo>
                  <a:lnTo>
                    <a:pt x="38227" y="1244327"/>
                  </a:lnTo>
                  <a:lnTo>
                    <a:pt x="17590" y="1206293"/>
                  </a:lnTo>
                  <a:lnTo>
                    <a:pt x="4547" y="1164259"/>
                  </a:lnTo>
                  <a:lnTo>
                    <a:pt x="0" y="1119124"/>
                  </a:lnTo>
                  <a:lnTo>
                    <a:pt x="0" y="22390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53819" y="1549336"/>
            <a:ext cx="1215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User</a:t>
            </a:r>
            <a:r>
              <a:rPr sz="1800" spc="20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95800" y="2533650"/>
            <a:ext cx="7305675" cy="504825"/>
            <a:chOff x="4495800" y="2533650"/>
            <a:chExt cx="7305675" cy="504825"/>
          </a:xfrm>
        </p:grpSpPr>
        <p:sp>
          <p:nvSpPr>
            <p:cNvPr id="13" name="object 13"/>
            <p:cNvSpPr/>
            <p:nvPr/>
          </p:nvSpPr>
          <p:spPr>
            <a:xfrm>
              <a:off x="4505325" y="2543175"/>
              <a:ext cx="7286625" cy="485775"/>
            </a:xfrm>
            <a:custGeom>
              <a:avLst/>
              <a:gdLst/>
              <a:ahLst/>
              <a:cxnLst/>
              <a:rect l="l" t="t" r="r" b="b"/>
              <a:pathLst>
                <a:path w="7286625" h="485775">
                  <a:moveTo>
                    <a:pt x="7205726" y="0"/>
                  </a:moveTo>
                  <a:lnTo>
                    <a:pt x="0" y="0"/>
                  </a:lnTo>
                  <a:lnTo>
                    <a:pt x="0" y="485775"/>
                  </a:lnTo>
                  <a:lnTo>
                    <a:pt x="7205726" y="485775"/>
                  </a:lnTo>
                  <a:lnTo>
                    <a:pt x="7237225" y="479419"/>
                  </a:lnTo>
                  <a:lnTo>
                    <a:pt x="7262939" y="462073"/>
                  </a:lnTo>
                  <a:lnTo>
                    <a:pt x="7280271" y="436322"/>
                  </a:lnTo>
                  <a:lnTo>
                    <a:pt x="7286625" y="404749"/>
                  </a:lnTo>
                  <a:lnTo>
                    <a:pt x="7286625" y="80899"/>
                  </a:lnTo>
                  <a:lnTo>
                    <a:pt x="7280271" y="49399"/>
                  </a:lnTo>
                  <a:lnTo>
                    <a:pt x="7262939" y="23685"/>
                  </a:lnTo>
                  <a:lnTo>
                    <a:pt x="7237225" y="6353"/>
                  </a:lnTo>
                  <a:lnTo>
                    <a:pt x="7205726" y="0"/>
                  </a:lnTo>
                  <a:close/>
                </a:path>
              </a:pathLst>
            </a:custGeom>
            <a:solidFill>
              <a:srgbClr val="F7D2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05325" y="2543175"/>
              <a:ext cx="7286625" cy="485775"/>
            </a:xfrm>
            <a:custGeom>
              <a:avLst/>
              <a:gdLst/>
              <a:ahLst/>
              <a:cxnLst/>
              <a:rect l="l" t="t" r="r" b="b"/>
              <a:pathLst>
                <a:path w="7286625" h="485775">
                  <a:moveTo>
                    <a:pt x="7286625" y="80899"/>
                  </a:moveTo>
                  <a:lnTo>
                    <a:pt x="7286625" y="404749"/>
                  </a:lnTo>
                  <a:lnTo>
                    <a:pt x="7280271" y="436322"/>
                  </a:lnTo>
                  <a:lnTo>
                    <a:pt x="7262939" y="462073"/>
                  </a:lnTo>
                  <a:lnTo>
                    <a:pt x="7237225" y="479419"/>
                  </a:lnTo>
                  <a:lnTo>
                    <a:pt x="7205726" y="485775"/>
                  </a:lnTo>
                  <a:lnTo>
                    <a:pt x="0" y="485775"/>
                  </a:lnTo>
                  <a:lnTo>
                    <a:pt x="0" y="0"/>
                  </a:lnTo>
                  <a:lnTo>
                    <a:pt x="7205726" y="0"/>
                  </a:lnTo>
                  <a:lnTo>
                    <a:pt x="7237225" y="6353"/>
                  </a:lnTo>
                  <a:lnTo>
                    <a:pt x="7262939" y="23685"/>
                  </a:lnTo>
                  <a:lnTo>
                    <a:pt x="7280271" y="49399"/>
                  </a:lnTo>
                  <a:lnTo>
                    <a:pt x="7286625" y="80899"/>
                  </a:lnTo>
                  <a:close/>
                </a:path>
              </a:pathLst>
            </a:custGeom>
            <a:ln w="19050">
              <a:solidFill>
                <a:srgbClr val="F7D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514850" y="2664142"/>
            <a:ext cx="72536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775" indent="-114300">
              <a:lnSpc>
                <a:spcPct val="100000"/>
              </a:lnSpc>
              <a:spcBef>
                <a:spcPts val="100"/>
              </a:spcBef>
              <a:buChar char="•"/>
              <a:tabLst>
                <a:tab pos="358775" algn="l"/>
              </a:tabLst>
            </a:pPr>
            <a:r>
              <a:rPr sz="1200" dirty="0">
                <a:latin typeface="Cambria"/>
                <a:cs typeface="Cambria"/>
              </a:rPr>
              <a:t>Created</a:t>
            </a:r>
            <a:r>
              <a:rPr sz="1200" spc="1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by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software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engineers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to</a:t>
            </a:r>
            <a:r>
              <a:rPr sz="1200" spc="1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align</a:t>
            </a:r>
            <a:r>
              <a:rPr sz="1200" spc="1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with</a:t>
            </a:r>
            <a:r>
              <a:rPr sz="1200" spc="1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user</a:t>
            </a:r>
            <a:r>
              <a:rPr sz="1200" spc="13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model</a:t>
            </a:r>
            <a:r>
              <a:rPr sz="1200" spc="1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1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guide</a:t>
            </a:r>
            <a:r>
              <a:rPr sz="1200" spc="1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design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process.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0050" y="2476500"/>
            <a:ext cx="4114800" cy="628650"/>
            <a:chOff x="400050" y="2476500"/>
            <a:chExt cx="4114800" cy="628650"/>
          </a:xfrm>
        </p:grpSpPr>
        <p:sp>
          <p:nvSpPr>
            <p:cNvPr id="17" name="object 17"/>
            <p:cNvSpPr/>
            <p:nvPr/>
          </p:nvSpPr>
          <p:spPr>
            <a:xfrm>
              <a:off x="409575" y="2486025"/>
              <a:ext cx="4095750" cy="609600"/>
            </a:xfrm>
            <a:custGeom>
              <a:avLst/>
              <a:gdLst/>
              <a:ahLst/>
              <a:cxnLst/>
              <a:rect l="l" t="t" r="r" b="b"/>
              <a:pathLst>
                <a:path w="4095750" h="609600">
                  <a:moveTo>
                    <a:pt x="3994150" y="0"/>
                  </a:moveTo>
                  <a:lnTo>
                    <a:pt x="101600" y="0"/>
                  </a:lnTo>
                  <a:lnTo>
                    <a:pt x="62054" y="7981"/>
                  </a:lnTo>
                  <a:lnTo>
                    <a:pt x="29759" y="29749"/>
                  </a:lnTo>
                  <a:lnTo>
                    <a:pt x="7984" y="62043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7984" y="547556"/>
                  </a:lnTo>
                  <a:lnTo>
                    <a:pt x="29759" y="579850"/>
                  </a:lnTo>
                  <a:lnTo>
                    <a:pt x="62054" y="601618"/>
                  </a:lnTo>
                  <a:lnTo>
                    <a:pt x="101600" y="609600"/>
                  </a:lnTo>
                  <a:lnTo>
                    <a:pt x="3994150" y="609600"/>
                  </a:lnTo>
                  <a:lnTo>
                    <a:pt x="4033706" y="601618"/>
                  </a:lnTo>
                  <a:lnTo>
                    <a:pt x="4066000" y="579850"/>
                  </a:lnTo>
                  <a:lnTo>
                    <a:pt x="4087768" y="547556"/>
                  </a:lnTo>
                  <a:lnTo>
                    <a:pt x="4095750" y="508000"/>
                  </a:lnTo>
                  <a:lnTo>
                    <a:pt x="4095750" y="101600"/>
                  </a:lnTo>
                  <a:lnTo>
                    <a:pt x="4087768" y="62043"/>
                  </a:lnTo>
                  <a:lnTo>
                    <a:pt x="4066000" y="29749"/>
                  </a:lnTo>
                  <a:lnTo>
                    <a:pt x="4033706" y="7981"/>
                  </a:lnTo>
                  <a:lnTo>
                    <a:pt x="3994150" y="0"/>
                  </a:lnTo>
                  <a:close/>
                </a:path>
              </a:pathLst>
            </a:custGeom>
            <a:solidFill>
              <a:srgbClr val="EA64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9575" y="2486025"/>
              <a:ext cx="4095750" cy="609600"/>
            </a:xfrm>
            <a:custGeom>
              <a:avLst/>
              <a:gdLst/>
              <a:ahLst/>
              <a:cxnLst/>
              <a:rect l="l" t="t" r="r" b="b"/>
              <a:pathLst>
                <a:path w="4095750" h="609600">
                  <a:moveTo>
                    <a:pt x="0" y="101600"/>
                  </a:moveTo>
                  <a:lnTo>
                    <a:pt x="7984" y="62043"/>
                  </a:lnTo>
                  <a:lnTo>
                    <a:pt x="29759" y="29749"/>
                  </a:lnTo>
                  <a:lnTo>
                    <a:pt x="62054" y="7981"/>
                  </a:lnTo>
                  <a:lnTo>
                    <a:pt x="101600" y="0"/>
                  </a:lnTo>
                  <a:lnTo>
                    <a:pt x="3994150" y="0"/>
                  </a:lnTo>
                  <a:lnTo>
                    <a:pt x="4033706" y="7981"/>
                  </a:lnTo>
                  <a:lnTo>
                    <a:pt x="4066000" y="29749"/>
                  </a:lnTo>
                  <a:lnTo>
                    <a:pt x="4087768" y="62043"/>
                  </a:lnTo>
                  <a:lnTo>
                    <a:pt x="4095750" y="101600"/>
                  </a:lnTo>
                  <a:lnTo>
                    <a:pt x="4095750" y="508000"/>
                  </a:lnTo>
                  <a:lnTo>
                    <a:pt x="4087768" y="547556"/>
                  </a:lnTo>
                  <a:lnTo>
                    <a:pt x="4066000" y="579850"/>
                  </a:lnTo>
                  <a:lnTo>
                    <a:pt x="4033706" y="601618"/>
                  </a:lnTo>
                  <a:lnTo>
                    <a:pt x="3994150" y="609600"/>
                  </a:lnTo>
                  <a:lnTo>
                    <a:pt x="101600" y="609600"/>
                  </a:lnTo>
                  <a:lnTo>
                    <a:pt x="62054" y="601618"/>
                  </a:lnTo>
                  <a:lnTo>
                    <a:pt x="29759" y="579850"/>
                  </a:lnTo>
                  <a:lnTo>
                    <a:pt x="7984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35835" y="2611691"/>
            <a:ext cx="1447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FFFFFF"/>
                </a:solidFill>
                <a:latin typeface="Cambria"/>
                <a:cs typeface="Cambria"/>
              </a:rPr>
              <a:t>Design</a:t>
            </a:r>
            <a:r>
              <a:rPr sz="180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95800" y="3257550"/>
            <a:ext cx="7305675" cy="752475"/>
            <a:chOff x="4495800" y="3257550"/>
            <a:chExt cx="7305675" cy="752475"/>
          </a:xfrm>
        </p:grpSpPr>
        <p:sp>
          <p:nvSpPr>
            <p:cNvPr id="21" name="object 21"/>
            <p:cNvSpPr/>
            <p:nvPr/>
          </p:nvSpPr>
          <p:spPr>
            <a:xfrm>
              <a:off x="4505325" y="3267075"/>
              <a:ext cx="7286625" cy="733425"/>
            </a:xfrm>
            <a:custGeom>
              <a:avLst/>
              <a:gdLst/>
              <a:ahLst/>
              <a:cxnLst/>
              <a:rect l="l" t="t" r="r" b="b"/>
              <a:pathLst>
                <a:path w="7286625" h="733425">
                  <a:moveTo>
                    <a:pt x="7164324" y="0"/>
                  </a:moveTo>
                  <a:lnTo>
                    <a:pt x="0" y="0"/>
                  </a:lnTo>
                  <a:lnTo>
                    <a:pt x="0" y="733425"/>
                  </a:lnTo>
                  <a:lnTo>
                    <a:pt x="7164324" y="733425"/>
                  </a:lnTo>
                  <a:lnTo>
                    <a:pt x="7211937" y="723816"/>
                  </a:lnTo>
                  <a:lnTo>
                    <a:pt x="7250811" y="697611"/>
                  </a:lnTo>
                  <a:lnTo>
                    <a:pt x="7277016" y="658737"/>
                  </a:lnTo>
                  <a:lnTo>
                    <a:pt x="7286625" y="611124"/>
                  </a:lnTo>
                  <a:lnTo>
                    <a:pt x="7286625" y="122300"/>
                  </a:lnTo>
                  <a:lnTo>
                    <a:pt x="7277016" y="74687"/>
                  </a:lnTo>
                  <a:lnTo>
                    <a:pt x="7250811" y="35813"/>
                  </a:lnTo>
                  <a:lnTo>
                    <a:pt x="7211937" y="9608"/>
                  </a:lnTo>
                  <a:lnTo>
                    <a:pt x="7164324" y="0"/>
                  </a:lnTo>
                  <a:close/>
                </a:path>
              </a:pathLst>
            </a:custGeom>
            <a:solidFill>
              <a:srgbClr val="F7D2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05325" y="3267075"/>
              <a:ext cx="7286625" cy="733425"/>
            </a:xfrm>
            <a:custGeom>
              <a:avLst/>
              <a:gdLst/>
              <a:ahLst/>
              <a:cxnLst/>
              <a:rect l="l" t="t" r="r" b="b"/>
              <a:pathLst>
                <a:path w="7286625" h="733425">
                  <a:moveTo>
                    <a:pt x="7286625" y="122300"/>
                  </a:moveTo>
                  <a:lnTo>
                    <a:pt x="7286625" y="611124"/>
                  </a:lnTo>
                  <a:lnTo>
                    <a:pt x="7277016" y="658737"/>
                  </a:lnTo>
                  <a:lnTo>
                    <a:pt x="7250811" y="697611"/>
                  </a:lnTo>
                  <a:lnTo>
                    <a:pt x="7211937" y="723816"/>
                  </a:lnTo>
                  <a:lnTo>
                    <a:pt x="7164324" y="733425"/>
                  </a:lnTo>
                  <a:lnTo>
                    <a:pt x="0" y="733425"/>
                  </a:lnTo>
                  <a:lnTo>
                    <a:pt x="0" y="0"/>
                  </a:lnTo>
                  <a:lnTo>
                    <a:pt x="7164324" y="0"/>
                  </a:lnTo>
                  <a:lnTo>
                    <a:pt x="7211937" y="9608"/>
                  </a:lnTo>
                  <a:lnTo>
                    <a:pt x="7250811" y="35813"/>
                  </a:lnTo>
                  <a:lnTo>
                    <a:pt x="7277016" y="74687"/>
                  </a:lnTo>
                  <a:lnTo>
                    <a:pt x="7286625" y="122300"/>
                  </a:lnTo>
                  <a:close/>
                </a:path>
              </a:pathLst>
            </a:custGeom>
            <a:ln w="19050">
              <a:solidFill>
                <a:srgbClr val="F7D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746878" y="3429000"/>
            <a:ext cx="6783070" cy="380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4" indent="-113664">
              <a:lnSpc>
                <a:spcPts val="1395"/>
              </a:lnSpc>
              <a:spcBef>
                <a:spcPts val="100"/>
              </a:spcBef>
              <a:buChar char="•"/>
              <a:tabLst>
                <a:tab pos="126364" algn="l"/>
              </a:tabLst>
            </a:pPr>
            <a:r>
              <a:rPr sz="1200" dirty="0">
                <a:latin typeface="Cambria"/>
                <a:cs typeface="Cambria"/>
              </a:rPr>
              <a:t>The</a:t>
            </a:r>
            <a:r>
              <a:rPr sz="1200" spc="2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user’s</a:t>
            </a:r>
            <a:r>
              <a:rPr sz="1200" spc="2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internal</a:t>
            </a:r>
            <a:r>
              <a:rPr sz="1200" spc="27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understanding</a:t>
            </a:r>
            <a:r>
              <a:rPr sz="1200" spc="1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of</a:t>
            </a:r>
            <a:r>
              <a:rPr sz="1200" spc="2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how</a:t>
            </a:r>
            <a:r>
              <a:rPr sz="1200" spc="2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19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system</a:t>
            </a:r>
            <a:r>
              <a:rPr sz="1200" spc="27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works,</a:t>
            </a:r>
            <a:r>
              <a:rPr sz="1200" spc="2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influenced</a:t>
            </a:r>
            <a:r>
              <a:rPr sz="1200" spc="27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by</a:t>
            </a:r>
            <a:r>
              <a:rPr sz="1200" spc="2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their</a:t>
            </a:r>
            <a:r>
              <a:rPr sz="1200" spc="22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experience</a:t>
            </a:r>
            <a:r>
              <a:rPr sz="1200" spc="245" dirty="0">
                <a:latin typeface="Cambria"/>
                <a:cs typeface="Cambria"/>
              </a:rPr>
              <a:t> </a:t>
            </a:r>
            <a:r>
              <a:rPr sz="1200" spc="-25" dirty="0">
                <a:latin typeface="Cambria"/>
                <a:cs typeface="Cambria"/>
              </a:rPr>
              <a:t>and</a:t>
            </a:r>
            <a:endParaRPr sz="1200">
              <a:latin typeface="Cambria"/>
              <a:cs typeface="Cambria"/>
            </a:endParaRPr>
          </a:p>
          <a:p>
            <a:pPr marL="127000">
              <a:lnSpc>
                <a:spcPts val="1395"/>
              </a:lnSpc>
            </a:pPr>
            <a:r>
              <a:rPr sz="1200" spc="-10" dirty="0">
                <a:latin typeface="Cambria"/>
                <a:cs typeface="Cambria"/>
              </a:rPr>
              <a:t>familiarity.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00050" y="3162300"/>
            <a:ext cx="4114800" cy="942975"/>
            <a:chOff x="400050" y="3162300"/>
            <a:chExt cx="4114800" cy="942975"/>
          </a:xfrm>
        </p:grpSpPr>
        <p:sp>
          <p:nvSpPr>
            <p:cNvPr id="25" name="object 25"/>
            <p:cNvSpPr/>
            <p:nvPr/>
          </p:nvSpPr>
          <p:spPr>
            <a:xfrm>
              <a:off x="409575" y="3171825"/>
              <a:ext cx="4095750" cy="923925"/>
            </a:xfrm>
            <a:custGeom>
              <a:avLst/>
              <a:gdLst/>
              <a:ahLst/>
              <a:cxnLst/>
              <a:rect l="l" t="t" r="r" b="b"/>
              <a:pathLst>
                <a:path w="4095750" h="923925">
                  <a:moveTo>
                    <a:pt x="3941699" y="0"/>
                  </a:moveTo>
                  <a:lnTo>
                    <a:pt x="153987" y="0"/>
                  </a:lnTo>
                  <a:lnTo>
                    <a:pt x="105317" y="7852"/>
                  </a:lnTo>
                  <a:lnTo>
                    <a:pt x="63046" y="29720"/>
                  </a:lnTo>
                  <a:lnTo>
                    <a:pt x="29712" y="63066"/>
                  </a:lnTo>
                  <a:lnTo>
                    <a:pt x="7850" y="105355"/>
                  </a:lnTo>
                  <a:lnTo>
                    <a:pt x="0" y="154050"/>
                  </a:lnTo>
                  <a:lnTo>
                    <a:pt x="0" y="769874"/>
                  </a:lnTo>
                  <a:lnTo>
                    <a:pt x="7850" y="818569"/>
                  </a:lnTo>
                  <a:lnTo>
                    <a:pt x="29712" y="860858"/>
                  </a:lnTo>
                  <a:lnTo>
                    <a:pt x="63046" y="894204"/>
                  </a:lnTo>
                  <a:lnTo>
                    <a:pt x="105317" y="916072"/>
                  </a:lnTo>
                  <a:lnTo>
                    <a:pt x="153987" y="923925"/>
                  </a:lnTo>
                  <a:lnTo>
                    <a:pt x="3941699" y="923925"/>
                  </a:lnTo>
                  <a:lnTo>
                    <a:pt x="3990394" y="916072"/>
                  </a:lnTo>
                  <a:lnTo>
                    <a:pt x="4032683" y="894204"/>
                  </a:lnTo>
                  <a:lnTo>
                    <a:pt x="4066029" y="860858"/>
                  </a:lnTo>
                  <a:lnTo>
                    <a:pt x="4087897" y="818569"/>
                  </a:lnTo>
                  <a:lnTo>
                    <a:pt x="4095750" y="769874"/>
                  </a:lnTo>
                  <a:lnTo>
                    <a:pt x="4095750" y="154050"/>
                  </a:lnTo>
                  <a:lnTo>
                    <a:pt x="4087897" y="105355"/>
                  </a:lnTo>
                  <a:lnTo>
                    <a:pt x="4066029" y="63066"/>
                  </a:lnTo>
                  <a:lnTo>
                    <a:pt x="4032683" y="29720"/>
                  </a:lnTo>
                  <a:lnTo>
                    <a:pt x="3990394" y="7852"/>
                  </a:lnTo>
                  <a:lnTo>
                    <a:pt x="3941699" y="0"/>
                  </a:lnTo>
                  <a:close/>
                </a:path>
              </a:pathLst>
            </a:custGeom>
            <a:solidFill>
              <a:srgbClr val="E95B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09575" y="3171825"/>
              <a:ext cx="4095750" cy="923925"/>
            </a:xfrm>
            <a:custGeom>
              <a:avLst/>
              <a:gdLst/>
              <a:ahLst/>
              <a:cxnLst/>
              <a:rect l="l" t="t" r="r" b="b"/>
              <a:pathLst>
                <a:path w="4095750" h="923925">
                  <a:moveTo>
                    <a:pt x="0" y="154050"/>
                  </a:moveTo>
                  <a:lnTo>
                    <a:pt x="7850" y="105355"/>
                  </a:lnTo>
                  <a:lnTo>
                    <a:pt x="29712" y="63066"/>
                  </a:lnTo>
                  <a:lnTo>
                    <a:pt x="63046" y="29720"/>
                  </a:lnTo>
                  <a:lnTo>
                    <a:pt x="105317" y="7852"/>
                  </a:lnTo>
                  <a:lnTo>
                    <a:pt x="153987" y="0"/>
                  </a:lnTo>
                  <a:lnTo>
                    <a:pt x="3941699" y="0"/>
                  </a:lnTo>
                  <a:lnTo>
                    <a:pt x="3990394" y="7852"/>
                  </a:lnTo>
                  <a:lnTo>
                    <a:pt x="4032683" y="29720"/>
                  </a:lnTo>
                  <a:lnTo>
                    <a:pt x="4066029" y="63066"/>
                  </a:lnTo>
                  <a:lnTo>
                    <a:pt x="4087897" y="105355"/>
                  </a:lnTo>
                  <a:lnTo>
                    <a:pt x="4095750" y="154050"/>
                  </a:lnTo>
                  <a:lnTo>
                    <a:pt x="4095750" y="769874"/>
                  </a:lnTo>
                  <a:lnTo>
                    <a:pt x="4087897" y="818569"/>
                  </a:lnTo>
                  <a:lnTo>
                    <a:pt x="4066029" y="860858"/>
                  </a:lnTo>
                  <a:lnTo>
                    <a:pt x="4032683" y="894204"/>
                  </a:lnTo>
                  <a:lnTo>
                    <a:pt x="3990394" y="916072"/>
                  </a:lnTo>
                  <a:lnTo>
                    <a:pt x="3941699" y="923925"/>
                  </a:lnTo>
                  <a:lnTo>
                    <a:pt x="153987" y="923925"/>
                  </a:lnTo>
                  <a:lnTo>
                    <a:pt x="105317" y="916072"/>
                  </a:lnTo>
                  <a:lnTo>
                    <a:pt x="63046" y="894204"/>
                  </a:lnTo>
                  <a:lnTo>
                    <a:pt x="29712" y="860858"/>
                  </a:lnTo>
                  <a:lnTo>
                    <a:pt x="7850" y="818569"/>
                  </a:lnTo>
                  <a:lnTo>
                    <a:pt x="0" y="769874"/>
                  </a:lnTo>
                  <a:lnTo>
                    <a:pt x="0" y="15405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92150" y="3461702"/>
            <a:ext cx="35375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Mental</a:t>
            </a:r>
            <a:r>
              <a:rPr sz="18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sz="18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(System</a:t>
            </a:r>
            <a:r>
              <a:rPr sz="1800" spc="2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Perception)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495800" y="4314825"/>
            <a:ext cx="7305675" cy="1143000"/>
            <a:chOff x="4495800" y="4314825"/>
            <a:chExt cx="7305675" cy="1143000"/>
          </a:xfrm>
        </p:grpSpPr>
        <p:sp>
          <p:nvSpPr>
            <p:cNvPr id="29" name="object 29"/>
            <p:cNvSpPr/>
            <p:nvPr/>
          </p:nvSpPr>
          <p:spPr>
            <a:xfrm>
              <a:off x="4505325" y="4324350"/>
              <a:ext cx="7286625" cy="1123950"/>
            </a:xfrm>
            <a:custGeom>
              <a:avLst/>
              <a:gdLst/>
              <a:ahLst/>
              <a:cxnLst/>
              <a:rect l="l" t="t" r="r" b="b"/>
              <a:pathLst>
                <a:path w="7286625" h="1123950">
                  <a:moveTo>
                    <a:pt x="7099300" y="0"/>
                  </a:moveTo>
                  <a:lnTo>
                    <a:pt x="0" y="0"/>
                  </a:lnTo>
                  <a:lnTo>
                    <a:pt x="0" y="1123950"/>
                  </a:lnTo>
                  <a:lnTo>
                    <a:pt x="7099300" y="1123950"/>
                  </a:lnTo>
                  <a:lnTo>
                    <a:pt x="7149115" y="1117261"/>
                  </a:lnTo>
                  <a:lnTo>
                    <a:pt x="7193867" y="1098385"/>
                  </a:lnTo>
                  <a:lnTo>
                    <a:pt x="7231776" y="1069101"/>
                  </a:lnTo>
                  <a:lnTo>
                    <a:pt x="7261060" y="1031192"/>
                  </a:lnTo>
                  <a:lnTo>
                    <a:pt x="7279936" y="986440"/>
                  </a:lnTo>
                  <a:lnTo>
                    <a:pt x="7286625" y="936625"/>
                  </a:lnTo>
                  <a:lnTo>
                    <a:pt x="7286625" y="187325"/>
                  </a:lnTo>
                  <a:lnTo>
                    <a:pt x="7279936" y="137509"/>
                  </a:lnTo>
                  <a:lnTo>
                    <a:pt x="7261060" y="92757"/>
                  </a:lnTo>
                  <a:lnTo>
                    <a:pt x="7231776" y="54848"/>
                  </a:lnTo>
                  <a:lnTo>
                    <a:pt x="7193867" y="25564"/>
                  </a:lnTo>
                  <a:lnTo>
                    <a:pt x="7149115" y="6688"/>
                  </a:lnTo>
                  <a:lnTo>
                    <a:pt x="7099300" y="0"/>
                  </a:lnTo>
                  <a:close/>
                </a:path>
              </a:pathLst>
            </a:custGeom>
            <a:solidFill>
              <a:srgbClr val="F6D1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05325" y="4324350"/>
              <a:ext cx="7286625" cy="1123950"/>
            </a:xfrm>
            <a:custGeom>
              <a:avLst/>
              <a:gdLst/>
              <a:ahLst/>
              <a:cxnLst/>
              <a:rect l="l" t="t" r="r" b="b"/>
              <a:pathLst>
                <a:path w="7286625" h="1123950">
                  <a:moveTo>
                    <a:pt x="7286625" y="187325"/>
                  </a:moveTo>
                  <a:lnTo>
                    <a:pt x="7286625" y="936625"/>
                  </a:lnTo>
                  <a:lnTo>
                    <a:pt x="7279936" y="986440"/>
                  </a:lnTo>
                  <a:lnTo>
                    <a:pt x="7261060" y="1031192"/>
                  </a:lnTo>
                  <a:lnTo>
                    <a:pt x="7231776" y="1069101"/>
                  </a:lnTo>
                  <a:lnTo>
                    <a:pt x="7193867" y="1098385"/>
                  </a:lnTo>
                  <a:lnTo>
                    <a:pt x="7149115" y="1117261"/>
                  </a:lnTo>
                  <a:lnTo>
                    <a:pt x="7099300" y="1123950"/>
                  </a:lnTo>
                  <a:lnTo>
                    <a:pt x="0" y="1123950"/>
                  </a:lnTo>
                  <a:lnTo>
                    <a:pt x="0" y="0"/>
                  </a:lnTo>
                  <a:lnTo>
                    <a:pt x="7099300" y="0"/>
                  </a:lnTo>
                  <a:lnTo>
                    <a:pt x="7149115" y="6688"/>
                  </a:lnTo>
                  <a:lnTo>
                    <a:pt x="7193867" y="25564"/>
                  </a:lnTo>
                  <a:lnTo>
                    <a:pt x="7231776" y="54848"/>
                  </a:lnTo>
                  <a:lnTo>
                    <a:pt x="7261060" y="92757"/>
                  </a:lnTo>
                  <a:lnTo>
                    <a:pt x="7279936" y="137509"/>
                  </a:lnTo>
                  <a:lnTo>
                    <a:pt x="7286625" y="187325"/>
                  </a:lnTo>
                  <a:close/>
                </a:path>
              </a:pathLst>
            </a:custGeom>
            <a:ln w="19050">
              <a:solidFill>
                <a:srgbClr val="F6D1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746878" y="4494529"/>
            <a:ext cx="6764020" cy="75247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5730" marR="5080" indent="-113664">
              <a:lnSpc>
                <a:spcPts val="1350"/>
              </a:lnSpc>
              <a:spcBef>
                <a:spcPts val="219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Cambria"/>
                <a:cs typeface="Cambria"/>
              </a:rPr>
              <a:t>Combines</a:t>
            </a:r>
            <a:r>
              <a:rPr sz="1200" spc="4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4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system’s</a:t>
            </a:r>
            <a:r>
              <a:rPr sz="1200" spc="459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outward</a:t>
            </a:r>
            <a:r>
              <a:rPr sz="1200" spc="49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appearance</a:t>
            </a:r>
            <a:r>
              <a:rPr sz="1200" spc="4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(look</a:t>
            </a:r>
            <a:r>
              <a:rPr sz="1200" spc="12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and</a:t>
            </a:r>
            <a:r>
              <a:rPr sz="1200" spc="49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feel)</a:t>
            </a:r>
            <a:r>
              <a:rPr sz="1200" spc="49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with</a:t>
            </a:r>
            <a:r>
              <a:rPr sz="1200" spc="48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supporting</a:t>
            </a:r>
            <a:r>
              <a:rPr sz="1200" spc="44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documentation 	</a:t>
            </a:r>
            <a:r>
              <a:rPr sz="1200" dirty="0">
                <a:latin typeface="Cambria"/>
                <a:cs typeface="Cambria"/>
              </a:rPr>
              <a:t>(manuals,</a:t>
            </a:r>
            <a:r>
              <a:rPr sz="1200" spc="1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help</a:t>
            </a:r>
            <a:r>
              <a:rPr sz="1200" spc="13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files).</a:t>
            </a:r>
            <a:endParaRPr sz="1200">
              <a:latin typeface="Cambria"/>
              <a:cs typeface="Cambria"/>
            </a:endParaRPr>
          </a:p>
          <a:p>
            <a:pPr marL="127000" marR="5080" indent="-114935">
              <a:lnSpc>
                <a:spcPts val="1350"/>
              </a:lnSpc>
              <a:spcBef>
                <a:spcPts val="225"/>
              </a:spcBef>
              <a:buChar char="•"/>
              <a:tabLst>
                <a:tab pos="127000" algn="l"/>
              </a:tabLst>
            </a:pPr>
            <a:r>
              <a:rPr sz="1200" spc="55" dirty="0">
                <a:latin typeface="Cambria"/>
                <a:cs typeface="Cambria"/>
              </a:rPr>
              <a:t>Goal</a:t>
            </a:r>
            <a:r>
              <a:rPr sz="1200" spc="16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-</a:t>
            </a:r>
            <a:r>
              <a:rPr sz="1200" spc="170" dirty="0">
                <a:latin typeface="Cambria"/>
                <a:cs typeface="Cambria"/>
              </a:rPr>
              <a:t>  </a:t>
            </a:r>
            <a:r>
              <a:rPr sz="1200" spc="60" dirty="0">
                <a:latin typeface="Cambria"/>
                <a:cs typeface="Cambria"/>
              </a:rPr>
              <a:t>Align</a:t>
            </a:r>
            <a:r>
              <a:rPr sz="1200" spc="15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15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implementation</a:t>
            </a:r>
            <a:r>
              <a:rPr sz="1200" spc="14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model</a:t>
            </a:r>
            <a:r>
              <a:rPr sz="1200" spc="18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with</a:t>
            </a:r>
            <a:r>
              <a:rPr sz="1200" spc="17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15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user’s</a:t>
            </a:r>
            <a:r>
              <a:rPr sz="1200" spc="165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mental</a:t>
            </a:r>
            <a:r>
              <a:rPr sz="1200" spc="18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model</a:t>
            </a:r>
            <a:r>
              <a:rPr sz="1200" spc="18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for</a:t>
            </a:r>
            <a:r>
              <a:rPr sz="1200" spc="170" dirty="0">
                <a:latin typeface="Cambria"/>
                <a:cs typeface="Cambria"/>
              </a:rPr>
              <a:t>  </a:t>
            </a:r>
            <a:r>
              <a:rPr sz="1200" dirty="0">
                <a:latin typeface="Cambria"/>
                <a:cs typeface="Cambria"/>
              </a:rPr>
              <a:t>effective</a:t>
            </a:r>
            <a:r>
              <a:rPr sz="1200" spc="170" dirty="0">
                <a:latin typeface="Cambria"/>
                <a:cs typeface="Cambria"/>
              </a:rPr>
              <a:t>  </a:t>
            </a:r>
            <a:r>
              <a:rPr sz="1200" spc="-25" dirty="0">
                <a:latin typeface="Cambria"/>
                <a:cs typeface="Cambria"/>
              </a:rPr>
              <a:t>and </a:t>
            </a:r>
            <a:r>
              <a:rPr sz="1200" dirty="0">
                <a:latin typeface="Cambria"/>
                <a:cs typeface="Cambria"/>
              </a:rPr>
              <a:t>comfortable</a:t>
            </a:r>
            <a:r>
              <a:rPr sz="1200" spc="110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use.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00050" y="4171950"/>
            <a:ext cx="4114800" cy="1428750"/>
            <a:chOff x="400050" y="4171950"/>
            <a:chExt cx="4114800" cy="1428750"/>
          </a:xfrm>
        </p:grpSpPr>
        <p:sp>
          <p:nvSpPr>
            <p:cNvPr id="33" name="object 33"/>
            <p:cNvSpPr/>
            <p:nvPr/>
          </p:nvSpPr>
          <p:spPr>
            <a:xfrm>
              <a:off x="409575" y="4181475"/>
              <a:ext cx="4095750" cy="1409700"/>
            </a:xfrm>
            <a:custGeom>
              <a:avLst/>
              <a:gdLst/>
              <a:ahLst/>
              <a:cxnLst/>
              <a:rect l="l" t="t" r="r" b="b"/>
              <a:pathLst>
                <a:path w="4095750" h="1409700">
                  <a:moveTo>
                    <a:pt x="3860800" y="0"/>
                  </a:moveTo>
                  <a:lnTo>
                    <a:pt x="234950" y="0"/>
                  </a:lnTo>
                  <a:lnTo>
                    <a:pt x="187600" y="4771"/>
                  </a:lnTo>
                  <a:lnTo>
                    <a:pt x="143498" y="18458"/>
                  </a:lnTo>
                  <a:lnTo>
                    <a:pt x="103588" y="40116"/>
                  </a:lnTo>
                  <a:lnTo>
                    <a:pt x="68816" y="68802"/>
                  </a:lnTo>
                  <a:lnTo>
                    <a:pt x="40126" y="103571"/>
                  </a:lnTo>
                  <a:lnTo>
                    <a:pt x="18464" y="143482"/>
                  </a:lnTo>
                  <a:lnTo>
                    <a:pt x="4773" y="187589"/>
                  </a:lnTo>
                  <a:lnTo>
                    <a:pt x="0" y="234950"/>
                  </a:lnTo>
                  <a:lnTo>
                    <a:pt x="0" y="1174750"/>
                  </a:lnTo>
                  <a:lnTo>
                    <a:pt x="4773" y="1222110"/>
                  </a:lnTo>
                  <a:lnTo>
                    <a:pt x="18464" y="1266217"/>
                  </a:lnTo>
                  <a:lnTo>
                    <a:pt x="40126" y="1306128"/>
                  </a:lnTo>
                  <a:lnTo>
                    <a:pt x="68816" y="1340897"/>
                  </a:lnTo>
                  <a:lnTo>
                    <a:pt x="103588" y="1369583"/>
                  </a:lnTo>
                  <a:lnTo>
                    <a:pt x="143498" y="1391241"/>
                  </a:lnTo>
                  <a:lnTo>
                    <a:pt x="187600" y="1404928"/>
                  </a:lnTo>
                  <a:lnTo>
                    <a:pt x="234950" y="1409700"/>
                  </a:lnTo>
                  <a:lnTo>
                    <a:pt x="3860800" y="1409700"/>
                  </a:lnTo>
                  <a:lnTo>
                    <a:pt x="3908160" y="1404928"/>
                  </a:lnTo>
                  <a:lnTo>
                    <a:pt x="3952267" y="1391241"/>
                  </a:lnTo>
                  <a:lnTo>
                    <a:pt x="3992178" y="1369583"/>
                  </a:lnTo>
                  <a:lnTo>
                    <a:pt x="4026947" y="1340897"/>
                  </a:lnTo>
                  <a:lnTo>
                    <a:pt x="4055633" y="1306128"/>
                  </a:lnTo>
                  <a:lnTo>
                    <a:pt x="4077291" y="1266217"/>
                  </a:lnTo>
                  <a:lnTo>
                    <a:pt x="4090978" y="1222110"/>
                  </a:lnTo>
                  <a:lnTo>
                    <a:pt x="4095750" y="1174750"/>
                  </a:lnTo>
                  <a:lnTo>
                    <a:pt x="4095750" y="234950"/>
                  </a:lnTo>
                  <a:lnTo>
                    <a:pt x="4090978" y="187589"/>
                  </a:lnTo>
                  <a:lnTo>
                    <a:pt x="4077291" y="143482"/>
                  </a:lnTo>
                  <a:lnTo>
                    <a:pt x="4055633" y="103571"/>
                  </a:lnTo>
                  <a:lnTo>
                    <a:pt x="4026947" y="68802"/>
                  </a:lnTo>
                  <a:lnTo>
                    <a:pt x="3992178" y="40116"/>
                  </a:lnTo>
                  <a:lnTo>
                    <a:pt x="3952267" y="18458"/>
                  </a:lnTo>
                  <a:lnTo>
                    <a:pt x="3908160" y="4771"/>
                  </a:lnTo>
                  <a:lnTo>
                    <a:pt x="3860800" y="0"/>
                  </a:lnTo>
                  <a:close/>
                </a:path>
              </a:pathLst>
            </a:custGeom>
            <a:solidFill>
              <a:srgbClr val="E751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9575" y="4181475"/>
              <a:ext cx="4095750" cy="1409700"/>
            </a:xfrm>
            <a:custGeom>
              <a:avLst/>
              <a:gdLst/>
              <a:ahLst/>
              <a:cxnLst/>
              <a:rect l="l" t="t" r="r" b="b"/>
              <a:pathLst>
                <a:path w="4095750" h="1409700">
                  <a:moveTo>
                    <a:pt x="0" y="234950"/>
                  </a:moveTo>
                  <a:lnTo>
                    <a:pt x="4773" y="187589"/>
                  </a:lnTo>
                  <a:lnTo>
                    <a:pt x="18464" y="143482"/>
                  </a:lnTo>
                  <a:lnTo>
                    <a:pt x="40126" y="103571"/>
                  </a:lnTo>
                  <a:lnTo>
                    <a:pt x="68816" y="68802"/>
                  </a:lnTo>
                  <a:lnTo>
                    <a:pt x="103588" y="40116"/>
                  </a:lnTo>
                  <a:lnTo>
                    <a:pt x="143498" y="18458"/>
                  </a:lnTo>
                  <a:lnTo>
                    <a:pt x="187600" y="4771"/>
                  </a:lnTo>
                  <a:lnTo>
                    <a:pt x="234950" y="0"/>
                  </a:lnTo>
                  <a:lnTo>
                    <a:pt x="3860800" y="0"/>
                  </a:lnTo>
                  <a:lnTo>
                    <a:pt x="3908160" y="4771"/>
                  </a:lnTo>
                  <a:lnTo>
                    <a:pt x="3952267" y="18458"/>
                  </a:lnTo>
                  <a:lnTo>
                    <a:pt x="3992178" y="40116"/>
                  </a:lnTo>
                  <a:lnTo>
                    <a:pt x="4026947" y="68802"/>
                  </a:lnTo>
                  <a:lnTo>
                    <a:pt x="4055633" y="103571"/>
                  </a:lnTo>
                  <a:lnTo>
                    <a:pt x="4077291" y="143482"/>
                  </a:lnTo>
                  <a:lnTo>
                    <a:pt x="4090978" y="187589"/>
                  </a:lnTo>
                  <a:lnTo>
                    <a:pt x="4095750" y="234950"/>
                  </a:lnTo>
                  <a:lnTo>
                    <a:pt x="4095750" y="1174750"/>
                  </a:lnTo>
                  <a:lnTo>
                    <a:pt x="4090978" y="1222110"/>
                  </a:lnTo>
                  <a:lnTo>
                    <a:pt x="4077291" y="1266217"/>
                  </a:lnTo>
                  <a:lnTo>
                    <a:pt x="4055633" y="1306128"/>
                  </a:lnTo>
                  <a:lnTo>
                    <a:pt x="4026947" y="1340897"/>
                  </a:lnTo>
                  <a:lnTo>
                    <a:pt x="3992178" y="1369583"/>
                  </a:lnTo>
                  <a:lnTo>
                    <a:pt x="3952267" y="1391241"/>
                  </a:lnTo>
                  <a:lnTo>
                    <a:pt x="3908160" y="1404928"/>
                  </a:lnTo>
                  <a:lnTo>
                    <a:pt x="3860800" y="1409700"/>
                  </a:lnTo>
                  <a:lnTo>
                    <a:pt x="234950" y="1409700"/>
                  </a:lnTo>
                  <a:lnTo>
                    <a:pt x="187600" y="1404928"/>
                  </a:lnTo>
                  <a:lnTo>
                    <a:pt x="143498" y="1391241"/>
                  </a:lnTo>
                  <a:lnTo>
                    <a:pt x="103588" y="1369583"/>
                  </a:lnTo>
                  <a:lnTo>
                    <a:pt x="68816" y="1340897"/>
                  </a:lnTo>
                  <a:lnTo>
                    <a:pt x="40126" y="1306128"/>
                  </a:lnTo>
                  <a:lnTo>
                    <a:pt x="18464" y="1266217"/>
                  </a:lnTo>
                  <a:lnTo>
                    <a:pt x="4773" y="1222110"/>
                  </a:lnTo>
                  <a:lnTo>
                    <a:pt x="0" y="1174750"/>
                  </a:lnTo>
                  <a:lnTo>
                    <a:pt x="0" y="23495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278255" y="4712017"/>
            <a:ext cx="23641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Implementation</a:t>
            </a:r>
            <a:r>
              <a:rPr sz="1800" spc="4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495800" y="5734050"/>
            <a:ext cx="7305675" cy="609600"/>
            <a:chOff x="4495800" y="5734050"/>
            <a:chExt cx="7305675" cy="609600"/>
          </a:xfrm>
        </p:grpSpPr>
        <p:sp>
          <p:nvSpPr>
            <p:cNvPr id="37" name="object 37"/>
            <p:cNvSpPr/>
            <p:nvPr/>
          </p:nvSpPr>
          <p:spPr>
            <a:xfrm>
              <a:off x="4505325" y="5743575"/>
              <a:ext cx="7286625" cy="590550"/>
            </a:xfrm>
            <a:custGeom>
              <a:avLst/>
              <a:gdLst/>
              <a:ahLst/>
              <a:cxnLst/>
              <a:rect l="l" t="t" r="r" b="b"/>
              <a:pathLst>
                <a:path w="7286625" h="590550">
                  <a:moveTo>
                    <a:pt x="7188200" y="0"/>
                  </a:moveTo>
                  <a:lnTo>
                    <a:pt x="0" y="0"/>
                  </a:lnTo>
                  <a:lnTo>
                    <a:pt x="0" y="590550"/>
                  </a:lnTo>
                  <a:lnTo>
                    <a:pt x="7188200" y="590550"/>
                  </a:lnTo>
                  <a:lnTo>
                    <a:pt x="7226510" y="582814"/>
                  </a:lnTo>
                  <a:lnTo>
                    <a:pt x="7257795" y="561721"/>
                  </a:lnTo>
                  <a:lnTo>
                    <a:pt x="7278889" y="530435"/>
                  </a:lnTo>
                  <a:lnTo>
                    <a:pt x="7286625" y="492125"/>
                  </a:lnTo>
                  <a:lnTo>
                    <a:pt x="7286625" y="98425"/>
                  </a:lnTo>
                  <a:lnTo>
                    <a:pt x="7278889" y="60114"/>
                  </a:lnTo>
                  <a:lnTo>
                    <a:pt x="7257796" y="28828"/>
                  </a:lnTo>
                  <a:lnTo>
                    <a:pt x="7226510" y="7735"/>
                  </a:lnTo>
                  <a:lnTo>
                    <a:pt x="7188200" y="0"/>
                  </a:lnTo>
                  <a:close/>
                </a:path>
              </a:pathLst>
            </a:custGeom>
            <a:solidFill>
              <a:srgbClr val="F5CF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05325" y="5743575"/>
              <a:ext cx="7286625" cy="590550"/>
            </a:xfrm>
            <a:custGeom>
              <a:avLst/>
              <a:gdLst/>
              <a:ahLst/>
              <a:cxnLst/>
              <a:rect l="l" t="t" r="r" b="b"/>
              <a:pathLst>
                <a:path w="7286625" h="590550">
                  <a:moveTo>
                    <a:pt x="7286625" y="98425"/>
                  </a:moveTo>
                  <a:lnTo>
                    <a:pt x="7286625" y="492125"/>
                  </a:lnTo>
                  <a:lnTo>
                    <a:pt x="7278889" y="530435"/>
                  </a:lnTo>
                  <a:lnTo>
                    <a:pt x="7257795" y="561721"/>
                  </a:lnTo>
                  <a:lnTo>
                    <a:pt x="7226510" y="582814"/>
                  </a:lnTo>
                  <a:lnTo>
                    <a:pt x="7188200" y="590550"/>
                  </a:lnTo>
                  <a:lnTo>
                    <a:pt x="0" y="590550"/>
                  </a:lnTo>
                  <a:lnTo>
                    <a:pt x="0" y="0"/>
                  </a:lnTo>
                  <a:lnTo>
                    <a:pt x="7188200" y="0"/>
                  </a:lnTo>
                  <a:lnTo>
                    <a:pt x="7226510" y="7735"/>
                  </a:lnTo>
                  <a:lnTo>
                    <a:pt x="7257796" y="28828"/>
                  </a:lnTo>
                  <a:lnTo>
                    <a:pt x="7278889" y="60114"/>
                  </a:lnTo>
                  <a:lnTo>
                    <a:pt x="7286625" y="98425"/>
                  </a:lnTo>
                  <a:close/>
                </a:path>
              </a:pathLst>
            </a:custGeom>
            <a:ln w="19050">
              <a:solidFill>
                <a:srgbClr val="F5C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514850" y="5835332"/>
            <a:ext cx="7217409" cy="3810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59410" marR="192405" indent="-114935">
              <a:lnSpc>
                <a:spcPts val="1350"/>
              </a:lnSpc>
              <a:spcBef>
                <a:spcPts val="220"/>
              </a:spcBef>
              <a:buChar char="•"/>
              <a:tabLst>
                <a:tab pos="359410" algn="l"/>
              </a:tabLst>
            </a:pPr>
            <a:r>
              <a:rPr sz="1200" spc="55" dirty="0">
                <a:latin typeface="Cambria"/>
                <a:cs typeface="Cambria"/>
              </a:rPr>
              <a:t>Know</a:t>
            </a:r>
            <a:r>
              <a:rPr sz="1200" spc="1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11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user,</a:t>
            </a:r>
            <a:r>
              <a:rPr sz="1200" spc="2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know</a:t>
            </a:r>
            <a:r>
              <a:rPr sz="1200" spc="15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114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tasks."</a:t>
            </a:r>
            <a:r>
              <a:rPr sz="1200" spc="15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Designers</a:t>
            </a:r>
            <a:r>
              <a:rPr sz="1200" spc="13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must</a:t>
            </a:r>
            <a:r>
              <a:rPr sz="1200" spc="12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avoid</a:t>
            </a:r>
            <a:r>
              <a:rPr sz="1200" spc="20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substituting</a:t>
            </a:r>
            <a:r>
              <a:rPr sz="1200" spc="1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their</a:t>
            </a:r>
            <a:r>
              <a:rPr sz="1200" spc="14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own</a:t>
            </a:r>
            <a:r>
              <a:rPr sz="1200" spc="1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perspective</a:t>
            </a:r>
            <a:r>
              <a:rPr sz="1200" spc="14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for</a:t>
            </a:r>
            <a:r>
              <a:rPr sz="1200" spc="170" dirty="0">
                <a:latin typeface="Cambria"/>
                <a:cs typeface="Cambria"/>
              </a:rPr>
              <a:t> </a:t>
            </a:r>
            <a:r>
              <a:rPr sz="1200" spc="-20" dirty="0">
                <a:latin typeface="Cambria"/>
                <a:cs typeface="Cambria"/>
              </a:rPr>
              <a:t>that </a:t>
            </a:r>
            <a:r>
              <a:rPr sz="1200" dirty="0">
                <a:latin typeface="Cambria"/>
                <a:cs typeface="Cambria"/>
              </a:rPr>
              <a:t>of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the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user.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00050" y="5667375"/>
            <a:ext cx="4114800" cy="752475"/>
            <a:chOff x="400050" y="5667375"/>
            <a:chExt cx="4114800" cy="752475"/>
          </a:xfrm>
        </p:grpSpPr>
        <p:sp>
          <p:nvSpPr>
            <p:cNvPr id="41" name="object 41"/>
            <p:cNvSpPr/>
            <p:nvPr/>
          </p:nvSpPr>
          <p:spPr>
            <a:xfrm>
              <a:off x="409575" y="5676900"/>
              <a:ext cx="4095750" cy="733425"/>
            </a:xfrm>
            <a:custGeom>
              <a:avLst/>
              <a:gdLst/>
              <a:ahLst/>
              <a:cxnLst/>
              <a:rect l="l" t="t" r="r" b="b"/>
              <a:pathLst>
                <a:path w="4095750" h="733425">
                  <a:moveTo>
                    <a:pt x="3973449" y="0"/>
                  </a:moveTo>
                  <a:lnTo>
                    <a:pt x="122237" y="0"/>
                  </a:lnTo>
                  <a:lnTo>
                    <a:pt x="74655" y="9605"/>
                  </a:lnTo>
                  <a:lnTo>
                    <a:pt x="35801" y="35801"/>
                  </a:lnTo>
                  <a:lnTo>
                    <a:pt x="9605" y="74655"/>
                  </a:lnTo>
                  <a:lnTo>
                    <a:pt x="0" y="122237"/>
                  </a:lnTo>
                  <a:lnTo>
                    <a:pt x="0" y="611187"/>
                  </a:lnTo>
                  <a:lnTo>
                    <a:pt x="9605" y="658769"/>
                  </a:lnTo>
                  <a:lnTo>
                    <a:pt x="35801" y="697623"/>
                  </a:lnTo>
                  <a:lnTo>
                    <a:pt x="74655" y="723819"/>
                  </a:lnTo>
                  <a:lnTo>
                    <a:pt x="122237" y="733425"/>
                  </a:lnTo>
                  <a:lnTo>
                    <a:pt x="3973449" y="733425"/>
                  </a:lnTo>
                  <a:lnTo>
                    <a:pt x="4021062" y="723819"/>
                  </a:lnTo>
                  <a:lnTo>
                    <a:pt x="4059936" y="697623"/>
                  </a:lnTo>
                  <a:lnTo>
                    <a:pt x="4086141" y="658769"/>
                  </a:lnTo>
                  <a:lnTo>
                    <a:pt x="4095750" y="611187"/>
                  </a:lnTo>
                  <a:lnTo>
                    <a:pt x="4095750" y="122237"/>
                  </a:lnTo>
                  <a:lnTo>
                    <a:pt x="4086141" y="74655"/>
                  </a:lnTo>
                  <a:lnTo>
                    <a:pt x="4059936" y="35801"/>
                  </a:lnTo>
                  <a:lnTo>
                    <a:pt x="4021062" y="9605"/>
                  </a:lnTo>
                  <a:lnTo>
                    <a:pt x="3973449" y="0"/>
                  </a:lnTo>
                  <a:close/>
                </a:path>
              </a:pathLst>
            </a:custGeom>
            <a:solidFill>
              <a:srgbClr val="E647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09575" y="5676900"/>
              <a:ext cx="4095750" cy="733425"/>
            </a:xfrm>
            <a:custGeom>
              <a:avLst/>
              <a:gdLst/>
              <a:ahLst/>
              <a:cxnLst/>
              <a:rect l="l" t="t" r="r" b="b"/>
              <a:pathLst>
                <a:path w="4095750" h="733425">
                  <a:moveTo>
                    <a:pt x="0" y="122237"/>
                  </a:moveTo>
                  <a:lnTo>
                    <a:pt x="9605" y="74655"/>
                  </a:lnTo>
                  <a:lnTo>
                    <a:pt x="35801" y="35801"/>
                  </a:lnTo>
                  <a:lnTo>
                    <a:pt x="74655" y="9605"/>
                  </a:lnTo>
                  <a:lnTo>
                    <a:pt x="122237" y="0"/>
                  </a:lnTo>
                  <a:lnTo>
                    <a:pt x="3973449" y="0"/>
                  </a:lnTo>
                  <a:lnTo>
                    <a:pt x="4021062" y="9605"/>
                  </a:lnTo>
                  <a:lnTo>
                    <a:pt x="4059936" y="35801"/>
                  </a:lnTo>
                  <a:lnTo>
                    <a:pt x="4086141" y="74655"/>
                  </a:lnTo>
                  <a:lnTo>
                    <a:pt x="4095750" y="122237"/>
                  </a:lnTo>
                  <a:lnTo>
                    <a:pt x="4095750" y="611187"/>
                  </a:lnTo>
                  <a:lnTo>
                    <a:pt x="4086141" y="658769"/>
                  </a:lnTo>
                  <a:lnTo>
                    <a:pt x="4059936" y="697623"/>
                  </a:lnTo>
                  <a:lnTo>
                    <a:pt x="4021062" y="723819"/>
                  </a:lnTo>
                  <a:lnTo>
                    <a:pt x="3973449" y="733425"/>
                  </a:lnTo>
                  <a:lnTo>
                    <a:pt x="122237" y="733425"/>
                  </a:lnTo>
                  <a:lnTo>
                    <a:pt x="74655" y="723819"/>
                  </a:lnTo>
                  <a:lnTo>
                    <a:pt x="35801" y="697623"/>
                  </a:lnTo>
                  <a:lnTo>
                    <a:pt x="9605" y="658769"/>
                  </a:lnTo>
                  <a:lnTo>
                    <a:pt x="0" y="611187"/>
                  </a:lnTo>
                  <a:lnTo>
                    <a:pt x="0" y="122237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763395" y="5868670"/>
            <a:ext cx="13919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5" dirty="0">
                <a:solidFill>
                  <a:srgbClr val="FFFFFF"/>
                </a:solidFill>
                <a:latin typeface="Cambria"/>
                <a:cs typeface="Cambria"/>
              </a:rPr>
              <a:t>Key</a:t>
            </a:r>
            <a:r>
              <a:rPr sz="1800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Principle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75" dirty="0"/>
              <a:t> </a:t>
            </a:r>
            <a:r>
              <a:rPr spc="135" dirty="0"/>
              <a:t>Interface</a:t>
            </a:r>
            <a:r>
              <a:rPr spc="355" dirty="0"/>
              <a:t> </a:t>
            </a:r>
            <a:r>
              <a:rPr spc="195" dirty="0"/>
              <a:t>Design</a:t>
            </a:r>
            <a:r>
              <a:rPr spc="330" dirty="0"/>
              <a:t> </a:t>
            </a:r>
            <a:r>
              <a:rPr spc="-560" dirty="0"/>
              <a:t>–</a:t>
            </a:r>
            <a:r>
              <a:rPr spc="345" dirty="0"/>
              <a:t> </a:t>
            </a:r>
            <a:r>
              <a:rPr spc="180" dirty="0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899" y="1116088"/>
            <a:ext cx="10406232" cy="5359803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75" dirty="0"/>
              <a:t> </a:t>
            </a:r>
            <a:r>
              <a:rPr spc="135" dirty="0"/>
              <a:t>Interface</a:t>
            </a:r>
            <a:r>
              <a:rPr spc="355" dirty="0"/>
              <a:t> </a:t>
            </a:r>
            <a:r>
              <a:rPr spc="195" dirty="0"/>
              <a:t>Design</a:t>
            </a:r>
            <a:r>
              <a:rPr spc="330" dirty="0"/>
              <a:t> </a:t>
            </a:r>
            <a:r>
              <a:rPr spc="-560" dirty="0"/>
              <a:t>–</a:t>
            </a:r>
            <a:r>
              <a:rPr spc="345" dirty="0"/>
              <a:t> </a:t>
            </a:r>
            <a:r>
              <a:rPr spc="18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036129"/>
            <a:ext cx="11094720" cy="479615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90"/>
              </a:spcBef>
              <a:buFont typeface="Wingdings"/>
              <a:buChar char=""/>
              <a:tabLst>
                <a:tab pos="24130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user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interface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design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process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iterative</a:t>
            </a:r>
            <a:r>
              <a:rPr sz="1800" dirty="0">
                <a:latin typeface="Cambria"/>
                <a:cs typeface="Cambria"/>
              </a:rPr>
              <a:t>,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represented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spiral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model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with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four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framework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activities:</a:t>
            </a:r>
            <a:endParaRPr sz="18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Font typeface="Wingdings"/>
              <a:buChar char=""/>
              <a:tabLst>
                <a:tab pos="241300" algn="l"/>
              </a:tabLst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Interface</a:t>
            </a:r>
            <a:r>
              <a:rPr sz="1800" b="1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75" dirty="0">
                <a:solidFill>
                  <a:srgbClr val="FF0000"/>
                </a:solidFill>
                <a:latin typeface="Times New Roman"/>
                <a:cs typeface="Times New Roman"/>
              </a:rPr>
              <a:t>Analysis</a:t>
            </a:r>
            <a:r>
              <a:rPr sz="1800" b="1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7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18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85" dirty="0">
                <a:solidFill>
                  <a:srgbClr val="FF0000"/>
                </a:solidFill>
                <a:latin typeface="Times New Roman"/>
                <a:cs typeface="Times New Roman"/>
              </a:rPr>
              <a:t>Modeling</a:t>
            </a:r>
            <a:endParaRPr sz="18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545"/>
              </a:spcBef>
              <a:buFont typeface="Wingdings"/>
              <a:buChar char=""/>
              <a:tabLst>
                <a:tab pos="697865" algn="l"/>
              </a:tabLst>
            </a:pPr>
            <a:r>
              <a:rPr sz="1500" dirty="0">
                <a:latin typeface="Cambria"/>
                <a:cs typeface="Cambria"/>
              </a:rPr>
              <a:t>Focus</a:t>
            </a:r>
            <a:r>
              <a:rPr sz="1500" spc="17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on</a:t>
            </a:r>
            <a:r>
              <a:rPr sz="1500" spc="16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understanding</a:t>
            </a:r>
            <a:r>
              <a:rPr sz="1500" spc="13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user</a:t>
            </a:r>
            <a:r>
              <a:rPr sz="1500" spc="16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profiles,</a:t>
            </a:r>
            <a:r>
              <a:rPr sz="1500" spc="19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skill</a:t>
            </a:r>
            <a:r>
              <a:rPr sz="1500" spc="19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levels,</a:t>
            </a:r>
            <a:r>
              <a:rPr sz="1500" spc="12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and</a:t>
            </a:r>
            <a:r>
              <a:rPr sz="1500" spc="12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environmental</a:t>
            </a:r>
            <a:r>
              <a:rPr sz="1500" spc="19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factors.</a:t>
            </a:r>
            <a:endParaRPr sz="1500">
              <a:latin typeface="Cambria"/>
              <a:cs typeface="Cambria"/>
            </a:endParaRPr>
          </a:p>
          <a:p>
            <a:pPr marL="697865" lvl="1" indent="-227965">
              <a:lnSpc>
                <a:spcPct val="100000"/>
              </a:lnSpc>
              <a:spcBef>
                <a:spcPts val="530"/>
              </a:spcBef>
              <a:buFont typeface="Wingdings"/>
              <a:buChar char=""/>
              <a:tabLst>
                <a:tab pos="697865" algn="l"/>
              </a:tabLst>
            </a:pPr>
            <a:r>
              <a:rPr sz="1500" dirty="0">
                <a:latin typeface="Cambria"/>
                <a:cs typeface="Cambria"/>
              </a:rPr>
              <a:t>Define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user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categories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and</a:t>
            </a:r>
            <a:r>
              <a:rPr sz="1500" spc="5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elicit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requirements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for</a:t>
            </a:r>
            <a:r>
              <a:rPr sz="1500" spc="4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each</a:t>
            </a:r>
            <a:r>
              <a:rPr sz="1500" spc="110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category.</a:t>
            </a:r>
            <a:endParaRPr sz="1500">
              <a:latin typeface="Cambria"/>
              <a:cs typeface="Cambria"/>
            </a:endParaRPr>
          </a:p>
          <a:p>
            <a:pPr marL="697865" lvl="1" indent="-22796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697865" algn="l"/>
              </a:tabLst>
            </a:pPr>
            <a:r>
              <a:rPr sz="1500" spc="50" dirty="0">
                <a:latin typeface="Cambria"/>
                <a:cs typeface="Cambria"/>
              </a:rPr>
              <a:t>Conduct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task</a:t>
            </a:r>
            <a:r>
              <a:rPr sz="1500" spc="11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analysis</a:t>
            </a:r>
            <a:r>
              <a:rPr sz="1500" spc="114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to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identify</a:t>
            </a:r>
            <a:r>
              <a:rPr sz="1500" spc="12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and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describe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user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tasks.</a:t>
            </a:r>
            <a:endParaRPr sz="1500">
              <a:latin typeface="Cambria"/>
              <a:cs typeface="Cambria"/>
            </a:endParaRPr>
          </a:p>
          <a:p>
            <a:pPr marL="697865" lvl="1" indent="-227965">
              <a:lnSpc>
                <a:spcPct val="100000"/>
              </a:lnSpc>
              <a:spcBef>
                <a:spcPts val="530"/>
              </a:spcBef>
              <a:buFont typeface="Wingdings"/>
              <a:buChar char=""/>
              <a:tabLst>
                <a:tab pos="697865" algn="l"/>
              </a:tabLst>
            </a:pPr>
            <a:r>
              <a:rPr sz="1500" spc="55" dirty="0">
                <a:latin typeface="Cambria"/>
                <a:cs typeface="Cambria"/>
              </a:rPr>
              <a:t>Analyze</a:t>
            </a:r>
            <a:r>
              <a:rPr sz="1500" spc="17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the</a:t>
            </a:r>
            <a:r>
              <a:rPr sz="1500" spc="18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physical</a:t>
            </a:r>
            <a:r>
              <a:rPr sz="1500" spc="16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work</a:t>
            </a:r>
            <a:r>
              <a:rPr sz="1500" spc="114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environment</a:t>
            </a:r>
            <a:r>
              <a:rPr sz="1500" spc="14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(e.g.,</a:t>
            </a:r>
            <a:r>
              <a:rPr sz="1500" spc="16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location,</a:t>
            </a:r>
            <a:r>
              <a:rPr sz="1500" spc="12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lighting,</a:t>
            </a:r>
            <a:r>
              <a:rPr sz="1500" spc="12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noise,</a:t>
            </a:r>
            <a:r>
              <a:rPr sz="1500" spc="12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human</a:t>
            </a:r>
            <a:r>
              <a:rPr sz="1500" spc="190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factors).</a:t>
            </a:r>
            <a:endParaRPr sz="15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05"/>
              </a:spcBef>
              <a:buClr>
                <a:srgbClr val="000000"/>
              </a:buClr>
              <a:buFont typeface="Wingdings"/>
              <a:buChar char=""/>
              <a:tabLst>
                <a:tab pos="298450" algn="l"/>
              </a:tabLst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Interface</a:t>
            </a:r>
            <a:r>
              <a:rPr sz="1800" b="1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100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620"/>
              </a:spcBef>
              <a:buFont typeface="Wingdings"/>
              <a:buChar char=""/>
              <a:tabLst>
                <a:tab pos="697865" algn="l"/>
              </a:tabLst>
            </a:pPr>
            <a:r>
              <a:rPr sz="1500" dirty="0">
                <a:latin typeface="Cambria"/>
                <a:cs typeface="Cambria"/>
              </a:rPr>
              <a:t>Define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interface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objects,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actions,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and</a:t>
            </a:r>
            <a:r>
              <a:rPr sz="1500" spc="4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screen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representations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to</a:t>
            </a:r>
            <a:r>
              <a:rPr sz="1500" spc="3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meet</a:t>
            </a:r>
            <a:r>
              <a:rPr sz="1500" spc="4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usability</a:t>
            </a:r>
            <a:r>
              <a:rPr sz="1500" spc="4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goals.</a:t>
            </a:r>
            <a:endParaRPr sz="1500">
              <a:latin typeface="Cambria"/>
              <a:cs typeface="Cambria"/>
            </a:endParaRPr>
          </a:p>
          <a:p>
            <a:pPr marL="697865" lvl="1" indent="-227965">
              <a:lnSpc>
                <a:spcPct val="100000"/>
              </a:lnSpc>
              <a:spcBef>
                <a:spcPts val="525"/>
              </a:spcBef>
              <a:buFont typeface="Wingdings"/>
              <a:buChar char=""/>
              <a:tabLst>
                <a:tab pos="697865" algn="l"/>
              </a:tabLst>
            </a:pPr>
            <a:r>
              <a:rPr sz="1500" dirty="0">
                <a:latin typeface="Cambria"/>
                <a:cs typeface="Cambria"/>
              </a:rPr>
              <a:t>Ensure</a:t>
            </a:r>
            <a:r>
              <a:rPr sz="1500" spc="12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tasks</a:t>
            </a:r>
            <a:r>
              <a:rPr sz="1500" spc="13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can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be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performed</a:t>
            </a:r>
            <a:r>
              <a:rPr sz="1500" spc="12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efficiently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and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intuitively.</a:t>
            </a:r>
            <a:endParaRPr sz="15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605"/>
              </a:spcBef>
              <a:buClr>
                <a:srgbClr val="000000"/>
              </a:buClr>
              <a:buFont typeface="Wingdings"/>
              <a:buChar char=""/>
              <a:tabLst>
                <a:tab pos="298450" algn="l"/>
              </a:tabLst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Interface</a:t>
            </a:r>
            <a:r>
              <a:rPr sz="1800" b="1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35" dirty="0">
                <a:solidFill>
                  <a:srgbClr val="FF0000"/>
                </a:solidFill>
                <a:latin typeface="Times New Roman"/>
                <a:cs typeface="Times New Roman"/>
              </a:rPr>
              <a:t>Construction</a:t>
            </a:r>
            <a:endParaRPr sz="18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540"/>
              </a:spcBef>
              <a:buFont typeface="Wingdings"/>
              <a:buChar char=""/>
              <a:tabLst>
                <a:tab pos="697865" algn="l"/>
              </a:tabLst>
            </a:pPr>
            <a:r>
              <a:rPr sz="1500" dirty="0">
                <a:latin typeface="Cambria"/>
                <a:cs typeface="Cambria"/>
              </a:rPr>
              <a:t>Begin</a:t>
            </a:r>
            <a:r>
              <a:rPr sz="1500" spc="114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with</a:t>
            </a:r>
            <a:r>
              <a:rPr sz="1500" spc="14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</a:t>
            </a:r>
            <a:r>
              <a:rPr sz="1500" spc="14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prototype</a:t>
            </a:r>
            <a:r>
              <a:rPr sz="1500" spc="13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to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evaluate</a:t>
            </a:r>
            <a:r>
              <a:rPr sz="1500" spc="14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usage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scenarios.</a:t>
            </a:r>
            <a:endParaRPr sz="150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605"/>
              </a:spcBef>
              <a:buFont typeface="Wingdings"/>
              <a:buChar char=""/>
              <a:tabLst>
                <a:tab pos="698500" algn="l"/>
              </a:tabLst>
            </a:pPr>
            <a:r>
              <a:rPr sz="1500" dirty="0">
                <a:latin typeface="Cambria"/>
                <a:cs typeface="Cambria"/>
              </a:rPr>
              <a:t>Use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user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interface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toolkits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to</a:t>
            </a:r>
            <a:r>
              <a:rPr sz="1500" spc="5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refine</a:t>
            </a:r>
            <a:r>
              <a:rPr sz="1500" spc="4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and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complete</a:t>
            </a:r>
            <a:r>
              <a:rPr sz="1500" spc="114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the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interface.</a:t>
            </a:r>
            <a:endParaRPr sz="1500">
              <a:latin typeface="Cambria"/>
              <a:cs typeface="Cambria"/>
            </a:endParaRPr>
          </a:p>
          <a:p>
            <a:pPr marL="298450" indent="-285750">
              <a:lnSpc>
                <a:spcPct val="100000"/>
              </a:lnSpc>
              <a:spcBef>
                <a:spcPts val="530"/>
              </a:spcBef>
              <a:buFont typeface="Wingdings"/>
              <a:buChar char=""/>
              <a:tabLst>
                <a:tab pos="298450" algn="l"/>
              </a:tabLst>
            </a:pP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Interface</a:t>
            </a:r>
            <a:r>
              <a:rPr sz="1800" b="1" spc="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Validation</a:t>
            </a:r>
            <a:endParaRPr sz="18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615"/>
              </a:spcBef>
              <a:buFont typeface="Wingdings"/>
              <a:buChar char=""/>
              <a:tabLst>
                <a:tab pos="697865" algn="l"/>
              </a:tabLst>
            </a:pPr>
            <a:r>
              <a:rPr sz="1500" dirty="0">
                <a:latin typeface="Cambria"/>
                <a:cs typeface="Cambria"/>
              </a:rPr>
              <a:t>Validate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that</a:t>
            </a:r>
            <a:r>
              <a:rPr sz="1500" spc="11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the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interface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supports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all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user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tasks</a:t>
            </a:r>
            <a:r>
              <a:rPr sz="1500" spc="12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and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variations.</a:t>
            </a:r>
            <a:endParaRPr sz="1500">
              <a:latin typeface="Cambria"/>
              <a:cs typeface="Cambria"/>
            </a:endParaRPr>
          </a:p>
          <a:p>
            <a:pPr marL="697865" lvl="1" indent="-227965">
              <a:lnSpc>
                <a:spcPct val="100000"/>
              </a:lnSpc>
              <a:spcBef>
                <a:spcPts val="530"/>
              </a:spcBef>
              <a:buFont typeface="Wingdings"/>
              <a:buChar char=""/>
              <a:tabLst>
                <a:tab pos="697865" algn="l"/>
              </a:tabLst>
            </a:pPr>
            <a:r>
              <a:rPr sz="1500" dirty="0">
                <a:latin typeface="Cambria"/>
                <a:cs typeface="Cambria"/>
              </a:rPr>
              <a:t>Assess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ease</a:t>
            </a:r>
            <a:r>
              <a:rPr sz="1500" spc="11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of</a:t>
            </a:r>
            <a:r>
              <a:rPr sz="1500" spc="114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use,</a:t>
            </a:r>
            <a:r>
              <a:rPr sz="1500" spc="12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learnability,</a:t>
            </a:r>
            <a:r>
              <a:rPr sz="1500" spc="13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and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user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acceptance.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75" dirty="0"/>
              <a:t> </a:t>
            </a:r>
            <a:r>
              <a:rPr spc="135" dirty="0"/>
              <a:t>Interface</a:t>
            </a:r>
            <a:r>
              <a:rPr spc="355" dirty="0"/>
              <a:t> </a:t>
            </a:r>
            <a:r>
              <a:rPr spc="195" dirty="0"/>
              <a:t>Design</a:t>
            </a:r>
            <a:r>
              <a:rPr spc="330" dirty="0"/>
              <a:t> </a:t>
            </a:r>
            <a:r>
              <a:rPr spc="-560" dirty="0"/>
              <a:t>–</a:t>
            </a:r>
            <a:r>
              <a:rPr spc="345" dirty="0"/>
              <a:t> </a:t>
            </a:r>
            <a:r>
              <a:rPr spc="18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11240135" cy="5179060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294640" indent="-290195">
              <a:lnSpc>
                <a:spcPct val="100000"/>
              </a:lnSpc>
              <a:spcBef>
                <a:spcPts val="192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b="1" spc="100" dirty="0">
                <a:solidFill>
                  <a:srgbClr val="FF0000"/>
                </a:solidFill>
                <a:latin typeface="Times New Roman"/>
                <a:cs typeface="Times New Roman"/>
              </a:rPr>
              <a:t>Prototyping</a:t>
            </a:r>
            <a:r>
              <a:rPr sz="275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750">
              <a:latin typeface="Times New Roman"/>
              <a:cs typeface="Times New Roman"/>
            </a:endParaRPr>
          </a:p>
          <a:p>
            <a:pPr marL="712470" lvl="1" indent="-244475">
              <a:lnSpc>
                <a:spcPct val="100000"/>
              </a:lnSpc>
              <a:spcBef>
                <a:spcPts val="1560"/>
              </a:spcBef>
              <a:buSzPct val="95833"/>
              <a:buFont typeface="Wingdings"/>
              <a:buChar char=""/>
              <a:tabLst>
                <a:tab pos="712470" algn="l"/>
                <a:tab pos="2515870" algn="l"/>
                <a:tab pos="2908300" algn="l"/>
                <a:tab pos="4241800" algn="l"/>
                <a:tab pos="4805680" algn="l"/>
                <a:tab pos="6413500" algn="l"/>
                <a:tab pos="7104380" algn="l"/>
                <a:tab pos="8351520" algn="l"/>
                <a:tab pos="8950325" algn="l"/>
                <a:tab pos="10294620" algn="l"/>
              </a:tabLst>
            </a:pPr>
            <a:r>
              <a:rPr sz="2400" spc="-10" dirty="0">
                <a:latin typeface="Cambria"/>
                <a:cs typeface="Cambria"/>
              </a:rPr>
              <a:t>Prototyping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essential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for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0" dirty="0">
                <a:latin typeface="Cambria"/>
                <a:cs typeface="Cambria"/>
              </a:rPr>
              <a:t>evaluating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5" dirty="0">
                <a:latin typeface="Cambria"/>
                <a:cs typeface="Cambria"/>
              </a:rPr>
              <a:t>and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refining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interface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65" dirty="0">
                <a:latin typeface="Cambria"/>
                <a:cs typeface="Cambria"/>
              </a:rPr>
              <a:t>during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spc="-10" dirty="0">
                <a:latin typeface="Cambria"/>
                <a:cs typeface="Cambria"/>
              </a:rPr>
              <a:t>construction.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400">
              <a:latin typeface="Cambria"/>
              <a:cs typeface="Cambria"/>
            </a:endParaRPr>
          </a:p>
          <a:p>
            <a:pPr marL="384175" indent="-371475">
              <a:lnSpc>
                <a:spcPct val="100000"/>
              </a:lnSpc>
              <a:buClr>
                <a:srgbClr val="000000"/>
              </a:buClr>
              <a:buFont typeface="Wingdings"/>
              <a:buChar char=""/>
              <a:tabLst>
                <a:tab pos="384175" algn="l"/>
              </a:tabLst>
            </a:pPr>
            <a:r>
              <a:rPr sz="2750" b="1" spc="65" dirty="0">
                <a:solidFill>
                  <a:srgbClr val="FF0000"/>
                </a:solidFill>
                <a:latin typeface="Times New Roman"/>
                <a:cs typeface="Times New Roman"/>
              </a:rPr>
              <a:t>Iterative</a:t>
            </a:r>
            <a:r>
              <a:rPr sz="275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Nature</a:t>
            </a:r>
            <a:r>
              <a:rPr sz="2750" b="1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750">
              <a:latin typeface="Times New Roman"/>
              <a:cs typeface="Times New Roman"/>
            </a:endParaRPr>
          </a:p>
          <a:p>
            <a:pPr marL="712470" lvl="1" indent="-244475">
              <a:lnSpc>
                <a:spcPct val="100000"/>
              </a:lnSpc>
              <a:spcBef>
                <a:spcPts val="1555"/>
              </a:spcBef>
              <a:buSzPct val="95833"/>
              <a:buFont typeface="Wingdings"/>
              <a:buChar char=""/>
              <a:tabLst>
                <a:tab pos="712470" algn="l"/>
                <a:tab pos="1378585" algn="l"/>
                <a:tab pos="2541270" algn="l"/>
                <a:tab pos="3836035" algn="l"/>
                <a:tab pos="5140325" algn="l"/>
                <a:tab pos="6161405" algn="l"/>
                <a:tab pos="7412990" algn="l"/>
                <a:tab pos="7991475" algn="l"/>
                <a:tab pos="8983980" algn="l"/>
                <a:tab pos="10671175" algn="l"/>
              </a:tabLst>
            </a:pP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process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involves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multiple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passes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0" dirty="0">
                <a:latin typeface="Cambria"/>
                <a:cs typeface="Cambria"/>
              </a:rPr>
              <a:t>through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spiral,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elaborating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task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Cambria"/>
                <a:cs typeface="Cambria"/>
              </a:rPr>
              <a:t>details,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design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information,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operational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features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incrementally.</a:t>
            </a:r>
            <a:endParaRPr sz="2400">
              <a:latin typeface="Cambria"/>
              <a:cs typeface="Cambria"/>
            </a:endParaRPr>
          </a:p>
          <a:p>
            <a:pPr marL="699135" marR="8890" lvl="1" indent="-231140">
              <a:lnSpc>
                <a:spcPct val="148600"/>
              </a:lnSpc>
              <a:spcBef>
                <a:spcPts val="80"/>
              </a:spcBef>
              <a:buSzPct val="95833"/>
              <a:buFont typeface="Wingdings"/>
              <a:buChar char=""/>
              <a:tabLst>
                <a:tab pos="699135" algn="l"/>
                <a:tab pos="712470" algn="l"/>
                <a:tab pos="1640205" algn="l"/>
                <a:tab pos="2007235" algn="l"/>
                <a:tab pos="2501265" algn="l"/>
                <a:tab pos="3306445" algn="l"/>
                <a:tab pos="3722370" algn="l"/>
                <a:tab pos="4824730" algn="l"/>
                <a:tab pos="5728335" algn="l"/>
                <a:tab pos="6640195" algn="l"/>
                <a:tab pos="7056120" algn="l"/>
                <a:tab pos="7628890" algn="l"/>
                <a:tab pos="8318500" algn="l"/>
                <a:tab pos="9686290" algn="l"/>
              </a:tabLst>
            </a:pPr>
            <a:r>
              <a:rPr sz="2400" spc="-10" dirty="0">
                <a:latin typeface="Cambria"/>
                <a:cs typeface="Cambria"/>
              </a:rPr>
              <a:t>	There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25" dirty="0">
                <a:latin typeface="Cambria"/>
                <a:cs typeface="Cambria"/>
              </a:rPr>
              <a:t>no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need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specify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every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detail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first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iteration;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subsequent </a:t>
            </a:r>
            <a:r>
              <a:rPr sz="2400" dirty="0">
                <a:latin typeface="Cambria"/>
                <a:cs typeface="Cambria"/>
              </a:rPr>
              <a:t>iterations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refine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design.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65" dirty="0"/>
              <a:t> </a:t>
            </a:r>
            <a:r>
              <a:rPr spc="135" dirty="0"/>
              <a:t>Interface</a:t>
            </a:r>
            <a:r>
              <a:rPr spc="355" dirty="0"/>
              <a:t> </a:t>
            </a:r>
            <a:r>
              <a:rPr spc="195" dirty="0"/>
              <a:t>Design</a:t>
            </a:r>
            <a:r>
              <a:rPr spc="335" dirty="0"/>
              <a:t> </a:t>
            </a:r>
            <a:r>
              <a:rPr spc="-560" dirty="0"/>
              <a:t>–</a:t>
            </a:r>
            <a:r>
              <a:rPr spc="345" dirty="0"/>
              <a:t> </a:t>
            </a:r>
            <a:r>
              <a:rPr spc="195" dirty="0"/>
              <a:t>Design</a:t>
            </a:r>
            <a:r>
              <a:rPr spc="330" dirty="0"/>
              <a:t> </a:t>
            </a:r>
            <a:r>
              <a:rPr spc="235" dirty="0"/>
              <a:t>Issues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95800" y="1304925"/>
            <a:ext cx="7305675" cy="2105025"/>
            <a:chOff x="4495800" y="1304925"/>
            <a:chExt cx="7305675" cy="2105025"/>
          </a:xfrm>
        </p:grpSpPr>
        <p:sp>
          <p:nvSpPr>
            <p:cNvPr id="4" name="object 4"/>
            <p:cNvSpPr/>
            <p:nvPr/>
          </p:nvSpPr>
          <p:spPr>
            <a:xfrm>
              <a:off x="4505325" y="1314450"/>
              <a:ext cx="7286625" cy="2085975"/>
            </a:xfrm>
            <a:custGeom>
              <a:avLst/>
              <a:gdLst/>
              <a:ahLst/>
              <a:cxnLst/>
              <a:rect l="l" t="t" r="r" b="b"/>
              <a:pathLst>
                <a:path w="7286625" h="2085975">
                  <a:moveTo>
                    <a:pt x="6938899" y="0"/>
                  </a:moveTo>
                  <a:lnTo>
                    <a:pt x="0" y="0"/>
                  </a:lnTo>
                  <a:lnTo>
                    <a:pt x="0" y="2085975"/>
                  </a:lnTo>
                  <a:lnTo>
                    <a:pt x="6938899" y="2085975"/>
                  </a:lnTo>
                  <a:lnTo>
                    <a:pt x="6986079" y="2082800"/>
                  </a:lnTo>
                  <a:lnTo>
                    <a:pt x="7031331" y="2073552"/>
                  </a:lnTo>
                  <a:lnTo>
                    <a:pt x="7074241" y="2058646"/>
                  </a:lnTo>
                  <a:lnTo>
                    <a:pt x="7114394" y="2038495"/>
                  </a:lnTo>
                  <a:lnTo>
                    <a:pt x="7151375" y="2013515"/>
                  </a:lnTo>
                  <a:lnTo>
                    <a:pt x="7184771" y="1984121"/>
                  </a:lnTo>
                  <a:lnTo>
                    <a:pt x="7214165" y="1950725"/>
                  </a:lnTo>
                  <a:lnTo>
                    <a:pt x="7239145" y="1913744"/>
                  </a:lnTo>
                  <a:lnTo>
                    <a:pt x="7259296" y="1873591"/>
                  </a:lnTo>
                  <a:lnTo>
                    <a:pt x="7274202" y="1830681"/>
                  </a:lnTo>
                  <a:lnTo>
                    <a:pt x="7283450" y="1785429"/>
                  </a:lnTo>
                  <a:lnTo>
                    <a:pt x="7286625" y="1738249"/>
                  </a:lnTo>
                  <a:lnTo>
                    <a:pt x="7286625" y="347725"/>
                  </a:lnTo>
                  <a:lnTo>
                    <a:pt x="7283450" y="300545"/>
                  </a:lnTo>
                  <a:lnTo>
                    <a:pt x="7274202" y="255293"/>
                  </a:lnTo>
                  <a:lnTo>
                    <a:pt x="7259296" y="212383"/>
                  </a:lnTo>
                  <a:lnTo>
                    <a:pt x="7239145" y="172230"/>
                  </a:lnTo>
                  <a:lnTo>
                    <a:pt x="7214165" y="135249"/>
                  </a:lnTo>
                  <a:lnTo>
                    <a:pt x="7184771" y="101853"/>
                  </a:lnTo>
                  <a:lnTo>
                    <a:pt x="7151375" y="72459"/>
                  </a:lnTo>
                  <a:lnTo>
                    <a:pt x="7114394" y="47479"/>
                  </a:lnTo>
                  <a:lnTo>
                    <a:pt x="7074241" y="27328"/>
                  </a:lnTo>
                  <a:lnTo>
                    <a:pt x="7031331" y="12422"/>
                  </a:lnTo>
                  <a:lnTo>
                    <a:pt x="6986079" y="3174"/>
                  </a:lnTo>
                  <a:lnTo>
                    <a:pt x="6938899" y="0"/>
                  </a:lnTo>
                  <a:close/>
                </a:path>
              </a:pathLst>
            </a:custGeom>
            <a:solidFill>
              <a:srgbClr val="FBDC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05325" y="1314450"/>
              <a:ext cx="7286625" cy="2085975"/>
            </a:xfrm>
            <a:custGeom>
              <a:avLst/>
              <a:gdLst/>
              <a:ahLst/>
              <a:cxnLst/>
              <a:rect l="l" t="t" r="r" b="b"/>
              <a:pathLst>
                <a:path w="7286625" h="2085975">
                  <a:moveTo>
                    <a:pt x="7286625" y="347725"/>
                  </a:moveTo>
                  <a:lnTo>
                    <a:pt x="7286625" y="1738249"/>
                  </a:lnTo>
                  <a:lnTo>
                    <a:pt x="7283450" y="1785429"/>
                  </a:lnTo>
                  <a:lnTo>
                    <a:pt x="7274202" y="1830681"/>
                  </a:lnTo>
                  <a:lnTo>
                    <a:pt x="7259296" y="1873591"/>
                  </a:lnTo>
                  <a:lnTo>
                    <a:pt x="7239145" y="1913744"/>
                  </a:lnTo>
                  <a:lnTo>
                    <a:pt x="7214165" y="1950725"/>
                  </a:lnTo>
                  <a:lnTo>
                    <a:pt x="7184771" y="1984121"/>
                  </a:lnTo>
                  <a:lnTo>
                    <a:pt x="7151375" y="2013515"/>
                  </a:lnTo>
                  <a:lnTo>
                    <a:pt x="7114394" y="2038495"/>
                  </a:lnTo>
                  <a:lnTo>
                    <a:pt x="7074241" y="2058646"/>
                  </a:lnTo>
                  <a:lnTo>
                    <a:pt x="7031331" y="2073552"/>
                  </a:lnTo>
                  <a:lnTo>
                    <a:pt x="6986079" y="2082800"/>
                  </a:lnTo>
                  <a:lnTo>
                    <a:pt x="6938899" y="2085975"/>
                  </a:lnTo>
                  <a:lnTo>
                    <a:pt x="0" y="2085975"/>
                  </a:lnTo>
                  <a:lnTo>
                    <a:pt x="0" y="0"/>
                  </a:lnTo>
                  <a:lnTo>
                    <a:pt x="6938899" y="0"/>
                  </a:lnTo>
                  <a:lnTo>
                    <a:pt x="6986079" y="3174"/>
                  </a:lnTo>
                  <a:lnTo>
                    <a:pt x="7031331" y="12422"/>
                  </a:lnTo>
                  <a:lnTo>
                    <a:pt x="7074241" y="27328"/>
                  </a:lnTo>
                  <a:lnTo>
                    <a:pt x="7114394" y="47479"/>
                  </a:lnTo>
                  <a:lnTo>
                    <a:pt x="7151375" y="72459"/>
                  </a:lnTo>
                  <a:lnTo>
                    <a:pt x="7184771" y="101853"/>
                  </a:lnTo>
                  <a:lnTo>
                    <a:pt x="7214165" y="135249"/>
                  </a:lnTo>
                  <a:lnTo>
                    <a:pt x="7239145" y="172230"/>
                  </a:lnTo>
                  <a:lnTo>
                    <a:pt x="7259296" y="212383"/>
                  </a:lnTo>
                  <a:lnTo>
                    <a:pt x="7274202" y="255293"/>
                  </a:lnTo>
                  <a:lnTo>
                    <a:pt x="7283450" y="300545"/>
                  </a:lnTo>
                  <a:lnTo>
                    <a:pt x="7286625" y="347725"/>
                  </a:lnTo>
                  <a:close/>
                </a:path>
              </a:pathLst>
            </a:custGeom>
            <a:ln w="19050">
              <a:solidFill>
                <a:srgbClr val="FBD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46878" y="1359979"/>
            <a:ext cx="6722745" cy="1923414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305"/>
              </a:spcBef>
              <a:buChar char="•"/>
              <a:tabLst>
                <a:tab pos="184150" algn="l"/>
              </a:tabLst>
            </a:pPr>
            <a:r>
              <a:rPr sz="1700" dirty="0">
                <a:latin typeface="Cambria"/>
                <a:cs typeface="Cambria"/>
              </a:rPr>
              <a:t>Measured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from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user</a:t>
            </a:r>
            <a:r>
              <a:rPr sz="1700" spc="1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action</a:t>
            </a:r>
            <a:r>
              <a:rPr sz="1700" spc="1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system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response.</a:t>
            </a:r>
            <a:endParaRPr sz="1700">
              <a:latin typeface="Cambria"/>
              <a:cs typeface="Cambria"/>
            </a:endParaRPr>
          </a:p>
          <a:p>
            <a:pPr marL="184150" indent="-171450">
              <a:lnSpc>
                <a:spcPct val="100000"/>
              </a:lnSpc>
              <a:spcBef>
                <a:spcPts val="210"/>
              </a:spcBef>
              <a:buChar char="•"/>
              <a:tabLst>
                <a:tab pos="184150" algn="l"/>
              </a:tabLst>
            </a:pPr>
            <a:r>
              <a:rPr sz="1700" spc="50" dirty="0">
                <a:latin typeface="Cambria"/>
                <a:cs typeface="Cambria"/>
              </a:rPr>
              <a:t>Two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key</a:t>
            </a:r>
            <a:r>
              <a:rPr sz="1700" spc="1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characteristics:</a:t>
            </a:r>
            <a:endParaRPr sz="1700">
              <a:latin typeface="Cambria"/>
              <a:cs typeface="Cambria"/>
            </a:endParaRPr>
          </a:p>
          <a:p>
            <a:pPr marL="354965" lvl="1" indent="-170815">
              <a:lnSpc>
                <a:spcPct val="100000"/>
              </a:lnSpc>
              <a:spcBef>
                <a:spcPts val="140"/>
              </a:spcBef>
              <a:buChar char="•"/>
              <a:tabLst>
                <a:tab pos="354965" algn="l"/>
              </a:tabLst>
            </a:pPr>
            <a:r>
              <a:rPr sz="1700" dirty="0">
                <a:latin typeface="Cambria"/>
                <a:cs typeface="Cambria"/>
              </a:rPr>
              <a:t>Length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: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Long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delays</a:t>
            </a:r>
            <a:r>
              <a:rPr sz="1700" spc="1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cause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frustration.</a:t>
            </a:r>
            <a:endParaRPr sz="1700">
              <a:latin typeface="Cambria"/>
              <a:cs typeface="Cambria"/>
            </a:endParaRPr>
          </a:p>
          <a:p>
            <a:pPr marL="354965" lvl="1" indent="-170815">
              <a:lnSpc>
                <a:spcPts val="1960"/>
              </a:lnSpc>
              <a:spcBef>
                <a:spcPts val="215"/>
              </a:spcBef>
              <a:buChar char="•"/>
              <a:tabLst>
                <a:tab pos="354965" algn="l"/>
              </a:tabLst>
            </a:pPr>
            <a:r>
              <a:rPr sz="1700" dirty="0">
                <a:latin typeface="Cambria"/>
                <a:cs typeface="Cambria"/>
              </a:rPr>
              <a:t>Variability</a:t>
            </a:r>
            <a:r>
              <a:rPr sz="1700" spc="75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:</a:t>
            </a:r>
            <a:r>
              <a:rPr sz="1700" spc="6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Consistent</a:t>
            </a:r>
            <a:r>
              <a:rPr sz="1700" spc="65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response</a:t>
            </a:r>
            <a:r>
              <a:rPr sz="1700" spc="7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times</a:t>
            </a:r>
            <a:r>
              <a:rPr sz="1700" spc="48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are</a:t>
            </a:r>
            <a:r>
              <a:rPr sz="1700" spc="7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preferable</a:t>
            </a:r>
            <a:r>
              <a:rPr sz="1700" spc="75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75" dirty="0">
                <a:latin typeface="Cambria"/>
                <a:cs typeface="Cambria"/>
              </a:rPr>
              <a:t>  </a:t>
            </a:r>
            <a:r>
              <a:rPr sz="1700" spc="40" dirty="0">
                <a:latin typeface="Cambria"/>
                <a:cs typeface="Cambria"/>
              </a:rPr>
              <a:t>highly</a:t>
            </a:r>
            <a:endParaRPr sz="1700">
              <a:latin typeface="Cambria"/>
              <a:cs typeface="Cambria"/>
            </a:endParaRPr>
          </a:p>
          <a:p>
            <a:pPr marL="355600">
              <a:lnSpc>
                <a:spcPts val="1960"/>
              </a:lnSpc>
            </a:pPr>
            <a:r>
              <a:rPr sz="1700" dirty="0">
                <a:latin typeface="Cambria"/>
                <a:cs typeface="Cambria"/>
              </a:rPr>
              <a:t>variable</a:t>
            </a:r>
            <a:r>
              <a:rPr sz="1700" spc="20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ones,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even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if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slightly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longer.</a:t>
            </a:r>
            <a:endParaRPr sz="1700">
              <a:latin typeface="Cambria"/>
              <a:cs typeface="Cambria"/>
            </a:endParaRPr>
          </a:p>
          <a:p>
            <a:pPr marL="355600" marR="5080" lvl="1" indent="-171450">
              <a:lnSpc>
                <a:spcPts val="1880"/>
              </a:lnSpc>
              <a:spcBef>
                <a:spcPts val="405"/>
              </a:spcBef>
              <a:buChar char="•"/>
              <a:tabLst>
                <a:tab pos="355600" algn="l"/>
              </a:tabLst>
            </a:pPr>
            <a:r>
              <a:rPr sz="1700" spc="55" dirty="0">
                <a:latin typeface="Cambria"/>
                <a:cs typeface="Cambria"/>
              </a:rPr>
              <a:t>Goal:</a:t>
            </a:r>
            <a:r>
              <a:rPr sz="1700" spc="49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Minimize</a:t>
            </a:r>
            <a:r>
              <a:rPr sz="1700" spc="4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variability</a:t>
            </a:r>
            <a:r>
              <a:rPr sz="1700" spc="4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7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establish</a:t>
            </a:r>
            <a:r>
              <a:rPr sz="1700" spc="459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48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predictable</a:t>
            </a:r>
            <a:r>
              <a:rPr sz="1700" spc="484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interaction rhythm.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0050" y="1038225"/>
            <a:ext cx="4114800" cy="2638425"/>
            <a:chOff x="400050" y="1038225"/>
            <a:chExt cx="4114800" cy="2638425"/>
          </a:xfrm>
        </p:grpSpPr>
        <p:sp>
          <p:nvSpPr>
            <p:cNvPr id="8" name="object 8"/>
            <p:cNvSpPr/>
            <p:nvPr/>
          </p:nvSpPr>
          <p:spPr>
            <a:xfrm>
              <a:off x="409575" y="1047750"/>
              <a:ext cx="4095750" cy="2619375"/>
            </a:xfrm>
            <a:custGeom>
              <a:avLst/>
              <a:gdLst/>
              <a:ahLst/>
              <a:cxnLst/>
              <a:rect l="l" t="t" r="r" b="b"/>
              <a:pathLst>
                <a:path w="4095750" h="2619375">
                  <a:moveTo>
                    <a:pt x="3659124" y="0"/>
                  </a:moveTo>
                  <a:lnTo>
                    <a:pt x="436575" y="0"/>
                  </a:lnTo>
                  <a:lnTo>
                    <a:pt x="389006" y="2561"/>
                  </a:lnTo>
                  <a:lnTo>
                    <a:pt x="342920" y="10069"/>
                  </a:lnTo>
                  <a:lnTo>
                    <a:pt x="298585" y="22256"/>
                  </a:lnTo>
                  <a:lnTo>
                    <a:pt x="256266" y="38857"/>
                  </a:lnTo>
                  <a:lnTo>
                    <a:pt x="216229" y="59605"/>
                  </a:lnTo>
                  <a:lnTo>
                    <a:pt x="178741" y="84234"/>
                  </a:lnTo>
                  <a:lnTo>
                    <a:pt x="144068" y="112478"/>
                  </a:lnTo>
                  <a:lnTo>
                    <a:pt x="112477" y="144071"/>
                  </a:lnTo>
                  <a:lnTo>
                    <a:pt x="84234" y="178746"/>
                  </a:lnTo>
                  <a:lnTo>
                    <a:pt x="59606" y="216238"/>
                  </a:lnTo>
                  <a:lnTo>
                    <a:pt x="38858" y="256280"/>
                  </a:lnTo>
                  <a:lnTo>
                    <a:pt x="22257" y="298606"/>
                  </a:lnTo>
                  <a:lnTo>
                    <a:pt x="10069" y="342950"/>
                  </a:lnTo>
                  <a:lnTo>
                    <a:pt x="2561" y="389045"/>
                  </a:lnTo>
                  <a:lnTo>
                    <a:pt x="0" y="436625"/>
                  </a:lnTo>
                  <a:lnTo>
                    <a:pt x="0" y="2182749"/>
                  </a:lnTo>
                  <a:lnTo>
                    <a:pt x="2561" y="2230329"/>
                  </a:lnTo>
                  <a:lnTo>
                    <a:pt x="10069" y="2276424"/>
                  </a:lnTo>
                  <a:lnTo>
                    <a:pt x="22257" y="2320768"/>
                  </a:lnTo>
                  <a:lnTo>
                    <a:pt x="38858" y="2363094"/>
                  </a:lnTo>
                  <a:lnTo>
                    <a:pt x="59606" y="2403136"/>
                  </a:lnTo>
                  <a:lnTo>
                    <a:pt x="84234" y="2440628"/>
                  </a:lnTo>
                  <a:lnTo>
                    <a:pt x="112477" y="2475303"/>
                  </a:lnTo>
                  <a:lnTo>
                    <a:pt x="144068" y="2506896"/>
                  </a:lnTo>
                  <a:lnTo>
                    <a:pt x="178741" y="2535140"/>
                  </a:lnTo>
                  <a:lnTo>
                    <a:pt x="216229" y="2559769"/>
                  </a:lnTo>
                  <a:lnTo>
                    <a:pt x="256266" y="2580517"/>
                  </a:lnTo>
                  <a:lnTo>
                    <a:pt x="298585" y="2597118"/>
                  </a:lnTo>
                  <a:lnTo>
                    <a:pt x="342920" y="2609305"/>
                  </a:lnTo>
                  <a:lnTo>
                    <a:pt x="389006" y="2616813"/>
                  </a:lnTo>
                  <a:lnTo>
                    <a:pt x="436575" y="2619375"/>
                  </a:lnTo>
                  <a:lnTo>
                    <a:pt x="3659124" y="2619375"/>
                  </a:lnTo>
                  <a:lnTo>
                    <a:pt x="3706704" y="2616813"/>
                  </a:lnTo>
                  <a:lnTo>
                    <a:pt x="3752799" y="2609305"/>
                  </a:lnTo>
                  <a:lnTo>
                    <a:pt x="3797143" y="2597118"/>
                  </a:lnTo>
                  <a:lnTo>
                    <a:pt x="3839469" y="2580517"/>
                  </a:lnTo>
                  <a:lnTo>
                    <a:pt x="3879511" y="2559769"/>
                  </a:lnTo>
                  <a:lnTo>
                    <a:pt x="3917003" y="2535140"/>
                  </a:lnTo>
                  <a:lnTo>
                    <a:pt x="3951678" y="2506896"/>
                  </a:lnTo>
                  <a:lnTo>
                    <a:pt x="3983271" y="2475303"/>
                  </a:lnTo>
                  <a:lnTo>
                    <a:pt x="4011515" y="2440628"/>
                  </a:lnTo>
                  <a:lnTo>
                    <a:pt x="4036144" y="2403136"/>
                  </a:lnTo>
                  <a:lnTo>
                    <a:pt x="4056892" y="2363094"/>
                  </a:lnTo>
                  <a:lnTo>
                    <a:pt x="4073493" y="2320768"/>
                  </a:lnTo>
                  <a:lnTo>
                    <a:pt x="4085680" y="2276424"/>
                  </a:lnTo>
                  <a:lnTo>
                    <a:pt x="4093188" y="2230329"/>
                  </a:lnTo>
                  <a:lnTo>
                    <a:pt x="4095750" y="2182749"/>
                  </a:lnTo>
                  <a:lnTo>
                    <a:pt x="4095750" y="436625"/>
                  </a:lnTo>
                  <a:lnTo>
                    <a:pt x="4093188" y="389045"/>
                  </a:lnTo>
                  <a:lnTo>
                    <a:pt x="4085680" y="342950"/>
                  </a:lnTo>
                  <a:lnTo>
                    <a:pt x="4073493" y="298606"/>
                  </a:lnTo>
                  <a:lnTo>
                    <a:pt x="4056892" y="256280"/>
                  </a:lnTo>
                  <a:lnTo>
                    <a:pt x="4036144" y="216238"/>
                  </a:lnTo>
                  <a:lnTo>
                    <a:pt x="4011515" y="178746"/>
                  </a:lnTo>
                  <a:lnTo>
                    <a:pt x="3983271" y="144071"/>
                  </a:lnTo>
                  <a:lnTo>
                    <a:pt x="3951678" y="112478"/>
                  </a:lnTo>
                  <a:lnTo>
                    <a:pt x="3917003" y="84234"/>
                  </a:lnTo>
                  <a:lnTo>
                    <a:pt x="3879511" y="59605"/>
                  </a:lnTo>
                  <a:lnTo>
                    <a:pt x="3839469" y="38857"/>
                  </a:lnTo>
                  <a:lnTo>
                    <a:pt x="3797143" y="22256"/>
                  </a:lnTo>
                  <a:lnTo>
                    <a:pt x="3752799" y="10069"/>
                  </a:lnTo>
                  <a:lnTo>
                    <a:pt x="3706704" y="2561"/>
                  </a:lnTo>
                  <a:lnTo>
                    <a:pt x="3659124" y="0"/>
                  </a:lnTo>
                  <a:close/>
                </a:path>
              </a:pathLst>
            </a:custGeom>
            <a:solidFill>
              <a:srgbClr val="F892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9575" y="1047750"/>
              <a:ext cx="4095750" cy="2619375"/>
            </a:xfrm>
            <a:custGeom>
              <a:avLst/>
              <a:gdLst/>
              <a:ahLst/>
              <a:cxnLst/>
              <a:rect l="l" t="t" r="r" b="b"/>
              <a:pathLst>
                <a:path w="4095750" h="2619375">
                  <a:moveTo>
                    <a:pt x="0" y="436625"/>
                  </a:moveTo>
                  <a:lnTo>
                    <a:pt x="2561" y="389045"/>
                  </a:lnTo>
                  <a:lnTo>
                    <a:pt x="10069" y="342950"/>
                  </a:lnTo>
                  <a:lnTo>
                    <a:pt x="22257" y="298606"/>
                  </a:lnTo>
                  <a:lnTo>
                    <a:pt x="38858" y="256280"/>
                  </a:lnTo>
                  <a:lnTo>
                    <a:pt x="59606" y="216238"/>
                  </a:lnTo>
                  <a:lnTo>
                    <a:pt x="84234" y="178746"/>
                  </a:lnTo>
                  <a:lnTo>
                    <a:pt x="112477" y="144071"/>
                  </a:lnTo>
                  <a:lnTo>
                    <a:pt x="144068" y="112478"/>
                  </a:lnTo>
                  <a:lnTo>
                    <a:pt x="178741" y="84234"/>
                  </a:lnTo>
                  <a:lnTo>
                    <a:pt x="216229" y="59605"/>
                  </a:lnTo>
                  <a:lnTo>
                    <a:pt x="256266" y="38857"/>
                  </a:lnTo>
                  <a:lnTo>
                    <a:pt x="298585" y="22256"/>
                  </a:lnTo>
                  <a:lnTo>
                    <a:pt x="342920" y="10069"/>
                  </a:lnTo>
                  <a:lnTo>
                    <a:pt x="389006" y="2561"/>
                  </a:lnTo>
                  <a:lnTo>
                    <a:pt x="436575" y="0"/>
                  </a:lnTo>
                  <a:lnTo>
                    <a:pt x="3659124" y="0"/>
                  </a:lnTo>
                  <a:lnTo>
                    <a:pt x="3706704" y="2561"/>
                  </a:lnTo>
                  <a:lnTo>
                    <a:pt x="3752799" y="10069"/>
                  </a:lnTo>
                  <a:lnTo>
                    <a:pt x="3797143" y="22256"/>
                  </a:lnTo>
                  <a:lnTo>
                    <a:pt x="3839469" y="38857"/>
                  </a:lnTo>
                  <a:lnTo>
                    <a:pt x="3879511" y="59605"/>
                  </a:lnTo>
                  <a:lnTo>
                    <a:pt x="3917003" y="84234"/>
                  </a:lnTo>
                  <a:lnTo>
                    <a:pt x="3951678" y="112478"/>
                  </a:lnTo>
                  <a:lnTo>
                    <a:pt x="3983271" y="144071"/>
                  </a:lnTo>
                  <a:lnTo>
                    <a:pt x="4011515" y="178746"/>
                  </a:lnTo>
                  <a:lnTo>
                    <a:pt x="4036144" y="216238"/>
                  </a:lnTo>
                  <a:lnTo>
                    <a:pt x="4056892" y="256280"/>
                  </a:lnTo>
                  <a:lnTo>
                    <a:pt x="4073493" y="298606"/>
                  </a:lnTo>
                  <a:lnTo>
                    <a:pt x="4085680" y="342950"/>
                  </a:lnTo>
                  <a:lnTo>
                    <a:pt x="4093188" y="389045"/>
                  </a:lnTo>
                  <a:lnTo>
                    <a:pt x="4095750" y="436625"/>
                  </a:lnTo>
                  <a:lnTo>
                    <a:pt x="4095750" y="2182749"/>
                  </a:lnTo>
                  <a:lnTo>
                    <a:pt x="4093188" y="2230329"/>
                  </a:lnTo>
                  <a:lnTo>
                    <a:pt x="4085680" y="2276424"/>
                  </a:lnTo>
                  <a:lnTo>
                    <a:pt x="4073493" y="2320768"/>
                  </a:lnTo>
                  <a:lnTo>
                    <a:pt x="4056892" y="2363094"/>
                  </a:lnTo>
                  <a:lnTo>
                    <a:pt x="4036144" y="2403136"/>
                  </a:lnTo>
                  <a:lnTo>
                    <a:pt x="4011515" y="2440628"/>
                  </a:lnTo>
                  <a:lnTo>
                    <a:pt x="3983271" y="2475303"/>
                  </a:lnTo>
                  <a:lnTo>
                    <a:pt x="3951678" y="2506896"/>
                  </a:lnTo>
                  <a:lnTo>
                    <a:pt x="3917003" y="2535140"/>
                  </a:lnTo>
                  <a:lnTo>
                    <a:pt x="3879511" y="2559769"/>
                  </a:lnTo>
                  <a:lnTo>
                    <a:pt x="3839469" y="2580517"/>
                  </a:lnTo>
                  <a:lnTo>
                    <a:pt x="3797143" y="2597118"/>
                  </a:lnTo>
                  <a:lnTo>
                    <a:pt x="3752799" y="2609305"/>
                  </a:lnTo>
                  <a:lnTo>
                    <a:pt x="3706704" y="2616813"/>
                  </a:lnTo>
                  <a:lnTo>
                    <a:pt x="3659124" y="2619375"/>
                  </a:lnTo>
                  <a:lnTo>
                    <a:pt x="436575" y="2619375"/>
                  </a:lnTo>
                  <a:lnTo>
                    <a:pt x="389006" y="2616813"/>
                  </a:lnTo>
                  <a:lnTo>
                    <a:pt x="342920" y="2609305"/>
                  </a:lnTo>
                  <a:lnTo>
                    <a:pt x="298585" y="2597118"/>
                  </a:lnTo>
                  <a:lnTo>
                    <a:pt x="256266" y="2580517"/>
                  </a:lnTo>
                  <a:lnTo>
                    <a:pt x="216229" y="2559769"/>
                  </a:lnTo>
                  <a:lnTo>
                    <a:pt x="178741" y="2535140"/>
                  </a:lnTo>
                  <a:lnTo>
                    <a:pt x="144068" y="2506896"/>
                  </a:lnTo>
                  <a:lnTo>
                    <a:pt x="112477" y="2475303"/>
                  </a:lnTo>
                  <a:lnTo>
                    <a:pt x="84234" y="2440628"/>
                  </a:lnTo>
                  <a:lnTo>
                    <a:pt x="59606" y="2403136"/>
                  </a:lnTo>
                  <a:lnTo>
                    <a:pt x="38858" y="2363094"/>
                  </a:lnTo>
                  <a:lnTo>
                    <a:pt x="22257" y="2320768"/>
                  </a:lnTo>
                  <a:lnTo>
                    <a:pt x="10069" y="2276424"/>
                  </a:lnTo>
                  <a:lnTo>
                    <a:pt x="2561" y="2230329"/>
                  </a:lnTo>
                  <a:lnTo>
                    <a:pt x="0" y="2182749"/>
                  </a:lnTo>
                  <a:lnTo>
                    <a:pt x="0" y="4366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50644" y="2188781"/>
            <a:ext cx="221488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System</a:t>
            </a:r>
            <a:r>
              <a:rPr sz="17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Response</a:t>
            </a:r>
            <a:r>
              <a:rPr sz="1700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mbria"/>
                <a:cs typeface="Cambria"/>
              </a:rPr>
              <a:t>Time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95800" y="4048125"/>
            <a:ext cx="7305675" cy="2105025"/>
            <a:chOff x="4495800" y="4048125"/>
            <a:chExt cx="7305675" cy="2105025"/>
          </a:xfrm>
        </p:grpSpPr>
        <p:sp>
          <p:nvSpPr>
            <p:cNvPr id="12" name="object 12"/>
            <p:cNvSpPr/>
            <p:nvPr/>
          </p:nvSpPr>
          <p:spPr>
            <a:xfrm>
              <a:off x="4505325" y="4057650"/>
              <a:ext cx="7286625" cy="2085975"/>
            </a:xfrm>
            <a:custGeom>
              <a:avLst/>
              <a:gdLst/>
              <a:ahLst/>
              <a:cxnLst/>
              <a:rect l="l" t="t" r="r" b="b"/>
              <a:pathLst>
                <a:path w="7286625" h="2085975">
                  <a:moveTo>
                    <a:pt x="6938899" y="0"/>
                  </a:moveTo>
                  <a:lnTo>
                    <a:pt x="0" y="0"/>
                  </a:lnTo>
                  <a:lnTo>
                    <a:pt x="0" y="2085975"/>
                  </a:lnTo>
                  <a:lnTo>
                    <a:pt x="6938899" y="2085975"/>
                  </a:lnTo>
                  <a:lnTo>
                    <a:pt x="6986079" y="2082801"/>
                  </a:lnTo>
                  <a:lnTo>
                    <a:pt x="7031331" y="2073556"/>
                  </a:lnTo>
                  <a:lnTo>
                    <a:pt x="7074241" y="2058654"/>
                  </a:lnTo>
                  <a:lnTo>
                    <a:pt x="7114394" y="2038508"/>
                  </a:lnTo>
                  <a:lnTo>
                    <a:pt x="7151375" y="2013535"/>
                  </a:lnTo>
                  <a:lnTo>
                    <a:pt x="7184771" y="1984146"/>
                  </a:lnTo>
                  <a:lnTo>
                    <a:pt x="7214165" y="1950757"/>
                  </a:lnTo>
                  <a:lnTo>
                    <a:pt x="7239145" y="1913781"/>
                  </a:lnTo>
                  <a:lnTo>
                    <a:pt x="7259296" y="1873634"/>
                  </a:lnTo>
                  <a:lnTo>
                    <a:pt x="7274202" y="1830728"/>
                  </a:lnTo>
                  <a:lnTo>
                    <a:pt x="7283450" y="1785479"/>
                  </a:lnTo>
                  <a:lnTo>
                    <a:pt x="7286625" y="1738299"/>
                  </a:lnTo>
                  <a:lnTo>
                    <a:pt x="7286625" y="347725"/>
                  </a:lnTo>
                  <a:lnTo>
                    <a:pt x="7283450" y="300545"/>
                  </a:lnTo>
                  <a:lnTo>
                    <a:pt x="7274202" y="255293"/>
                  </a:lnTo>
                  <a:lnTo>
                    <a:pt x="7259296" y="212383"/>
                  </a:lnTo>
                  <a:lnTo>
                    <a:pt x="7239145" y="172230"/>
                  </a:lnTo>
                  <a:lnTo>
                    <a:pt x="7214165" y="135249"/>
                  </a:lnTo>
                  <a:lnTo>
                    <a:pt x="7184771" y="101853"/>
                  </a:lnTo>
                  <a:lnTo>
                    <a:pt x="7151375" y="72459"/>
                  </a:lnTo>
                  <a:lnTo>
                    <a:pt x="7114394" y="47479"/>
                  </a:lnTo>
                  <a:lnTo>
                    <a:pt x="7074241" y="27328"/>
                  </a:lnTo>
                  <a:lnTo>
                    <a:pt x="7031331" y="12422"/>
                  </a:lnTo>
                  <a:lnTo>
                    <a:pt x="6986079" y="3174"/>
                  </a:lnTo>
                  <a:lnTo>
                    <a:pt x="6938899" y="0"/>
                  </a:lnTo>
                  <a:close/>
                </a:path>
              </a:pathLst>
            </a:custGeom>
            <a:solidFill>
              <a:srgbClr val="ECDBC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05325" y="4057650"/>
              <a:ext cx="7286625" cy="2085975"/>
            </a:xfrm>
            <a:custGeom>
              <a:avLst/>
              <a:gdLst/>
              <a:ahLst/>
              <a:cxnLst/>
              <a:rect l="l" t="t" r="r" b="b"/>
              <a:pathLst>
                <a:path w="7286625" h="2085975">
                  <a:moveTo>
                    <a:pt x="7286625" y="347725"/>
                  </a:moveTo>
                  <a:lnTo>
                    <a:pt x="7286625" y="1738299"/>
                  </a:lnTo>
                  <a:lnTo>
                    <a:pt x="7283450" y="1785479"/>
                  </a:lnTo>
                  <a:lnTo>
                    <a:pt x="7274202" y="1830728"/>
                  </a:lnTo>
                  <a:lnTo>
                    <a:pt x="7259296" y="1873634"/>
                  </a:lnTo>
                  <a:lnTo>
                    <a:pt x="7239145" y="1913781"/>
                  </a:lnTo>
                  <a:lnTo>
                    <a:pt x="7214165" y="1950757"/>
                  </a:lnTo>
                  <a:lnTo>
                    <a:pt x="7184771" y="1984146"/>
                  </a:lnTo>
                  <a:lnTo>
                    <a:pt x="7151375" y="2013535"/>
                  </a:lnTo>
                  <a:lnTo>
                    <a:pt x="7114394" y="2038508"/>
                  </a:lnTo>
                  <a:lnTo>
                    <a:pt x="7074241" y="2058654"/>
                  </a:lnTo>
                  <a:lnTo>
                    <a:pt x="7031331" y="2073556"/>
                  </a:lnTo>
                  <a:lnTo>
                    <a:pt x="6986079" y="2082801"/>
                  </a:lnTo>
                  <a:lnTo>
                    <a:pt x="6938899" y="2085975"/>
                  </a:lnTo>
                  <a:lnTo>
                    <a:pt x="0" y="2085975"/>
                  </a:lnTo>
                  <a:lnTo>
                    <a:pt x="0" y="0"/>
                  </a:lnTo>
                  <a:lnTo>
                    <a:pt x="6938899" y="0"/>
                  </a:lnTo>
                  <a:lnTo>
                    <a:pt x="6986079" y="3174"/>
                  </a:lnTo>
                  <a:lnTo>
                    <a:pt x="7031331" y="12422"/>
                  </a:lnTo>
                  <a:lnTo>
                    <a:pt x="7074241" y="27328"/>
                  </a:lnTo>
                  <a:lnTo>
                    <a:pt x="7114394" y="47479"/>
                  </a:lnTo>
                  <a:lnTo>
                    <a:pt x="7151375" y="72459"/>
                  </a:lnTo>
                  <a:lnTo>
                    <a:pt x="7184771" y="101853"/>
                  </a:lnTo>
                  <a:lnTo>
                    <a:pt x="7214165" y="135249"/>
                  </a:lnTo>
                  <a:lnTo>
                    <a:pt x="7239145" y="172230"/>
                  </a:lnTo>
                  <a:lnTo>
                    <a:pt x="7259296" y="212383"/>
                  </a:lnTo>
                  <a:lnTo>
                    <a:pt x="7274202" y="255293"/>
                  </a:lnTo>
                  <a:lnTo>
                    <a:pt x="7283450" y="300545"/>
                  </a:lnTo>
                  <a:lnTo>
                    <a:pt x="7286625" y="347725"/>
                  </a:lnTo>
                  <a:close/>
                </a:path>
              </a:pathLst>
            </a:custGeom>
            <a:ln w="19050">
              <a:solidFill>
                <a:srgbClr val="ECDB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746878" y="3946715"/>
            <a:ext cx="6712584" cy="22479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305"/>
              </a:spcBef>
              <a:buChar char="•"/>
              <a:tabLst>
                <a:tab pos="184150" algn="l"/>
              </a:tabLst>
            </a:pPr>
            <a:r>
              <a:rPr sz="1700" dirty="0">
                <a:latin typeface="Cambria"/>
                <a:cs typeface="Cambria"/>
              </a:rPr>
              <a:t>Essential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guiding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users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when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they</a:t>
            </a:r>
            <a:r>
              <a:rPr sz="1700" spc="1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encounter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difficulties.</a:t>
            </a:r>
            <a:endParaRPr sz="1700">
              <a:latin typeface="Cambria"/>
              <a:cs typeface="Cambria"/>
            </a:endParaRPr>
          </a:p>
          <a:p>
            <a:pPr marL="184150" indent="-171450">
              <a:lnSpc>
                <a:spcPct val="100000"/>
              </a:lnSpc>
              <a:spcBef>
                <a:spcPts val="210"/>
              </a:spcBef>
              <a:buChar char="•"/>
              <a:tabLst>
                <a:tab pos="184150" algn="l"/>
              </a:tabLst>
            </a:pPr>
            <a:r>
              <a:rPr sz="1700" spc="65" dirty="0">
                <a:latin typeface="Cambria"/>
                <a:cs typeface="Cambria"/>
              </a:rPr>
              <a:t>Key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design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considerations:</a:t>
            </a:r>
            <a:endParaRPr sz="1700">
              <a:latin typeface="Cambria"/>
              <a:cs typeface="Cambria"/>
            </a:endParaRPr>
          </a:p>
          <a:p>
            <a:pPr marL="354965" lvl="1" indent="-170815">
              <a:lnSpc>
                <a:spcPct val="100000"/>
              </a:lnSpc>
              <a:spcBef>
                <a:spcPts val="140"/>
              </a:spcBef>
              <a:buChar char="•"/>
              <a:tabLst>
                <a:tab pos="354965" algn="l"/>
              </a:tabLst>
            </a:pPr>
            <a:r>
              <a:rPr sz="1700" spc="10" dirty="0">
                <a:latin typeface="Cambria"/>
                <a:cs typeface="Cambria"/>
              </a:rPr>
              <a:t>Availability: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Provide</a:t>
            </a:r>
            <a:r>
              <a:rPr sz="1700" spc="150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help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for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all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functions</a:t>
            </a:r>
            <a:r>
              <a:rPr sz="1700" spc="165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or</a:t>
            </a:r>
            <a:r>
              <a:rPr sz="1700" spc="175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a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subset.</a:t>
            </a:r>
            <a:endParaRPr sz="1700">
              <a:latin typeface="Cambria"/>
              <a:cs typeface="Cambria"/>
            </a:endParaRPr>
          </a:p>
          <a:p>
            <a:pPr marL="354965" lvl="1" indent="-170815">
              <a:lnSpc>
                <a:spcPct val="100000"/>
              </a:lnSpc>
              <a:spcBef>
                <a:spcPts val="215"/>
              </a:spcBef>
              <a:buChar char="•"/>
              <a:tabLst>
                <a:tab pos="354965" algn="l"/>
              </a:tabLst>
            </a:pPr>
            <a:r>
              <a:rPr sz="1700" dirty="0">
                <a:latin typeface="Cambria"/>
                <a:cs typeface="Cambria"/>
              </a:rPr>
              <a:t>Access:</a:t>
            </a:r>
            <a:r>
              <a:rPr sz="1700" spc="17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Offer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help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via</a:t>
            </a:r>
            <a:r>
              <a:rPr sz="1700" spc="20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menus,</a:t>
            </a:r>
            <a:r>
              <a:rPr sz="1700" spc="2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function</a:t>
            </a:r>
            <a:r>
              <a:rPr sz="1700" spc="16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keys,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or</a:t>
            </a:r>
            <a:r>
              <a:rPr sz="1700" spc="204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commands.</a:t>
            </a:r>
            <a:endParaRPr sz="1700">
              <a:latin typeface="Cambria"/>
              <a:cs typeface="Cambria"/>
            </a:endParaRPr>
          </a:p>
          <a:p>
            <a:pPr marL="355600" marR="5080" lvl="1" indent="-171450">
              <a:lnSpc>
                <a:spcPts val="1950"/>
              </a:lnSpc>
              <a:spcBef>
                <a:spcPts val="275"/>
              </a:spcBef>
              <a:buChar char="•"/>
              <a:tabLst>
                <a:tab pos="355600" algn="l"/>
              </a:tabLst>
            </a:pPr>
            <a:r>
              <a:rPr sz="1700" dirty="0">
                <a:latin typeface="Cambria"/>
                <a:cs typeface="Cambria"/>
              </a:rPr>
              <a:t>Representation:</a:t>
            </a:r>
            <a:r>
              <a:rPr sz="1700" spc="48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Use</a:t>
            </a:r>
            <a:r>
              <a:rPr sz="1700" spc="4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separate</a:t>
            </a:r>
            <a:r>
              <a:rPr sz="1700" spc="475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windows,</a:t>
            </a:r>
            <a:r>
              <a:rPr sz="1700" spc="7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one-line</a:t>
            </a:r>
            <a:r>
              <a:rPr sz="1700" spc="6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suggestions,</a:t>
            </a:r>
            <a:r>
              <a:rPr sz="1700" spc="490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or </a:t>
            </a:r>
            <a:r>
              <a:rPr sz="1700" spc="-10" dirty="0">
                <a:latin typeface="Cambria"/>
                <a:cs typeface="Cambria"/>
              </a:rPr>
              <a:t>hypertext.</a:t>
            </a:r>
            <a:endParaRPr sz="1700">
              <a:latin typeface="Cambria"/>
              <a:cs typeface="Cambria"/>
            </a:endParaRPr>
          </a:p>
          <a:p>
            <a:pPr marL="354965" lvl="1" indent="-170815">
              <a:lnSpc>
                <a:spcPct val="100000"/>
              </a:lnSpc>
              <a:spcBef>
                <a:spcPts val="90"/>
              </a:spcBef>
              <a:buChar char="•"/>
              <a:tabLst>
                <a:tab pos="354965" algn="l"/>
              </a:tabLst>
            </a:pPr>
            <a:r>
              <a:rPr sz="1700" dirty="0">
                <a:latin typeface="Cambria"/>
                <a:cs typeface="Cambria"/>
              </a:rPr>
              <a:t>Structure: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Organize</a:t>
            </a:r>
            <a:r>
              <a:rPr sz="1700" spc="1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help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as</a:t>
            </a:r>
            <a:r>
              <a:rPr sz="1700" spc="1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flat,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layered,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or</a:t>
            </a:r>
            <a:r>
              <a:rPr sz="1700" spc="1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hypertext-</a:t>
            </a:r>
            <a:r>
              <a:rPr sz="1700" spc="-10" dirty="0">
                <a:latin typeface="Cambria"/>
                <a:cs typeface="Cambria"/>
              </a:rPr>
              <a:t>based.</a:t>
            </a:r>
            <a:endParaRPr sz="1700">
              <a:latin typeface="Cambria"/>
              <a:cs typeface="Cambria"/>
            </a:endParaRPr>
          </a:p>
          <a:p>
            <a:pPr marL="354965" lvl="1" indent="-170815">
              <a:lnSpc>
                <a:spcPct val="100000"/>
              </a:lnSpc>
              <a:spcBef>
                <a:spcPts val="215"/>
              </a:spcBef>
              <a:buChar char="•"/>
              <a:tabLst>
                <a:tab pos="354965" algn="l"/>
              </a:tabLst>
            </a:pPr>
            <a:r>
              <a:rPr sz="1700" dirty="0">
                <a:latin typeface="Cambria"/>
                <a:cs typeface="Cambria"/>
              </a:rPr>
              <a:t>Return: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85" dirty="0">
                <a:latin typeface="Cambria"/>
                <a:cs typeface="Cambria"/>
              </a:rPr>
              <a:t>Allow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easy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return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1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normal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interaction.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0050" y="3781425"/>
            <a:ext cx="4114800" cy="2638425"/>
            <a:chOff x="400050" y="3781425"/>
            <a:chExt cx="4114800" cy="2638425"/>
          </a:xfrm>
        </p:grpSpPr>
        <p:sp>
          <p:nvSpPr>
            <p:cNvPr id="16" name="object 16"/>
            <p:cNvSpPr/>
            <p:nvPr/>
          </p:nvSpPr>
          <p:spPr>
            <a:xfrm>
              <a:off x="409575" y="3790950"/>
              <a:ext cx="4095750" cy="2619375"/>
            </a:xfrm>
            <a:custGeom>
              <a:avLst/>
              <a:gdLst/>
              <a:ahLst/>
              <a:cxnLst/>
              <a:rect l="l" t="t" r="r" b="b"/>
              <a:pathLst>
                <a:path w="4095750" h="2619375">
                  <a:moveTo>
                    <a:pt x="3659124" y="0"/>
                  </a:moveTo>
                  <a:lnTo>
                    <a:pt x="436575" y="0"/>
                  </a:lnTo>
                  <a:lnTo>
                    <a:pt x="389006" y="2561"/>
                  </a:lnTo>
                  <a:lnTo>
                    <a:pt x="342920" y="10069"/>
                  </a:lnTo>
                  <a:lnTo>
                    <a:pt x="298585" y="22256"/>
                  </a:lnTo>
                  <a:lnTo>
                    <a:pt x="256266" y="38857"/>
                  </a:lnTo>
                  <a:lnTo>
                    <a:pt x="216229" y="59605"/>
                  </a:lnTo>
                  <a:lnTo>
                    <a:pt x="178741" y="84234"/>
                  </a:lnTo>
                  <a:lnTo>
                    <a:pt x="144068" y="112478"/>
                  </a:lnTo>
                  <a:lnTo>
                    <a:pt x="112477" y="144071"/>
                  </a:lnTo>
                  <a:lnTo>
                    <a:pt x="84234" y="178746"/>
                  </a:lnTo>
                  <a:lnTo>
                    <a:pt x="59606" y="216238"/>
                  </a:lnTo>
                  <a:lnTo>
                    <a:pt x="38858" y="256280"/>
                  </a:lnTo>
                  <a:lnTo>
                    <a:pt x="22257" y="298606"/>
                  </a:lnTo>
                  <a:lnTo>
                    <a:pt x="10069" y="342950"/>
                  </a:lnTo>
                  <a:lnTo>
                    <a:pt x="2561" y="389045"/>
                  </a:lnTo>
                  <a:lnTo>
                    <a:pt x="0" y="436625"/>
                  </a:lnTo>
                  <a:lnTo>
                    <a:pt x="0" y="2182799"/>
                  </a:lnTo>
                  <a:lnTo>
                    <a:pt x="2561" y="2230368"/>
                  </a:lnTo>
                  <a:lnTo>
                    <a:pt x="10069" y="2276454"/>
                  </a:lnTo>
                  <a:lnTo>
                    <a:pt x="22257" y="2320789"/>
                  </a:lnTo>
                  <a:lnTo>
                    <a:pt x="38858" y="2363108"/>
                  </a:lnTo>
                  <a:lnTo>
                    <a:pt x="59606" y="2403145"/>
                  </a:lnTo>
                  <a:lnTo>
                    <a:pt x="84234" y="2440633"/>
                  </a:lnTo>
                  <a:lnTo>
                    <a:pt x="112477" y="2475306"/>
                  </a:lnTo>
                  <a:lnTo>
                    <a:pt x="144068" y="2506897"/>
                  </a:lnTo>
                  <a:lnTo>
                    <a:pt x="178741" y="2535140"/>
                  </a:lnTo>
                  <a:lnTo>
                    <a:pt x="216229" y="2559768"/>
                  </a:lnTo>
                  <a:lnTo>
                    <a:pt x="256266" y="2580516"/>
                  </a:lnTo>
                  <a:lnTo>
                    <a:pt x="298585" y="2597117"/>
                  </a:lnTo>
                  <a:lnTo>
                    <a:pt x="342920" y="2609305"/>
                  </a:lnTo>
                  <a:lnTo>
                    <a:pt x="389006" y="2616813"/>
                  </a:lnTo>
                  <a:lnTo>
                    <a:pt x="436575" y="2619375"/>
                  </a:lnTo>
                  <a:lnTo>
                    <a:pt x="3659124" y="2619375"/>
                  </a:lnTo>
                  <a:lnTo>
                    <a:pt x="3706704" y="2616813"/>
                  </a:lnTo>
                  <a:lnTo>
                    <a:pt x="3752799" y="2609305"/>
                  </a:lnTo>
                  <a:lnTo>
                    <a:pt x="3797143" y="2597117"/>
                  </a:lnTo>
                  <a:lnTo>
                    <a:pt x="3839469" y="2580516"/>
                  </a:lnTo>
                  <a:lnTo>
                    <a:pt x="3879511" y="2559768"/>
                  </a:lnTo>
                  <a:lnTo>
                    <a:pt x="3917003" y="2535140"/>
                  </a:lnTo>
                  <a:lnTo>
                    <a:pt x="3951678" y="2506897"/>
                  </a:lnTo>
                  <a:lnTo>
                    <a:pt x="3983271" y="2475306"/>
                  </a:lnTo>
                  <a:lnTo>
                    <a:pt x="4011515" y="2440633"/>
                  </a:lnTo>
                  <a:lnTo>
                    <a:pt x="4036144" y="2403145"/>
                  </a:lnTo>
                  <a:lnTo>
                    <a:pt x="4056892" y="2363108"/>
                  </a:lnTo>
                  <a:lnTo>
                    <a:pt x="4073493" y="2320789"/>
                  </a:lnTo>
                  <a:lnTo>
                    <a:pt x="4085680" y="2276454"/>
                  </a:lnTo>
                  <a:lnTo>
                    <a:pt x="4093188" y="2230368"/>
                  </a:lnTo>
                  <a:lnTo>
                    <a:pt x="4095750" y="2182799"/>
                  </a:lnTo>
                  <a:lnTo>
                    <a:pt x="4095750" y="436625"/>
                  </a:lnTo>
                  <a:lnTo>
                    <a:pt x="4093188" y="389045"/>
                  </a:lnTo>
                  <a:lnTo>
                    <a:pt x="4085680" y="342950"/>
                  </a:lnTo>
                  <a:lnTo>
                    <a:pt x="4073493" y="298606"/>
                  </a:lnTo>
                  <a:lnTo>
                    <a:pt x="4056892" y="256280"/>
                  </a:lnTo>
                  <a:lnTo>
                    <a:pt x="4036144" y="216238"/>
                  </a:lnTo>
                  <a:lnTo>
                    <a:pt x="4011515" y="178746"/>
                  </a:lnTo>
                  <a:lnTo>
                    <a:pt x="3983271" y="144071"/>
                  </a:lnTo>
                  <a:lnTo>
                    <a:pt x="3951678" y="112478"/>
                  </a:lnTo>
                  <a:lnTo>
                    <a:pt x="3917003" y="84234"/>
                  </a:lnTo>
                  <a:lnTo>
                    <a:pt x="3879511" y="59605"/>
                  </a:lnTo>
                  <a:lnTo>
                    <a:pt x="3839469" y="38857"/>
                  </a:lnTo>
                  <a:lnTo>
                    <a:pt x="3797143" y="22256"/>
                  </a:lnTo>
                  <a:lnTo>
                    <a:pt x="3752799" y="10069"/>
                  </a:lnTo>
                  <a:lnTo>
                    <a:pt x="3706704" y="2561"/>
                  </a:lnTo>
                  <a:lnTo>
                    <a:pt x="3659124" y="0"/>
                  </a:lnTo>
                  <a:close/>
                </a:path>
              </a:pathLst>
            </a:custGeom>
            <a:solidFill>
              <a:srgbClr val="CE8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9575" y="3790950"/>
              <a:ext cx="4095750" cy="2619375"/>
            </a:xfrm>
            <a:custGeom>
              <a:avLst/>
              <a:gdLst/>
              <a:ahLst/>
              <a:cxnLst/>
              <a:rect l="l" t="t" r="r" b="b"/>
              <a:pathLst>
                <a:path w="4095750" h="2619375">
                  <a:moveTo>
                    <a:pt x="0" y="436625"/>
                  </a:moveTo>
                  <a:lnTo>
                    <a:pt x="2561" y="389045"/>
                  </a:lnTo>
                  <a:lnTo>
                    <a:pt x="10069" y="342950"/>
                  </a:lnTo>
                  <a:lnTo>
                    <a:pt x="22257" y="298606"/>
                  </a:lnTo>
                  <a:lnTo>
                    <a:pt x="38858" y="256280"/>
                  </a:lnTo>
                  <a:lnTo>
                    <a:pt x="59606" y="216238"/>
                  </a:lnTo>
                  <a:lnTo>
                    <a:pt x="84234" y="178746"/>
                  </a:lnTo>
                  <a:lnTo>
                    <a:pt x="112477" y="144071"/>
                  </a:lnTo>
                  <a:lnTo>
                    <a:pt x="144068" y="112478"/>
                  </a:lnTo>
                  <a:lnTo>
                    <a:pt x="178741" y="84234"/>
                  </a:lnTo>
                  <a:lnTo>
                    <a:pt x="216229" y="59605"/>
                  </a:lnTo>
                  <a:lnTo>
                    <a:pt x="256266" y="38857"/>
                  </a:lnTo>
                  <a:lnTo>
                    <a:pt x="298585" y="22256"/>
                  </a:lnTo>
                  <a:lnTo>
                    <a:pt x="342920" y="10069"/>
                  </a:lnTo>
                  <a:lnTo>
                    <a:pt x="389006" y="2561"/>
                  </a:lnTo>
                  <a:lnTo>
                    <a:pt x="436575" y="0"/>
                  </a:lnTo>
                  <a:lnTo>
                    <a:pt x="3659124" y="0"/>
                  </a:lnTo>
                  <a:lnTo>
                    <a:pt x="3706704" y="2561"/>
                  </a:lnTo>
                  <a:lnTo>
                    <a:pt x="3752799" y="10069"/>
                  </a:lnTo>
                  <a:lnTo>
                    <a:pt x="3797143" y="22256"/>
                  </a:lnTo>
                  <a:lnTo>
                    <a:pt x="3839469" y="38857"/>
                  </a:lnTo>
                  <a:lnTo>
                    <a:pt x="3879511" y="59605"/>
                  </a:lnTo>
                  <a:lnTo>
                    <a:pt x="3917003" y="84234"/>
                  </a:lnTo>
                  <a:lnTo>
                    <a:pt x="3951678" y="112478"/>
                  </a:lnTo>
                  <a:lnTo>
                    <a:pt x="3983271" y="144071"/>
                  </a:lnTo>
                  <a:lnTo>
                    <a:pt x="4011515" y="178746"/>
                  </a:lnTo>
                  <a:lnTo>
                    <a:pt x="4036144" y="216238"/>
                  </a:lnTo>
                  <a:lnTo>
                    <a:pt x="4056892" y="256280"/>
                  </a:lnTo>
                  <a:lnTo>
                    <a:pt x="4073493" y="298606"/>
                  </a:lnTo>
                  <a:lnTo>
                    <a:pt x="4085680" y="342950"/>
                  </a:lnTo>
                  <a:lnTo>
                    <a:pt x="4093188" y="389045"/>
                  </a:lnTo>
                  <a:lnTo>
                    <a:pt x="4095750" y="436625"/>
                  </a:lnTo>
                  <a:lnTo>
                    <a:pt x="4095750" y="2182799"/>
                  </a:lnTo>
                  <a:lnTo>
                    <a:pt x="4093188" y="2230368"/>
                  </a:lnTo>
                  <a:lnTo>
                    <a:pt x="4085680" y="2276454"/>
                  </a:lnTo>
                  <a:lnTo>
                    <a:pt x="4073493" y="2320789"/>
                  </a:lnTo>
                  <a:lnTo>
                    <a:pt x="4056892" y="2363108"/>
                  </a:lnTo>
                  <a:lnTo>
                    <a:pt x="4036144" y="2403145"/>
                  </a:lnTo>
                  <a:lnTo>
                    <a:pt x="4011515" y="2440633"/>
                  </a:lnTo>
                  <a:lnTo>
                    <a:pt x="3983271" y="2475306"/>
                  </a:lnTo>
                  <a:lnTo>
                    <a:pt x="3951678" y="2506897"/>
                  </a:lnTo>
                  <a:lnTo>
                    <a:pt x="3917003" y="2535140"/>
                  </a:lnTo>
                  <a:lnTo>
                    <a:pt x="3879511" y="2559768"/>
                  </a:lnTo>
                  <a:lnTo>
                    <a:pt x="3839469" y="2580516"/>
                  </a:lnTo>
                  <a:lnTo>
                    <a:pt x="3797143" y="2597117"/>
                  </a:lnTo>
                  <a:lnTo>
                    <a:pt x="3752799" y="2609305"/>
                  </a:lnTo>
                  <a:lnTo>
                    <a:pt x="3706704" y="2616813"/>
                  </a:lnTo>
                  <a:lnTo>
                    <a:pt x="3659124" y="2619375"/>
                  </a:lnTo>
                  <a:lnTo>
                    <a:pt x="436575" y="2619375"/>
                  </a:lnTo>
                  <a:lnTo>
                    <a:pt x="389006" y="2616813"/>
                  </a:lnTo>
                  <a:lnTo>
                    <a:pt x="342920" y="2609305"/>
                  </a:lnTo>
                  <a:lnTo>
                    <a:pt x="298585" y="2597117"/>
                  </a:lnTo>
                  <a:lnTo>
                    <a:pt x="256266" y="2580516"/>
                  </a:lnTo>
                  <a:lnTo>
                    <a:pt x="216229" y="2559768"/>
                  </a:lnTo>
                  <a:lnTo>
                    <a:pt x="178741" y="2535140"/>
                  </a:lnTo>
                  <a:lnTo>
                    <a:pt x="144068" y="2506897"/>
                  </a:lnTo>
                  <a:lnTo>
                    <a:pt x="112477" y="2475306"/>
                  </a:lnTo>
                  <a:lnTo>
                    <a:pt x="84234" y="2440633"/>
                  </a:lnTo>
                  <a:lnTo>
                    <a:pt x="59606" y="2403145"/>
                  </a:lnTo>
                  <a:lnTo>
                    <a:pt x="38858" y="2363108"/>
                  </a:lnTo>
                  <a:lnTo>
                    <a:pt x="22257" y="2320789"/>
                  </a:lnTo>
                  <a:lnTo>
                    <a:pt x="10069" y="2276454"/>
                  </a:lnTo>
                  <a:lnTo>
                    <a:pt x="2561" y="2230368"/>
                  </a:lnTo>
                  <a:lnTo>
                    <a:pt x="0" y="2182799"/>
                  </a:lnTo>
                  <a:lnTo>
                    <a:pt x="0" y="4366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62760" y="4936807"/>
            <a:ext cx="139382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75" dirty="0">
                <a:solidFill>
                  <a:srgbClr val="FFFFFF"/>
                </a:solidFill>
                <a:latin typeface="Cambria"/>
                <a:cs typeface="Cambria"/>
              </a:rPr>
              <a:t>Help</a:t>
            </a:r>
            <a:r>
              <a:rPr sz="17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mbria"/>
                <a:cs typeface="Cambria"/>
              </a:rPr>
              <a:t>Facilities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65" dirty="0"/>
              <a:t> </a:t>
            </a:r>
            <a:r>
              <a:rPr spc="135" dirty="0"/>
              <a:t>Interface</a:t>
            </a:r>
            <a:r>
              <a:rPr spc="355" dirty="0"/>
              <a:t> </a:t>
            </a:r>
            <a:r>
              <a:rPr spc="195" dirty="0"/>
              <a:t>Design</a:t>
            </a:r>
            <a:r>
              <a:rPr spc="335" dirty="0"/>
              <a:t> </a:t>
            </a:r>
            <a:r>
              <a:rPr spc="-560" dirty="0"/>
              <a:t>–</a:t>
            </a:r>
            <a:r>
              <a:rPr spc="345" dirty="0"/>
              <a:t> </a:t>
            </a:r>
            <a:r>
              <a:rPr spc="195" dirty="0"/>
              <a:t>Design</a:t>
            </a:r>
            <a:r>
              <a:rPr spc="330" dirty="0"/>
              <a:t> </a:t>
            </a:r>
            <a:r>
              <a:rPr spc="235" dirty="0"/>
              <a:t>Issues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95800" y="1581150"/>
            <a:ext cx="7305675" cy="4295775"/>
            <a:chOff x="4495800" y="1581150"/>
            <a:chExt cx="7305675" cy="4295775"/>
          </a:xfrm>
        </p:grpSpPr>
        <p:sp>
          <p:nvSpPr>
            <p:cNvPr id="4" name="object 4"/>
            <p:cNvSpPr/>
            <p:nvPr/>
          </p:nvSpPr>
          <p:spPr>
            <a:xfrm>
              <a:off x="4505325" y="1590675"/>
              <a:ext cx="7286625" cy="4276725"/>
            </a:xfrm>
            <a:custGeom>
              <a:avLst/>
              <a:gdLst/>
              <a:ahLst/>
              <a:cxnLst/>
              <a:rect l="l" t="t" r="r" b="b"/>
              <a:pathLst>
                <a:path w="7286625" h="4276725">
                  <a:moveTo>
                    <a:pt x="6573774" y="0"/>
                  </a:moveTo>
                  <a:lnTo>
                    <a:pt x="0" y="0"/>
                  </a:lnTo>
                  <a:lnTo>
                    <a:pt x="0" y="4276725"/>
                  </a:lnTo>
                  <a:lnTo>
                    <a:pt x="6573774" y="4276725"/>
                  </a:lnTo>
                  <a:lnTo>
                    <a:pt x="6622580" y="4275080"/>
                  </a:lnTo>
                  <a:lnTo>
                    <a:pt x="6670504" y="4270217"/>
                  </a:lnTo>
                  <a:lnTo>
                    <a:pt x="6717439" y="4262242"/>
                  </a:lnTo>
                  <a:lnTo>
                    <a:pt x="6763279" y="4251261"/>
                  </a:lnTo>
                  <a:lnTo>
                    <a:pt x="6807917" y="4237380"/>
                  </a:lnTo>
                  <a:lnTo>
                    <a:pt x="6851249" y="4220706"/>
                  </a:lnTo>
                  <a:lnTo>
                    <a:pt x="6893166" y="4201344"/>
                  </a:lnTo>
                  <a:lnTo>
                    <a:pt x="6933564" y="4179400"/>
                  </a:lnTo>
                  <a:lnTo>
                    <a:pt x="6972337" y="4154982"/>
                  </a:lnTo>
                  <a:lnTo>
                    <a:pt x="7009377" y="4128194"/>
                  </a:lnTo>
                  <a:lnTo>
                    <a:pt x="7044579" y="4099144"/>
                  </a:lnTo>
                  <a:lnTo>
                    <a:pt x="7077836" y="4067937"/>
                  </a:lnTo>
                  <a:lnTo>
                    <a:pt x="7109044" y="4034679"/>
                  </a:lnTo>
                  <a:lnTo>
                    <a:pt x="7138094" y="3999477"/>
                  </a:lnTo>
                  <a:lnTo>
                    <a:pt x="7164882" y="3962437"/>
                  </a:lnTo>
                  <a:lnTo>
                    <a:pt x="7189300" y="3923665"/>
                  </a:lnTo>
                  <a:lnTo>
                    <a:pt x="7211244" y="3883266"/>
                  </a:lnTo>
                  <a:lnTo>
                    <a:pt x="7230606" y="3841349"/>
                  </a:lnTo>
                  <a:lnTo>
                    <a:pt x="7247280" y="3798017"/>
                  </a:lnTo>
                  <a:lnTo>
                    <a:pt x="7261161" y="3753379"/>
                  </a:lnTo>
                  <a:lnTo>
                    <a:pt x="7272142" y="3707539"/>
                  </a:lnTo>
                  <a:lnTo>
                    <a:pt x="7280117" y="3660604"/>
                  </a:lnTo>
                  <a:lnTo>
                    <a:pt x="7284980" y="3612680"/>
                  </a:lnTo>
                  <a:lnTo>
                    <a:pt x="7286625" y="3563874"/>
                  </a:lnTo>
                  <a:lnTo>
                    <a:pt x="7286625" y="712851"/>
                  </a:lnTo>
                  <a:lnTo>
                    <a:pt x="7284980" y="664044"/>
                  </a:lnTo>
                  <a:lnTo>
                    <a:pt x="7280117" y="616120"/>
                  </a:lnTo>
                  <a:lnTo>
                    <a:pt x="7272142" y="569185"/>
                  </a:lnTo>
                  <a:lnTo>
                    <a:pt x="7261161" y="523345"/>
                  </a:lnTo>
                  <a:lnTo>
                    <a:pt x="7247280" y="478707"/>
                  </a:lnTo>
                  <a:lnTo>
                    <a:pt x="7230606" y="435375"/>
                  </a:lnTo>
                  <a:lnTo>
                    <a:pt x="7211244" y="393458"/>
                  </a:lnTo>
                  <a:lnTo>
                    <a:pt x="7189300" y="353059"/>
                  </a:lnTo>
                  <a:lnTo>
                    <a:pt x="7164882" y="314287"/>
                  </a:lnTo>
                  <a:lnTo>
                    <a:pt x="7138094" y="277247"/>
                  </a:lnTo>
                  <a:lnTo>
                    <a:pt x="7109044" y="242045"/>
                  </a:lnTo>
                  <a:lnTo>
                    <a:pt x="7077837" y="208787"/>
                  </a:lnTo>
                  <a:lnTo>
                    <a:pt x="7044579" y="177580"/>
                  </a:lnTo>
                  <a:lnTo>
                    <a:pt x="7009377" y="148530"/>
                  </a:lnTo>
                  <a:lnTo>
                    <a:pt x="6972337" y="121742"/>
                  </a:lnTo>
                  <a:lnTo>
                    <a:pt x="6933565" y="97324"/>
                  </a:lnTo>
                  <a:lnTo>
                    <a:pt x="6893166" y="75380"/>
                  </a:lnTo>
                  <a:lnTo>
                    <a:pt x="6851249" y="56018"/>
                  </a:lnTo>
                  <a:lnTo>
                    <a:pt x="6807917" y="39344"/>
                  </a:lnTo>
                  <a:lnTo>
                    <a:pt x="6763279" y="25463"/>
                  </a:lnTo>
                  <a:lnTo>
                    <a:pt x="6717439" y="14482"/>
                  </a:lnTo>
                  <a:lnTo>
                    <a:pt x="6670504" y="6507"/>
                  </a:lnTo>
                  <a:lnTo>
                    <a:pt x="6622580" y="1644"/>
                  </a:lnTo>
                  <a:lnTo>
                    <a:pt x="6573774" y="0"/>
                  </a:lnTo>
                  <a:close/>
                </a:path>
              </a:pathLst>
            </a:custGeom>
            <a:solidFill>
              <a:srgbClr val="FBDC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05325" y="1590675"/>
              <a:ext cx="7286625" cy="4276725"/>
            </a:xfrm>
            <a:custGeom>
              <a:avLst/>
              <a:gdLst/>
              <a:ahLst/>
              <a:cxnLst/>
              <a:rect l="l" t="t" r="r" b="b"/>
              <a:pathLst>
                <a:path w="7286625" h="4276725">
                  <a:moveTo>
                    <a:pt x="7286625" y="712851"/>
                  </a:moveTo>
                  <a:lnTo>
                    <a:pt x="7286625" y="3563874"/>
                  </a:lnTo>
                  <a:lnTo>
                    <a:pt x="7284980" y="3612680"/>
                  </a:lnTo>
                  <a:lnTo>
                    <a:pt x="7280117" y="3660604"/>
                  </a:lnTo>
                  <a:lnTo>
                    <a:pt x="7272142" y="3707539"/>
                  </a:lnTo>
                  <a:lnTo>
                    <a:pt x="7261161" y="3753379"/>
                  </a:lnTo>
                  <a:lnTo>
                    <a:pt x="7247280" y="3798017"/>
                  </a:lnTo>
                  <a:lnTo>
                    <a:pt x="7230606" y="3841349"/>
                  </a:lnTo>
                  <a:lnTo>
                    <a:pt x="7211244" y="3883266"/>
                  </a:lnTo>
                  <a:lnTo>
                    <a:pt x="7189300" y="3923665"/>
                  </a:lnTo>
                  <a:lnTo>
                    <a:pt x="7164882" y="3962437"/>
                  </a:lnTo>
                  <a:lnTo>
                    <a:pt x="7138094" y="3999477"/>
                  </a:lnTo>
                  <a:lnTo>
                    <a:pt x="7109044" y="4034679"/>
                  </a:lnTo>
                  <a:lnTo>
                    <a:pt x="7077836" y="4067937"/>
                  </a:lnTo>
                  <a:lnTo>
                    <a:pt x="7044579" y="4099144"/>
                  </a:lnTo>
                  <a:lnTo>
                    <a:pt x="7009377" y="4128194"/>
                  </a:lnTo>
                  <a:lnTo>
                    <a:pt x="6972337" y="4154982"/>
                  </a:lnTo>
                  <a:lnTo>
                    <a:pt x="6933564" y="4179400"/>
                  </a:lnTo>
                  <a:lnTo>
                    <a:pt x="6893166" y="4201344"/>
                  </a:lnTo>
                  <a:lnTo>
                    <a:pt x="6851249" y="4220706"/>
                  </a:lnTo>
                  <a:lnTo>
                    <a:pt x="6807917" y="4237380"/>
                  </a:lnTo>
                  <a:lnTo>
                    <a:pt x="6763279" y="4251261"/>
                  </a:lnTo>
                  <a:lnTo>
                    <a:pt x="6717439" y="4262242"/>
                  </a:lnTo>
                  <a:lnTo>
                    <a:pt x="6670504" y="4270217"/>
                  </a:lnTo>
                  <a:lnTo>
                    <a:pt x="6622580" y="4275080"/>
                  </a:lnTo>
                  <a:lnTo>
                    <a:pt x="6573774" y="4276725"/>
                  </a:lnTo>
                  <a:lnTo>
                    <a:pt x="0" y="4276725"/>
                  </a:lnTo>
                  <a:lnTo>
                    <a:pt x="0" y="0"/>
                  </a:lnTo>
                  <a:lnTo>
                    <a:pt x="6573774" y="0"/>
                  </a:lnTo>
                  <a:lnTo>
                    <a:pt x="6622580" y="1644"/>
                  </a:lnTo>
                  <a:lnTo>
                    <a:pt x="6670504" y="6507"/>
                  </a:lnTo>
                  <a:lnTo>
                    <a:pt x="6717439" y="14482"/>
                  </a:lnTo>
                  <a:lnTo>
                    <a:pt x="6763279" y="25463"/>
                  </a:lnTo>
                  <a:lnTo>
                    <a:pt x="6807917" y="39344"/>
                  </a:lnTo>
                  <a:lnTo>
                    <a:pt x="6851249" y="56018"/>
                  </a:lnTo>
                  <a:lnTo>
                    <a:pt x="6893166" y="75380"/>
                  </a:lnTo>
                  <a:lnTo>
                    <a:pt x="6933565" y="97324"/>
                  </a:lnTo>
                  <a:lnTo>
                    <a:pt x="6972337" y="121742"/>
                  </a:lnTo>
                  <a:lnTo>
                    <a:pt x="7009377" y="148530"/>
                  </a:lnTo>
                  <a:lnTo>
                    <a:pt x="7044579" y="177580"/>
                  </a:lnTo>
                  <a:lnTo>
                    <a:pt x="7077837" y="208787"/>
                  </a:lnTo>
                  <a:lnTo>
                    <a:pt x="7109044" y="242045"/>
                  </a:lnTo>
                  <a:lnTo>
                    <a:pt x="7138094" y="277247"/>
                  </a:lnTo>
                  <a:lnTo>
                    <a:pt x="7164882" y="314287"/>
                  </a:lnTo>
                  <a:lnTo>
                    <a:pt x="7189300" y="353059"/>
                  </a:lnTo>
                  <a:lnTo>
                    <a:pt x="7211244" y="393458"/>
                  </a:lnTo>
                  <a:lnTo>
                    <a:pt x="7230606" y="435375"/>
                  </a:lnTo>
                  <a:lnTo>
                    <a:pt x="7247280" y="478707"/>
                  </a:lnTo>
                  <a:lnTo>
                    <a:pt x="7261161" y="523345"/>
                  </a:lnTo>
                  <a:lnTo>
                    <a:pt x="7272142" y="569185"/>
                  </a:lnTo>
                  <a:lnTo>
                    <a:pt x="7280117" y="616120"/>
                  </a:lnTo>
                  <a:lnTo>
                    <a:pt x="7284980" y="664044"/>
                  </a:lnTo>
                  <a:lnTo>
                    <a:pt x="7286625" y="712851"/>
                  </a:lnTo>
                  <a:close/>
                </a:path>
              </a:pathLst>
            </a:custGeom>
            <a:ln w="19050">
              <a:solidFill>
                <a:srgbClr val="FBD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46878" y="1780222"/>
            <a:ext cx="6612890" cy="384810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41300" marR="5080" indent="-229235">
              <a:lnSpc>
                <a:spcPts val="2400"/>
              </a:lnSpc>
              <a:spcBef>
                <a:spcPts val="355"/>
              </a:spcBef>
              <a:tabLst>
                <a:tab pos="817880" algn="l"/>
                <a:tab pos="2134235" algn="l"/>
                <a:tab pos="3139440" algn="l"/>
                <a:tab pos="3578860" algn="l"/>
                <a:tab pos="4389120" algn="l"/>
                <a:tab pos="6125845" algn="l"/>
              </a:tabLst>
            </a:pPr>
            <a:r>
              <a:rPr sz="2150" spc="-10" dirty="0">
                <a:latin typeface="Cambria"/>
                <a:cs typeface="Cambria"/>
              </a:rPr>
              <a:t>Error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messages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65" dirty="0">
                <a:latin typeface="Cambria"/>
                <a:cs typeface="Cambria"/>
              </a:rPr>
              <a:t>should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be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clear,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constructive,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65" dirty="0">
                <a:latin typeface="Cambria"/>
                <a:cs typeface="Cambria"/>
              </a:rPr>
              <a:t>and </a:t>
            </a:r>
            <a:r>
              <a:rPr sz="2150" spc="55" dirty="0">
                <a:latin typeface="Cambria"/>
                <a:cs typeface="Cambria"/>
              </a:rPr>
              <a:t>nonjudgmental.</a:t>
            </a:r>
            <a:endParaRPr sz="2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150" dirty="0">
                <a:latin typeface="Cambria"/>
                <a:cs typeface="Cambria"/>
              </a:rPr>
              <a:t>Characteristics</a:t>
            </a:r>
            <a:r>
              <a:rPr sz="2150" spc="280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of</a:t>
            </a:r>
            <a:r>
              <a:rPr sz="2150" spc="26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effective</a:t>
            </a:r>
            <a:r>
              <a:rPr sz="2150" spc="31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error</a:t>
            </a:r>
            <a:r>
              <a:rPr sz="2150" spc="285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messages:</a:t>
            </a:r>
            <a:endParaRPr sz="215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270"/>
              </a:spcBef>
              <a:buAutoNum type="arabicPeriod"/>
              <a:tabLst>
                <a:tab pos="469265" algn="l"/>
              </a:tabLst>
            </a:pPr>
            <a:r>
              <a:rPr sz="2150" spc="95" dirty="0">
                <a:latin typeface="Cambria"/>
                <a:cs typeface="Cambria"/>
              </a:rPr>
              <a:t>Use</a:t>
            </a:r>
            <a:r>
              <a:rPr sz="2150" spc="114" dirty="0">
                <a:latin typeface="Cambria"/>
                <a:cs typeface="Cambria"/>
              </a:rPr>
              <a:t> </a:t>
            </a:r>
            <a:r>
              <a:rPr sz="2150" spc="45" dirty="0">
                <a:latin typeface="Cambria"/>
                <a:cs typeface="Cambria"/>
              </a:rPr>
              <a:t>understandable</a:t>
            </a:r>
            <a:r>
              <a:rPr sz="2150" spc="145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language.</a:t>
            </a:r>
            <a:endParaRPr sz="215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469265" algn="l"/>
              </a:tabLst>
            </a:pPr>
            <a:r>
              <a:rPr sz="2150" spc="60" dirty="0">
                <a:latin typeface="Cambria"/>
                <a:cs typeface="Cambria"/>
              </a:rPr>
              <a:t>Provide</a:t>
            </a:r>
            <a:r>
              <a:rPr sz="2150" spc="21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actionable</a:t>
            </a:r>
            <a:r>
              <a:rPr sz="2150" spc="229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advice</a:t>
            </a:r>
            <a:r>
              <a:rPr sz="2150" spc="17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for</a:t>
            </a:r>
            <a:r>
              <a:rPr sz="2150" spc="170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recovery.</a:t>
            </a:r>
            <a:endParaRPr sz="2150">
              <a:latin typeface="Cambria"/>
              <a:cs typeface="Cambria"/>
            </a:endParaRPr>
          </a:p>
          <a:p>
            <a:pPr marL="469900" indent="-228600">
              <a:lnSpc>
                <a:spcPts val="2495"/>
              </a:lnSpc>
              <a:spcBef>
                <a:spcPts val="350"/>
              </a:spcBef>
              <a:buAutoNum type="arabicPeriod"/>
              <a:tabLst>
                <a:tab pos="469900" algn="l"/>
                <a:tab pos="1935480" algn="l"/>
                <a:tab pos="3253104" algn="l"/>
                <a:tab pos="5204460" algn="l"/>
                <a:tab pos="6057900" algn="l"/>
              </a:tabLst>
            </a:pPr>
            <a:r>
              <a:rPr sz="2150" spc="90" dirty="0">
                <a:latin typeface="Cambria"/>
                <a:cs typeface="Cambria"/>
              </a:rPr>
              <a:t>Highlight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0" dirty="0">
                <a:latin typeface="Cambria"/>
                <a:cs typeface="Cambria"/>
              </a:rPr>
              <a:t>negative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consequences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0" dirty="0">
                <a:latin typeface="Cambria"/>
                <a:cs typeface="Cambria"/>
              </a:rPr>
              <a:t>(e.g.,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30" dirty="0">
                <a:latin typeface="Cambria"/>
                <a:cs typeface="Cambria"/>
              </a:rPr>
              <a:t>data</a:t>
            </a:r>
            <a:endParaRPr sz="2150">
              <a:latin typeface="Cambria"/>
              <a:cs typeface="Cambria"/>
            </a:endParaRPr>
          </a:p>
          <a:p>
            <a:pPr marL="469900">
              <a:lnSpc>
                <a:spcPts val="2495"/>
              </a:lnSpc>
            </a:pPr>
            <a:r>
              <a:rPr sz="2150" spc="-10" dirty="0">
                <a:latin typeface="Cambria"/>
                <a:cs typeface="Cambria"/>
              </a:rPr>
              <a:t>corruption).</a:t>
            </a:r>
            <a:endParaRPr sz="215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345"/>
              </a:spcBef>
              <a:buAutoNum type="arabicPeriod" startAt="4"/>
              <a:tabLst>
                <a:tab pos="469265" algn="l"/>
              </a:tabLst>
            </a:pPr>
            <a:r>
              <a:rPr sz="2150" spc="60" dirty="0">
                <a:latin typeface="Cambria"/>
                <a:cs typeface="Cambria"/>
              </a:rPr>
              <a:t>Include</a:t>
            </a:r>
            <a:r>
              <a:rPr sz="2150" spc="150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visual</a:t>
            </a:r>
            <a:r>
              <a:rPr sz="2150" spc="14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or</a:t>
            </a:r>
            <a:r>
              <a:rPr sz="2150" spc="145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auditory</a:t>
            </a:r>
            <a:r>
              <a:rPr sz="2150" spc="15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cues</a:t>
            </a:r>
            <a:r>
              <a:rPr sz="2150" spc="140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(e.g.,</a:t>
            </a:r>
            <a:r>
              <a:rPr sz="2150" spc="15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color,</a:t>
            </a:r>
            <a:r>
              <a:rPr sz="2150" spc="170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beep).</a:t>
            </a:r>
            <a:endParaRPr sz="2150">
              <a:latin typeface="Cambria"/>
              <a:cs typeface="Cambria"/>
            </a:endParaRPr>
          </a:p>
          <a:p>
            <a:pPr marL="469265" indent="-227965">
              <a:lnSpc>
                <a:spcPct val="100000"/>
              </a:lnSpc>
              <a:spcBef>
                <a:spcPts val="275"/>
              </a:spcBef>
              <a:buAutoNum type="arabicPeriod" startAt="4"/>
              <a:tabLst>
                <a:tab pos="469265" algn="l"/>
              </a:tabLst>
            </a:pPr>
            <a:r>
              <a:rPr sz="2150" spc="150" dirty="0">
                <a:latin typeface="Cambria"/>
                <a:cs typeface="Cambria"/>
              </a:rPr>
              <a:t>Avoid</a:t>
            </a:r>
            <a:r>
              <a:rPr sz="2150" spc="125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blaming</a:t>
            </a:r>
            <a:r>
              <a:rPr sz="2150" spc="13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00" dirty="0">
                <a:latin typeface="Cambria"/>
                <a:cs typeface="Cambria"/>
              </a:rPr>
              <a:t> </a:t>
            </a:r>
            <a:r>
              <a:rPr sz="2150" spc="-20" dirty="0">
                <a:latin typeface="Cambria"/>
                <a:cs typeface="Cambria"/>
              </a:rPr>
              <a:t>user.</a:t>
            </a:r>
            <a:endParaRPr sz="2150">
              <a:latin typeface="Cambria"/>
              <a:cs typeface="Cambria"/>
            </a:endParaRPr>
          </a:p>
          <a:p>
            <a:pPr marL="12700">
              <a:lnSpc>
                <a:spcPts val="2530"/>
              </a:lnSpc>
              <a:spcBef>
                <a:spcPts val="275"/>
              </a:spcBef>
              <a:tabLst>
                <a:tab pos="1097915" algn="l"/>
                <a:tab pos="2489200" algn="l"/>
                <a:tab pos="3370579" algn="l"/>
                <a:tab pos="4799330" algn="l"/>
                <a:tab pos="6068060" algn="l"/>
              </a:tabLst>
            </a:pPr>
            <a:r>
              <a:rPr sz="2150" spc="50" dirty="0">
                <a:latin typeface="Cambria"/>
                <a:cs typeface="Cambria"/>
              </a:rPr>
              <a:t>Poorly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0" dirty="0">
                <a:latin typeface="Cambria"/>
                <a:cs typeface="Cambria"/>
              </a:rPr>
              <a:t>designed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error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messages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increase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user</a:t>
            </a:r>
            <a:endParaRPr sz="2150">
              <a:latin typeface="Cambria"/>
              <a:cs typeface="Cambria"/>
            </a:endParaRPr>
          </a:p>
          <a:p>
            <a:pPr marL="241300">
              <a:lnSpc>
                <a:spcPts val="2530"/>
              </a:lnSpc>
            </a:pPr>
            <a:r>
              <a:rPr sz="2150" dirty="0">
                <a:latin typeface="Cambria"/>
                <a:cs typeface="Cambria"/>
              </a:rPr>
              <a:t>frustration</a:t>
            </a:r>
            <a:r>
              <a:rPr sz="2150" spc="280" dirty="0">
                <a:latin typeface="Cambria"/>
                <a:cs typeface="Cambria"/>
              </a:rPr>
              <a:t> </a:t>
            </a:r>
            <a:r>
              <a:rPr sz="2150" spc="85" dirty="0">
                <a:latin typeface="Cambria"/>
                <a:cs typeface="Cambria"/>
              </a:rPr>
              <a:t>and</a:t>
            </a:r>
            <a:r>
              <a:rPr sz="2150" spc="204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confusion.</a:t>
            </a:r>
            <a:endParaRPr sz="215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0050" y="1047750"/>
            <a:ext cx="4114800" cy="5372100"/>
            <a:chOff x="400050" y="1047750"/>
            <a:chExt cx="4114800" cy="5372100"/>
          </a:xfrm>
        </p:grpSpPr>
        <p:sp>
          <p:nvSpPr>
            <p:cNvPr id="8" name="object 8"/>
            <p:cNvSpPr/>
            <p:nvPr/>
          </p:nvSpPr>
          <p:spPr>
            <a:xfrm>
              <a:off x="409575" y="1057275"/>
              <a:ext cx="4095750" cy="5353050"/>
            </a:xfrm>
            <a:custGeom>
              <a:avLst/>
              <a:gdLst/>
              <a:ahLst/>
              <a:cxnLst/>
              <a:rect l="l" t="t" r="r" b="b"/>
              <a:pathLst>
                <a:path w="4095750" h="5353050">
                  <a:moveTo>
                    <a:pt x="3413125" y="0"/>
                  </a:moveTo>
                  <a:lnTo>
                    <a:pt x="682637" y="0"/>
                  </a:lnTo>
                  <a:lnTo>
                    <a:pt x="633886" y="1714"/>
                  </a:lnTo>
                  <a:lnTo>
                    <a:pt x="586060" y="6780"/>
                  </a:lnTo>
                  <a:lnTo>
                    <a:pt x="539274" y="15082"/>
                  </a:lnTo>
                  <a:lnTo>
                    <a:pt x="493645" y="26504"/>
                  </a:lnTo>
                  <a:lnTo>
                    <a:pt x="449287" y="40931"/>
                  </a:lnTo>
                  <a:lnTo>
                    <a:pt x="406317" y="58247"/>
                  </a:lnTo>
                  <a:lnTo>
                    <a:pt x="364849" y="78336"/>
                  </a:lnTo>
                  <a:lnTo>
                    <a:pt x="325000" y="101083"/>
                  </a:lnTo>
                  <a:lnTo>
                    <a:pt x="286884" y="126373"/>
                  </a:lnTo>
                  <a:lnTo>
                    <a:pt x="250618" y="154089"/>
                  </a:lnTo>
                  <a:lnTo>
                    <a:pt x="216317" y="184117"/>
                  </a:lnTo>
                  <a:lnTo>
                    <a:pt x="184095" y="216340"/>
                  </a:lnTo>
                  <a:lnTo>
                    <a:pt x="154070" y="250642"/>
                  </a:lnTo>
                  <a:lnTo>
                    <a:pt x="126356" y="286909"/>
                  </a:lnTo>
                  <a:lnTo>
                    <a:pt x="101069" y="325025"/>
                  </a:lnTo>
                  <a:lnTo>
                    <a:pt x="78324" y="364873"/>
                  </a:lnTo>
                  <a:lnTo>
                    <a:pt x="58237" y="406339"/>
                  </a:lnTo>
                  <a:lnTo>
                    <a:pt x="40924" y="449306"/>
                  </a:lnTo>
                  <a:lnTo>
                    <a:pt x="26499" y="493660"/>
                  </a:lnTo>
                  <a:lnTo>
                    <a:pt x="15079" y="539284"/>
                  </a:lnTo>
                  <a:lnTo>
                    <a:pt x="6778" y="586064"/>
                  </a:lnTo>
                  <a:lnTo>
                    <a:pt x="1713" y="633882"/>
                  </a:lnTo>
                  <a:lnTo>
                    <a:pt x="0" y="682625"/>
                  </a:lnTo>
                  <a:lnTo>
                    <a:pt x="0" y="4670412"/>
                  </a:lnTo>
                  <a:lnTo>
                    <a:pt x="1713" y="4719163"/>
                  </a:lnTo>
                  <a:lnTo>
                    <a:pt x="6778" y="4766989"/>
                  </a:lnTo>
                  <a:lnTo>
                    <a:pt x="15079" y="4813775"/>
                  </a:lnTo>
                  <a:lnTo>
                    <a:pt x="26499" y="4859404"/>
                  </a:lnTo>
                  <a:lnTo>
                    <a:pt x="40924" y="4903762"/>
                  </a:lnTo>
                  <a:lnTo>
                    <a:pt x="58237" y="4946732"/>
                  </a:lnTo>
                  <a:lnTo>
                    <a:pt x="78324" y="4988200"/>
                  </a:lnTo>
                  <a:lnTo>
                    <a:pt x="101069" y="5028049"/>
                  </a:lnTo>
                  <a:lnTo>
                    <a:pt x="126356" y="5066165"/>
                  </a:lnTo>
                  <a:lnTo>
                    <a:pt x="154070" y="5102431"/>
                  </a:lnTo>
                  <a:lnTo>
                    <a:pt x="184095" y="5136732"/>
                  </a:lnTo>
                  <a:lnTo>
                    <a:pt x="216317" y="5168954"/>
                  </a:lnTo>
                  <a:lnTo>
                    <a:pt x="250618" y="5198979"/>
                  </a:lnTo>
                  <a:lnTo>
                    <a:pt x="286884" y="5226693"/>
                  </a:lnTo>
                  <a:lnTo>
                    <a:pt x="325000" y="5251980"/>
                  </a:lnTo>
                  <a:lnTo>
                    <a:pt x="364849" y="5274725"/>
                  </a:lnTo>
                  <a:lnTo>
                    <a:pt x="406317" y="5294812"/>
                  </a:lnTo>
                  <a:lnTo>
                    <a:pt x="449287" y="5312125"/>
                  </a:lnTo>
                  <a:lnTo>
                    <a:pt x="493645" y="5326550"/>
                  </a:lnTo>
                  <a:lnTo>
                    <a:pt x="539274" y="5337970"/>
                  </a:lnTo>
                  <a:lnTo>
                    <a:pt x="586060" y="5346271"/>
                  </a:lnTo>
                  <a:lnTo>
                    <a:pt x="633886" y="5351336"/>
                  </a:lnTo>
                  <a:lnTo>
                    <a:pt x="682637" y="5353050"/>
                  </a:lnTo>
                  <a:lnTo>
                    <a:pt x="3413125" y="5353050"/>
                  </a:lnTo>
                  <a:lnTo>
                    <a:pt x="3461867" y="5351336"/>
                  </a:lnTo>
                  <a:lnTo>
                    <a:pt x="3509685" y="5346271"/>
                  </a:lnTo>
                  <a:lnTo>
                    <a:pt x="3556465" y="5337970"/>
                  </a:lnTo>
                  <a:lnTo>
                    <a:pt x="3602089" y="5326550"/>
                  </a:lnTo>
                  <a:lnTo>
                    <a:pt x="3646443" y="5312125"/>
                  </a:lnTo>
                  <a:lnTo>
                    <a:pt x="3689410" y="5294812"/>
                  </a:lnTo>
                  <a:lnTo>
                    <a:pt x="3730876" y="5274725"/>
                  </a:lnTo>
                  <a:lnTo>
                    <a:pt x="3770724" y="5251980"/>
                  </a:lnTo>
                  <a:lnTo>
                    <a:pt x="3808840" y="5226693"/>
                  </a:lnTo>
                  <a:lnTo>
                    <a:pt x="3845107" y="5198979"/>
                  </a:lnTo>
                  <a:lnTo>
                    <a:pt x="3879409" y="5168954"/>
                  </a:lnTo>
                  <a:lnTo>
                    <a:pt x="3911632" y="5136732"/>
                  </a:lnTo>
                  <a:lnTo>
                    <a:pt x="3941660" y="5102431"/>
                  </a:lnTo>
                  <a:lnTo>
                    <a:pt x="3969376" y="5066165"/>
                  </a:lnTo>
                  <a:lnTo>
                    <a:pt x="3994666" y="5028049"/>
                  </a:lnTo>
                  <a:lnTo>
                    <a:pt x="4017413" y="4988200"/>
                  </a:lnTo>
                  <a:lnTo>
                    <a:pt x="4037502" y="4946732"/>
                  </a:lnTo>
                  <a:lnTo>
                    <a:pt x="4054818" y="4903762"/>
                  </a:lnTo>
                  <a:lnTo>
                    <a:pt x="4069245" y="4859404"/>
                  </a:lnTo>
                  <a:lnTo>
                    <a:pt x="4080667" y="4813775"/>
                  </a:lnTo>
                  <a:lnTo>
                    <a:pt x="4088969" y="4766989"/>
                  </a:lnTo>
                  <a:lnTo>
                    <a:pt x="4094035" y="4719163"/>
                  </a:lnTo>
                  <a:lnTo>
                    <a:pt x="4095750" y="4670412"/>
                  </a:lnTo>
                  <a:lnTo>
                    <a:pt x="4095750" y="682625"/>
                  </a:lnTo>
                  <a:lnTo>
                    <a:pt x="4094035" y="633882"/>
                  </a:lnTo>
                  <a:lnTo>
                    <a:pt x="4088969" y="586064"/>
                  </a:lnTo>
                  <a:lnTo>
                    <a:pt x="4080667" y="539284"/>
                  </a:lnTo>
                  <a:lnTo>
                    <a:pt x="4069245" y="493660"/>
                  </a:lnTo>
                  <a:lnTo>
                    <a:pt x="4054818" y="449306"/>
                  </a:lnTo>
                  <a:lnTo>
                    <a:pt x="4037502" y="406339"/>
                  </a:lnTo>
                  <a:lnTo>
                    <a:pt x="4017413" y="364873"/>
                  </a:lnTo>
                  <a:lnTo>
                    <a:pt x="3994666" y="325025"/>
                  </a:lnTo>
                  <a:lnTo>
                    <a:pt x="3969376" y="286909"/>
                  </a:lnTo>
                  <a:lnTo>
                    <a:pt x="3941660" y="250642"/>
                  </a:lnTo>
                  <a:lnTo>
                    <a:pt x="3911632" y="216340"/>
                  </a:lnTo>
                  <a:lnTo>
                    <a:pt x="3879409" y="184117"/>
                  </a:lnTo>
                  <a:lnTo>
                    <a:pt x="3845107" y="154089"/>
                  </a:lnTo>
                  <a:lnTo>
                    <a:pt x="3808840" y="126373"/>
                  </a:lnTo>
                  <a:lnTo>
                    <a:pt x="3770724" y="101083"/>
                  </a:lnTo>
                  <a:lnTo>
                    <a:pt x="3730876" y="78336"/>
                  </a:lnTo>
                  <a:lnTo>
                    <a:pt x="3689410" y="58247"/>
                  </a:lnTo>
                  <a:lnTo>
                    <a:pt x="3646443" y="40931"/>
                  </a:lnTo>
                  <a:lnTo>
                    <a:pt x="3602089" y="26504"/>
                  </a:lnTo>
                  <a:lnTo>
                    <a:pt x="3556465" y="15082"/>
                  </a:lnTo>
                  <a:lnTo>
                    <a:pt x="3509685" y="6780"/>
                  </a:lnTo>
                  <a:lnTo>
                    <a:pt x="3461867" y="1714"/>
                  </a:lnTo>
                  <a:lnTo>
                    <a:pt x="3413125" y="0"/>
                  </a:lnTo>
                  <a:close/>
                </a:path>
              </a:pathLst>
            </a:custGeom>
            <a:solidFill>
              <a:srgbClr val="F892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9575" y="1057275"/>
              <a:ext cx="4095750" cy="5353050"/>
            </a:xfrm>
            <a:custGeom>
              <a:avLst/>
              <a:gdLst/>
              <a:ahLst/>
              <a:cxnLst/>
              <a:rect l="l" t="t" r="r" b="b"/>
              <a:pathLst>
                <a:path w="4095750" h="5353050">
                  <a:moveTo>
                    <a:pt x="0" y="682625"/>
                  </a:moveTo>
                  <a:lnTo>
                    <a:pt x="1713" y="633882"/>
                  </a:lnTo>
                  <a:lnTo>
                    <a:pt x="6778" y="586064"/>
                  </a:lnTo>
                  <a:lnTo>
                    <a:pt x="15079" y="539284"/>
                  </a:lnTo>
                  <a:lnTo>
                    <a:pt x="26499" y="493660"/>
                  </a:lnTo>
                  <a:lnTo>
                    <a:pt x="40924" y="449306"/>
                  </a:lnTo>
                  <a:lnTo>
                    <a:pt x="58237" y="406339"/>
                  </a:lnTo>
                  <a:lnTo>
                    <a:pt x="78324" y="364873"/>
                  </a:lnTo>
                  <a:lnTo>
                    <a:pt x="101069" y="325025"/>
                  </a:lnTo>
                  <a:lnTo>
                    <a:pt x="126356" y="286909"/>
                  </a:lnTo>
                  <a:lnTo>
                    <a:pt x="154070" y="250642"/>
                  </a:lnTo>
                  <a:lnTo>
                    <a:pt x="184095" y="216340"/>
                  </a:lnTo>
                  <a:lnTo>
                    <a:pt x="216317" y="184117"/>
                  </a:lnTo>
                  <a:lnTo>
                    <a:pt x="250618" y="154089"/>
                  </a:lnTo>
                  <a:lnTo>
                    <a:pt x="286884" y="126373"/>
                  </a:lnTo>
                  <a:lnTo>
                    <a:pt x="325000" y="101083"/>
                  </a:lnTo>
                  <a:lnTo>
                    <a:pt x="364849" y="78336"/>
                  </a:lnTo>
                  <a:lnTo>
                    <a:pt x="406317" y="58247"/>
                  </a:lnTo>
                  <a:lnTo>
                    <a:pt x="449287" y="40931"/>
                  </a:lnTo>
                  <a:lnTo>
                    <a:pt x="493645" y="26504"/>
                  </a:lnTo>
                  <a:lnTo>
                    <a:pt x="539274" y="15082"/>
                  </a:lnTo>
                  <a:lnTo>
                    <a:pt x="586060" y="6780"/>
                  </a:lnTo>
                  <a:lnTo>
                    <a:pt x="633886" y="1714"/>
                  </a:lnTo>
                  <a:lnTo>
                    <a:pt x="682637" y="0"/>
                  </a:lnTo>
                  <a:lnTo>
                    <a:pt x="3413125" y="0"/>
                  </a:lnTo>
                  <a:lnTo>
                    <a:pt x="3461867" y="1714"/>
                  </a:lnTo>
                  <a:lnTo>
                    <a:pt x="3509685" y="6780"/>
                  </a:lnTo>
                  <a:lnTo>
                    <a:pt x="3556465" y="15082"/>
                  </a:lnTo>
                  <a:lnTo>
                    <a:pt x="3602089" y="26504"/>
                  </a:lnTo>
                  <a:lnTo>
                    <a:pt x="3646443" y="40931"/>
                  </a:lnTo>
                  <a:lnTo>
                    <a:pt x="3689410" y="58247"/>
                  </a:lnTo>
                  <a:lnTo>
                    <a:pt x="3730876" y="78336"/>
                  </a:lnTo>
                  <a:lnTo>
                    <a:pt x="3770724" y="101083"/>
                  </a:lnTo>
                  <a:lnTo>
                    <a:pt x="3808840" y="126373"/>
                  </a:lnTo>
                  <a:lnTo>
                    <a:pt x="3845107" y="154089"/>
                  </a:lnTo>
                  <a:lnTo>
                    <a:pt x="3879409" y="184117"/>
                  </a:lnTo>
                  <a:lnTo>
                    <a:pt x="3911632" y="216340"/>
                  </a:lnTo>
                  <a:lnTo>
                    <a:pt x="3941660" y="250642"/>
                  </a:lnTo>
                  <a:lnTo>
                    <a:pt x="3969376" y="286909"/>
                  </a:lnTo>
                  <a:lnTo>
                    <a:pt x="3994666" y="325025"/>
                  </a:lnTo>
                  <a:lnTo>
                    <a:pt x="4017413" y="364873"/>
                  </a:lnTo>
                  <a:lnTo>
                    <a:pt x="4037502" y="406339"/>
                  </a:lnTo>
                  <a:lnTo>
                    <a:pt x="4054818" y="449306"/>
                  </a:lnTo>
                  <a:lnTo>
                    <a:pt x="4069245" y="493660"/>
                  </a:lnTo>
                  <a:lnTo>
                    <a:pt x="4080667" y="539284"/>
                  </a:lnTo>
                  <a:lnTo>
                    <a:pt x="4088969" y="586064"/>
                  </a:lnTo>
                  <a:lnTo>
                    <a:pt x="4094035" y="633882"/>
                  </a:lnTo>
                  <a:lnTo>
                    <a:pt x="4095750" y="682625"/>
                  </a:lnTo>
                  <a:lnTo>
                    <a:pt x="4095750" y="4670412"/>
                  </a:lnTo>
                  <a:lnTo>
                    <a:pt x="4094035" y="4719163"/>
                  </a:lnTo>
                  <a:lnTo>
                    <a:pt x="4088969" y="4766989"/>
                  </a:lnTo>
                  <a:lnTo>
                    <a:pt x="4080667" y="4813775"/>
                  </a:lnTo>
                  <a:lnTo>
                    <a:pt x="4069245" y="4859404"/>
                  </a:lnTo>
                  <a:lnTo>
                    <a:pt x="4054818" y="4903762"/>
                  </a:lnTo>
                  <a:lnTo>
                    <a:pt x="4037502" y="4946732"/>
                  </a:lnTo>
                  <a:lnTo>
                    <a:pt x="4017413" y="4988200"/>
                  </a:lnTo>
                  <a:lnTo>
                    <a:pt x="3994666" y="5028049"/>
                  </a:lnTo>
                  <a:lnTo>
                    <a:pt x="3969376" y="5066165"/>
                  </a:lnTo>
                  <a:lnTo>
                    <a:pt x="3941660" y="5102431"/>
                  </a:lnTo>
                  <a:lnTo>
                    <a:pt x="3911632" y="5136732"/>
                  </a:lnTo>
                  <a:lnTo>
                    <a:pt x="3879409" y="5168954"/>
                  </a:lnTo>
                  <a:lnTo>
                    <a:pt x="3845107" y="5198979"/>
                  </a:lnTo>
                  <a:lnTo>
                    <a:pt x="3808840" y="5226693"/>
                  </a:lnTo>
                  <a:lnTo>
                    <a:pt x="3770724" y="5251980"/>
                  </a:lnTo>
                  <a:lnTo>
                    <a:pt x="3730876" y="5274725"/>
                  </a:lnTo>
                  <a:lnTo>
                    <a:pt x="3689410" y="5294812"/>
                  </a:lnTo>
                  <a:lnTo>
                    <a:pt x="3646443" y="5312125"/>
                  </a:lnTo>
                  <a:lnTo>
                    <a:pt x="3602089" y="5326550"/>
                  </a:lnTo>
                  <a:lnTo>
                    <a:pt x="3556465" y="5337970"/>
                  </a:lnTo>
                  <a:lnTo>
                    <a:pt x="3509685" y="5346271"/>
                  </a:lnTo>
                  <a:lnTo>
                    <a:pt x="3461867" y="5351336"/>
                  </a:lnTo>
                  <a:lnTo>
                    <a:pt x="3413125" y="5353050"/>
                  </a:lnTo>
                  <a:lnTo>
                    <a:pt x="682637" y="5353050"/>
                  </a:lnTo>
                  <a:lnTo>
                    <a:pt x="633886" y="5351336"/>
                  </a:lnTo>
                  <a:lnTo>
                    <a:pt x="586060" y="5346271"/>
                  </a:lnTo>
                  <a:lnTo>
                    <a:pt x="539274" y="5337970"/>
                  </a:lnTo>
                  <a:lnTo>
                    <a:pt x="493645" y="5326550"/>
                  </a:lnTo>
                  <a:lnTo>
                    <a:pt x="449287" y="5312125"/>
                  </a:lnTo>
                  <a:lnTo>
                    <a:pt x="406317" y="5294812"/>
                  </a:lnTo>
                  <a:lnTo>
                    <a:pt x="364849" y="5274725"/>
                  </a:lnTo>
                  <a:lnTo>
                    <a:pt x="325000" y="5251980"/>
                  </a:lnTo>
                  <a:lnTo>
                    <a:pt x="286884" y="5226693"/>
                  </a:lnTo>
                  <a:lnTo>
                    <a:pt x="250618" y="5198979"/>
                  </a:lnTo>
                  <a:lnTo>
                    <a:pt x="216317" y="5168954"/>
                  </a:lnTo>
                  <a:lnTo>
                    <a:pt x="184095" y="5136732"/>
                  </a:lnTo>
                  <a:lnTo>
                    <a:pt x="154070" y="5102431"/>
                  </a:lnTo>
                  <a:lnTo>
                    <a:pt x="126356" y="5066165"/>
                  </a:lnTo>
                  <a:lnTo>
                    <a:pt x="101069" y="5028049"/>
                  </a:lnTo>
                  <a:lnTo>
                    <a:pt x="78324" y="4988200"/>
                  </a:lnTo>
                  <a:lnTo>
                    <a:pt x="58237" y="4946732"/>
                  </a:lnTo>
                  <a:lnTo>
                    <a:pt x="40924" y="4903762"/>
                  </a:lnTo>
                  <a:lnTo>
                    <a:pt x="26499" y="4859404"/>
                  </a:lnTo>
                  <a:lnTo>
                    <a:pt x="15079" y="4813775"/>
                  </a:lnTo>
                  <a:lnTo>
                    <a:pt x="6778" y="4766989"/>
                  </a:lnTo>
                  <a:lnTo>
                    <a:pt x="1713" y="4719163"/>
                  </a:lnTo>
                  <a:lnTo>
                    <a:pt x="0" y="4670412"/>
                  </a:lnTo>
                  <a:lnTo>
                    <a:pt x="0" y="6826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473453" y="3527107"/>
            <a:ext cx="197231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215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50" b="1" spc="100" dirty="0">
                <a:solidFill>
                  <a:srgbClr val="FFFFFF"/>
                </a:solidFill>
                <a:latin typeface="Times New Roman"/>
                <a:cs typeface="Times New Roman"/>
              </a:rPr>
              <a:t>Handling</a:t>
            </a:r>
            <a:endParaRPr sz="2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65" dirty="0"/>
              <a:t> </a:t>
            </a:r>
            <a:r>
              <a:rPr spc="135" dirty="0"/>
              <a:t>Interface</a:t>
            </a:r>
            <a:r>
              <a:rPr spc="355" dirty="0"/>
              <a:t> </a:t>
            </a:r>
            <a:r>
              <a:rPr spc="195" dirty="0"/>
              <a:t>Design</a:t>
            </a:r>
            <a:r>
              <a:rPr spc="335" dirty="0"/>
              <a:t> </a:t>
            </a:r>
            <a:r>
              <a:rPr spc="-560" dirty="0"/>
              <a:t>–</a:t>
            </a:r>
            <a:r>
              <a:rPr spc="345" dirty="0"/>
              <a:t> </a:t>
            </a:r>
            <a:r>
              <a:rPr spc="195" dirty="0"/>
              <a:t>Design</a:t>
            </a:r>
            <a:r>
              <a:rPr spc="330" dirty="0"/>
              <a:t> </a:t>
            </a:r>
            <a:r>
              <a:rPr spc="235" dirty="0"/>
              <a:t>Issues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95800" y="1581150"/>
            <a:ext cx="7305675" cy="4305300"/>
            <a:chOff x="4495800" y="1581150"/>
            <a:chExt cx="7305675" cy="4305300"/>
          </a:xfrm>
        </p:grpSpPr>
        <p:sp>
          <p:nvSpPr>
            <p:cNvPr id="4" name="object 4"/>
            <p:cNvSpPr/>
            <p:nvPr/>
          </p:nvSpPr>
          <p:spPr>
            <a:xfrm>
              <a:off x="4505325" y="1590675"/>
              <a:ext cx="7286625" cy="4286250"/>
            </a:xfrm>
            <a:custGeom>
              <a:avLst/>
              <a:gdLst/>
              <a:ahLst/>
              <a:cxnLst/>
              <a:rect l="l" t="t" r="r" b="b"/>
              <a:pathLst>
                <a:path w="7286625" h="4286250">
                  <a:moveTo>
                    <a:pt x="6572250" y="0"/>
                  </a:moveTo>
                  <a:lnTo>
                    <a:pt x="0" y="0"/>
                  </a:lnTo>
                  <a:lnTo>
                    <a:pt x="0" y="4286250"/>
                  </a:lnTo>
                  <a:lnTo>
                    <a:pt x="6572250" y="4286250"/>
                  </a:lnTo>
                  <a:lnTo>
                    <a:pt x="6621166" y="4284602"/>
                  </a:lnTo>
                  <a:lnTo>
                    <a:pt x="6669197" y="4279729"/>
                  </a:lnTo>
                  <a:lnTo>
                    <a:pt x="6716236" y="4271738"/>
                  </a:lnTo>
                  <a:lnTo>
                    <a:pt x="6762176" y="4260735"/>
                  </a:lnTo>
                  <a:lnTo>
                    <a:pt x="6806912" y="4246826"/>
                  </a:lnTo>
                  <a:lnTo>
                    <a:pt x="6850338" y="4230117"/>
                  </a:lnTo>
                  <a:lnTo>
                    <a:pt x="6892346" y="4210716"/>
                  </a:lnTo>
                  <a:lnTo>
                    <a:pt x="6932831" y="4188728"/>
                  </a:lnTo>
                  <a:lnTo>
                    <a:pt x="6971686" y="4164259"/>
                  </a:lnTo>
                  <a:lnTo>
                    <a:pt x="7008804" y="4137416"/>
                  </a:lnTo>
                  <a:lnTo>
                    <a:pt x="7044080" y="4108305"/>
                  </a:lnTo>
                  <a:lnTo>
                    <a:pt x="7077408" y="4077033"/>
                  </a:lnTo>
                  <a:lnTo>
                    <a:pt x="7108680" y="4043705"/>
                  </a:lnTo>
                  <a:lnTo>
                    <a:pt x="7137791" y="4008429"/>
                  </a:lnTo>
                  <a:lnTo>
                    <a:pt x="7164634" y="3971311"/>
                  </a:lnTo>
                  <a:lnTo>
                    <a:pt x="7189103" y="3932456"/>
                  </a:lnTo>
                  <a:lnTo>
                    <a:pt x="7211091" y="3891971"/>
                  </a:lnTo>
                  <a:lnTo>
                    <a:pt x="7230492" y="3849963"/>
                  </a:lnTo>
                  <a:lnTo>
                    <a:pt x="7247201" y="3806537"/>
                  </a:lnTo>
                  <a:lnTo>
                    <a:pt x="7261110" y="3761801"/>
                  </a:lnTo>
                  <a:lnTo>
                    <a:pt x="7272113" y="3715861"/>
                  </a:lnTo>
                  <a:lnTo>
                    <a:pt x="7280104" y="3668822"/>
                  </a:lnTo>
                  <a:lnTo>
                    <a:pt x="7284977" y="3620791"/>
                  </a:lnTo>
                  <a:lnTo>
                    <a:pt x="7286625" y="3571875"/>
                  </a:lnTo>
                  <a:lnTo>
                    <a:pt x="7286625" y="714375"/>
                  </a:lnTo>
                  <a:lnTo>
                    <a:pt x="7284977" y="665458"/>
                  </a:lnTo>
                  <a:lnTo>
                    <a:pt x="7280104" y="617427"/>
                  </a:lnTo>
                  <a:lnTo>
                    <a:pt x="7272113" y="570388"/>
                  </a:lnTo>
                  <a:lnTo>
                    <a:pt x="7261110" y="524448"/>
                  </a:lnTo>
                  <a:lnTo>
                    <a:pt x="7247201" y="479712"/>
                  </a:lnTo>
                  <a:lnTo>
                    <a:pt x="7230492" y="436286"/>
                  </a:lnTo>
                  <a:lnTo>
                    <a:pt x="7211091" y="394278"/>
                  </a:lnTo>
                  <a:lnTo>
                    <a:pt x="7189103" y="353793"/>
                  </a:lnTo>
                  <a:lnTo>
                    <a:pt x="7164634" y="314938"/>
                  </a:lnTo>
                  <a:lnTo>
                    <a:pt x="7137791" y="277820"/>
                  </a:lnTo>
                  <a:lnTo>
                    <a:pt x="7108680" y="242544"/>
                  </a:lnTo>
                  <a:lnTo>
                    <a:pt x="7077408" y="209216"/>
                  </a:lnTo>
                  <a:lnTo>
                    <a:pt x="7044080" y="177944"/>
                  </a:lnTo>
                  <a:lnTo>
                    <a:pt x="7008804" y="148833"/>
                  </a:lnTo>
                  <a:lnTo>
                    <a:pt x="6971686" y="121990"/>
                  </a:lnTo>
                  <a:lnTo>
                    <a:pt x="6932831" y="97521"/>
                  </a:lnTo>
                  <a:lnTo>
                    <a:pt x="6892346" y="75533"/>
                  </a:lnTo>
                  <a:lnTo>
                    <a:pt x="6850338" y="56132"/>
                  </a:lnTo>
                  <a:lnTo>
                    <a:pt x="6806912" y="39423"/>
                  </a:lnTo>
                  <a:lnTo>
                    <a:pt x="6762176" y="25514"/>
                  </a:lnTo>
                  <a:lnTo>
                    <a:pt x="6716236" y="14511"/>
                  </a:lnTo>
                  <a:lnTo>
                    <a:pt x="6669197" y="6520"/>
                  </a:lnTo>
                  <a:lnTo>
                    <a:pt x="6621166" y="1647"/>
                  </a:lnTo>
                  <a:lnTo>
                    <a:pt x="6572250" y="0"/>
                  </a:lnTo>
                  <a:close/>
                </a:path>
              </a:pathLst>
            </a:custGeom>
            <a:solidFill>
              <a:srgbClr val="FBDC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05325" y="1590675"/>
              <a:ext cx="7286625" cy="4286250"/>
            </a:xfrm>
            <a:custGeom>
              <a:avLst/>
              <a:gdLst/>
              <a:ahLst/>
              <a:cxnLst/>
              <a:rect l="l" t="t" r="r" b="b"/>
              <a:pathLst>
                <a:path w="7286625" h="4286250">
                  <a:moveTo>
                    <a:pt x="7286625" y="714375"/>
                  </a:moveTo>
                  <a:lnTo>
                    <a:pt x="7286625" y="3571875"/>
                  </a:lnTo>
                  <a:lnTo>
                    <a:pt x="7284977" y="3620791"/>
                  </a:lnTo>
                  <a:lnTo>
                    <a:pt x="7280104" y="3668822"/>
                  </a:lnTo>
                  <a:lnTo>
                    <a:pt x="7272113" y="3715861"/>
                  </a:lnTo>
                  <a:lnTo>
                    <a:pt x="7261110" y="3761801"/>
                  </a:lnTo>
                  <a:lnTo>
                    <a:pt x="7247201" y="3806537"/>
                  </a:lnTo>
                  <a:lnTo>
                    <a:pt x="7230492" y="3849963"/>
                  </a:lnTo>
                  <a:lnTo>
                    <a:pt x="7211091" y="3891971"/>
                  </a:lnTo>
                  <a:lnTo>
                    <a:pt x="7189103" y="3932456"/>
                  </a:lnTo>
                  <a:lnTo>
                    <a:pt x="7164634" y="3971311"/>
                  </a:lnTo>
                  <a:lnTo>
                    <a:pt x="7137791" y="4008429"/>
                  </a:lnTo>
                  <a:lnTo>
                    <a:pt x="7108680" y="4043705"/>
                  </a:lnTo>
                  <a:lnTo>
                    <a:pt x="7077408" y="4077033"/>
                  </a:lnTo>
                  <a:lnTo>
                    <a:pt x="7044080" y="4108305"/>
                  </a:lnTo>
                  <a:lnTo>
                    <a:pt x="7008804" y="4137416"/>
                  </a:lnTo>
                  <a:lnTo>
                    <a:pt x="6971686" y="4164259"/>
                  </a:lnTo>
                  <a:lnTo>
                    <a:pt x="6932831" y="4188728"/>
                  </a:lnTo>
                  <a:lnTo>
                    <a:pt x="6892346" y="4210716"/>
                  </a:lnTo>
                  <a:lnTo>
                    <a:pt x="6850338" y="4230117"/>
                  </a:lnTo>
                  <a:lnTo>
                    <a:pt x="6806912" y="4246826"/>
                  </a:lnTo>
                  <a:lnTo>
                    <a:pt x="6762176" y="4260735"/>
                  </a:lnTo>
                  <a:lnTo>
                    <a:pt x="6716236" y="4271738"/>
                  </a:lnTo>
                  <a:lnTo>
                    <a:pt x="6669197" y="4279729"/>
                  </a:lnTo>
                  <a:lnTo>
                    <a:pt x="6621166" y="4284602"/>
                  </a:lnTo>
                  <a:lnTo>
                    <a:pt x="6572250" y="4286250"/>
                  </a:lnTo>
                  <a:lnTo>
                    <a:pt x="0" y="4286250"/>
                  </a:lnTo>
                  <a:lnTo>
                    <a:pt x="0" y="0"/>
                  </a:lnTo>
                  <a:lnTo>
                    <a:pt x="6572250" y="0"/>
                  </a:lnTo>
                  <a:lnTo>
                    <a:pt x="6621166" y="1647"/>
                  </a:lnTo>
                  <a:lnTo>
                    <a:pt x="6669197" y="6520"/>
                  </a:lnTo>
                  <a:lnTo>
                    <a:pt x="6716236" y="14511"/>
                  </a:lnTo>
                  <a:lnTo>
                    <a:pt x="6762176" y="25514"/>
                  </a:lnTo>
                  <a:lnTo>
                    <a:pt x="6806912" y="39423"/>
                  </a:lnTo>
                  <a:lnTo>
                    <a:pt x="6850338" y="56132"/>
                  </a:lnTo>
                  <a:lnTo>
                    <a:pt x="6892346" y="75533"/>
                  </a:lnTo>
                  <a:lnTo>
                    <a:pt x="6932831" y="97521"/>
                  </a:lnTo>
                  <a:lnTo>
                    <a:pt x="6971686" y="121990"/>
                  </a:lnTo>
                  <a:lnTo>
                    <a:pt x="7008804" y="148833"/>
                  </a:lnTo>
                  <a:lnTo>
                    <a:pt x="7044080" y="177944"/>
                  </a:lnTo>
                  <a:lnTo>
                    <a:pt x="7077408" y="209216"/>
                  </a:lnTo>
                  <a:lnTo>
                    <a:pt x="7108680" y="242544"/>
                  </a:lnTo>
                  <a:lnTo>
                    <a:pt x="7137791" y="277820"/>
                  </a:lnTo>
                  <a:lnTo>
                    <a:pt x="7164634" y="314938"/>
                  </a:lnTo>
                  <a:lnTo>
                    <a:pt x="7189103" y="353793"/>
                  </a:lnTo>
                  <a:lnTo>
                    <a:pt x="7211091" y="394278"/>
                  </a:lnTo>
                  <a:lnTo>
                    <a:pt x="7230492" y="436286"/>
                  </a:lnTo>
                  <a:lnTo>
                    <a:pt x="7247201" y="479712"/>
                  </a:lnTo>
                  <a:lnTo>
                    <a:pt x="7261110" y="524448"/>
                  </a:lnTo>
                  <a:lnTo>
                    <a:pt x="7272113" y="570388"/>
                  </a:lnTo>
                  <a:lnTo>
                    <a:pt x="7280104" y="617427"/>
                  </a:lnTo>
                  <a:lnTo>
                    <a:pt x="7284977" y="665458"/>
                  </a:lnTo>
                  <a:lnTo>
                    <a:pt x="7286625" y="714375"/>
                  </a:lnTo>
                  <a:close/>
                </a:path>
              </a:pathLst>
            </a:custGeom>
            <a:ln w="19050">
              <a:solidFill>
                <a:srgbClr val="FBD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575428" y="1857057"/>
            <a:ext cx="6594475" cy="369252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0029" marR="73660" indent="-240029">
              <a:lnSpc>
                <a:spcPts val="2180"/>
              </a:lnSpc>
              <a:spcBef>
                <a:spcPts val="380"/>
              </a:spcBef>
              <a:buAutoNum type="arabicPeriod"/>
              <a:tabLst>
                <a:tab pos="241300" algn="l"/>
              </a:tabLst>
            </a:pPr>
            <a:r>
              <a:rPr sz="2000" dirty="0">
                <a:latin typeface="Trebuchet MS"/>
                <a:cs typeface="Trebuchet MS"/>
              </a:rPr>
              <a:t>Ensure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consistency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and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clarity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in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command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usage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40" dirty="0">
                <a:latin typeface="Trebuchet MS"/>
                <a:cs typeface="Trebuchet MS"/>
              </a:rPr>
              <a:t>across 	</a:t>
            </a:r>
            <a:r>
              <a:rPr sz="2000" spc="-10" dirty="0">
                <a:latin typeface="Trebuchet MS"/>
                <a:cs typeface="Trebuchet MS"/>
              </a:rPr>
              <a:t>applications.</a:t>
            </a:r>
            <a:endParaRPr sz="2000">
              <a:latin typeface="Trebuchet MS"/>
              <a:cs typeface="Trebuchet MS"/>
            </a:endParaRPr>
          </a:p>
          <a:p>
            <a:pPr marL="240029" indent="-240029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240029" algn="l"/>
              </a:tabLst>
            </a:pPr>
            <a:r>
              <a:rPr sz="2000" spc="-60" dirty="0">
                <a:latin typeface="Trebuchet MS"/>
                <a:cs typeface="Trebuchet MS"/>
              </a:rPr>
              <a:t>Key</a:t>
            </a:r>
            <a:r>
              <a:rPr sz="2000" spc="-2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considerations:</a:t>
            </a:r>
            <a:endParaRPr sz="2000">
              <a:latin typeface="Trebuchet MS"/>
              <a:cs typeface="Trebuchet MS"/>
            </a:endParaRPr>
          </a:p>
          <a:p>
            <a:pPr marL="469900" lvl="1" indent="-240029">
              <a:lnSpc>
                <a:spcPct val="100000"/>
              </a:lnSpc>
              <a:spcBef>
                <a:spcPts val="225"/>
              </a:spcBef>
              <a:buAutoNum type="arabicPeriod"/>
              <a:tabLst>
                <a:tab pos="469900" algn="l"/>
              </a:tabLst>
            </a:pPr>
            <a:r>
              <a:rPr sz="2000" spc="-10" dirty="0">
                <a:latin typeface="Trebuchet MS"/>
                <a:cs typeface="Trebuchet MS"/>
              </a:rPr>
              <a:t>Correspondence: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Match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menu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options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with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commands.</a:t>
            </a:r>
            <a:endParaRPr sz="2000">
              <a:latin typeface="Trebuchet MS"/>
              <a:cs typeface="Trebuchet MS"/>
            </a:endParaRPr>
          </a:p>
          <a:p>
            <a:pPr marL="469900" marR="306070" lvl="1" indent="-240665">
              <a:lnSpc>
                <a:spcPts val="2180"/>
              </a:lnSpc>
              <a:spcBef>
                <a:spcPts val="409"/>
              </a:spcBef>
              <a:buAutoNum type="arabicPeriod"/>
              <a:tabLst>
                <a:tab pos="469900" algn="l"/>
              </a:tabLst>
            </a:pPr>
            <a:r>
              <a:rPr sz="2000" spc="-60" dirty="0">
                <a:latin typeface="Trebuchet MS"/>
                <a:cs typeface="Trebuchet MS"/>
              </a:rPr>
              <a:t>Form: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60" dirty="0">
                <a:latin typeface="Trebuchet MS"/>
                <a:cs typeface="Trebuchet MS"/>
              </a:rPr>
              <a:t>Use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control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sequences,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function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keys,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or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typed words.</a:t>
            </a:r>
            <a:endParaRPr sz="2000">
              <a:latin typeface="Trebuchet MS"/>
              <a:cs typeface="Trebuchet MS"/>
            </a:endParaRPr>
          </a:p>
          <a:p>
            <a:pPr marL="469900" lvl="1" indent="-240029">
              <a:lnSpc>
                <a:spcPts val="2325"/>
              </a:lnSpc>
              <a:spcBef>
                <a:spcPts val="114"/>
              </a:spcBef>
              <a:buAutoNum type="arabicPeriod"/>
              <a:tabLst>
                <a:tab pos="469900" algn="l"/>
              </a:tabLst>
            </a:pPr>
            <a:r>
              <a:rPr sz="2000" spc="-70" dirty="0">
                <a:latin typeface="Trebuchet MS"/>
                <a:cs typeface="Trebuchet MS"/>
              </a:rPr>
              <a:t>Learnability: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Make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commands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easy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to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learn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and</a:t>
            </a:r>
            <a:endParaRPr sz="2000">
              <a:latin typeface="Trebuchet MS"/>
              <a:cs typeface="Trebuchet MS"/>
            </a:endParaRPr>
          </a:p>
          <a:p>
            <a:pPr marL="469900">
              <a:lnSpc>
                <a:spcPts val="2325"/>
              </a:lnSpc>
            </a:pPr>
            <a:r>
              <a:rPr sz="2000" spc="-60" dirty="0">
                <a:latin typeface="Trebuchet MS"/>
                <a:cs typeface="Trebuchet MS"/>
              </a:rPr>
              <a:t>remember;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provide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reminders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for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forgotten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commands.</a:t>
            </a:r>
            <a:endParaRPr sz="2000">
              <a:latin typeface="Trebuchet MS"/>
              <a:cs typeface="Trebuchet MS"/>
            </a:endParaRPr>
          </a:p>
          <a:p>
            <a:pPr marL="469900" marR="180975" lvl="1" indent="-240665">
              <a:lnSpc>
                <a:spcPts val="2180"/>
              </a:lnSpc>
              <a:spcBef>
                <a:spcPts val="409"/>
              </a:spcBef>
              <a:buAutoNum type="arabicPeriod" startAt="4"/>
              <a:tabLst>
                <a:tab pos="469900" algn="l"/>
              </a:tabLst>
            </a:pPr>
            <a:r>
              <a:rPr sz="2000" spc="-35" dirty="0">
                <a:latin typeface="Trebuchet MS"/>
                <a:cs typeface="Trebuchet MS"/>
              </a:rPr>
              <a:t>Customization: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Allow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users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to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customize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or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abbreviate </a:t>
            </a:r>
            <a:r>
              <a:rPr sz="2000" spc="-10" dirty="0">
                <a:latin typeface="Trebuchet MS"/>
                <a:cs typeface="Trebuchet MS"/>
              </a:rPr>
              <a:t>commands.</a:t>
            </a:r>
            <a:endParaRPr sz="2000">
              <a:latin typeface="Trebuchet MS"/>
              <a:cs typeface="Trebuchet MS"/>
            </a:endParaRPr>
          </a:p>
          <a:p>
            <a:pPr marL="468630" lvl="1" indent="-239395">
              <a:lnSpc>
                <a:spcPts val="2325"/>
              </a:lnSpc>
              <a:spcBef>
                <a:spcPts val="114"/>
              </a:spcBef>
              <a:buAutoNum type="arabicPeriod" startAt="4"/>
              <a:tabLst>
                <a:tab pos="468630" algn="l"/>
              </a:tabLst>
            </a:pPr>
            <a:r>
              <a:rPr sz="2000" spc="-65" dirty="0">
                <a:latin typeface="Trebuchet MS"/>
                <a:cs typeface="Trebuchet MS"/>
              </a:rPr>
              <a:t>Clarity: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Ensure</a:t>
            </a:r>
            <a:r>
              <a:rPr sz="2000" spc="-2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menu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labels</a:t>
            </a:r>
            <a:r>
              <a:rPr sz="2000" spc="-2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215" dirty="0">
                <a:latin typeface="Trebuchet MS"/>
                <a:cs typeface="Trebuchet MS"/>
              </a:rPr>
              <a:t> </a:t>
            </a:r>
            <a:r>
              <a:rPr sz="2000" spc="50" dirty="0">
                <a:latin typeface="Trebuchet MS"/>
                <a:cs typeface="Trebuchet MS"/>
              </a:rPr>
              <a:t>submenus</a:t>
            </a:r>
            <a:r>
              <a:rPr sz="2000" spc="-21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are</a:t>
            </a:r>
            <a:r>
              <a:rPr sz="2000" spc="-2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self-</a:t>
            </a:r>
            <a:endParaRPr sz="2000">
              <a:latin typeface="Trebuchet MS"/>
              <a:cs typeface="Trebuchet MS"/>
            </a:endParaRPr>
          </a:p>
          <a:p>
            <a:pPr marL="469900">
              <a:lnSpc>
                <a:spcPts val="2325"/>
              </a:lnSpc>
            </a:pPr>
            <a:r>
              <a:rPr sz="2000" spc="-55" dirty="0">
                <a:latin typeface="Trebuchet MS"/>
                <a:cs typeface="Trebuchet MS"/>
              </a:rPr>
              <a:t>explanatory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8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consistent.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0050" y="1038225"/>
            <a:ext cx="4114800" cy="5381625"/>
            <a:chOff x="400050" y="1038225"/>
            <a:chExt cx="4114800" cy="5381625"/>
          </a:xfrm>
        </p:grpSpPr>
        <p:sp>
          <p:nvSpPr>
            <p:cNvPr id="8" name="object 8"/>
            <p:cNvSpPr/>
            <p:nvPr/>
          </p:nvSpPr>
          <p:spPr>
            <a:xfrm>
              <a:off x="409575" y="1047750"/>
              <a:ext cx="4095750" cy="5362575"/>
            </a:xfrm>
            <a:custGeom>
              <a:avLst/>
              <a:gdLst/>
              <a:ahLst/>
              <a:cxnLst/>
              <a:rect l="l" t="t" r="r" b="b"/>
              <a:pathLst>
                <a:path w="4095750" h="5362575">
                  <a:moveTo>
                    <a:pt x="3413125" y="0"/>
                  </a:moveTo>
                  <a:lnTo>
                    <a:pt x="682637" y="0"/>
                  </a:lnTo>
                  <a:lnTo>
                    <a:pt x="633886" y="1714"/>
                  </a:lnTo>
                  <a:lnTo>
                    <a:pt x="586060" y="6780"/>
                  </a:lnTo>
                  <a:lnTo>
                    <a:pt x="539274" y="15082"/>
                  </a:lnTo>
                  <a:lnTo>
                    <a:pt x="493645" y="26504"/>
                  </a:lnTo>
                  <a:lnTo>
                    <a:pt x="449287" y="40931"/>
                  </a:lnTo>
                  <a:lnTo>
                    <a:pt x="406317" y="58247"/>
                  </a:lnTo>
                  <a:lnTo>
                    <a:pt x="364849" y="78336"/>
                  </a:lnTo>
                  <a:lnTo>
                    <a:pt x="325000" y="101083"/>
                  </a:lnTo>
                  <a:lnTo>
                    <a:pt x="286884" y="126373"/>
                  </a:lnTo>
                  <a:lnTo>
                    <a:pt x="250618" y="154089"/>
                  </a:lnTo>
                  <a:lnTo>
                    <a:pt x="216317" y="184117"/>
                  </a:lnTo>
                  <a:lnTo>
                    <a:pt x="184095" y="216340"/>
                  </a:lnTo>
                  <a:lnTo>
                    <a:pt x="154070" y="250642"/>
                  </a:lnTo>
                  <a:lnTo>
                    <a:pt x="126356" y="286909"/>
                  </a:lnTo>
                  <a:lnTo>
                    <a:pt x="101069" y="325025"/>
                  </a:lnTo>
                  <a:lnTo>
                    <a:pt x="78324" y="364873"/>
                  </a:lnTo>
                  <a:lnTo>
                    <a:pt x="58237" y="406339"/>
                  </a:lnTo>
                  <a:lnTo>
                    <a:pt x="40924" y="449306"/>
                  </a:lnTo>
                  <a:lnTo>
                    <a:pt x="26499" y="493660"/>
                  </a:lnTo>
                  <a:lnTo>
                    <a:pt x="15079" y="539284"/>
                  </a:lnTo>
                  <a:lnTo>
                    <a:pt x="6778" y="586064"/>
                  </a:lnTo>
                  <a:lnTo>
                    <a:pt x="1713" y="633882"/>
                  </a:lnTo>
                  <a:lnTo>
                    <a:pt x="0" y="682625"/>
                  </a:lnTo>
                  <a:lnTo>
                    <a:pt x="0" y="4679937"/>
                  </a:lnTo>
                  <a:lnTo>
                    <a:pt x="1713" y="4728688"/>
                  </a:lnTo>
                  <a:lnTo>
                    <a:pt x="6778" y="4776514"/>
                  </a:lnTo>
                  <a:lnTo>
                    <a:pt x="15079" y="4823300"/>
                  </a:lnTo>
                  <a:lnTo>
                    <a:pt x="26499" y="4868929"/>
                  </a:lnTo>
                  <a:lnTo>
                    <a:pt x="40924" y="4913287"/>
                  </a:lnTo>
                  <a:lnTo>
                    <a:pt x="58237" y="4956257"/>
                  </a:lnTo>
                  <a:lnTo>
                    <a:pt x="78324" y="4997725"/>
                  </a:lnTo>
                  <a:lnTo>
                    <a:pt x="101069" y="5037574"/>
                  </a:lnTo>
                  <a:lnTo>
                    <a:pt x="126356" y="5075690"/>
                  </a:lnTo>
                  <a:lnTo>
                    <a:pt x="154070" y="5111956"/>
                  </a:lnTo>
                  <a:lnTo>
                    <a:pt x="184095" y="5146257"/>
                  </a:lnTo>
                  <a:lnTo>
                    <a:pt x="216317" y="5178479"/>
                  </a:lnTo>
                  <a:lnTo>
                    <a:pt x="250618" y="5208504"/>
                  </a:lnTo>
                  <a:lnTo>
                    <a:pt x="286884" y="5236218"/>
                  </a:lnTo>
                  <a:lnTo>
                    <a:pt x="325000" y="5261505"/>
                  </a:lnTo>
                  <a:lnTo>
                    <a:pt x="364849" y="5284250"/>
                  </a:lnTo>
                  <a:lnTo>
                    <a:pt x="406317" y="5304337"/>
                  </a:lnTo>
                  <a:lnTo>
                    <a:pt x="449287" y="5321650"/>
                  </a:lnTo>
                  <a:lnTo>
                    <a:pt x="493645" y="5336075"/>
                  </a:lnTo>
                  <a:lnTo>
                    <a:pt x="539274" y="5347495"/>
                  </a:lnTo>
                  <a:lnTo>
                    <a:pt x="586060" y="5355796"/>
                  </a:lnTo>
                  <a:lnTo>
                    <a:pt x="633886" y="5360861"/>
                  </a:lnTo>
                  <a:lnTo>
                    <a:pt x="682637" y="5362575"/>
                  </a:lnTo>
                  <a:lnTo>
                    <a:pt x="3413125" y="5362575"/>
                  </a:lnTo>
                  <a:lnTo>
                    <a:pt x="3461867" y="5360861"/>
                  </a:lnTo>
                  <a:lnTo>
                    <a:pt x="3509685" y="5355796"/>
                  </a:lnTo>
                  <a:lnTo>
                    <a:pt x="3556465" y="5347495"/>
                  </a:lnTo>
                  <a:lnTo>
                    <a:pt x="3602089" y="5336075"/>
                  </a:lnTo>
                  <a:lnTo>
                    <a:pt x="3646443" y="5321650"/>
                  </a:lnTo>
                  <a:lnTo>
                    <a:pt x="3689410" y="5304337"/>
                  </a:lnTo>
                  <a:lnTo>
                    <a:pt x="3730876" y="5284250"/>
                  </a:lnTo>
                  <a:lnTo>
                    <a:pt x="3770724" y="5261505"/>
                  </a:lnTo>
                  <a:lnTo>
                    <a:pt x="3808840" y="5236218"/>
                  </a:lnTo>
                  <a:lnTo>
                    <a:pt x="3845107" y="5208504"/>
                  </a:lnTo>
                  <a:lnTo>
                    <a:pt x="3879409" y="5178479"/>
                  </a:lnTo>
                  <a:lnTo>
                    <a:pt x="3911632" y="5146257"/>
                  </a:lnTo>
                  <a:lnTo>
                    <a:pt x="3941660" y="5111956"/>
                  </a:lnTo>
                  <a:lnTo>
                    <a:pt x="3969376" y="5075690"/>
                  </a:lnTo>
                  <a:lnTo>
                    <a:pt x="3994666" y="5037574"/>
                  </a:lnTo>
                  <a:lnTo>
                    <a:pt x="4017413" y="4997725"/>
                  </a:lnTo>
                  <a:lnTo>
                    <a:pt x="4037502" y="4956257"/>
                  </a:lnTo>
                  <a:lnTo>
                    <a:pt x="4054818" y="4913287"/>
                  </a:lnTo>
                  <a:lnTo>
                    <a:pt x="4069245" y="4868929"/>
                  </a:lnTo>
                  <a:lnTo>
                    <a:pt x="4080667" y="4823300"/>
                  </a:lnTo>
                  <a:lnTo>
                    <a:pt x="4088969" y="4776514"/>
                  </a:lnTo>
                  <a:lnTo>
                    <a:pt x="4094035" y="4728688"/>
                  </a:lnTo>
                  <a:lnTo>
                    <a:pt x="4095750" y="4679937"/>
                  </a:lnTo>
                  <a:lnTo>
                    <a:pt x="4095750" y="682625"/>
                  </a:lnTo>
                  <a:lnTo>
                    <a:pt x="4094035" y="633882"/>
                  </a:lnTo>
                  <a:lnTo>
                    <a:pt x="4088969" y="586064"/>
                  </a:lnTo>
                  <a:lnTo>
                    <a:pt x="4080667" y="539284"/>
                  </a:lnTo>
                  <a:lnTo>
                    <a:pt x="4069245" y="493660"/>
                  </a:lnTo>
                  <a:lnTo>
                    <a:pt x="4054818" y="449306"/>
                  </a:lnTo>
                  <a:lnTo>
                    <a:pt x="4037502" y="406339"/>
                  </a:lnTo>
                  <a:lnTo>
                    <a:pt x="4017413" y="364873"/>
                  </a:lnTo>
                  <a:lnTo>
                    <a:pt x="3994666" y="325025"/>
                  </a:lnTo>
                  <a:lnTo>
                    <a:pt x="3969376" y="286909"/>
                  </a:lnTo>
                  <a:lnTo>
                    <a:pt x="3941660" y="250642"/>
                  </a:lnTo>
                  <a:lnTo>
                    <a:pt x="3911632" y="216340"/>
                  </a:lnTo>
                  <a:lnTo>
                    <a:pt x="3879409" y="184117"/>
                  </a:lnTo>
                  <a:lnTo>
                    <a:pt x="3845107" y="154089"/>
                  </a:lnTo>
                  <a:lnTo>
                    <a:pt x="3808840" y="126373"/>
                  </a:lnTo>
                  <a:lnTo>
                    <a:pt x="3770724" y="101083"/>
                  </a:lnTo>
                  <a:lnTo>
                    <a:pt x="3730876" y="78336"/>
                  </a:lnTo>
                  <a:lnTo>
                    <a:pt x="3689410" y="58247"/>
                  </a:lnTo>
                  <a:lnTo>
                    <a:pt x="3646443" y="40931"/>
                  </a:lnTo>
                  <a:lnTo>
                    <a:pt x="3602089" y="26504"/>
                  </a:lnTo>
                  <a:lnTo>
                    <a:pt x="3556465" y="15082"/>
                  </a:lnTo>
                  <a:lnTo>
                    <a:pt x="3509685" y="6780"/>
                  </a:lnTo>
                  <a:lnTo>
                    <a:pt x="3461867" y="1714"/>
                  </a:lnTo>
                  <a:lnTo>
                    <a:pt x="3413125" y="0"/>
                  </a:lnTo>
                  <a:close/>
                </a:path>
              </a:pathLst>
            </a:custGeom>
            <a:solidFill>
              <a:srgbClr val="F892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9575" y="1047750"/>
              <a:ext cx="4095750" cy="5362575"/>
            </a:xfrm>
            <a:custGeom>
              <a:avLst/>
              <a:gdLst/>
              <a:ahLst/>
              <a:cxnLst/>
              <a:rect l="l" t="t" r="r" b="b"/>
              <a:pathLst>
                <a:path w="4095750" h="5362575">
                  <a:moveTo>
                    <a:pt x="0" y="682625"/>
                  </a:moveTo>
                  <a:lnTo>
                    <a:pt x="1713" y="633882"/>
                  </a:lnTo>
                  <a:lnTo>
                    <a:pt x="6778" y="586064"/>
                  </a:lnTo>
                  <a:lnTo>
                    <a:pt x="15079" y="539284"/>
                  </a:lnTo>
                  <a:lnTo>
                    <a:pt x="26499" y="493660"/>
                  </a:lnTo>
                  <a:lnTo>
                    <a:pt x="40924" y="449306"/>
                  </a:lnTo>
                  <a:lnTo>
                    <a:pt x="58237" y="406339"/>
                  </a:lnTo>
                  <a:lnTo>
                    <a:pt x="78324" y="364873"/>
                  </a:lnTo>
                  <a:lnTo>
                    <a:pt x="101069" y="325025"/>
                  </a:lnTo>
                  <a:lnTo>
                    <a:pt x="126356" y="286909"/>
                  </a:lnTo>
                  <a:lnTo>
                    <a:pt x="154070" y="250642"/>
                  </a:lnTo>
                  <a:lnTo>
                    <a:pt x="184095" y="216340"/>
                  </a:lnTo>
                  <a:lnTo>
                    <a:pt x="216317" y="184117"/>
                  </a:lnTo>
                  <a:lnTo>
                    <a:pt x="250618" y="154089"/>
                  </a:lnTo>
                  <a:lnTo>
                    <a:pt x="286884" y="126373"/>
                  </a:lnTo>
                  <a:lnTo>
                    <a:pt x="325000" y="101083"/>
                  </a:lnTo>
                  <a:lnTo>
                    <a:pt x="364849" y="78336"/>
                  </a:lnTo>
                  <a:lnTo>
                    <a:pt x="406317" y="58247"/>
                  </a:lnTo>
                  <a:lnTo>
                    <a:pt x="449287" y="40931"/>
                  </a:lnTo>
                  <a:lnTo>
                    <a:pt x="493645" y="26504"/>
                  </a:lnTo>
                  <a:lnTo>
                    <a:pt x="539274" y="15082"/>
                  </a:lnTo>
                  <a:lnTo>
                    <a:pt x="586060" y="6780"/>
                  </a:lnTo>
                  <a:lnTo>
                    <a:pt x="633886" y="1714"/>
                  </a:lnTo>
                  <a:lnTo>
                    <a:pt x="682637" y="0"/>
                  </a:lnTo>
                  <a:lnTo>
                    <a:pt x="3413125" y="0"/>
                  </a:lnTo>
                  <a:lnTo>
                    <a:pt x="3461867" y="1714"/>
                  </a:lnTo>
                  <a:lnTo>
                    <a:pt x="3509685" y="6780"/>
                  </a:lnTo>
                  <a:lnTo>
                    <a:pt x="3556465" y="15082"/>
                  </a:lnTo>
                  <a:lnTo>
                    <a:pt x="3602089" y="26504"/>
                  </a:lnTo>
                  <a:lnTo>
                    <a:pt x="3646443" y="40931"/>
                  </a:lnTo>
                  <a:lnTo>
                    <a:pt x="3689410" y="58247"/>
                  </a:lnTo>
                  <a:lnTo>
                    <a:pt x="3730876" y="78336"/>
                  </a:lnTo>
                  <a:lnTo>
                    <a:pt x="3770724" y="101083"/>
                  </a:lnTo>
                  <a:lnTo>
                    <a:pt x="3808840" y="126373"/>
                  </a:lnTo>
                  <a:lnTo>
                    <a:pt x="3845107" y="154089"/>
                  </a:lnTo>
                  <a:lnTo>
                    <a:pt x="3879409" y="184117"/>
                  </a:lnTo>
                  <a:lnTo>
                    <a:pt x="3911632" y="216340"/>
                  </a:lnTo>
                  <a:lnTo>
                    <a:pt x="3941660" y="250642"/>
                  </a:lnTo>
                  <a:lnTo>
                    <a:pt x="3969376" y="286909"/>
                  </a:lnTo>
                  <a:lnTo>
                    <a:pt x="3994666" y="325025"/>
                  </a:lnTo>
                  <a:lnTo>
                    <a:pt x="4017413" y="364873"/>
                  </a:lnTo>
                  <a:lnTo>
                    <a:pt x="4037502" y="406339"/>
                  </a:lnTo>
                  <a:lnTo>
                    <a:pt x="4054818" y="449306"/>
                  </a:lnTo>
                  <a:lnTo>
                    <a:pt x="4069245" y="493660"/>
                  </a:lnTo>
                  <a:lnTo>
                    <a:pt x="4080667" y="539284"/>
                  </a:lnTo>
                  <a:lnTo>
                    <a:pt x="4088969" y="586064"/>
                  </a:lnTo>
                  <a:lnTo>
                    <a:pt x="4094035" y="633882"/>
                  </a:lnTo>
                  <a:lnTo>
                    <a:pt x="4095750" y="682625"/>
                  </a:lnTo>
                  <a:lnTo>
                    <a:pt x="4095750" y="4679937"/>
                  </a:lnTo>
                  <a:lnTo>
                    <a:pt x="4094035" y="4728688"/>
                  </a:lnTo>
                  <a:lnTo>
                    <a:pt x="4088969" y="4776514"/>
                  </a:lnTo>
                  <a:lnTo>
                    <a:pt x="4080667" y="4823300"/>
                  </a:lnTo>
                  <a:lnTo>
                    <a:pt x="4069245" y="4868929"/>
                  </a:lnTo>
                  <a:lnTo>
                    <a:pt x="4054818" y="4913287"/>
                  </a:lnTo>
                  <a:lnTo>
                    <a:pt x="4037502" y="4956257"/>
                  </a:lnTo>
                  <a:lnTo>
                    <a:pt x="4017413" y="4997725"/>
                  </a:lnTo>
                  <a:lnTo>
                    <a:pt x="3994666" y="5037574"/>
                  </a:lnTo>
                  <a:lnTo>
                    <a:pt x="3969376" y="5075690"/>
                  </a:lnTo>
                  <a:lnTo>
                    <a:pt x="3941660" y="5111956"/>
                  </a:lnTo>
                  <a:lnTo>
                    <a:pt x="3911632" y="5146257"/>
                  </a:lnTo>
                  <a:lnTo>
                    <a:pt x="3879409" y="5178479"/>
                  </a:lnTo>
                  <a:lnTo>
                    <a:pt x="3845107" y="5208504"/>
                  </a:lnTo>
                  <a:lnTo>
                    <a:pt x="3808840" y="5236218"/>
                  </a:lnTo>
                  <a:lnTo>
                    <a:pt x="3770724" y="5261505"/>
                  </a:lnTo>
                  <a:lnTo>
                    <a:pt x="3730876" y="5284250"/>
                  </a:lnTo>
                  <a:lnTo>
                    <a:pt x="3689410" y="5304337"/>
                  </a:lnTo>
                  <a:lnTo>
                    <a:pt x="3646443" y="5321650"/>
                  </a:lnTo>
                  <a:lnTo>
                    <a:pt x="3602089" y="5336075"/>
                  </a:lnTo>
                  <a:lnTo>
                    <a:pt x="3556465" y="5347495"/>
                  </a:lnTo>
                  <a:lnTo>
                    <a:pt x="3509685" y="5355796"/>
                  </a:lnTo>
                  <a:lnTo>
                    <a:pt x="3461867" y="5360861"/>
                  </a:lnTo>
                  <a:lnTo>
                    <a:pt x="3413125" y="5362575"/>
                  </a:lnTo>
                  <a:lnTo>
                    <a:pt x="682637" y="5362575"/>
                  </a:lnTo>
                  <a:lnTo>
                    <a:pt x="633886" y="5360861"/>
                  </a:lnTo>
                  <a:lnTo>
                    <a:pt x="586060" y="5355796"/>
                  </a:lnTo>
                  <a:lnTo>
                    <a:pt x="539274" y="5347495"/>
                  </a:lnTo>
                  <a:lnTo>
                    <a:pt x="493645" y="5336075"/>
                  </a:lnTo>
                  <a:lnTo>
                    <a:pt x="449287" y="5321650"/>
                  </a:lnTo>
                  <a:lnTo>
                    <a:pt x="406317" y="5304337"/>
                  </a:lnTo>
                  <a:lnTo>
                    <a:pt x="364849" y="5284250"/>
                  </a:lnTo>
                  <a:lnTo>
                    <a:pt x="325000" y="5261505"/>
                  </a:lnTo>
                  <a:lnTo>
                    <a:pt x="286884" y="5236218"/>
                  </a:lnTo>
                  <a:lnTo>
                    <a:pt x="250618" y="5208504"/>
                  </a:lnTo>
                  <a:lnTo>
                    <a:pt x="216317" y="5178479"/>
                  </a:lnTo>
                  <a:lnTo>
                    <a:pt x="184095" y="5146257"/>
                  </a:lnTo>
                  <a:lnTo>
                    <a:pt x="154070" y="5111956"/>
                  </a:lnTo>
                  <a:lnTo>
                    <a:pt x="126356" y="5075690"/>
                  </a:lnTo>
                  <a:lnTo>
                    <a:pt x="101069" y="5037574"/>
                  </a:lnTo>
                  <a:lnTo>
                    <a:pt x="78324" y="4997725"/>
                  </a:lnTo>
                  <a:lnTo>
                    <a:pt x="58237" y="4956257"/>
                  </a:lnTo>
                  <a:lnTo>
                    <a:pt x="40924" y="4913287"/>
                  </a:lnTo>
                  <a:lnTo>
                    <a:pt x="26499" y="4868929"/>
                  </a:lnTo>
                  <a:lnTo>
                    <a:pt x="15079" y="4823300"/>
                  </a:lnTo>
                  <a:lnTo>
                    <a:pt x="6778" y="4776514"/>
                  </a:lnTo>
                  <a:lnTo>
                    <a:pt x="1713" y="4728688"/>
                  </a:lnTo>
                  <a:lnTo>
                    <a:pt x="0" y="4679937"/>
                  </a:lnTo>
                  <a:lnTo>
                    <a:pt x="0" y="6826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29347" y="3363912"/>
            <a:ext cx="2662555" cy="672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2530"/>
              </a:lnSpc>
              <a:spcBef>
                <a:spcPts val="125"/>
              </a:spcBef>
            </a:pPr>
            <a:r>
              <a:rPr sz="2150" b="1" dirty="0">
                <a:solidFill>
                  <a:srgbClr val="FFFFFF"/>
                </a:solidFill>
                <a:latin typeface="Trebuchet MS"/>
                <a:cs typeface="Trebuchet MS"/>
              </a:rPr>
              <a:t>Menu</a:t>
            </a:r>
            <a:r>
              <a:rPr sz="2150" b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b="1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150" b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b="1" spc="65" dirty="0">
                <a:solidFill>
                  <a:srgbClr val="FFFFFF"/>
                </a:solidFill>
                <a:latin typeface="Trebuchet MS"/>
                <a:cs typeface="Trebuchet MS"/>
              </a:rPr>
              <a:t>Command</a:t>
            </a:r>
            <a:endParaRPr sz="2150">
              <a:latin typeface="Trebuchet MS"/>
              <a:cs typeface="Trebuchet MS"/>
            </a:endParaRPr>
          </a:p>
          <a:p>
            <a:pPr algn="ctr">
              <a:lnSpc>
                <a:spcPts val="2530"/>
              </a:lnSpc>
            </a:pPr>
            <a:r>
              <a:rPr sz="2150" b="1" spc="-10" dirty="0">
                <a:solidFill>
                  <a:srgbClr val="FFFFFF"/>
                </a:solidFill>
                <a:latin typeface="Trebuchet MS"/>
                <a:cs typeface="Trebuchet MS"/>
              </a:rPr>
              <a:t>Labelling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65" dirty="0"/>
              <a:t> </a:t>
            </a:r>
            <a:r>
              <a:rPr spc="135" dirty="0"/>
              <a:t>Interface</a:t>
            </a:r>
            <a:r>
              <a:rPr spc="355" dirty="0"/>
              <a:t> </a:t>
            </a:r>
            <a:r>
              <a:rPr spc="195" dirty="0"/>
              <a:t>Design</a:t>
            </a:r>
            <a:r>
              <a:rPr spc="335" dirty="0"/>
              <a:t> </a:t>
            </a:r>
            <a:r>
              <a:rPr spc="-560" dirty="0"/>
              <a:t>–</a:t>
            </a:r>
            <a:r>
              <a:rPr spc="345" dirty="0"/>
              <a:t> </a:t>
            </a:r>
            <a:r>
              <a:rPr spc="195" dirty="0"/>
              <a:t>Design</a:t>
            </a:r>
            <a:r>
              <a:rPr spc="330" dirty="0"/>
              <a:t> </a:t>
            </a:r>
            <a:r>
              <a:rPr spc="235" dirty="0"/>
              <a:t>Issues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95800" y="1581150"/>
            <a:ext cx="7305675" cy="4305300"/>
            <a:chOff x="4495800" y="1581150"/>
            <a:chExt cx="7305675" cy="4305300"/>
          </a:xfrm>
        </p:grpSpPr>
        <p:sp>
          <p:nvSpPr>
            <p:cNvPr id="4" name="object 4"/>
            <p:cNvSpPr/>
            <p:nvPr/>
          </p:nvSpPr>
          <p:spPr>
            <a:xfrm>
              <a:off x="4505325" y="1590675"/>
              <a:ext cx="7286625" cy="4286250"/>
            </a:xfrm>
            <a:custGeom>
              <a:avLst/>
              <a:gdLst/>
              <a:ahLst/>
              <a:cxnLst/>
              <a:rect l="l" t="t" r="r" b="b"/>
              <a:pathLst>
                <a:path w="7286625" h="4286250">
                  <a:moveTo>
                    <a:pt x="6572250" y="0"/>
                  </a:moveTo>
                  <a:lnTo>
                    <a:pt x="0" y="0"/>
                  </a:lnTo>
                  <a:lnTo>
                    <a:pt x="0" y="4286250"/>
                  </a:lnTo>
                  <a:lnTo>
                    <a:pt x="6572250" y="4286250"/>
                  </a:lnTo>
                  <a:lnTo>
                    <a:pt x="6621166" y="4284602"/>
                  </a:lnTo>
                  <a:lnTo>
                    <a:pt x="6669197" y="4279729"/>
                  </a:lnTo>
                  <a:lnTo>
                    <a:pt x="6716236" y="4271738"/>
                  </a:lnTo>
                  <a:lnTo>
                    <a:pt x="6762176" y="4260735"/>
                  </a:lnTo>
                  <a:lnTo>
                    <a:pt x="6806912" y="4246826"/>
                  </a:lnTo>
                  <a:lnTo>
                    <a:pt x="6850338" y="4230117"/>
                  </a:lnTo>
                  <a:lnTo>
                    <a:pt x="6892346" y="4210716"/>
                  </a:lnTo>
                  <a:lnTo>
                    <a:pt x="6932831" y="4188728"/>
                  </a:lnTo>
                  <a:lnTo>
                    <a:pt x="6971686" y="4164259"/>
                  </a:lnTo>
                  <a:lnTo>
                    <a:pt x="7008804" y="4137416"/>
                  </a:lnTo>
                  <a:lnTo>
                    <a:pt x="7044080" y="4108305"/>
                  </a:lnTo>
                  <a:lnTo>
                    <a:pt x="7077408" y="4077033"/>
                  </a:lnTo>
                  <a:lnTo>
                    <a:pt x="7108680" y="4043705"/>
                  </a:lnTo>
                  <a:lnTo>
                    <a:pt x="7137791" y="4008429"/>
                  </a:lnTo>
                  <a:lnTo>
                    <a:pt x="7164634" y="3971311"/>
                  </a:lnTo>
                  <a:lnTo>
                    <a:pt x="7189103" y="3932456"/>
                  </a:lnTo>
                  <a:lnTo>
                    <a:pt x="7211091" y="3891971"/>
                  </a:lnTo>
                  <a:lnTo>
                    <a:pt x="7230492" y="3849963"/>
                  </a:lnTo>
                  <a:lnTo>
                    <a:pt x="7247201" y="3806537"/>
                  </a:lnTo>
                  <a:lnTo>
                    <a:pt x="7261110" y="3761801"/>
                  </a:lnTo>
                  <a:lnTo>
                    <a:pt x="7272113" y="3715861"/>
                  </a:lnTo>
                  <a:lnTo>
                    <a:pt x="7280104" y="3668822"/>
                  </a:lnTo>
                  <a:lnTo>
                    <a:pt x="7284977" y="3620791"/>
                  </a:lnTo>
                  <a:lnTo>
                    <a:pt x="7286625" y="3571875"/>
                  </a:lnTo>
                  <a:lnTo>
                    <a:pt x="7286625" y="714375"/>
                  </a:lnTo>
                  <a:lnTo>
                    <a:pt x="7284977" y="665458"/>
                  </a:lnTo>
                  <a:lnTo>
                    <a:pt x="7280104" y="617427"/>
                  </a:lnTo>
                  <a:lnTo>
                    <a:pt x="7272113" y="570388"/>
                  </a:lnTo>
                  <a:lnTo>
                    <a:pt x="7261110" y="524448"/>
                  </a:lnTo>
                  <a:lnTo>
                    <a:pt x="7247201" y="479712"/>
                  </a:lnTo>
                  <a:lnTo>
                    <a:pt x="7230492" y="436286"/>
                  </a:lnTo>
                  <a:lnTo>
                    <a:pt x="7211091" y="394278"/>
                  </a:lnTo>
                  <a:lnTo>
                    <a:pt x="7189103" y="353793"/>
                  </a:lnTo>
                  <a:lnTo>
                    <a:pt x="7164634" y="314938"/>
                  </a:lnTo>
                  <a:lnTo>
                    <a:pt x="7137791" y="277820"/>
                  </a:lnTo>
                  <a:lnTo>
                    <a:pt x="7108680" y="242544"/>
                  </a:lnTo>
                  <a:lnTo>
                    <a:pt x="7077408" y="209216"/>
                  </a:lnTo>
                  <a:lnTo>
                    <a:pt x="7044080" y="177944"/>
                  </a:lnTo>
                  <a:lnTo>
                    <a:pt x="7008804" y="148833"/>
                  </a:lnTo>
                  <a:lnTo>
                    <a:pt x="6971686" y="121990"/>
                  </a:lnTo>
                  <a:lnTo>
                    <a:pt x="6932831" y="97521"/>
                  </a:lnTo>
                  <a:lnTo>
                    <a:pt x="6892346" y="75533"/>
                  </a:lnTo>
                  <a:lnTo>
                    <a:pt x="6850338" y="56132"/>
                  </a:lnTo>
                  <a:lnTo>
                    <a:pt x="6806912" y="39423"/>
                  </a:lnTo>
                  <a:lnTo>
                    <a:pt x="6762176" y="25514"/>
                  </a:lnTo>
                  <a:lnTo>
                    <a:pt x="6716236" y="14511"/>
                  </a:lnTo>
                  <a:lnTo>
                    <a:pt x="6669197" y="6520"/>
                  </a:lnTo>
                  <a:lnTo>
                    <a:pt x="6621166" y="1647"/>
                  </a:lnTo>
                  <a:lnTo>
                    <a:pt x="6572250" y="0"/>
                  </a:lnTo>
                  <a:close/>
                </a:path>
              </a:pathLst>
            </a:custGeom>
            <a:solidFill>
              <a:srgbClr val="FBDC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05325" y="1590675"/>
              <a:ext cx="7286625" cy="4286250"/>
            </a:xfrm>
            <a:custGeom>
              <a:avLst/>
              <a:gdLst/>
              <a:ahLst/>
              <a:cxnLst/>
              <a:rect l="l" t="t" r="r" b="b"/>
              <a:pathLst>
                <a:path w="7286625" h="4286250">
                  <a:moveTo>
                    <a:pt x="7286625" y="714375"/>
                  </a:moveTo>
                  <a:lnTo>
                    <a:pt x="7286625" y="3571875"/>
                  </a:lnTo>
                  <a:lnTo>
                    <a:pt x="7284977" y="3620791"/>
                  </a:lnTo>
                  <a:lnTo>
                    <a:pt x="7280104" y="3668822"/>
                  </a:lnTo>
                  <a:lnTo>
                    <a:pt x="7272113" y="3715861"/>
                  </a:lnTo>
                  <a:lnTo>
                    <a:pt x="7261110" y="3761801"/>
                  </a:lnTo>
                  <a:lnTo>
                    <a:pt x="7247201" y="3806537"/>
                  </a:lnTo>
                  <a:lnTo>
                    <a:pt x="7230492" y="3849963"/>
                  </a:lnTo>
                  <a:lnTo>
                    <a:pt x="7211091" y="3891971"/>
                  </a:lnTo>
                  <a:lnTo>
                    <a:pt x="7189103" y="3932456"/>
                  </a:lnTo>
                  <a:lnTo>
                    <a:pt x="7164634" y="3971311"/>
                  </a:lnTo>
                  <a:lnTo>
                    <a:pt x="7137791" y="4008429"/>
                  </a:lnTo>
                  <a:lnTo>
                    <a:pt x="7108680" y="4043705"/>
                  </a:lnTo>
                  <a:lnTo>
                    <a:pt x="7077408" y="4077033"/>
                  </a:lnTo>
                  <a:lnTo>
                    <a:pt x="7044080" y="4108305"/>
                  </a:lnTo>
                  <a:lnTo>
                    <a:pt x="7008804" y="4137416"/>
                  </a:lnTo>
                  <a:lnTo>
                    <a:pt x="6971686" y="4164259"/>
                  </a:lnTo>
                  <a:lnTo>
                    <a:pt x="6932831" y="4188728"/>
                  </a:lnTo>
                  <a:lnTo>
                    <a:pt x="6892346" y="4210716"/>
                  </a:lnTo>
                  <a:lnTo>
                    <a:pt x="6850338" y="4230117"/>
                  </a:lnTo>
                  <a:lnTo>
                    <a:pt x="6806912" y="4246826"/>
                  </a:lnTo>
                  <a:lnTo>
                    <a:pt x="6762176" y="4260735"/>
                  </a:lnTo>
                  <a:lnTo>
                    <a:pt x="6716236" y="4271738"/>
                  </a:lnTo>
                  <a:lnTo>
                    <a:pt x="6669197" y="4279729"/>
                  </a:lnTo>
                  <a:lnTo>
                    <a:pt x="6621166" y="4284602"/>
                  </a:lnTo>
                  <a:lnTo>
                    <a:pt x="6572250" y="4286250"/>
                  </a:lnTo>
                  <a:lnTo>
                    <a:pt x="0" y="4286250"/>
                  </a:lnTo>
                  <a:lnTo>
                    <a:pt x="0" y="0"/>
                  </a:lnTo>
                  <a:lnTo>
                    <a:pt x="6572250" y="0"/>
                  </a:lnTo>
                  <a:lnTo>
                    <a:pt x="6621166" y="1647"/>
                  </a:lnTo>
                  <a:lnTo>
                    <a:pt x="6669197" y="6520"/>
                  </a:lnTo>
                  <a:lnTo>
                    <a:pt x="6716236" y="14511"/>
                  </a:lnTo>
                  <a:lnTo>
                    <a:pt x="6762176" y="25514"/>
                  </a:lnTo>
                  <a:lnTo>
                    <a:pt x="6806912" y="39423"/>
                  </a:lnTo>
                  <a:lnTo>
                    <a:pt x="6850338" y="56132"/>
                  </a:lnTo>
                  <a:lnTo>
                    <a:pt x="6892346" y="75533"/>
                  </a:lnTo>
                  <a:lnTo>
                    <a:pt x="6932831" y="97521"/>
                  </a:lnTo>
                  <a:lnTo>
                    <a:pt x="6971686" y="121990"/>
                  </a:lnTo>
                  <a:lnTo>
                    <a:pt x="7008804" y="148833"/>
                  </a:lnTo>
                  <a:lnTo>
                    <a:pt x="7044080" y="177944"/>
                  </a:lnTo>
                  <a:lnTo>
                    <a:pt x="7077408" y="209216"/>
                  </a:lnTo>
                  <a:lnTo>
                    <a:pt x="7108680" y="242544"/>
                  </a:lnTo>
                  <a:lnTo>
                    <a:pt x="7137791" y="277820"/>
                  </a:lnTo>
                  <a:lnTo>
                    <a:pt x="7164634" y="314938"/>
                  </a:lnTo>
                  <a:lnTo>
                    <a:pt x="7189103" y="353793"/>
                  </a:lnTo>
                  <a:lnTo>
                    <a:pt x="7211091" y="394278"/>
                  </a:lnTo>
                  <a:lnTo>
                    <a:pt x="7230492" y="436286"/>
                  </a:lnTo>
                  <a:lnTo>
                    <a:pt x="7247201" y="479712"/>
                  </a:lnTo>
                  <a:lnTo>
                    <a:pt x="7261110" y="524448"/>
                  </a:lnTo>
                  <a:lnTo>
                    <a:pt x="7272113" y="570388"/>
                  </a:lnTo>
                  <a:lnTo>
                    <a:pt x="7280104" y="617427"/>
                  </a:lnTo>
                  <a:lnTo>
                    <a:pt x="7284977" y="665458"/>
                  </a:lnTo>
                  <a:lnTo>
                    <a:pt x="7286625" y="714375"/>
                  </a:lnTo>
                  <a:close/>
                </a:path>
              </a:pathLst>
            </a:custGeom>
            <a:ln w="19050">
              <a:solidFill>
                <a:srgbClr val="FBD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746878" y="2311463"/>
            <a:ext cx="6619240" cy="1028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marR="5080" indent="-229235" algn="just">
              <a:lnSpc>
                <a:spcPts val="2550"/>
              </a:lnSpc>
              <a:spcBef>
                <a:spcPts val="385"/>
              </a:spcBef>
            </a:pPr>
            <a:r>
              <a:rPr sz="2300" spc="50" dirty="0">
                <a:latin typeface="Cambria"/>
                <a:cs typeface="Cambria"/>
              </a:rPr>
              <a:t>1.Design</a:t>
            </a:r>
            <a:r>
              <a:rPr sz="2300" spc="225" dirty="0">
                <a:latin typeface="Cambria"/>
                <a:cs typeface="Cambria"/>
              </a:rPr>
              <a:t>  </a:t>
            </a:r>
            <a:r>
              <a:rPr sz="2300" dirty="0">
                <a:latin typeface="Cambria"/>
                <a:cs typeface="Cambria"/>
              </a:rPr>
              <a:t>interfaces</a:t>
            </a:r>
            <a:r>
              <a:rPr sz="2300" spc="240" dirty="0">
                <a:latin typeface="Cambria"/>
                <a:cs typeface="Cambria"/>
              </a:rPr>
              <a:t>  </a:t>
            </a:r>
            <a:r>
              <a:rPr sz="2300" dirty="0">
                <a:latin typeface="Cambria"/>
                <a:cs typeface="Cambria"/>
              </a:rPr>
              <a:t>to</a:t>
            </a:r>
            <a:r>
              <a:rPr sz="2300" spc="210" dirty="0">
                <a:latin typeface="Cambria"/>
                <a:cs typeface="Cambria"/>
              </a:rPr>
              <a:t>  </a:t>
            </a:r>
            <a:r>
              <a:rPr sz="2300" dirty="0">
                <a:latin typeface="Cambria"/>
                <a:cs typeface="Cambria"/>
              </a:rPr>
              <a:t>accommodate</a:t>
            </a:r>
            <a:r>
              <a:rPr sz="2300" spc="225" dirty="0">
                <a:latin typeface="Cambria"/>
                <a:cs typeface="Cambria"/>
              </a:rPr>
              <a:t>  </a:t>
            </a:r>
            <a:r>
              <a:rPr sz="2300" dirty="0">
                <a:latin typeface="Cambria"/>
                <a:cs typeface="Cambria"/>
              </a:rPr>
              <a:t>users</a:t>
            </a:r>
            <a:r>
              <a:rPr sz="2300" spc="229" dirty="0">
                <a:latin typeface="Cambria"/>
                <a:cs typeface="Cambria"/>
              </a:rPr>
              <a:t>  </a:t>
            </a:r>
            <a:r>
              <a:rPr sz="2300" spc="35" dirty="0">
                <a:latin typeface="Cambria"/>
                <a:cs typeface="Cambria"/>
              </a:rPr>
              <a:t>with </a:t>
            </a:r>
            <a:r>
              <a:rPr sz="2300" dirty="0">
                <a:latin typeface="Cambria"/>
                <a:cs typeface="Cambria"/>
              </a:rPr>
              <a:t>physical</a:t>
            </a:r>
            <a:r>
              <a:rPr sz="2300" spc="484" dirty="0">
                <a:latin typeface="Cambria"/>
                <a:cs typeface="Cambria"/>
              </a:rPr>
              <a:t>   </a:t>
            </a:r>
            <a:r>
              <a:rPr sz="2300" dirty="0">
                <a:latin typeface="Cambria"/>
                <a:cs typeface="Cambria"/>
              </a:rPr>
              <a:t>challenges</a:t>
            </a:r>
            <a:r>
              <a:rPr sz="2300" spc="480" dirty="0">
                <a:latin typeface="Cambria"/>
                <a:cs typeface="Cambria"/>
              </a:rPr>
              <a:t>   </a:t>
            </a:r>
            <a:r>
              <a:rPr sz="2300" dirty="0">
                <a:latin typeface="Cambria"/>
                <a:cs typeface="Cambria"/>
              </a:rPr>
              <a:t>(e.g.,</a:t>
            </a:r>
            <a:r>
              <a:rPr sz="2300" spc="475" dirty="0">
                <a:latin typeface="Cambria"/>
                <a:cs typeface="Cambria"/>
              </a:rPr>
              <a:t>   </a:t>
            </a:r>
            <a:r>
              <a:rPr sz="2300" spc="60" dirty="0">
                <a:latin typeface="Cambria"/>
                <a:cs typeface="Cambria"/>
              </a:rPr>
              <a:t>visual,</a:t>
            </a:r>
            <a:r>
              <a:rPr sz="2300" spc="475" dirty="0">
                <a:latin typeface="Cambria"/>
                <a:cs typeface="Cambria"/>
              </a:rPr>
              <a:t>   </a:t>
            </a:r>
            <a:r>
              <a:rPr sz="2300" spc="-10" dirty="0">
                <a:latin typeface="Cambria"/>
                <a:cs typeface="Cambria"/>
              </a:rPr>
              <a:t>hearing, </a:t>
            </a:r>
            <a:r>
              <a:rPr sz="2300" dirty="0">
                <a:latin typeface="Cambria"/>
                <a:cs typeface="Cambria"/>
              </a:rPr>
              <a:t>mobility</a:t>
            </a:r>
            <a:r>
              <a:rPr sz="2300" spc="375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impairments).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6878" y="3341306"/>
            <a:ext cx="558863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442720" algn="l"/>
                <a:tab pos="3302635" algn="l"/>
                <a:tab pos="4954905" algn="l"/>
              </a:tabLst>
            </a:pPr>
            <a:r>
              <a:rPr sz="2300" spc="-10" dirty="0">
                <a:latin typeface="Cambria"/>
                <a:cs typeface="Cambria"/>
              </a:rPr>
              <a:t>2.Follow</a:t>
            </a:r>
            <a:r>
              <a:rPr sz="2300" dirty="0">
                <a:latin typeface="Cambria"/>
                <a:cs typeface="Cambria"/>
              </a:rPr>
              <a:t>	</a:t>
            </a:r>
            <a:r>
              <a:rPr sz="2300" spc="-10" dirty="0">
                <a:latin typeface="Cambria"/>
                <a:cs typeface="Cambria"/>
              </a:rPr>
              <a:t>accessibility</a:t>
            </a:r>
            <a:r>
              <a:rPr sz="2300" dirty="0">
                <a:latin typeface="Cambria"/>
                <a:cs typeface="Cambria"/>
              </a:rPr>
              <a:t>	</a:t>
            </a:r>
            <a:r>
              <a:rPr sz="2300" spc="-10" dirty="0">
                <a:latin typeface="Cambria"/>
                <a:cs typeface="Cambria"/>
              </a:rPr>
              <a:t>guidelines</a:t>
            </a:r>
            <a:r>
              <a:rPr sz="2300" dirty="0">
                <a:latin typeface="Cambria"/>
                <a:cs typeface="Cambria"/>
              </a:rPr>
              <a:t>	</a:t>
            </a:r>
            <a:r>
              <a:rPr sz="2300" spc="-10" dirty="0">
                <a:latin typeface="Cambria"/>
                <a:cs typeface="Cambria"/>
              </a:rPr>
              <a:t>(e.g.,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5859" y="3341306"/>
            <a:ext cx="6386830" cy="7143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080" algn="r">
              <a:lnSpc>
                <a:spcPts val="2695"/>
              </a:lnSpc>
              <a:spcBef>
                <a:spcPts val="125"/>
              </a:spcBef>
            </a:pPr>
            <a:r>
              <a:rPr sz="2300" spc="95" dirty="0">
                <a:latin typeface="Cambria"/>
                <a:cs typeface="Cambria"/>
              </a:rPr>
              <a:t>W3C,</a:t>
            </a:r>
            <a:endParaRPr sz="2300">
              <a:latin typeface="Cambria"/>
              <a:cs typeface="Cambria"/>
            </a:endParaRPr>
          </a:p>
          <a:p>
            <a:pPr marL="12700">
              <a:lnSpc>
                <a:spcPts val="2695"/>
              </a:lnSpc>
              <a:tabLst>
                <a:tab pos="1435100" algn="l"/>
                <a:tab pos="3204845" algn="l"/>
                <a:tab pos="4914900" algn="l"/>
                <a:tab pos="5504180" algn="l"/>
              </a:tabLst>
            </a:pPr>
            <a:r>
              <a:rPr sz="2300" spc="-10" dirty="0">
                <a:latin typeface="Cambria"/>
                <a:cs typeface="Cambria"/>
              </a:rPr>
              <a:t>assistive</a:t>
            </a:r>
            <a:r>
              <a:rPr sz="2300" dirty="0">
                <a:latin typeface="Cambria"/>
                <a:cs typeface="Cambria"/>
              </a:rPr>
              <a:t>	</a:t>
            </a:r>
            <a:r>
              <a:rPr sz="2300" spc="-10" dirty="0">
                <a:latin typeface="Cambria"/>
                <a:cs typeface="Cambria"/>
              </a:rPr>
              <a:t>technology</a:t>
            </a:r>
            <a:r>
              <a:rPr sz="2300" dirty="0">
                <a:latin typeface="Cambria"/>
                <a:cs typeface="Cambria"/>
              </a:rPr>
              <a:t>	</a:t>
            </a:r>
            <a:r>
              <a:rPr sz="2300" spc="-10" dirty="0">
                <a:latin typeface="Cambria"/>
                <a:cs typeface="Cambria"/>
              </a:rPr>
              <a:t>standards)</a:t>
            </a:r>
            <a:r>
              <a:rPr sz="2300" dirty="0">
                <a:latin typeface="Cambria"/>
                <a:cs typeface="Cambria"/>
              </a:rPr>
              <a:t>	</a:t>
            </a:r>
            <a:r>
              <a:rPr sz="2300" spc="-25" dirty="0">
                <a:latin typeface="Cambria"/>
                <a:cs typeface="Cambria"/>
              </a:rPr>
              <a:t>to</a:t>
            </a:r>
            <a:r>
              <a:rPr sz="2300" dirty="0">
                <a:latin typeface="Cambria"/>
                <a:cs typeface="Cambria"/>
              </a:rPr>
              <a:t>	</a:t>
            </a:r>
            <a:r>
              <a:rPr sz="2300" spc="-10" dirty="0">
                <a:latin typeface="Cambria"/>
                <a:cs typeface="Cambria"/>
              </a:rPr>
              <a:t>ensure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46878" y="3972623"/>
            <a:ext cx="6612890" cy="111315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340"/>
              </a:spcBef>
            </a:pPr>
            <a:r>
              <a:rPr sz="2300" spc="35" dirty="0">
                <a:latin typeface="Cambria"/>
                <a:cs typeface="Cambria"/>
              </a:rPr>
              <a:t>inclusivity.</a:t>
            </a:r>
            <a:endParaRPr sz="2300">
              <a:latin typeface="Cambria"/>
              <a:cs typeface="Cambria"/>
            </a:endParaRPr>
          </a:p>
          <a:p>
            <a:pPr marL="241300" marR="5080" indent="-229235">
              <a:lnSpc>
                <a:spcPts val="2550"/>
              </a:lnSpc>
              <a:spcBef>
                <a:spcPts val="505"/>
              </a:spcBef>
              <a:tabLst>
                <a:tab pos="1382395" algn="l"/>
                <a:tab pos="2252345" algn="l"/>
                <a:tab pos="2924810" algn="l"/>
                <a:tab pos="4207510" algn="l"/>
                <a:tab pos="5915025" algn="l"/>
              </a:tabLst>
            </a:pPr>
            <a:r>
              <a:rPr sz="2300" spc="-10" dirty="0">
                <a:latin typeface="Cambria"/>
                <a:cs typeface="Cambria"/>
              </a:rPr>
              <a:t>3.Ethical,</a:t>
            </a:r>
            <a:r>
              <a:rPr sz="2300" dirty="0">
                <a:latin typeface="Cambria"/>
                <a:cs typeface="Cambria"/>
              </a:rPr>
              <a:t>	</a:t>
            </a:r>
            <a:r>
              <a:rPr sz="2300" spc="40" dirty="0">
                <a:latin typeface="Cambria"/>
                <a:cs typeface="Cambria"/>
              </a:rPr>
              <a:t>legal,</a:t>
            </a:r>
            <a:r>
              <a:rPr sz="2300" dirty="0">
                <a:latin typeface="Cambria"/>
                <a:cs typeface="Cambria"/>
              </a:rPr>
              <a:t>	</a:t>
            </a:r>
            <a:r>
              <a:rPr sz="2300" spc="40" dirty="0">
                <a:latin typeface="Cambria"/>
                <a:cs typeface="Cambria"/>
              </a:rPr>
              <a:t>and</a:t>
            </a:r>
            <a:r>
              <a:rPr sz="2300" dirty="0">
                <a:latin typeface="Cambria"/>
                <a:cs typeface="Cambria"/>
              </a:rPr>
              <a:t>	</a:t>
            </a:r>
            <a:r>
              <a:rPr sz="2300" spc="-10" dirty="0">
                <a:latin typeface="Cambria"/>
                <a:cs typeface="Cambria"/>
              </a:rPr>
              <a:t>business</a:t>
            </a:r>
            <a:r>
              <a:rPr sz="2300" dirty="0">
                <a:latin typeface="Cambria"/>
                <a:cs typeface="Cambria"/>
              </a:rPr>
              <a:t>	</a:t>
            </a:r>
            <a:r>
              <a:rPr sz="2300" spc="-10" dirty="0">
                <a:latin typeface="Cambria"/>
                <a:cs typeface="Cambria"/>
              </a:rPr>
              <a:t>imperatives</a:t>
            </a:r>
            <a:r>
              <a:rPr sz="2300" dirty="0">
                <a:latin typeface="Cambria"/>
                <a:cs typeface="Cambria"/>
              </a:rPr>
              <a:t>	</a:t>
            </a:r>
            <a:r>
              <a:rPr sz="2300" spc="-10" dirty="0">
                <a:latin typeface="Cambria"/>
                <a:cs typeface="Cambria"/>
              </a:rPr>
              <a:t>drive </a:t>
            </a:r>
            <a:r>
              <a:rPr sz="2300" dirty="0">
                <a:latin typeface="Cambria"/>
                <a:cs typeface="Cambria"/>
              </a:rPr>
              <a:t>accessibility</a:t>
            </a:r>
            <a:r>
              <a:rPr sz="2300" spc="220" dirty="0">
                <a:latin typeface="Cambria"/>
                <a:cs typeface="Cambria"/>
              </a:rPr>
              <a:t> </a:t>
            </a:r>
            <a:r>
              <a:rPr sz="2300" spc="-10" dirty="0">
                <a:latin typeface="Cambria"/>
                <a:cs typeface="Cambria"/>
              </a:rPr>
              <a:t>requirements.</a:t>
            </a:r>
            <a:endParaRPr sz="23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0050" y="1038225"/>
            <a:ext cx="4114800" cy="5381625"/>
            <a:chOff x="400050" y="1038225"/>
            <a:chExt cx="4114800" cy="5381625"/>
          </a:xfrm>
        </p:grpSpPr>
        <p:sp>
          <p:nvSpPr>
            <p:cNvPr id="11" name="object 11"/>
            <p:cNvSpPr/>
            <p:nvPr/>
          </p:nvSpPr>
          <p:spPr>
            <a:xfrm>
              <a:off x="409575" y="1047750"/>
              <a:ext cx="4095750" cy="5362575"/>
            </a:xfrm>
            <a:custGeom>
              <a:avLst/>
              <a:gdLst/>
              <a:ahLst/>
              <a:cxnLst/>
              <a:rect l="l" t="t" r="r" b="b"/>
              <a:pathLst>
                <a:path w="4095750" h="5362575">
                  <a:moveTo>
                    <a:pt x="3413125" y="0"/>
                  </a:moveTo>
                  <a:lnTo>
                    <a:pt x="682637" y="0"/>
                  </a:lnTo>
                  <a:lnTo>
                    <a:pt x="633886" y="1714"/>
                  </a:lnTo>
                  <a:lnTo>
                    <a:pt x="586060" y="6780"/>
                  </a:lnTo>
                  <a:lnTo>
                    <a:pt x="539274" y="15082"/>
                  </a:lnTo>
                  <a:lnTo>
                    <a:pt x="493645" y="26504"/>
                  </a:lnTo>
                  <a:lnTo>
                    <a:pt x="449287" y="40931"/>
                  </a:lnTo>
                  <a:lnTo>
                    <a:pt x="406317" y="58247"/>
                  </a:lnTo>
                  <a:lnTo>
                    <a:pt x="364849" y="78336"/>
                  </a:lnTo>
                  <a:lnTo>
                    <a:pt x="325000" y="101083"/>
                  </a:lnTo>
                  <a:lnTo>
                    <a:pt x="286884" y="126373"/>
                  </a:lnTo>
                  <a:lnTo>
                    <a:pt x="250618" y="154089"/>
                  </a:lnTo>
                  <a:lnTo>
                    <a:pt x="216317" y="184117"/>
                  </a:lnTo>
                  <a:lnTo>
                    <a:pt x="184095" y="216340"/>
                  </a:lnTo>
                  <a:lnTo>
                    <a:pt x="154070" y="250642"/>
                  </a:lnTo>
                  <a:lnTo>
                    <a:pt x="126356" y="286909"/>
                  </a:lnTo>
                  <a:lnTo>
                    <a:pt x="101069" y="325025"/>
                  </a:lnTo>
                  <a:lnTo>
                    <a:pt x="78324" y="364873"/>
                  </a:lnTo>
                  <a:lnTo>
                    <a:pt x="58237" y="406339"/>
                  </a:lnTo>
                  <a:lnTo>
                    <a:pt x="40924" y="449306"/>
                  </a:lnTo>
                  <a:lnTo>
                    <a:pt x="26499" y="493660"/>
                  </a:lnTo>
                  <a:lnTo>
                    <a:pt x="15079" y="539284"/>
                  </a:lnTo>
                  <a:lnTo>
                    <a:pt x="6778" y="586064"/>
                  </a:lnTo>
                  <a:lnTo>
                    <a:pt x="1713" y="633882"/>
                  </a:lnTo>
                  <a:lnTo>
                    <a:pt x="0" y="682625"/>
                  </a:lnTo>
                  <a:lnTo>
                    <a:pt x="0" y="4679937"/>
                  </a:lnTo>
                  <a:lnTo>
                    <a:pt x="1713" y="4728688"/>
                  </a:lnTo>
                  <a:lnTo>
                    <a:pt x="6778" y="4776514"/>
                  </a:lnTo>
                  <a:lnTo>
                    <a:pt x="15079" y="4823300"/>
                  </a:lnTo>
                  <a:lnTo>
                    <a:pt x="26499" y="4868929"/>
                  </a:lnTo>
                  <a:lnTo>
                    <a:pt x="40924" y="4913287"/>
                  </a:lnTo>
                  <a:lnTo>
                    <a:pt x="58237" y="4956257"/>
                  </a:lnTo>
                  <a:lnTo>
                    <a:pt x="78324" y="4997725"/>
                  </a:lnTo>
                  <a:lnTo>
                    <a:pt x="101069" y="5037574"/>
                  </a:lnTo>
                  <a:lnTo>
                    <a:pt x="126356" y="5075690"/>
                  </a:lnTo>
                  <a:lnTo>
                    <a:pt x="154070" y="5111956"/>
                  </a:lnTo>
                  <a:lnTo>
                    <a:pt x="184095" y="5146257"/>
                  </a:lnTo>
                  <a:lnTo>
                    <a:pt x="216317" y="5178479"/>
                  </a:lnTo>
                  <a:lnTo>
                    <a:pt x="250618" y="5208504"/>
                  </a:lnTo>
                  <a:lnTo>
                    <a:pt x="286884" y="5236218"/>
                  </a:lnTo>
                  <a:lnTo>
                    <a:pt x="325000" y="5261505"/>
                  </a:lnTo>
                  <a:lnTo>
                    <a:pt x="364849" y="5284250"/>
                  </a:lnTo>
                  <a:lnTo>
                    <a:pt x="406317" y="5304337"/>
                  </a:lnTo>
                  <a:lnTo>
                    <a:pt x="449287" y="5321650"/>
                  </a:lnTo>
                  <a:lnTo>
                    <a:pt x="493645" y="5336075"/>
                  </a:lnTo>
                  <a:lnTo>
                    <a:pt x="539274" y="5347495"/>
                  </a:lnTo>
                  <a:lnTo>
                    <a:pt x="586060" y="5355796"/>
                  </a:lnTo>
                  <a:lnTo>
                    <a:pt x="633886" y="5360861"/>
                  </a:lnTo>
                  <a:lnTo>
                    <a:pt x="682637" y="5362575"/>
                  </a:lnTo>
                  <a:lnTo>
                    <a:pt x="3413125" y="5362575"/>
                  </a:lnTo>
                  <a:lnTo>
                    <a:pt x="3461867" y="5360861"/>
                  </a:lnTo>
                  <a:lnTo>
                    <a:pt x="3509685" y="5355796"/>
                  </a:lnTo>
                  <a:lnTo>
                    <a:pt x="3556465" y="5347495"/>
                  </a:lnTo>
                  <a:lnTo>
                    <a:pt x="3602089" y="5336075"/>
                  </a:lnTo>
                  <a:lnTo>
                    <a:pt x="3646443" y="5321650"/>
                  </a:lnTo>
                  <a:lnTo>
                    <a:pt x="3689410" y="5304337"/>
                  </a:lnTo>
                  <a:lnTo>
                    <a:pt x="3730876" y="5284250"/>
                  </a:lnTo>
                  <a:lnTo>
                    <a:pt x="3770724" y="5261505"/>
                  </a:lnTo>
                  <a:lnTo>
                    <a:pt x="3808840" y="5236218"/>
                  </a:lnTo>
                  <a:lnTo>
                    <a:pt x="3845107" y="5208504"/>
                  </a:lnTo>
                  <a:lnTo>
                    <a:pt x="3879409" y="5178479"/>
                  </a:lnTo>
                  <a:lnTo>
                    <a:pt x="3911632" y="5146257"/>
                  </a:lnTo>
                  <a:lnTo>
                    <a:pt x="3941660" y="5111956"/>
                  </a:lnTo>
                  <a:lnTo>
                    <a:pt x="3969376" y="5075690"/>
                  </a:lnTo>
                  <a:lnTo>
                    <a:pt x="3994666" y="5037574"/>
                  </a:lnTo>
                  <a:lnTo>
                    <a:pt x="4017413" y="4997725"/>
                  </a:lnTo>
                  <a:lnTo>
                    <a:pt x="4037502" y="4956257"/>
                  </a:lnTo>
                  <a:lnTo>
                    <a:pt x="4054818" y="4913287"/>
                  </a:lnTo>
                  <a:lnTo>
                    <a:pt x="4069245" y="4868929"/>
                  </a:lnTo>
                  <a:lnTo>
                    <a:pt x="4080667" y="4823300"/>
                  </a:lnTo>
                  <a:lnTo>
                    <a:pt x="4088969" y="4776514"/>
                  </a:lnTo>
                  <a:lnTo>
                    <a:pt x="4094035" y="4728688"/>
                  </a:lnTo>
                  <a:lnTo>
                    <a:pt x="4095750" y="4679937"/>
                  </a:lnTo>
                  <a:lnTo>
                    <a:pt x="4095750" y="682625"/>
                  </a:lnTo>
                  <a:lnTo>
                    <a:pt x="4094035" y="633882"/>
                  </a:lnTo>
                  <a:lnTo>
                    <a:pt x="4088969" y="586064"/>
                  </a:lnTo>
                  <a:lnTo>
                    <a:pt x="4080667" y="539284"/>
                  </a:lnTo>
                  <a:lnTo>
                    <a:pt x="4069245" y="493660"/>
                  </a:lnTo>
                  <a:lnTo>
                    <a:pt x="4054818" y="449306"/>
                  </a:lnTo>
                  <a:lnTo>
                    <a:pt x="4037502" y="406339"/>
                  </a:lnTo>
                  <a:lnTo>
                    <a:pt x="4017413" y="364873"/>
                  </a:lnTo>
                  <a:lnTo>
                    <a:pt x="3994666" y="325025"/>
                  </a:lnTo>
                  <a:lnTo>
                    <a:pt x="3969376" y="286909"/>
                  </a:lnTo>
                  <a:lnTo>
                    <a:pt x="3941660" y="250642"/>
                  </a:lnTo>
                  <a:lnTo>
                    <a:pt x="3911632" y="216340"/>
                  </a:lnTo>
                  <a:lnTo>
                    <a:pt x="3879409" y="184117"/>
                  </a:lnTo>
                  <a:lnTo>
                    <a:pt x="3845107" y="154089"/>
                  </a:lnTo>
                  <a:lnTo>
                    <a:pt x="3808840" y="126373"/>
                  </a:lnTo>
                  <a:lnTo>
                    <a:pt x="3770724" y="101083"/>
                  </a:lnTo>
                  <a:lnTo>
                    <a:pt x="3730876" y="78336"/>
                  </a:lnTo>
                  <a:lnTo>
                    <a:pt x="3689410" y="58247"/>
                  </a:lnTo>
                  <a:lnTo>
                    <a:pt x="3646443" y="40931"/>
                  </a:lnTo>
                  <a:lnTo>
                    <a:pt x="3602089" y="26504"/>
                  </a:lnTo>
                  <a:lnTo>
                    <a:pt x="3556465" y="15082"/>
                  </a:lnTo>
                  <a:lnTo>
                    <a:pt x="3509685" y="6780"/>
                  </a:lnTo>
                  <a:lnTo>
                    <a:pt x="3461867" y="1714"/>
                  </a:lnTo>
                  <a:lnTo>
                    <a:pt x="3413125" y="0"/>
                  </a:lnTo>
                  <a:close/>
                </a:path>
              </a:pathLst>
            </a:custGeom>
            <a:solidFill>
              <a:srgbClr val="F892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9575" y="1047750"/>
              <a:ext cx="4095750" cy="5362575"/>
            </a:xfrm>
            <a:custGeom>
              <a:avLst/>
              <a:gdLst/>
              <a:ahLst/>
              <a:cxnLst/>
              <a:rect l="l" t="t" r="r" b="b"/>
              <a:pathLst>
                <a:path w="4095750" h="5362575">
                  <a:moveTo>
                    <a:pt x="0" y="682625"/>
                  </a:moveTo>
                  <a:lnTo>
                    <a:pt x="1713" y="633882"/>
                  </a:lnTo>
                  <a:lnTo>
                    <a:pt x="6778" y="586064"/>
                  </a:lnTo>
                  <a:lnTo>
                    <a:pt x="15079" y="539284"/>
                  </a:lnTo>
                  <a:lnTo>
                    <a:pt x="26499" y="493660"/>
                  </a:lnTo>
                  <a:lnTo>
                    <a:pt x="40924" y="449306"/>
                  </a:lnTo>
                  <a:lnTo>
                    <a:pt x="58237" y="406339"/>
                  </a:lnTo>
                  <a:lnTo>
                    <a:pt x="78324" y="364873"/>
                  </a:lnTo>
                  <a:lnTo>
                    <a:pt x="101069" y="325025"/>
                  </a:lnTo>
                  <a:lnTo>
                    <a:pt x="126356" y="286909"/>
                  </a:lnTo>
                  <a:lnTo>
                    <a:pt x="154070" y="250642"/>
                  </a:lnTo>
                  <a:lnTo>
                    <a:pt x="184095" y="216340"/>
                  </a:lnTo>
                  <a:lnTo>
                    <a:pt x="216317" y="184117"/>
                  </a:lnTo>
                  <a:lnTo>
                    <a:pt x="250618" y="154089"/>
                  </a:lnTo>
                  <a:lnTo>
                    <a:pt x="286884" y="126373"/>
                  </a:lnTo>
                  <a:lnTo>
                    <a:pt x="325000" y="101083"/>
                  </a:lnTo>
                  <a:lnTo>
                    <a:pt x="364849" y="78336"/>
                  </a:lnTo>
                  <a:lnTo>
                    <a:pt x="406317" y="58247"/>
                  </a:lnTo>
                  <a:lnTo>
                    <a:pt x="449287" y="40931"/>
                  </a:lnTo>
                  <a:lnTo>
                    <a:pt x="493645" y="26504"/>
                  </a:lnTo>
                  <a:lnTo>
                    <a:pt x="539274" y="15082"/>
                  </a:lnTo>
                  <a:lnTo>
                    <a:pt x="586060" y="6780"/>
                  </a:lnTo>
                  <a:lnTo>
                    <a:pt x="633886" y="1714"/>
                  </a:lnTo>
                  <a:lnTo>
                    <a:pt x="682637" y="0"/>
                  </a:lnTo>
                  <a:lnTo>
                    <a:pt x="3413125" y="0"/>
                  </a:lnTo>
                  <a:lnTo>
                    <a:pt x="3461867" y="1714"/>
                  </a:lnTo>
                  <a:lnTo>
                    <a:pt x="3509685" y="6780"/>
                  </a:lnTo>
                  <a:lnTo>
                    <a:pt x="3556465" y="15082"/>
                  </a:lnTo>
                  <a:lnTo>
                    <a:pt x="3602089" y="26504"/>
                  </a:lnTo>
                  <a:lnTo>
                    <a:pt x="3646443" y="40931"/>
                  </a:lnTo>
                  <a:lnTo>
                    <a:pt x="3689410" y="58247"/>
                  </a:lnTo>
                  <a:lnTo>
                    <a:pt x="3730876" y="78336"/>
                  </a:lnTo>
                  <a:lnTo>
                    <a:pt x="3770724" y="101083"/>
                  </a:lnTo>
                  <a:lnTo>
                    <a:pt x="3808840" y="126373"/>
                  </a:lnTo>
                  <a:lnTo>
                    <a:pt x="3845107" y="154089"/>
                  </a:lnTo>
                  <a:lnTo>
                    <a:pt x="3879409" y="184117"/>
                  </a:lnTo>
                  <a:lnTo>
                    <a:pt x="3911632" y="216340"/>
                  </a:lnTo>
                  <a:lnTo>
                    <a:pt x="3941660" y="250642"/>
                  </a:lnTo>
                  <a:lnTo>
                    <a:pt x="3969376" y="286909"/>
                  </a:lnTo>
                  <a:lnTo>
                    <a:pt x="3994666" y="325025"/>
                  </a:lnTo>
                  <a:lnTo>
                    <a:pt x="4017413" y="364873"/>
                  </a:lnTo>
                  <a:lnTo>
                    <a:pt x="4037502" y="406339"/>
                  </a:lnTo>
                  <a:lnTo>
                    <a:pt x="4054818" y="449306"/>
                  </a:lnTo>
                  <a:lnTo>
                    <a:pt x="4069245" y="493660"/>
                  </a:lnTo>
                  <a:lnTo>
                    <a:pt x="4080667" y="539284"/>
                  </a:lnTo>
                  <a:lnTo>
                    <a:pt x="4088969" y="586064"/>
                  </a:lnTo>
                  <a:lnTo>
                    <a:pt x="4094035" y="633882"/>
                  </a:lnTo>
                  <a:lnTo>
                    <a:pt x="4095750" y="682625"/>
                  </a:lnTo>
                  <a:lnTo>
                    <a:pt x="4095750" y="4679937"/>
                  </a:lnTo>
                  <a:lnTo>
                    <a:pt x="4094035" y="4728688"/>
                  </a:lnTo>
                  <a:lnTo>
                    <a:pt x="4088969" y="4776514"/>
                  </a:lnTo>
                  <a:lnTo>
                    <a:pt x="4080667" y="4823300"/>
                  </a:lnTo>
                  <a:lnTo>
                    <a:pt x="4069245" y="4868929"/>
                  </a:lnTo>
                  <a:lnTo>
                    <a:pt x="4054818" y="4913287"/>
                  </a:lnTo>
                  <a:lnTo>
                    <a:pt x="4037502" y="4956257"/>
                  </a:lnTo>
                  <a:lnTo>
                    <a:pt x="4017413" y="4997725"/>
                  </a:lnTo>
                  <a:lnTo>
                    <a:pt x="3994666" y="5037574"/>
                  </a:lnTo>
                  <a:lnTo>
                    <a:pt x="3969376" y="5075690"/>
                  </a:lnTo>
                  <a:lnTo>
                    <a:pt x="3941660" y="5111956"/>
                  </a:lnTo>
                  <a:lnTo>
                    <a:pt x="3911632" y="5146257"/>
                  </a:lnTo>
                  <a:lnTo>
                    <a:pt x="3879409" y="5178479"/>
                  </a:lnTo>
                  <a:lnTo>
                    <a:pt x="3845107" y="5208504"/>
                  </a:lnTo>
                  <a:lnTo>
                    <a:pt x="3808840" y="5236218"/>
                  </a:lnTo>
                  <a:lnTo>
                    <a:pt x="3770724" y="5261505"/>
                  </a:lnTo>
                  <a:lnTo>
                    <a:pt x="3730876" y="5284250"/>
                  </a:lnTo>
                  <a:lnTo>
                    <a:pt x="3689410" y="5304337"/>
                  </a:lnTo>
                  <a:lnTo>
                    <a:pt x="3646443" y="5321650"/>
                  </a:lnTo>
                  <a:lnTo>
                    <a:pt x="3602089" y="5336075"/>
                  </a:lnTo>
                  <a:lnTo>
                    <a:pt x="3556465" y="5347495"/>
                  </a:lnTo>
                  <a:lnTo>
                    <a:pt x="3509685" y="5355796"/>
                  </a:lnTo>
                  <a:lnTo>
                    <a:pt x="3461867" y="5360861"/>
                  </a:lnTo>
                  <a:lnTo>
                    <a:pt x="3413125" y="5362575"/>
                  </a:lnTo>
                  <a:lnTo>
                    <a:pt x="682637" y="5362575"/>
                  </a:lnTo>
                  <a:lnTo>
                    <a:pt x="633886" y="5360861"/>
                  </a:lnTo>
                  <a:lnTo>
                    <a:pt x="586060" y="5355796"/>
                  </a:lnTo>
                  <a:lnTo>
                    <a:pt x="539274" y="5347495"/>
                  </a:lnTo>
                  <a:lnTo>
                    <a:pt x="493645" y="5336075"/>
                  </a:lnTo>
                  <a:lnTo>
                    <a:pt x="449287" y="5321650"/>
                  </a:lnTo>
                  <a:lnTo>
                    <a:pt x="406317" y="5304337"/>
                  </a:lnTo>
                  <a:lnTo>
                    <a:pt x="364849" y="5284250"/>
                  </a:lnTo>
                  <a:lnTo>
                    <a:pt x="325000" y="5261505"/>
                  </a:lnTo>
                  <a:lnTo>
                    <a:pt x="286884" y="5236218"/>
                  </a:lnTo>
                  <a:lnTo>
                    <a:pt x="250618" y="5208504"/>
                  </a:lnTo>
                  <a:lnTo>
                    <a:pt x="216317" y="5178479"/>
                  </a:lnTo>
                  <a:lnTo>
                    <a:pt x="184095" y="5146257"/>
                  </a:lnTo>
                  <a:lnTo>
                    <a:pt x="154070" y="5111956"/>
                  </a:lnTo>
                  <a:lnTo>
                    <a:pt x="126356" y="5075690"/>
                  </a:lnTo>
                  <a:lnTo>
                    <a:pt x="101069" y="5037574"/>
                  </a:lnTo>
                  <a:lnTo>
                    <a:pt x="78324" y="4997725"/>
                  </a:lnTo>
                  <a:lnTo>
                    <a:pt x="58237" y="4956257"/>
                  </a:lnTo>
                  <a:lnTo>
                    <a:pt x="40924" y="4913287"/>
                  </a:lnTo>
                  <a:lnTo>
                    <a:pt x="26499" y="4868929"/>
                  </a:lnTo>
                  <a:lnTo>
                    <a:pt x="15079" y="4823300"/>
                  </a:lnTo>
                  <a:lnTo>
                    <a:pt x="6778" y="4776514"/>
                  </a:lnTo>
                  <a:lnTo>
                    <a:pt x="1713" y="4728688"/>
                  </a:lnTo>
                  <a:lnTo>
                    <a:pt x="0" y="4679937"/>
                  </a:lnTo>
                  <a:lnTo>
                    <a:pt x="0" y="6826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50607" y="3547998"/>
            <a:ext cx="2813685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b="1" spc="90" dirty="0">
                <a:solidFill>
                  <a:srgbClr val="FFFFFF"/>
                </a:solidFill>
                <a:latin typeface="Times New Roman"/>
                <a:cs typeface="Times New Roman"/>
              </a:rPr>
              <a:t>Application</a:t>
            </a:r>
            <a:r>
              <a:rPr sz="185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50" b="1" spc="85" dirty="0">
                <a:solidFill>
                  <a:srgbClr val="FFFFFF"/>
                </a:solidFill>
                <a:latin typeface="Times New Roman"/>
                <a:cs typeface="Times New Roman"/>
              </a:rPr>
              <a:t>Accessibility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65" dirty="0"/>
              <a:t> </a:t>
            </a:r>
            <a:r>
              <a:rPr spc="135" dirty="0"/>
              <a:t>Interface</a:t>
            </a:r>
            <a:r>
              <a:rPr spc="355" dirty="0"/>
              <a:t> </a:t>
            </a:r>
            <a:r>
              <a:rPr spc="195" dirty="0"/>
              <a:t>Design</a:t>
            </a:r>
            <a:r>
              <a:rPr spc="335" dirty="0"/>
              <a:t> </a:t>
            </a:r>
            <a:r>
              <a:rPr spc="-560" dirty="0"/>
              <a:t>–</a:t>
            </a:r>
            <a:r>
              <a:rPr spc="345" dirty="0"/>
              <a:t> </a:t>
            </a:r>
            <a:r>
              <a:rPr spc="195" dirty="0"/>
              <a:t>Design</a:t>
            </a:r>
            <a:r>
              <a:rPr spc="330" dirty="0"/>
              <a:t> </a:t>
            </a:r>
            <a:r>
              <a:rPr spc="235" dirty="0"/>
              <a:t>Issues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95800" y="1581150"/>
            <a:ext cx="7305675" cy="4305300"/>
            <a:chOff x="4495800" y="1581150"/>
            <a:chExt cx="7305675" cy="4305300"/>
          </a:xfrm>
        </p:grpSpPr>
        <p:sp>
          <p:nvSpPr>
            <p:cNvPr id="4" name="object 4"/>
            <p:cNvSpPr/>
            <p:nvPr/>
          </p:nvSpPr>
          <p:spPr>
            <a:xfrm>
              <a:off x="4505325" y="1590675"/>
              <a:ext cx="7286625" cy="4286250"/>
            </a:xfrm>
            <a:custGeom>
              <a:avLst/>
              <a:gdLst/>
              <a:ahLst/>
              <a:cxnLst/>
              <a:rect l="l" t="t" r="r" b="b"/>
              <a:pathLst>
                <a:path w="7286625" h="4286250">
                  <a:moveTo>
                    <a:pt x="6572250" y="0"/>
                  </a:moveTo>
                  <a:lnTo>
                    <a:pt x="0" y="0"/>
                  </a:lnTo>
                  <a:lnTo>
                    <a:pt x="0" y="4286250"/>
                  </a:lnTo>
                  <a:lnTo>
                    <a:pt x="6572250" y="4286250"/>
                  </a:lnTo>
                  <a:lnTo>
                    <a:pt x="6621166" y="4284602"/>
                  </a:lnTo>
                  <a:lnTo>
                    <a:pt x="6669197" y="4279729"/>
                  </a:lnTo>
                  <a:lnTo>
                    <a:pt x="6716236" y="4271738"/>
                  </a:lnTo>
                  <a:lnTo>
                    <a:pt x="6762176" y="4260735"/>
                  </a:lnTo>
                  <a:lnTo>
                    <a:pt x="6806912" y="4246826"/>
                  </a:lnTo>
                  <a:lnTo>
                    <a:pt x="6850338" y="4230117"/>
                  </a:lnTo>
                  <a:lnTo>
                    <a:pt x="6892346" y="4210716"/>
                  </a:lnTo>
                  <a:lnTo>
                    <a:pt x="6932831" y="4188728"/>
                  </a:lnTo>
                  <a:lnTo>
                    <a:pt x="6971686" y="4164259"/>
                  </a:lnTo>
                  <a:lnTo>
                    <a:pt x="7008804" y="4137416"/>
                  </a:lnTo>
                  <a:lnTo>
                    <a:pt x="7044080" y="4108305"/>
                  </a:lnTo>
                  <a:lnTo>
                    <a:pt x="7077408" y="4077033"/>
                  </a:lnTo>
                  <a:lnTo>
                    <a:pt x="7108680" y="4043705"/>
                  </a:lnTo>
                  <a:lnTo>
                    <a:pt x="7137791" y="4008429"/>
                  </a:lnTo>
                  <a:lnTo>
                    <a:pt x="7164634" y="3971311"/>
                  </a:lnTo>
                  <a:lnTo>
                    <a:pt x="7189103" y="3932456"/>
                  </a:lnTo>
                  <a:lnTo>
                    <a:pt x="7211091" y="3891971"/>
                  </a:lnTo>
                  <a:lnTo>
                    <a:pt x="7230492" y="3849963"/>
                  </a:lnTo>
                  <a:lnTo>
                    <a:pt x="7247201" y="3806537"/>
                  </a:lnTo>
                  <a:lnTo>
                    <a:pt x="7261110" y="3761801"/>
                  </a:lnTo>
                  <a:lnTo>
                    <a:pt x="7272113" y="3715861"/>
                  </a:lnTo>
                  <a:lnTo>
                    <a:pt x="7280104" y="3668822"/>
                  </a:lnTo>
                  <a:lnTo>
                    <a:pt x="7284977" y="3620791"/>
                  </a:lnTo>
                  <a:lnTo>
                    <a:pt x="7286625" y="3571875"/>
                  </a:lnTo>
                  <a:lnTo>
                    <a:pt x="7286625" y="714375"/>
                  </a:lnTo>
                  <a:lnTo>
                    <a:pt x="7284977" y="665458"/>
                  </a:lnTo>
                  <a:lnTo>
                    <a:pt x="7280104" y="617427"/>
                  </a:lnTo>
                  <a:lnTo>
                    <a:pt x="7272113" y="570388"/>
                  </a:lnTo>
                  <a:lnTo>
                    <a:pt x="7261110" y="524448"/>
                  </a:lnTo>
                  <a:lnTo>
                    <a:pt x="7247201" y="479712"/>
                  </a:lnTo>
                  <a:lnTo>
                    <a:pt x="7230492" y="436286"/>
                  </a:lnTo>
                  <a:lnTo>
                    <a:pt x="7211091" y="394278"/>
                  </a:lnTo>
                  <a:lnTo>
                    <a:pt x="7189103" y="353793"/>
                  </a:lnTo>
                  <a:lnTo>
                    <a:pt x="7164634" y="314938"/>
                  </a:lnTo>
                  <a:lnTo>
                    <a:pt x="7137791" y="277820"/>
                  </a:lnTo>
                  <a:lnTo>
                    <a:pt x="7108680" y="242544"/>
                  </a:lnTo>
                  <a:lnTo>
                    <a:pt x="7077408" y="209216"/>
                  </a:lnTo>
                  <a:lnTo>
                    <a:pt x="7044080" y="177944"/>
                  </a:lnTo>
                  <a:lnTo>
                    <a:pt x="7008804" y="148833"/>
                  </a:lnTo>
                  <a:lnTo>
                    <a:pt x="6971686" y="121990"/>
                  </a:lnTo>
                  <a:lnTo>
                    <a:pt x="6932831" y="97521"/>
                  </a:lnTo>
                  <a:lnTo>
                    <a:pt x="6892346" y="75533"/>
                  </a:lnTo>
                  <a:lnTo>
                    <a:pt x="6850338" y="56132"/>
                  </a:lnTo>
                  <a:lnTo>
                    <a:pt x="6806912" y="39423"/>
                  </a:lnTo>
                  <a:lnTo>
                    <a:pt x="6762176" y="25514"/>
                  </a:lnTo>
                  <a:lnTo>
                    <a:pt x="6716236" y="14511"/>
                  </a:lnTo>
                  <a:lnTo>
                    <a:pt x="6669197" y="6520"/>
                  </a:lnTo>
                  <a:lnTo>
                    <a:pt x="6621166" y="1647"/>
                  </a:lnTo>
                  <a:lnTo>
                    <a:pt x="6572250" y="0"/>
                  </a:lnTo>
                  <a:close/>
                </a:path>
              </a:pathLst>
            </a:custGeom>
            <a:solidFill>
              <a:srgbClr val="FBDCC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05325" y="1590675"/>
              <a:ext cx="7286625" cy="4286250"/>
            </a:xfrm>
            <a:custGeom>
              <a:avLst/>
              <a:gdLst/>
              <a:ahLst/>
              <a:cxnLst/>
              <a:rect l="l" t="t" r="r" b="b"/>
              <a:pathLst>
                <a:path w="7286625" h="4286250">
                  <a:moveTo>
                    <a:pt x="7286625" y="714375"/>
                  </a:moveTo>
                  <a:lnTo>
                    <a:pt x="7286625" y="3571875"/>
                  </a:lnTo>
                  <a:lnTo>
                    <a:pt x="7284977" y="3620791"/>
                  </a:lnTo>
                  <a:lnTo>
                    <a:pt x="7280104" y="3668822"/>
                  </a:lnTo>
                  <a:lnTo>
                    <a:pt x="7272113" y="3715861"/>
                  </a:lnTo>
                  <a:lnTo>
                    <a:pt x="7261110" y="3761801"/>
                  </a:lnTo>
                  <a:lnTo>
                    <a:pt x="7247201" y="3806537"/>
                  </a:lnTo>
                  <a:lnTo>
                    <a:pt x="7230492" y="3849963"/>
                  </a:lnTo>
                  <a:lnTo>
                    <a:pt x="7211091" y="3891971"/>
                  </a:lnTo>
                  <a:lnTo>
                    <a:pt x="7189103" y="3932456"/>
                  </a:lnTo>
                  <a:lnTo>
                    <a:pt x="7164634" y="3971311"/>
                  </a:lnTo>
                  <a:lnTo>
                    <a:pt x="7137791" y="4008429"/>
                  </a:lnTo>
                  <a:lnTo>
                    <a:pt x="7108680" y="4043705"/>
                  </a:lnTo>
                  <a:lnTo>
                    <a:pt x="7077408" y="4077033"/>
                  </a:lnTo>
                  <a:lnTo>
                    <a:pt x="7044080" y="4108305"/>
                  </a:lnTo>
                  <a:lnTo>
                    <a:pt x="7008804" y="4137416"/>
                  </a:lnTo>
                  <a:lnTo>
                    <a:pt x="6971686" y="4164259"/>
                  </a:lnTo>
                  <a:lnTo>
                    <a:pt x="6932831" y="4188728"/>
                  </a:lnTo>
                  <a:lnTo>
                    <a:pt x="6892346" y="4210716"/>
                  </a:lnTo>
                  <a:lnTo>
                    <a:pt x="6850338" y="4230117"/>
                  </a:lnTo>
                  <a:lnTo>
                    <a:pt x="6806912" y="4246826"/>
                  </a:lnTo>
                  <a:lnTo>
                    <a:pt x="6762176" y="4260735"/>
                  </a:lnTo>
                  <a:lnTo>
                    <a:pt x="6716236" y="4271738"/>
                  </a:lnTo>
                  <a:lnTo>
                    <a:pt x="6669197" y="4279729"/>
                  </a:lnTo>
                  <a:lnTo>
                    <a:pt x="6621166" y="4284602"/>
                  </a:lnTo>
                  <a:lnTo>
                    <a:pt x="6572250" y="4286250"/>
                  </a:lnTo>
                  <a:lnTo>
                    <a:pt x="0" y="4286250"/>
                  </a:lnTo>
                  <a:lnTo>
                    <a:pt x="0" y="0"/>
                  </a:lnTo>
                  <a:lnTo>
                    <a:pt x="6572250" y="0"/>
                  </a:lnTo>
                  <a:lnTo>
                    <a:pt x="6621166" y="1647"/>
                  </a:lnTo>
                  <a:lnTo>
                    <a:pt x="6669197" y="6520"/>
                  </a:lnTo>
                  <a:lnTo>
                    <a:pt x="6716236" y="14511"/>
                  </a:lnTo>
                  <a:lnTo>
                    <a:pt x="6762176" y="25514"/>
                  </a:lnTo>
                  <a:lnTo>
                    <a:pt x="6806912" y="39423"/>
                  </a:lnTo>
                  <a:lnTo>
                    <a:pt x="6850338" y="56132"/>
                  </a:lnTo>
                  <a:lnTo>
                    <a:pt x="6892346" y="75533"/>
                  </a:lnTo>
                  <a:lnTo>
                    <a:pt x="6932831" y="97521"/>
                  </a:lnTo>
                  <a:lnTo>
                    <a:pt x="6971686" y="121990"/>
                  </a:lnTo>
                  <a:lnTo>
                    <a:pt x="7008804" y="148833"/>
                  </a:lnTo>
                  <a:lnTo>
                    <a:pt x="7044080" y="177944"/>
                  </a:lnTo>
                  <a:lnTo>
                    <a:pt x="7077408" y="209216"/>
                  </a:lnTo>
                  <a:lnTo>
                    <a:pt x="7108680" y="242544"/>
                  </a:lnTo>
                  <a:lnTo>
                    <a:pt x="7137791" y="277820"/>
                  </a:lnTo>
                  <a:lnTo>
                    <a:pt x="7164634" y="314938"/>
                  </a:lnTo>
                  <a:lnTo>
                    <a:pt x="7189103" y="353793"/>
                  </a:lnTo>
                  <a:lnTo>
                    <a:pt x="7211091" y="394278"/>
                  </a:lnTo>
                  <a:lnTo>
                    <a:pt x="7230492" y="436286"/>
                  </a:lnTo>
                  <a:lnTo>
                    <a:pt x="7247201" y="479712"/>
                  </a:lnTo>
                  <a:lnTo>
                    <a:pt x="7261110" y="524448"/>
                  </a:lnTo>
                  <a:lnTo>
                    <a:pt x="7272113" y="570388"/>
                  </a:lnTo>
                  <a:lnTo>
                    <a:pt x="7280104" y="617427"/>
                  </a:lnTo>
                  <a:lnTo>
                    <a:pt x="7284977" y="665458"/>
                  </a:lnTo>
                  <a:lnTo>
                    <a:pt x="7286625" y="714375"/>
                  </a:lnTo>
                  <a:close/>
                </a:path>
              </a:pathLst>
            </a:custGeom>
            <a:ln w="19050">
              <a:solidFill>
                <a:srgbClr val="FBD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583176" y="1832292"/>
            <a:ext cx="6941184" cy="37433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41300" marR="5080" indent="-228600" algn="just">
              <a:lnSpc>
                <a:spcPct val="94600"/>
              </a:lnSpc>
              <a:spcBef>
                <a:spcPts val="265"/>
              </a:spcBef>
              <a:buAutoNum type="arabicPeriod"/>
              <a:tabLst>
                <a:tab pos="241300" algn="l"/>
              </a:tabLst>
            </a:pPr>
            <a:r>
              <a:rPr sz="2150" spc="55" dirty="0">
                <a:latin typeface="Cambria"/>
                <a:cs typeface="Cambria"/>
              </a:rPr>
              <a:t>Create</a:t>
            </a:r>
            <a:r>
              <a:rPr sz="2150" spc="345" dirty="0">
                <a:latin typeface="Cambria"/>
                <a:cs typeface="Cambria"/>
              </a:rPr>
              <a:t>  </a:t>
            </a:r>
            <a:r>
              <a:rPr sz="2150" spc="45" dirty="0">
                <a:latin typeface="Cambria"/>
                <a:cs typeface="Cambria"/>
              </a:rPr>
              <a:t>"globalized"</a:t>
            </a:r>
            <a:r>
              <a:rPr sz="2150" spc="38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software</a:t>
            </a:r>
            <a:r>
              <a:rPr sz="2150" spc="345" dirty="0">
                <a:latin typeface="Cambria"/>
                <a:cs typeface="Cambria"/>
              </a:rPr>
              <a:t>  </a:t>
            </a:r>
            <a:r>
              <a:rPr sz="2150" spc="65" dirty="0">
                <a:latin typeface="Cambria"/>
                <a:cs typeface="Cambria"/>
              </a:rPr>
              <a:t>with</a:t>
            </a:r>
            <a:r>
              <a:rPr sz="2150" spc="34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35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generic</a:t>
            </a:r>
            <a:r>
              <a:rPr sz="2150" spc="350" dirty="0">
                <a:latin typeface="Cambria"/>
                <a:cs typeface="Cambria"/>
              </a:rPr>
              <a:t>  </a:t>
            </a:r>
            <a:r>
              <a:rPr sz="2150" spc="-20" dirty="0">
                <a:latin typeface="Cambria"/>
                <a:cs typeface="Cambria"/>
              </a:rPr>
              <a:t>core </a:t>
            </a:r>
            <a:r>
              <a:rPr sz="2150" spc="50" dirty="0">
                <a:latin typeface="Cambria"/>
                <a:cs typeface="Cambria"/>
              </a:rPr>
              <a:t>functionality</a:t>
            </a:r>
            <a:r>
              <a:rPr sz="2150" spc="240" dirty="0">
                <a:latin typeface="Cambria"/>
                <a:cs typeface="Cambria"/>
              </a:rPr>
              <a:t>   </a:t>
            </a:r>
            <a:r>
              <a:rPr sz="2150" spc="45" dirty="0">
                <a:latin typeface="Cambria"/>
                <a:cs typeface="Cambria"/>
              </a:rPr>
              <a:t>adaptable</a:t>
            </a:r>
            <a:r>
              <a:rPr sz="2150" spc="235" dirty="0">
                <a:latin typeface="Cambria"/>
                <a:cs typeface="Cambria"/>
              </a:rPr>
              <a:t>   </a:t>
            </a:r>
            <a:r>
              <a:rPr sz="2150" dirty="0">
                <a:latin typeface="Cambria"/>
                <a:cs typeface="Cambria"/>
              </a:rPr>
              <a:t>to</a:t>
            </a:r>
            <a:r>
              <a:rPr sz="2150" spc="229" dirty="0">
                <a:latin typeface="Cambria"/>
                <a:cs typeface="Cambria"/>
              </a:rPr>
              <a:t>   </a:t>
            </a:r>
            <a:r>
              <a:rPr sz="2150" dirty="0">
                <a:latin typeface="Cambria"/>
                <a:cs typeface="Cambria"/>
              </a:rPr>
              <a:t>different</a:t>
            </a:r>
            <a:r>
              <a:rPr sz="2150" spc="235" dirty="0">
                <a:latin typeface="Cambria"/>
                <a:cs typeface="Cambria"/>
              </a:rPr>
              <a:t>   </a:t>
            </a:r>
            <a:r>
              <a:rPr sz="2150" dirty="0">
                <a:latin typeface="Cambria"/>
                <a:cs typeface="Cambria"/>
              </a:rPr>
              <a:t>locales</a:t>
            </a:r>
            <a:r>
              <a:rPr sz="2150" spc="235" dirty="0">
                <a:latin typeface="Cambria"/>
                <a:cs typeface="Cambria"/>
              </a:rPr>
              <a:t>   </a:t>
            </a:r>
            <a:r>
              <a:rPr sz="2150" spc="65" dirty="0">
                <a:latin typeface="Cambria"/>
                <a:cs typeface="Cambria"/>
              </a:rPr>
              <a:t>and </a:t>
            </a:r>
            <a:r>
              <a:rPr sz="2150" spc="60" dirty="0">
                <a:latin typeface="Cambria"/>
                <a:cs typeface="Cambria"/>
              </a:rPr>
              <a:t>languages.</a:t>
            </a:r>
            <a:endParaRPr sz="2150">
              <a:latin typeface="Cambria"/>
              <a:cs typeface="Cambria"/>
            </a:endParaRPr>
          </a:p>
          <a:p>
            <a:pPr marL="241300" marR="5080" indent="-228600" algn="just">
              <a:lnSpc>
                <a:spcPts val="2480"/>
              </a:lnSpc>
              <a:spcBef>
                <a:spcPts val="440"/>
              </a:spcBef>
              <a:buAutoNum type="arabicPeriod"/>
              <a:tabLst>
                <a:tab pos="241300" algn="l"/>
              </a:tabLst>
            </a:pPr>
            <a:r>
              <a:rPr sz="2150" spc="55" dirty="0">
                <a:latin typeface="Cambria"/>
                <a:cs typeface="Cambria"/>
              </a:rPr>
              <a:t>Localization</a:t>
            </a:r>
            <a:r>
              <a:rPr sz="2150" spc="385" dirty="0">
                <a:latin typeface="Cambria"/>
                <a:cs typeface="Cambria"/>
              </a:rPr>
              <a:t>   </a:t>
            </a:r>
            <a:r>
              <a:rPr sz="2150" dirty="0">
                <a:latin typeface="Cambria"/>
                <a:cs typeface="Cambria"/>
              </a:rPr>
              <a:t>features</a:t>
            </a:r>
            <a:r>
              <a:rPr sz="2150" spc="405" dirty="0">
                <a:latin typeface="Cambria"/>
                <a:cs typeface="Cambria"/>
              </a:rPr>
              <a:t>   </a:t>
            </a:r>
            <a:r>
              <a:rPr sz="2150" dirty="0">
                <a:latin typeface="Cambria"/>
                <a:cs typeface="Cambria"/>
              </a:rPr>
              <a:t>enable</a:t>
            </a:r>
            <a:r>
              <a:rPr sz="2150" spc="385" dirty="0">
                <a:latin typeface="Cambria"/>
                <a:cs typeface="Cambria"/>
              </a:rPr>
              <a:t>   </a:t>
            </a:r>
            <a:r>
              <a:rPr sz="2150" spc="50" dirty="0">
                <a:latin typeface="Cambria"/>
                <a:cs typeface="Cambria"/>
              </a:rPr>
              <a:t>customization</a:t>
            </a:r>
            <a:r>
              <a:rPr sz="2150" spc="390" dirty="0">
                <a:latin typeface="Cambria"/>
                <a:cs typeface="Cambria"/>
              </a:rPr>
              <a:t>   </a:t>
            </a:r>
            <a:r>
              <a:rPr sz="2150" spc="-25" dirty="0">
                <a:latin typeface="Cambria"/>
                <a:cs typeface="Cambria"/>
              </a:rPr>
              <a:t>for </a:t>
            </a:r>
            <a:r>
              <a:rPr sz="2150" dirty="0">
                <a:latin typeface="Cambria"/>
                <a:cs typeface="Cambria"/>
              </a:rPr>
              <a:t>specific</a:t>
            </a:r>
            <a:r>
              <a:rPr sz="2150" spc="370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markets.</a:t>
            </a:r>
            <a:endParaRPr sz="215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240665" algn="l"/>
              </a:tabLst>
            </a:pPr>
            <a:r>
              <a:rPr sz="2150" spc="55" dirty="0">
                <a:latin typeface="Cambria"/>
                <a:cs typeface="Cambria"/>
              </a:rPr>
              <a:t>Challenges:</a:t>
            </a:r>
            <a:endParaRPr sz="215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469265" algn="l"/>
              </a:tabLst>
            </a:pPr>
            <a:r>
              <a:rPr sz="2150" dirty="0">
                <a:latin typeface="Cambria"/>
                <a:cs typeface="Cambria"/>
              </a:rPr>
              <a:t>Screen</a:t>
            </a:r>
            <a:r>
              <a:rPr sz="2150" spc="150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layouts</a:t>
            </a:r>
            <a:r>
              <a:rPr sz="2150" spc="130" dirty="0">
                <a:latin typeface="Cambria"/>
                <a:cs typeface="Cambria"/>
              </a:rPr>
              <a:t> </a:t>
            </a:r>
            <a:r>
              <a:rPr sz="2150" spc="110" dirty="0">
                <a:latin typeface="Cambria"/>
                <a:cs typeface="Cambria"/>
              </a:rPr>
              <a:t>may</a:t>
            </a:r>
            <a:r>
              <a:rPr sz="2150" spc="100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vary</a:t>
            </a:r>
            <a:r>
              <a:rPr sz="2150" spc="13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across</a:t>
            </a:r>
            <a:r>
              <a:rPr sz="2150" spc="125" dirty="0">
                <a:latin typeface="Cambria"/>
                <a:cs typeface="Cambria"/>
              </a:rPr>
              <a:t> </a:t>
            </a:r>
            <a:r>
              <a:rPr sz="2150" spc="35" dirty="0">
                <a:latin typeface="Cambria"/>
                <a:cs typeface="Cambria"/>
              </a:rPr>
              <a:t>regions.</a:t>
            </a:r>
            <a:endParaRPr sz="2150">
              <a:latin typeface="Cambria"/>
              <a:cs typeface="Cambria"/>
            </a:endParaRPr>
          </a:p>
          <a:p>
            <a:pPr marL="468630" marR="8890" lvl="1" indent="-227965">
              <a:lnSpc>
                <a:spcPts val="2480"/>
              </a:lnSpc>
              <a:spcBef>
                <a:spcPts val="440"/>
              </a:spcBef>
              <a:buAutoNum type="arabicPeriod"/>
              <a:tabLst>
                <a:tab pos="469900" algn="l"/>
              </a:tabLst>
            </a:pPr>
            <a:r>
              <a:rPr sz="2150" spc="55" dirty="0">
                <a:latin typeface="Cambria"/>
                <a:cs typeface="Cambria"/>
              </a:rPr>
              <a:t>Different</a:t>
            </a:r>
            <a:r>
              <a:rPr sz="2150" spc="20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alphabets</a:t>
            </a:r>
            <a:r>
              <a:rPr sz="2150" spc="260" dirty="0">
                <a:latin typeface="Cambria"/>
                <a:cs typeface="Cambria"/>
              </a:rPr>
              <a:t> </a:t>
            </a:r>
            <a:r>
              <a:rPr sz="2150" spc="85" dirty="0">
                <a:latin typeface="Cambria"/>
                <a:cs typeface="Cambria"/>
              </a:rPr>
              <a:t>and</a:t>
            </a:r>
            <a:r>
              <a:rPr sz="2150" spc="220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symbols</a:t>
            </a:r>
            <a:r>
              <a:rPr sz="2150" spc="27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require</a:t>
            </a:r>
            <a:r>
              <a:rPr sz="2150" spc="240" dirty="0">
                <a:latin typeface="Cambria"/>
                <a:cs typeface="Cambria"/>
              </a:rPr>
              <a:t> </a:t>
            </a:r>
            <a:r>
              <a:rPr sz="2150" spc="35" dirty="0">
                <a:latin typeface="Cambria"/>
                <a:cs typeface="Cambria"/>
              </a:rPr>
              <a:t>specialized 	</a:t>
            </a:r>
            <a:r>
              <a:rPr sz="2150" spc="50" dirty="0">
                <a:latin typeface="Cambria"/>
                <a:cs typeface="Cambria"/>
              </a:rPr>
              <a:t>labeling</a:t>
            </a:r>
            <a:r>
              <a:rPr sz="2150" spc="100" dirty="0">
                <a:latin typeface="Cambria"/>
                <a:cs typeface="Cambria"/>
              </a:rPr>
              <a:t> </a:t>
            </a:r>
            <a:r>
              <a:rPr sz="2150" spc="85" dirty="0">
                <a:latin typeface="Cambria"/>
                <a:cs typeface="Cambria"/>
              </a:rPr>
              <a:t>and</a:t>
            </a:r>
            <a:r>
              <a:rPr sz="2150" spc="95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spacing.</a:t>
            </a:r>
            <a:endParaRPr sz="2150">
              <a:latin typeface="Cambria"/>
              <a:cs typeface="Cambria"/>
            </a:endParaRPr>
          </a:p>
          <a:p>
            <a:pPr marL="241300" marR="7620" indent="-228600">
              <a:lnSpc>
                <a:spcPts val="2480"/>
              </a:lnSpc>
              <a:spcBef>
                <a:spcPts val="370"/>
              </a:spcBef>
              <a:tabLst>
                <a:tab pos="1123950" algn="l"/>
                <a:tab pos="1783080" algn="l"/>
                <a:tab pos="3032760" algn="l"/>
                <a:tab pos="4202430" algn="l"/>
                <a:tab pos="5949315" algn="l"/>
              </a:tabLst>
            </a:pPr>
            <a:r>
              <a:rPr sz="2150" spc="45" dirty="0">
                <a:latin typeface="Cambria"/>
                <a:cs typeface="Cambria"/>
              </a:rPr>
              <a:t>4.Tools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like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75" dirty="0">
                <a:latin typeface="Cambria"/>
                <a:cs typeface="Cambria"/>
              </a:rPr>
              <a:t>Unicode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35" dirty="0">
                <a:latin typeface="Cambria"/>
                <a:cs typeface="Cambria"/>
              </a:rPr>
              <a:t>address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5" dirty="0">
                <a:latin typeface="Cambria"/>
                <a:cs typeface="Cambria"/>
              </a:rPr>
              <a:t>multilingual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0" dirty="0">
                <a:latin typeface="Cambria"/>
                <a:cs typeface="Cambria"/>
              </a:rPr>
              <a:t>support challenges.</a:t>
            </a:r>
            <a:endParaRPr sz="215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0050" y="1038225"/>
            <a:ext cx="4114800" cy="5381625"/>
            <a:chOff x="400050" y="1038225"/>
            <a:chExt cx="4114800" cy="5381625"/>
          </a:xfrm>
        </p:grpSpPr>
        <p:sp>
          <p:nvSpPr>
            <p:cNvPr id="8" name="object 8"/>
            <p:cNvSpPr/>
            <p:nvPr/>
          </p:nvSpPr>
          <p:spPr>
            <a:xfrm>
              <a:off x="409575" y="1047750"/>
              <a:ext cx="4095750" cy="5362575"/>
            </a:xfrm>
            <a:custGeom>
              <a:avLst/>
              <a:gdLst/>
              <a:ahLst/>
              <a:cxnLst/>
              <a:rect l="l" t="t" r="r" b="b"/>
              <a:pathLst>
                <a:path w="4095750" h="5362575">
                  <a:moveTo>
                    <a:pt x="3413125" y="0"/>
                  </a:moveTo>
                  <a:lnTo>
                    <a:pt x="682637" y="0"/>
                  </a:lnTo>
                  <a:lnTo>
                    <a:pt x="633886" y="1714"/>
                  </a:lnTo>
                  <a:lnTo>
                    <a:pt x="586060" y="6780"/>
                  </a:lnTo>
                  <a:lnTo>
                    <a:pt x="539274" y="15082"/>
                  </a:lnTo>
                  <a:lnTo>
                    <a:pt x="493645" y="26504"/>
                  </a:lnTo>
                  <a:lnTo>
                    <a:pt x="449287" y="40931"/>
                  </a:lnTo>
                  <a:lnTo>
                    <a:pt x="406317" y="58247"/>
                  </a:lnTo>
                  <a:lnTo>
                    <a:pt x="364849" y="78336"/>
                  </a:lnTo>
                  <a:lnTo>
                    <a:pt x="325000" y="101083"/>
                  </a:lnTo>
                  <a:lnTo>
                    <a:pt x="286884" y="126373"/>
                  </a:lnTo>
                  <a:lnTo>
                    <a:pt x="250618" y="154089"/>
                  </a:lnTo>
                  <a:lnTo>
                    <a:pt x="216317" y="184117"/>
                  </a:lnTo>
                  <a:lnTo>
                    <a:pt x="184095" y="216340"/>
                  </a:lnTo>
                  <a:lnTo>
                    <a:pt x="154070" y="250642"/>
                  </a:lnTo>
                  <a:lnTo>
                    <a:pt x="126356" y="286909"/>
                  </a:lnTo>
                  <a:lnTo>
                    <a:pt x="101069" y="325025"/>
                  </a:lnTo>
                  <a:lnTo>
                    <a:pt x="78324" y="364873"/>
                  </a:lnTo>
                  <a:lnTo>
                    <a:pt x="58237" y="406339"/>
                  </a:lnTo>
                  <a:lnTo>
                    <a:pt x="40924" y="449306"/>
                  </a:lnTo>
                  <a:lnTo>
                    <a:pt x="26499" y="493660"/>
                  </a:lnTo>
                  <a:lnTo>
                    <a:pt x="15079" y="539284"/>
                  </a:lnTo>
                  <a:lnTo>
                    <a:pt x="6778" y="586064"/>
                  </a:lnTo>
                  <a:lnTo>
                    <a:pt x="1713" y="633882"/>
                  </a:lnTo>
                  <a:lnTo>
                    <a:pt x="0" y="682625"/>
                  </a:lnTo>
                  <a:lnTo>
                    <a:pt x="0" y="4679937"/>
                  </a:lnTo>
                  <a:lnTo>
                    <a:pt x="1713" y="4728688"/>
                  </a:lnTo>
                  <a:lnTo>
                    <a:pt x="6778" y="4776514"/>
                  </a:lnTo>
                  <a:lnTo>
                    <a:pt x="15079" y="4823300"/>
                  </a:lnTo>
                  <a:lnTo>
                    <a:pt x="26499" y="4868929"/>
                  </a:lnTo>
                  <a:lnTo>
                    <a:pt x="40924" y="4913287"/>
                  </a:lnTo>
                  <a:lnTo>
                    <a:pt x="58237" y="4956257"/>
                  </a:lnTo>
                  <a:lnTo>
                    <a:pt x="78324" y="4997725"/>
                  </a:lnTo>
                  <a:lnTo>
                    <a:pt x="101069" y="5037574"/>
                  </a:lnTo>
                  <a:lnTo>
                    <a:pt x="126356" y="5075690"/>
                  </a:lnTo>
                  <a:lnTo>
                    <a:pt x="154070" y="5111956"/>
                  </a:lnTo>
                  <a:lnTo>
                    <a:pt x="184095" y="5146257"/>
                  </a:lnTo>
                  <a:lnTo>
                    <a:pt x="216317" y="5178479"/>
                  </a:lnTo>
                  <a:lnTo>
                    <a:pt x="250618" y="5208504"/>
                  </a:lnTo>
                  <a:lnTo>
                    <a:pt x="286884" y="5236218"/>
                  </a:lnTo>
                  <a:lnTo>
                    <a:pt x="325000" y="5261505"/>
                  </a:lnTo>
                  <a:lnTo>
                    <a:pt x="364849" y="5284250"/>
                  </a:lnTo>
                  <a:lnTo>
                    <a:pt x="406317" y="5304337"/>
                  </a:lnTo>
                  <a:lnTo>
                    <a:pt x="449287" y="5321650"/>
                  </a:lnTo>
                  <a:lnTo>
                    <a:pt x="493645" y="5336075"/>
                  </a:lnTo>
                  <a:lnTo>
                    <a:pt x="539274" y="5347495"/>
                  </a:lnTo>
                  <a:lnTo>
                    <a:pt x="586060" y="5355796"/>
                  </a:lnTo>
                  <a:lnTo>
                    <a:pt x="633886" y="5360861"/>
                  </a:lnTo>
                  <a:lnTo>
                    <a:pt x="682637" y="5362575"/>
                  </a:lnTo>
                  <a:lnTo>
                    <a:pt x="3413125" y="5362575"/>
                  </a:lnTo>
                  <a:lnTo>
                    <a:pt x="3461867" y="5360861"/>
                  </a:lnTo>
                  <a:lnTo>
                    <a:pt x="3509685" y="5355796"/>
                  </a:lnTo>
                  <a:lnTo>
                    <a:pt x="3556465" y="5347495"/>
                  </a:lnTo>
                  <a:lnTo>
                    <a:pt x="3602089" y="5336075"/>
                  </a:lnTo>
                  <a:lnTo>
                    <a:pt x="3646443" y="5321650"/>
                  </a:lnTo>
                  <a:lnTo>
                    <a:pt x="3689410" y="5304337"/>
                  </a:lnTo>
                  <a:lnTo>
                    <a:pt x="3730876" y="5284250"/>
                  </a:lnTo>
                  <a:lnTo>
                    <a:pt x="3770724" y="5261505"/>
                  </a:lnTo>
                  <a:lnTo>
                    <a:pt x="3808840" y="5236218"/>
                  </a:lnTo>
                  <a:lnTo>
                    <a:pt x="3845107" y="5208504"/>
                  </a:lnTo>
                  <a:lnTo>
                    <a:pt x="3879409" y="5178479"/>
                  </a:lnTo>
                  <a:lnTo>
                    <a:pt x="3911632" y="5146257"/>
                  </a:lnTo>
                  <a:lnTo>
                    <a:pt x="3941660" y="5111956"/>
                  </a:lnTo>
                  <a:lnTo>
                    <a:pt x="3969376" y="5075690"/>
                  </a:lnTo>
                  <a:lnTo>
                    <a:pt x="3994666" y="5037574"/>
                  </a:lnTo>
                  <a:lnTo>
                    <a:pt x="4017413" y="4997725"/>
                  </a:lnTo>
                  <a:lnTo>
                    <a:pt x="4037502" y="4956257"/>
                  </a:lnTo>
                  <a:lnTo>
                    <a:pt x="4054818" y="4913287"/>
                  </a:lnTo>
                  <a:lnTo>
                    <a:pt x="4069245" y="4868929"/>
                  </a:lnTo>
                  <a:lnTo>
                    <a:pt x="4080667" y="4823300"/>
                  </a:lnTo>
                  <a:lnTo>
                    <a:pt x="4088969" y="4776514"/>
                  </a:lnTo>
                  <a:lnTo>
                    <a:pt x="4094035" y="4728688"/>
                  </a:lnTo>
                  <a:lnTo>
                    <a:pt x="4095750" y="4679937"/>
                  </a:lnTo>
                  <a:lnTo>
                    <a:pt x="4095750" y="682625"/>
                  </a:lnTo>
                  <a:lnTo>
                    <a:pt x="4094035" y="633882"/>
                  </a:lnTo>
                  <a:lnTo>
                    <a:pt x="4088969" y="586064"/>
                  </a:lnTo>
                  <a:lnTo>
                    <a:pt x="4080667" y="539284"/>
                  </a:lnTo>
                  <a:lnTo>
                    <a:pt x="4069245" y="493660"/>
                  </a:lnTo>
                  <a:lnTo>
                    <a:pt x="4054818" y="449306"/>
                  </a:lnTo>
                  <a:lnTo>
                    <a:pt x="4037502" y="406339"/>
                  </a:lnTo>
                  <a:lnTo>
                    <a:pt x="4017413" y="364873"/>
                  </a:lnTo>
                  <a:lnTo>
                    <a:pt x="3994666" y="325025"/>
                  </a:lnTo>
                  <a:lnTo>
                    <a:pt x="3969376" y="286909"/>
                  </a:lnTo>
                  <a:lnTo>
                    <a:pt x="3941660" y="250642"/>
                  </a:lnTo>
                  <a:lnTo>
                    <a:pt x="3911632" y="216340"/>
                  </a:lnTo>
                  <a:lnTo>
                    <a:pt x="3879409" y="184117"/>
                  </a:lnTo>
                  <a:lnTo>
                    <a:pt x="3845107" y="154089"/>
                  </a:lnTo>
                  <a:lnTo>
                    <a:pt x="3808840" y="126373"/>
                  </a:lnTo>
                  <a:lnTo>
                    <a:pt x="3770724" y="101083"/>
                  </a:lnTo>
                  <a:lnTo>
                    <a:pt x="3730876" y="78336"/>
                  </a:lnTo>
                  <a:lnTo>
                    <a:pt x="3689410" y="58247"/>
                  </a:lnTo>
                  <a:lnTo>
                    <a:pt x="3646443" y="40931"/>
                  </a:lnTo>
                  <a:lnTo>
                    <a:pt x="3602089" y="26504"/>
                  </a:lnTo>
                  <a:lnTo>
                    <a:pt x="3556465" y="15082"/>
                  </a:lnTo>
                  <a:lnTo>
                    <a:pt x="3509685" y="6780"/>
                  </a:lnTo>
                  <a:lnTo>
                    <a:pt x="3461867" y="1714"/>
                  </a:lnTo>
                  <a:lnTo>
                    <a:pt x="3413125" y="0"/>
                  </a:lnTo>
                  <a:close/>
                </a:path>
              </a:pathLst>
            </a:custGeom>
            <a:solidFill>
              <a:srgbClr val="F892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9575" y="1047750"/>
              <a:ext cx="4095750" cy="5362575"/>
            </a:xfrm>
            <a:custGeom>
              <a:avLst/>
              <a:gdLst/>
              <a:ahLst/>
              <a:cxnLst/>
              <a:rect l="l" t="t" r="r" b="b"/>
              <a:pathLst>
                <a:path w="4095750" h="5362575">
                  <a:moveTo>
                    <a:pt x="0" y="682625"/>
                  </a:moveTo>
                  <a:lnTo>
                    <a:pt x="1713" y="633882"/>
                  </a:lnTo>
                  <a:lnTo>
                    <a:pt x="6778" y="586064"/>
                  </a:lnTo>
                  <a:lnTo>
                    <a:pt x="15079" y="539284"/>
                  </a:lnTo>
                  <a:lnTo>
                    <a:pt x="26499" y="493660"/>
                  </a:lnTo>
                  <a:lnTo>
                    <a:pt x="40924" y="449306"/>
                  </a:lnTo>
                  <a:lnTo>
                    <a:pt x="58237" y="406339"/>
                  </a:lnTo>
                  <a:lnTo>
                    <a:pt x="78324" y="364873"/>
                  </a:lnTo>
                  <a:lnTo>
                    <a:pt x="101069" y="325025"/>
                  </a:lnTo>
                  <a:lnTo>
                    <a:pt x="126356" y="286909"/>
                  </a:lnTo>
                  <a:lnTo>
                    <a:pt x="154070" y="250642"/>
                  </a:lnTo>
                  <a:lnTo>
                    <a:pt x="184095" y="216340"/>
                  </a:lnTo>
                  <a:lnTo>
                    <a:pt x="216317" y="184117"/>
                  </a:lnTo>
                  <a:lnTo>
                    <a:pt x="250618" y="154089"/>
                  </a:lnTo>
                  <a:lnTo>
                    <a:pt x="286884" y="126373"/>
                  </a:lnTo>
                  <a:lnTo>
                    <a:pt x="325000" y="101083"/>
                  </a:lnTo>
                  <a:lnTo>
                    <a:pt x="364849" y="78336"/>
                  </a:lnTo>
                  <a:lnTo>
                    <a:pt x="406317" y="58247"/>
                  </a:lnTo>
                  <a:lnTo>
                    <a:pt x="449287" y="40931"/>
                  </a:lnTo>
                  <a:lnTo>
                    <a:pt x="493645" y="26504"/>
                  </a:lnTo>
                  <a:lnTo>
                    <a:pt x="539274" y="15082"/>
                  </a:lnTo>
                  <a:lnTo>
                    <a:pt x="586060" y="6780"/>
                  </a:lnTo>
                  <a:lnTo>
                    <a:pt x="633886" y="1714"/>
                  </a:lnTo>
                  <a:lnTo>
                    <a:pt x="682637" y="0"/>
                  </a:lnTo>
                  <a:lnTo>
                    <a:pt x="3413125" y="0"/>
                  </a:lnTo>
                  <a:lnTo>
                    <a:pt x="3461867" y="1714"/>
                  </a:lnTo>
                  <a:lnTo>
                    <a:pt x="3509685" y="6780"/>
                  </a:lnTo>
                  <a:lnTo>
                    <a:pt x="3556465" y="15082"/>
                  </a:lnTo>
                  <a:lnTo>
                    <a:pt x="3602089" y="26504"/>
                  </a:lnTo>
                  <a:lnTo>
                    <a:pt x="3646443" y="40931"/>
                  </a:lnTo>
                  <a:lnTo>
                    <a:pt x="3689410" y="58247"/>
                  </a:lnTo>
                  <a:lnTo>
                    <a:pt x="3730876" y="78336"/>
                  </a:lnTo>
                  <a:lnTo>
                    <a:pt x="3770724" y="101083"/>
                  </a:lnTo>
                  <a:lnTo>
                    <a:pt x="3808840" y="126373"/>
                  </a:lnTo>
                  <a:lnTo>
                    <a:pt x="3845107" y="154089"/>
                  </a:lnTo>
                  <a:lnTo>
                    <a:pt x="3879409" y="184117"/>
                  </a:lnTo>
                  <a:lnTo>
                    <a:pt x="3911632" y="216340"/>
                  </a:lnTo>
                  <a:lnTo>
                    <a:pt x="3941660" y="250642"/>
                  </a:lnTo>
                  <a:lnTo>
                    <a:pt x="3969376" y="286909"/>
                  </a:lnTo>
                  <a:lnTo>
                    <a:pt x="3994666" y="325025"/>
                  </a:lnTo>
                  <a:lnTo>
                    <a:pt x="4017413" y="364873"/>
                  </a:lnTo>
                  <a:lnTo>
                    <a:pt x="4037502" y="406339"/>
                  </a:lnTo>
                  <a:lnTo>
                    <a:pt x="4054818" y="449306"/>
                  </a:lnTo>
                  <a:lnTo>
                    <a:pt x="4069245" y="493660"/>
                  </a:lnTo>
                  <a:lnTo>
                    <a:pt x="4080667" y="539284"/>
                  </a:lnTo>
                  <a:lnTo>
                    <a:pt x="4088969" y="586064"/>
                  </a:lnTo>
                  <a:lnTo>
                    <a:pt x="4094035" y="633882"/>
                  </a:lnTo>
                  <a:lnTo>
                    <a:pt x="4095750" y="682625"/>
                  </a:lnTo>
                  <a:lnTo>
                    <a:pt x="4095750" y="4679937"/>
                  </a:lnTo>
                  <a:lnTo>
                    <a:pt x="4094035" y="4728688"/>
                  </a:lnTo>
                  <a:lnTo>
                    <a:pt x="4088969" y="4776514"/>
                  </a:lnTo>
                  <a:lnTo>
                    <a:pt x="4080667" y="4823300"/>
                  </a:lnTo>
                  <a:lnTo>
                    <a:pt x="4069245" y="4868929"/>
                  </a:lnTo>
                  <a:lnTo>
                    <a:pt x="4054818" y="4913287"/>
                  </a:lnTo>
                  <a:lnTo>
                    <a:pt x="4037502" y="4956257"/>
                  </a:lnTo>
                  <a:lnTo>
                    <a:pt x="4017413" y="4997725"/>
                  </a:lnTo>
                  <a:lnTo>
                    <a:pt x="3994666" y="5037574"/>
                  </a:lnTo>
                  <a:lnTo>
                    <a:pt x="3969376" y="5075690"/>
                  </a:lnTo>
                  <a:lnTo>
                    <a:pt x="3941660" y="5111956"/>
                  </a:lnTo>
                  <a:lnTo>
                    <a:pt x="3911632" y="5146257"/>
                  </a:lnTo>
                  <a:lnTo>
                    <a:pt x="3879409" y="5178479"/>
                  </a:lnTo>
                  <a:lnTo>
                    <a:pt x="3845107" y="5208504"/>
                  </a:lnTo>
                  <a:lnTo>
                    <a:pt x="3808840" y="5236218"/>
                  </a:lnTo>
                  <a:lnTo>
                    <a:pt x="3770724" y="5261505"/>
                  </a:lnTo>
                  <a:lnTo>
                    <a:pt x="3730876" y="5284250"/>
                  </a:lnTo>
                  <a:lnTo>
                    <a:pt x="3689410" y="5304337"/>
                  </a:lnTo>
                  <a:lnTo>
                    <a:pt x="3646443" y="5321650"/>
                  </a:lnTo>
                  <a:lnTo>
                    <a:pt x="3602089" y="5336075"/>
                  </a:lnTo>
                  <a:lnTo>
                    <a:pt x="3556465" y="5347495"/>
                  </a:lnTo>
                  <a:lnTo>
                    <a:pt x="3509685" y="5355796"/>
                  </a:lnTo>
                  <a:lnTo>
                    <a:pt x="3461867" y="5360861"/>
                  </a:lnTo>
                  <a:lnTo>
                    <a:pt x="3413125" y="5362575"/>
                  </a:lnTo>
                  <a:lnTo>
                    <a:pt x="682637" y="5362575"/>
                  </a:lnTo>
                  <a:lnTo>
                    <a:pt x="633886" y="5360861"/>
                  </a:lnTo>
                  <a:lnTo>
                    <a:pt x="586060" y="5355796"/>
                  </a:lnTo>
                  <a:lnTo>
                    <a:pt x="539274" y="5347495"/>
                  </a:lnTo>
                  <a:lnTo>
                    <a:pt x="493645" y="5336075"/>
                  </a:lnTo>
                  <a:lnTo>
                    <a:pt x="449287" y="5321650"/>
                  </a:lnTo>
                  <a:lnTo>
                    <a:pt x="406317" y="5304337"/>
                  </a:lnTo>
                  <a:lnTo>
                    <a:pt x="364849" y="5284250"/>
                  </a:lnTo>
                  <a:lnTo>
                    <a:pt x="325000" y="5261505"/>
                  </a:lnTo>
                  <a:lnTo>
                    <a:pt x="286884" y="5236218"/>
                  </a:lnTo>
                  <a:lnTo>
                    <a:pt x="250618" y="5208504"/>
                  </a:lnTo>
                  <a:lnTo>
                    <a:pt x="216317" y="5178479"/>
                  </a:lnTo>
                  <a:lnTo>
                    <a:pt x="184095" y="5146257"/>
                  </a:lnTo>
                  <a:lnTo>
                    <a:pt x="154070" y="5111956"/>
                  </a:lnTo>
                  <a:lnTo>
                    <a:pt x="126356" y="5075690"/>
                  </a:lnTo>
                  <a:lnTo>
                    <a:pt x="101069" y="5037574"/>
                  </a:lnTo>
                  <a:lnTo>
                    <a:pt x="78324" y="4997725"/>
                  </a:lnTo>
                  <a:lnTo>
                    <a:pt x="58237" y="4956257"/>
                  </a:lnTo>
                  <a:lnTo>
                    <a:pt x="40924" y="4913287"/>
                  </a:lnTo>
                  <a:lnTo>
                    <a:pt x="26499" y="4868929"/>
                  </a:lnTo>
                  <a:lnTo>
                    <a:pt x="15079" y="4823300"/>
                  </a:lnTo>
                  <a:lnTo>
                    <a:pt x="6778" y="4776514"/>
                  </a:lnTo>
                  <a:lnTo>
                    <a:pt x="1713" y="4728688"/>
                  </a:lnTo>
                  <a:lnTo>
                    <a:pt x="0" y="4679937"/>
                  </a:lnTo>
                  <a:lnTo>
                    <a:pt x="0" y="6826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41755" y="3547998"/>
            <a:ext cx="2240915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b="1" spc="65" dirty="0">
                <a:solidFill>
                  <a:srgbClr val="FFFFFF"/>
                </a:solidFill>
                <a:latin typeface="Times New Roman"/>
                <a:cs typeface="Times New Roman"/>
              </a:rPr>
              <a:t>Internationalization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75" dirty="0"/>
              <a:t> </a:t>
            </a:r>
            <a:r>
              <a:rPr spc="135" dirty="0"/>
              <a:t>Interface</a:t>
            </a:r>
            <a:r>
              <a:rPr spc="355" dirty="0"/>
              <a:t> </a:t>
            </a:r>
            <a:r>
              <a:rPr spc="195" dirty="0"/>
              <a:t>Design</a:t>
            </a:r>
            <a:r>
              <a:rPr spc="330" dirty="0"/>
              <a:t> </a:t>
            </a:r>
            <a:r>
              <a:rPr spc="-560" dirty="0"/>
              <a:t>–</a:t>
            </a:r>
            <a:r>
              <a:rPr spc="345" dirty="0"/>
              <a:t> </a:t>
            </a:r>
            <a:r>
              <a:rPr spc="204" dirty="0"/>
              <a:t>characteristics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11245850" cy="5274310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92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b="1" spc="150" dirty="0">
                <a:latin typeface="Times New Roman"/>
                <a:cs typeface="Times New Roman"/>
              </a:rPr>
              <a:t>Visually</a:t>
            </a:r>
            <a:r>
              <a:rPr sz="2750" b="1" spc="15" dirty="0">
                <a:latin typeface="Times New Roman"/>
                <a:cs typeface="Times New Roman"/>
              </a:rPr>
              <a:t> </a:t>
            </a:r>
            <a:r>
              <a:rPr sz="2750" b="1" spc="90" dirty="0">
                <a:latin typeface="Times New Roman"/>
                <a:cs typeface="Times New Roman"/>
              </a:rPr>
              <a:t>Apparent</a:t>
            </a:r>
            <a:r>
              <a:rPr sz="2750" b="1" spc="85" dirty="0">
                <a:latin typeface="Times New Roman"/>
                <a:cs typeface="Times New Roman"/>
              </a:rPr>
              <a:t> </a:t>
            </a:r>
            <a:r>
              <a:rPr sz="2750" b="1" spc="130" dirty="0">
                <a:latin typeface="Times New Roman"/>
                <a:cs typeface="Times New Roman"/>
              </a:rPr>
              <a:t>and</a:t>
            </a:r>
            <a:r>
              <a:rPr sz="2750" b="1" spc="10" dirty="0">
                <a:latin typeface="Times New Roman"/>
                <a:cs typeface="Times New Roman"/>
              </a:rPr>
              <a:t> </a:t>
            </a:r>
            <a:r>
              <a:rPr sz="2750" b="1" spc="110" dirty="0">
                <a:latin typeface="Times New Roman"/>
                <a:cs typeface="Times New Roman"/>
              </a:rPr>
              <a:t>Forgiving</a:t>
            </a:r>
            <a:r>
              <a:rPr sz="2750" b="1" spc="25" dirty="0">
                <a:latin typeface="Times New Roman"/>
                <a:cs typeface="Times New Roman"/>
              </a:rPr>
              <a:t> </a:t>
            </a:r>
            <a:r>
              <a:rPr sz="2750" b="1" spc="-50" dirty="0">
                <a:latin typeface="Times New Roman"/>
                <a:cs typeface="Times New Roman"/>
              </a:rPr>
              <a:t>:</a:t>
            </a:r>
            <a:endParaRPr sz="2750">
              <a:latin typeface="Times New Roman"/>
              <a:cs typeface="Times New Roman"/>
            </a:endParaRPr>
          </a:p>
          <a:p>
            <a:pPr marL="712470" lvl="1" indent="-244475">
              <a:lnSpc>
                <a:spcPct val="100000"/>
              </a:lnSpc>
              <a:spcBef>
                <a:spcPts val="1560"/>
              </a:spcBef>
              <a:buSzPct val="95833"/>
              <a:buFont typeface="Wingdings"/>
              <a:buChar char=""/>
              <a:tabLst>
                <a:tab pos="712470" algn="l"/>
                <a:tab pos="1638300" algn="l"/>
                <a:tab pos="2734945" algn="l"/>
                <a:tab pos="3382010" algn="l"/>
                <a:tab pos="3813175" algn="l"/>
                <a:tab pos="5010150" algn="l"/>
                <a:tab pos="5795645" algn="l"/>
                <a:tab pos="6603365" algn="l"/>
                <a:tab pos="7779384" algn="l"/>
                <a:tab pos="8460105" algn="l"/>
                <a:tab pos="9221470" algn="l"/>
                <a:tab pos="10563225" algn="l"/>
              </a:tabLst>
            </a:pPr>
            <a:r>
              <a:rPr sz="2400" spc="-10" dirty="0">
                <a:latin typeface="Cambria"/>
                <a:cs typeface="Cambria"/>
              </a:rPr>
              <a:t>Users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0" dirty="0">
                <a:latin typeface="Cambria"/>
                <a:cs typeface="Cambria"/>
              </a:rPr>
              <a:t>should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feel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in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control,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35" dirty="0">
                <a:latin typeface="Cambria"/>
                <a:cs typeface="Cambria"/>
              </a:rPr>
              <a:t>with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clear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options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5" dirty="0">
                <a:latin typeface="Cambria"/>
                <a:cs typeface="Cambria"/>
              </a:rPr>
              <a:t>and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easy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recovery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from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spc="-10" dirty="0">
                <a:latin typeface="Cambria"/>
                <a:cs typeface="Cambria"/>
              </a:rPr>
              <a:t>mistakes.</a:t>
            </a:r>
            <a:endParaRPr sz="2400">
              <a:latin typeface="Cambria"/>
              <a:cs typeface="Cambria"/>
            </a:endParaRPr>
          </a:p>
          <a:p>
            <a:pPr marL="384175" indent="-371475">
              <a:lnSpc>
                <a:spcPct val="100000"/>
              </a:lnSpc>
              <a:spcBef>
                <a:spcPts val="1650"/>
              </a:spcBef>
              <a:buSzPct val="96363"/>
              <a:buFont typeface="Wingdings"/>
              <a:buChar char=""/>
              <a:tabLst>
                <a:tab pos="384175" algn="l"/>
              </a:tabLst>
            </a:pPr>
            <a:r>
              <a:rPr sz="2750" b="1" spc="180" dirty="0">
                <a:latin typeface="Times New Roman"/>
                <a:cs typeface="Times New Roman"/>
              </a:rPr>
              <a:t>Hide</a:t>
            </a:r>
            <a:r>
              <a:rPr sz="2750" b="1" spc="5" dirty="0">
                <a:latin typeface="Times New Roman"/>
                <a:cs typeface="Times New Roman"/>
              </a:rPr>
              <a:t> </a:t>
            </a:r>
            <a:r>
              <a:rPr sz="2750" b="1" spc="140" dirty="0">
                <a:latin typeface="Times New Roman"/>
                <a:cs typeface="Times New Roman"/>
              </a:rPr>
              <a:t>System</a:t>
            </a:r>
            <a:r>
              <a:rPr sz="2750" b="1" spc="75" dirty="0">
                <a:latin typeface="Times New Roman"/>
                <a:cs typeface="Times New Roman"/>
              </a:rPr>
              <a:t> </a:t>
            </a:r>
            <a:r>
              <a:rPr sz="2750" b="1" spc="80" dirty="0">
                <a:latin typeface="Times New Roman"/>
                <a:cs typeface="Times New Roman"/>
              </a:rPr>
              <a:t>Internals</a:t>
            </a:r>
            <a:r>
              <a:rPr sz="2750" b="1" spc="45" dirty="0">
                <a:latin typeface="Times New Roman"/>
                <a:cs typeface="Times New Roman"/>
              </a:rPr>
              <a:t> </a:t>
            </a:r>
            <a:r>
              <a:rPr sz="2750" b="1" spc="-50" dirty="0">
                <a:latin typeface="Times New Roman"/>
                <a:cs typeface="Times New Roman"/>
              </a:rPr>
              <a:t>:</a:t>
            </a:r>
            <a:endParaRPr sz="2750">
              <a:latin typeface="Times New Roman"/>
              <a:cs typeface="Times New Roman"/>
            </a:endParaRPr>
          </a:p>
          <a:p>
            <a:pPr marL="712470" lvl="1" indent="-244475">
              <a:lnSpc>
                <a:spcPct val="100000"/>
              </a:lnSpc>
              <a:spcBef>
                <a:spcPts val="155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50" dirty="0">
                <a:latin typeface="Cambria"/>
                <a:cs typeface="Cambria"/>
              </a:rPr>
              <a:t>Save</a:t>
            </a:r>
            <a:r>
              <a:rPr sz="2400" spc="4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work</a:t>
            </a:r>
            <a:r>
              <a:rPr sz="2400" spc="4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automatically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and</a:t>
            </a:r>
            <a:r>
              <a:rPr sz="2400" spc="4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allow</a:t>
            </a:r>
            <a:r>
              <a:rPr sz="2400" spc="4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users</a:t>
            </a:r>
            <a:r>
              <a:rPr sz="2400" spc="4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undo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actions</a:t>
            </a:r>
            <a:r>
              <a:rPr sz="2400" spc="4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without</a:t>
            </a:r>
            <a:r>
              <a:rPr sz="2400" spc="45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worrying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05"/>
              </a:spcBef>
            </a:pPr>
            <a:r>
              <a:rPr sz="2400" dirty="0">
                <a:latin typeface="Cambria"/>
                <a:cs typeface="Cambria"/>
              </a:rPr>
              <a:t>about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system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mechanics.</a:t>
            </a:r>
            <a:endParaRPr sz="2400">
              <a:latin typeface="Cambria"/>
              <a:cs typeface="Cambria"/>
            </a:endParaRPr>
          </a:p>
          <a:p>
            <a:pPr marL="383540" indent="-370840">
              <a:lnSpc>
                <a:spcPct val="100000"/>
              </a:lnSpc>
              <a:spcBef>
                <a:spcPts val="1650"/>
              </a:spcBef>
              <a:buSzPct val="96363"/>
              <a:buFont typeface="Wingdings"/>
              <a:buChar char=""/>
              <a:tabLst>
                <a:tab pos="383540" algn="l"/>
              </a:tabLst>
            </a:pPr>
            <a:r>
              <a:rPr sz="2750" b="1" spc="180" dirty="0">
                <a:latin typeface="Times New Roman"/>
                <a:cs typeface="Times New Roman"/>
              </a:rPr>
              <a:t>Minimize</a:t>
            </a:r>
            <a:r>
              <a:rPr sz="2750" b="1" spc="-5" dirty="0">
                <a:latin typeface="Times New Roman"/>
                <a:cs typeface="Times New Roman"/>
              </a:rPr>
              <a:t> </a:t>
            </a:r>
            <a:r>
              <a:rPr sz="2750" b="1" spc="80" dirty="0">
                <a:latin typeface="Times New Roman"/>
                <a:cs typeface="Times New Roman"/>
              </a:rPr>
              <a:t>User</a:t>
            </a:r>
            <a:r>
              <a:rPr sz="2750" b="1" spc="40" dirty="0">
                <a:latin typeface="Times New Roman"/>
                <a:cs typeface="Times New Roman"/>
              </a:rPr>
              <a:t> </a:t>
            </a:r>
            <a:r>
              <a:rPr sz="2750" b="1" spc="110" dirty="0">
                <a:latin typeface="Times New Roman"/>
                <a:cs typeface="Times New Roman"/>
              </a:rPr>
              <a:t>Input</a:t>
            </a:r>
            <a:r>
              <a:rPr sz="2750" b="1" spc="45" dirty="0">
                <a:latin typeface="Times New Roman"/>
                <a:cs typeface="Times New Roman"/>
              </a:rPr>
              <a:t> </a:t>
            </a:r>
            <a:r>
              <a:rPr sz="2750" b="1" spc="-50" dirty="0">
                <a:latin typeface="Times New Roman"/>
                <a:cs typeface="Times New Roman"/>
              </a:rPr>
              <a:t>:</a:t>
            </a:r>
            <a:endParaRPr sz="2750">
              <a:latin typeface="Times New Roman"/>
              <a:cs typeface="Times New Roman"/>
            </a:endParaRPr>
          </a:p>
          <a:p>
            <a:pPr marL="712470" lvl="1" indent="-244475">
              <a:lnSpc>
                <a:spcPct val="100000"/>
              </a:lnSpc>
              <a:spcBef>
                <a:spcPts val="1555"/>
              </a:spcBef>
              <a:buSzPct val="95833"/>
              <a:buFont typeface="Wingdings"/>
              <a:buChar char=""/>
              <a:tabLst>
                <a:tab pos="712470" algn="l"/>
                <a:tab pos="2237740" algn="l"/>
                <a:tab pos="4149725" algn="l"/>
                <a:tab pos="5085080" algn="l"/>
                <a:tab pos="6838315" algn="l"/>
                <a:tab pos="7441565" algn="l"/>
                <a:tab pos="9232900" algn="l"/>
                <a:tab pos="10120630" algn="l"/>
                <a:tab pos="10955655" algn="l"/>
              </a:tabLst>
            </a:pPr>
            <a:r>
              <a:rPr sz="2400" spc="70" dirty="0">
                <a:latin typeface="Cambria"/>
                <a:cs typeface="Cambria"/>
              </a:rPr>
              <a:t>Maximize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functionality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while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60" dirty="0">
                <a:latin typeface="Cambria"/>
                <a:cs typeface="Cambria"/>
              </a:rPr>
              <a:t>minimizing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information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users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need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to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spc="45" dirty="0">
                <a:latin typeface="Cambria"/>
                <a:cs typeface="Cambria"/>
              </a:rPr>
              <a:t>provide.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75" dirty="0"/>
              <a:t> </a:t>
            </a:r>
            <a:r>
              <a:rPr spc="135" dirty="0"/>
              <a:t>Interface</a:t>
            </a:r>
            <a:r>
              <a:rPr spc="355" dirty="0"/>
              <a:t> </a:t>
            </a:r>
            <a:r>
              <a:rPr spc="195" dirty="0"/>
              <a:t>Design</a:t>
            </a:r>
            <a:r>
              <a:rPr spc="330" dirty="0"/>
              <a:t> </a:t>
            </a:r>
            <a:r>
              <a:rPr spc="-560" dirty="0"/>
              <a:t>–</a:t>
            </a:r>
            <a:r>
              <a:rPr spc="345" dirty="0"/>
              <a:t> </a:t>
            </a:r>
            <a:r>
              <a:rPr spc="140" dirty="0"/>
              <a:t>Principles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014937"/>
            <a:ext cx="11237595" cy="530987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80"/>
              </a:spcBef>
              <a:buSzPct val="95348"/>
              <a:buFont typeface="Wingdings"/>
              <a:buChar char=""/>
              <a:tabLst>
                <a:tab pos="240665" algn="l"/>
              </a:tabLst>
            </a:pPr>
            <a:r>
              <a:rPr sz="2150" b="1" spc="90" dirty="0">
                <a:latin typeface="Times New Roman"/>
                <a:cs typeface="Times New Roman"/>
              </a:rPr>
              <a:t>Anticipation</a:t>
            </a:r>
            <a:r>
              <a:rPr sz="2150" b="1" spc="100" dirty="0">
                <a:latin typeface="Times New Roman"/>
                <a:cs typeface="Times New Roman"/>
              </a:rPr>
              <a:t> </a:t>
            </a:r>
            <a:r>
              <a:rPr sz="2150" b="1" spc="-50" dirty="0">
                <a:latin typeface="Times New Roman"/>
                <a:cs typeface="Times New Roman"/>
              </a:rPr>
              <a:t>:</a:t>
            </a:r>
            <a:endParaRPr sz="2150">
              <a:latin typeface="Times New Roman"/>
              <a:cs typeface="Times New Roman"/>
            </a:endParaRPr>
          </a:p>
          <a:p>
            <a:pPr marL="699135" marR="5080" lvl="1" indent="-229235">
              <a:lnSpc>
                <a:spcPct val="139900"/>
              </a:lnSpc>
              <a:spcBef>
                <a:spcPts val="140"/>
              </a:spcBef>
              <a:buFont typeface="Wingdings"/>
              <a:buChar char=""/>
              <a:tabLst>
                <a:tab pos="699135" algn="l"/>
              </a:tabLst>
            </a:pPr>
            <a:r>
              <a:rPr sz="1700" dirty="0">
                <a:latin typeface="Cambria"/>
                <a:cs typeface="Cambria"/>
              </a:rPr>
              <a:t>Predict</a:t>
            </a:r>
            <a:r>
              <a:rPr sz="1700" spc="7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user</a:t>
            </a:r>
            <a:r>
              <a:rPr sz="1700" spc="8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needs</a:t>
            </a:r>
            <a:r>
              <a:rPr sz="1700" spc="47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and</a:t>
            </a:r>
            <a:r>
              <a:rPr sz="1700" spc="459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provide</a:t>
            </a:r>
            <a:r>
              <a:rPr sz="1700" spc="8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intuitive</a:t>
            </a:r>
            <a:r>
              <a:rPr sz="1700" spc="9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navigation</a:t>
            </a:r>
            <a:r>
              <a:rPr sz="1700" spc="85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(e.g.,</a:t>
            </a:r>
            <a:r>
              <a:rPr sz="1700" spc="7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pre-emptively</a:t>
            </a:r>
            <a:r>
              <a:rPr sz="1700" spc="65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offering</a:t>
            </a:r>
            <a:r>
              <a:rPr sz="1700" spc="65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7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driver</a:t>
            </a:r>
            <a:r>
              <a:rPr sz="1700" spc="80" dirty="0">
                <a:latin typeface="Cambria"/>
                <a:cs typeface="Cambria"/>
              </a:rPr>
              <a:t>  </a:t>
            </a:r>
            <a:r>
              <a:rPr sz="1700" spc="50" dirty="0">
                <a:latin typeface="Cambria"/>
                <a:cs typeface="Cambria"/>
              </a:rPr>
              <a:t>download</a:t>
            </a:r>
            <a:r>
              <a:rPr sz="1700" spc="46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after </a:t>
            </a:r>
            <a:r>
              <a:rPr sz="1700" spc="45" dirty="0">
                <a:latin typeface="Cambria"/>
                <a:cs typeface="Cambria"/>
              </a:rPr>
              <a:t>viewing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printer</a:t>
            </a:r>
            <a:r>
              <a:rPr sz="1700" spc="5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information).</a:t>
            </a:r>
            <a:endParaRPr sz="1700">
              <a:latin typeface="Cambria"/>
              <a:cs typeface="Cambria"/>
            </a:endParaRPr>
          </a:p>
          <a:p>
            <a:pPr marL="311150" indent="-298450">
              <a:lnSpc>
                <a:spcPct val="100000"/>
              </a:lnSpc>
              <a:spcBef>
                <a:spcPts val="960"/>
              </a:spcBef>
              <a:buSzPct val="95348"/>
              <a:buFont typeface="Wingdings"/>
              <a:buChar char=""/>
              <a:tabLst>
                <a:tab pos="311150" algn="l"/>
              </a:tabLst>
            </a:pPr>
            <a:r>
              <a:rPr sz="2150" b="1" spc="100" dirty="0">
                <a:latin typeface="Times New Roman"/>
                <a:cs typeface="Times New Roman"/>
              </a:rPr>
              <a:t>Communication</a:t>
            </a:r>
            <a:r>
              <a:rPr sz="2150" b="1" spc="60" dirty="0">
                <a:latin typeface="Times New Roman"/>
                <a:cs typeface="Times New Roman"/>
              </a:rPr>
              <a:t> </a:t>
            </a:r>
            <a:r>
              <a:rPr sz="2150" b="1" spc="-50" dirty="0">
                <a:latin typeface="Times New Roman"/>
                <a:cs typeface="Times New Roman"/>
              </a:rPr>
              <a:t>:</a:t>
            </a:r>
            <a:endParaRPr sz="21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950"/>
              </a:spcBef>
              <a:buFont typeface="Wingdings"/>
              <a:buChar char=""/>
              <a:tabLst>
                <a:tab pos="698500" algn="l"/>
              </a:tabLst>
            </a:pPr>
            <a:r>
              <a:rPr sz="1700" spc="55" dirty="0">
                <a:latin typeface="Cambria"/>
                <a:cs typeface="Cambria"/>
              </a:rPr>
              <a:t>Clearly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communicate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activity</a:t>
            </a:r>
            <a:r>
              <a:rPr sz="1700" spc="1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status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(e.g.,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text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messages,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animations)</a:t>
            </a:r>
            <a:r>
              <a:rPr sz="1700" spc="13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and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user</a:t>
            </a:r>
            <a:r>
              <a:rPr sz="1700" spc="1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location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within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WebApp.</a:t>
            </a:r>
            <a:endParaRPr sz="1700">
              <a:latin typeface="Cambria"/>
              <a:cs typeface="Cambria"/>
            </a:endParaRPr>
          </a:p>
          <a:p>
            <a:pPr marL="311150" indent="-298450">
              <a:lnSpc>
                <a:spcPct val="100000"/>
              </a:lnSpc>
              <a:spcBef>
                <a:spcPts val="1045"/>
              </a:spcBef>
              <a:buSzPct val="95348"/>
              <a:buFont typeface="Wingdings"/>
              <a:buChar char=""/>
              <a:tabLst>
                <a:tab pos="311150" algn="l"/>
              </a:tabLst>
            </a:pPr>
            <a:r>
              <a:rPr sz="2150" b="1" spc="100" dirty="0">
                <a:latin typeface="Times New Roman"/>
                <a:cs typeface="Times New Roman"/>
              </a:rPr>
              <a:t>Consistency</a:t>
            </a:r>
            <a:r>
              <a:rPr sz="2150" b="1" spc="75" dirty="0">
                <a:latin typeface="Times New Roman"/>
                <a:cs typeface="Times New Roman"/>
              </a:rPr>
              <a:t> </a:t>
            </a:r>
            <a:r>
              <a:rPr sz="2150" b="1" spc="-50" dirty="0">
                <a:latin typeface="Times New Roman"/>
                <a:cs typeface="Times New Roman"/>
              </a:rPr>
              <a:t>:</a:t>
            </a:r>
            <a:endParaRPr sz="21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944"/>
              </a:spcBef>
              <a:buFont typeface="Wingdings"/>
              <a:buChar char=""/>
              <a:tabLst>
                <a:tab pos="698500" algn="l"/>
              </a:tabLst>
            </a:pPr>
            <a:r>
              <a:rPr sz="1700" dirty="0">
                <a:latin typeface="Cambria"/>
                <a:cs typeface="Cambria"/>
              </a:rPr>
              <a:t>Maintain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uniformity</a:t>
            </a:r>
            <a:r>
              <a:rPr sz="1700" spc="2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navigation</a:t>
            </a:r>
            <a:r>
              <a:rPr sz="1700" spc="2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controls,</a:t>
            </a:r>
            <a:r>
              <a:rPr sz="1700" spc="1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menus,</a:t>
            </a:r>
            <a:r>
              <a:rPr sz="1700" spc="2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icons,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and</a:t>
            </a:r>
            <a:r>
              <a:rPr sz="1700" spc="1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aesthetics</a:t>
            </a:r>
            <a:r>
              <a:rPr sz="1700" spc="2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throughout</a:t>
            </a:r>
            <a:r>
              <a:rPr sz="1700" spc="25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interface.</a:t>
            </a:r>
            <a:endParaRPr sz="170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815"/>
              </a:spcBef>
              <a:buFont typeface="Wingdings"/>
              <a:buChar char=""/>
              <a:tabLst>
                <a:tab pos="698500" algn="l"/>
              </a:tabLst>
            </a:pPr>
            <a:r>
              <a:rPr sz="1700" spc="105" dirty="0">
                <a:latin typeface="Cambria"/>
                <a:cs typeface="Cambria"/>
              </a:rPr>
              <a:t>Avoid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reusing</a:t>
            </a:r>
            <a:r>
              <a:rPr sz="1700" spc="16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symbols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or</a:t>
            </a:r>
            <a:r>
              <a:rPr sz="1700" spc="1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elements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conflicting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purposes.</a:t>
            </a:r>
            <a:endParaRPr sz="1700">
              <a:latin typeface="Cambria"/>
              <a:cs typeface="Cambria"/>
            </a:endParaRPr>
          </a:p>
          <a:p>
            <a:pPr marL="311150" indent="-298450">
              <a:lnSpc>
                <a:spcPct val="100000"/>
              </a:lnSpc>
              <a:spcBef>
                <a:spcPts val="965"/>
              </a:spcBef>
              <a:buSzPct val="95348"/>
              <a:buFont typeface="Wingdings"/>
              <a:buChar char=""/>
              <a:tabLst>
                <a:tab pos="311150" algn="l"/>
              </a:tabLst>
            </a:pPr>
            <a:r>
              <a:rPr sz="2150" b="1" spc="85" dirty="0">
                <a:latin typeface="Times New Roman"/>
                <a:cs typeface="Times New Roman"/>
              </a:rPr>
              <a:t>Controlled</a:t>
            </a:r>
            <a:r>
              <a:rPr sz="2150" b="1" spc="80" dirty="0">
                <a:latin typeface="Times New Roman"/>
                <a:cs typeface="Times New Roman"/>
              </a:rPr>
              <a:t> </a:t>
            </a:r>
            <a:r>
              <a:rPr sz="2150" b="1" spc="120" dirty="0">
                <a:latin typeface="Times New Roman"/>
                <a:cs typeface="Times New Roman"/>
              </a:rPr>
              <a:t>Autonomy</a:t>
            </a:r>
            <a:r>
              <a:rPr sz="2150" b="1" spc="75" dirty="0">
                <a:latin typeface="Times New Roman"/>
                <a:cs typeface="Times New Roman"/>
              </a:rPr>
              <a:t> </a:t>
            </a:r>
            <a:r>
              <a:rPr sz="2150" b="1" spc="-50" dirty="0">
                <a:latin typeface="Times New Roman"/>
                <a:cs typeface="Times New Roman"/>
              </a:rPr>
              <a:t>:</a:t>
            </a:r>
            <a:endParaRPr sz="2150">
              <a:latin typeface="Times New Roman"/>
              <a:cs typeface="Times New Roman"/>
            </a:endParaRPr>
          </a:p>
          <a:p>
            <a:pPr marL="699135" marR="6985" lvl="1" indent="-229235">
              <a:lnSpc>
                <a:spcPct val="139800"/>
              </a:lnSpc>
              <a:spcBef>
                <a:spcPts val="140"/>
              </a:spcBef>
              <a:buFont typeface="Wingdings"/>
              <a:buChar char=""/>
              <a:tabLst>
                <a:tab pos="699135" algn="l"/>
              </a:tabLst>
            </a:pPr>
            <a:r>
              <a:rPr sz="1700" spc="80" dirty="0">
                <a:latin typeface="Cambria"/>
                <a:cs typeface="Cambria"/>
              </a:rPr>
              <a:t>Allow</a:t>
            </a:r>
            <a:r>
              <a:rPr sz="1700" spc="75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users</a:t>
            </a:r>
            <a:r>
              <a:rPr sz="1700" spc="75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8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navigate</a:t>
            </a:r>
            <a:r>
              <a:rPr sz="1700" spc="75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freely</a:t>
            </a:r>
            <a:r>
              <a:rPr sz="1700" spc="65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but</a:t>
            </a:r>
            <a:r>
              <a:rPr sz="1700" spc="7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enforce</a:t>
            </a:r>
            <a:r>
              <a:rPr sz="1700" spc="48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security</a:t>
            </a:r>
            <a:r>
              <a:rPr sz="1700" spc="80" dirty="0">
                <a:latin typeface="Cambria"/>
                <a:cs typeface="Cambria"/>
              </a:rPr>
              <a:t>  </a:t>
            </a:r>
            <a:r>
              <a:rPr sz="1700" spc="60" dirty="0">
                <a:latin typeface="Cambria"/>
                <a:cs typeface="Cambria"/>
              </a:rPr>
              <a:t>and</a:t>
            </a:r>
            <a:r>
              <a:rPr sz="1700" spc="45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navigation</a:t>
            </a:r>
            <a:r>
              <a:rPr sz="1700" spc="85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conventions</a:t>
            </a:r>
            <a:r>
              <a:rPr sz="1700" spc="48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(e.g.,</a:t>
            </a:r>
            <a:r>
              <a:rPr sz="1700" spc="7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password-</a:t>
            </a:r>
            <a:r>
              <a:rPr sz="1700" spc="-10" dirty="0">
                <a:latin typeface="Cambria"/>
                <a:cs typeface="Cambria"/>
              </a:rPr>
              <a:t>protected areas).</a:t>
            </a:r>
            <a:endParaRPr sz="1700">
              <a:latin typeface="Cambria"/>
              <a:cs typeface="Cambria"/>
            </a:endParaRPr>
          </a:p>
          <a:p>
            <a:pPr marL="311150" indent="-298450">
              <a:lnSpc>
                <a:spcPct val="100000"/>
              </a:lnSpc>
              <a:spcBef>
                <a:spcPts val="1040"/>
              </a:spcBef>
              <a:buSzPct val="95348"/>
              <a:buFont typeface="Wingdings"/>
              <a:buChar char=""/>
              <a:tabLst>
                <a:tab pos="311150" algn="l"/>
              </a:tabLst>
            </a:pPr>
            <a:r>
              <a:rPr sz="2150" b="1" spc="80" dirty="0">
                <a:latin typeface="Times New Roman"/>
                <a:cs typeface="Times New Roman"/>
              </a:rPr>
              <a:t>Efficiency</a:t>
            </a:r>
            <a:r>
              <a:rPr sz="2150" b="1" spc="75" dirty="0">
                <a:latin typeface="Times New Roman"/>
                <a:cs typeface="Times New Roman"/>
              </a:rPr>
              <a:t> </a:t>
            </a:r>
            <a:r>
              <a:rPr sz="2150" b="1" spc="-50" dirty="0">
                <a:latin typeface="Times New Roman"/>
                <a:cs typeface="Times New Roman"/>
              </a:rPr>
              <a:t>:</a:t>
            </a:r>
            <a:endParaRPr sz="21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950"/>
              </a:spcBef>
              <a:buFont typeface="Wingdings"/>
              <a:buChar char=""/>
              <a:tabLst>
                <a:tab pos="698500" algn="l"/>
              </a:tabLst>
            </a:pPr>
            <a:r>
              <a:rPr sz="1700" dirty="0">
                <a:latin typeface="Cambria"/>
                <a:cs typeface="Cambria"/>
              </a:rPr>
              <a:t>Prioritize</a:t>
            </a:r>
            <a:r>
              <a:rPr sz="1700" spc="1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user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productivity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over</a:t>
            </a:r>
            <a:r>
              <a:rPr sz="1700" spc="1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developer</a:t>
            </a:r>
            <a:r>
              <a:rPr sz="1700" spc="1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convenience</a:t>
            </a:r>
            <a:r>
              <a:rPr sz="1700" spc="1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or</a:t>
            </a:r>
            <a:r>
              <a:rPr sz="1700" spc="2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system</a:t>
            </a:r>
            <a:r>
              <a:rPr sz="1700" spc="18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efficiency.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75" dirty="0"/>
              <a:t> </a:t>
            </a:r>
            <a:r>
              <a:rPr spc="135" dirty="0"/>
              <a:t>Interface</a:t>
            </a:r>
            <a:r>
              <a:rPr spc="355" dirty="0"/>
              <a:t> </a:t>
            </a:r>
            <a:r>
              <a:rPr spc="195" dirty="0"/>
              <a:t>Design</a:t>
            </a:r>
            <a:r>
              <a:rPr spc="330" dirty="0"/>
              <a:t> </a:t>
            </a:r>
            <a:r>
              <a:rPr spc="-560" dirty="0"/>
              <a:t>–</a:t>
            </a:r>
            <a:r>
              <a:rPr spc="345" dirty="0"/>
              <a:t> </a:t>
            </a:r>
            <a:r>
              <a:rPr spc="140" dirty="0"/>
              <a:t>Principles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019499"/>
            <a:ext cx="11242675" cy="527685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70"/>
              </a:spcBef>
              <a:buSzPct val="95348"/>
              <a:buFont typeface="Wingdings"/>
              <a:buChar char=""/>
              <a:tabLst>
                <a:tab pos="240665" algn="l"/>
              </a:tabLst>
            </a:pPr>
            <a:r>
              <a:rPr sz="2150" b="1" spc="90" dirty="0">
                <a:latin typeface="Times New Roman"/>
                <a:cs typeface="Times New Roman"/>
              </a:rPr>
              <a:t>Flexibility</a:t>
            </a:r>
            <a:r>
              <a:rPr sz="2150" b="1" spc="30" dirty="0">
                <a:latin typeface="Times New Roman"/>
                <a:cs typeface="Times New Roman"/>
              </a:rPr>
              <a:t> </a:t>
            </a:r>
            <a:r>
              <a:rPr sz="2150" b="1" spc="-50" dirty="0">
                <a:latin typeface="Times New Roman"/>
                <a:cs typeface="Times New Roman"/>
              </a:rPr>
              <a:t>:</a:t>
            </a:r>
            <a:endParaRPr sz="2150">
              <a:latin typeface="Times New Roman"/>
              <a:cs typeface="Times New Roman"/>
            </a:endParaRPr>
          </a:p>
          <a:p>
            <a:pPr marL="699135" marR="13970" lvl="1" indent="-229235">
              <a:lnSpc>
                <a:spcPct val="150900"/>
              </a:lnSpc>
              <a:spcBef>
                <a:spcPts val="65"/>
              </a:spcBef>
              <a:buFont typeface="Wingdings"/>
              <a:buChar char=""/>
              <a:tabLst>
                <a:tab pos="699135" algn="l"/>
              </a:tabLst>
            </a:pPr>
            <a:r>
              <a:rPr sz="1700" dirty="0">
                <a:latin typeface="Cambria"/>
                <a:cs typeface="Cambria"/>
              </a:rPr>
              <a:t>Support</a:t>
            </a:r>
            <a:r>
              <a:rPr sz="1700" spc="36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both</a:t>
            </a:r>
            <a:r>
              <a:rPr sz="1700" spc="3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task-oriented</a:t>
            </a:r>
            <a:r>
              <a:rPr sz="1700" spc="3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users</a:t>
            </a:r>
            <a:r>
              <a:rPr sz="1700" spc="36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and</a:t>
            </a:r>
            <a:r>
              <a:rPr sz="1700" spc="2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exploratory</a:t>
            </a:r>
            <a:r>
              <a:rPr sz="1700" spc="36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users,</a:t>
            </a:r>
            <a:r>
              <a:rPr sz="1700" spc="33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providing</a:t>
            </a:r>
            <a:r>
              <a:rPr sz="1700" spc="340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undo</a:t>
            </a:r>
            <a:r>
              <a:rPr sz="1700" spc="3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functionality</a:t>
            </a:r>
            <a:r>
              <a:rPr sz="1700" spc="35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and</a:t>
            </a:r>
            <a:r>
              <a:rPr sz="1700" spc="2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clear</a:t>
            </a:r>
            <a:r>
              <a:rPr sz="1700" spc="3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navigation paths.</a:t>
            </a:r>
            <a:endParaRPr sz="1700">
              <a:latin typeface="Cambria"/>
              <a:cs typeface="Cambria"/>
            </a:endParaRPr>
          </a:p>
          <a:p>
            <a:pPr marL="311150" indent="-298450">
              <a:lnSpc>
                <a:spcPct val="100000"/>
              </a:lnSpc>
              <a:spcBef>
                <a:spcPts val="1265"/>
              </a:spcBef>
              <a:buSzPct val="95348"/>
              <a:buFont typeface="Wingdings"/>
              <a:buChar char=""/>
              <a:tabLst>
                <a:tab pos="311150" algn="l"/>
              </a:tabLst>
            </a:pPr>
            <a:r>
              <a:rPr sz="2150" b="1" spc="65" dirty="0">
                <a:latin typeface="Times New Roman"/>
                <a:cs typeface="Times New Roman"/>
              </a:rPr>
              <a:t>Focus</a:t>
            </a:r>
            <a:r>
              <a:rPr sz="2150" b="1" spc="15" dirty="0">
                <a:latin typeface="Times New Roman"/>
                <a:cs typeface="Times New Roman"/>
              </a:rPr>
              <a:t> </a:t>
            </a:r>
            <a:r>
              <a:rPr sz="2150" b="1" spc="-50" dirty="0">
                <a:latin typeface="Times New Roman"/>
                <a:cs typeface="Times New Roman"/>
              </a:rPr>
              <a:t>:</a:t>
            </a:r>
            <a:endParaRPr sz="21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170"/>
              </a:spcBef>
              <a:buFont typeface="Wingdings"/>
              <a:buChar char=""/>
              <a:tabLst>
                <a:tab pos="698500" algn="l"/>
              </a:tabLst>
            </a:pPr>
            <a:r>
              <a:rPr sz="1700" dirty="0">
                <a:latin typeface="Cambria"/>
                <a:cs typeface="Cambria"/>
              </a:rPr>
              <a:t>Keep</a:t>
            </a:r>
            <a:r>
              <a:rPr sz="1700" spc="1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interface</a:t>
            </a:r>
            <a:r>
              <a:rPr sz="1700" spc="1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focused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on</a:t>
            </a:r>
            <a:r>
              <a:rPr sz="1700" spc="1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user’s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primary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tasks,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avoiding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distractions</a:t>
            </a:r>
            <a:r>
              <a:rPr sz="1700" spc="21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from</a:t>
            </a:r>
            <a:r>
              <a:rPr sz="1700" spc="1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loosely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related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content.</a:t>
            </a:r>
            <a:endParaRPr sz="1700">
              <a:latin typeface="Cambria"/>
              <a:cs typeface="Cambria"/>
            </a:endParaRPr>
          </a:p>
          <a:p>
            <a:pPr marL="310515" indent="-297815">
              <a:lnSpc>
                <a:spcPct val="100000"/>
              </a:lnSpc>
              <a:spcBef>
                <a:spcPts val="1270"/>
              </a:spcBef>
              <a:buSzPct val="95348"/>
              <a:buFont typeface="Wingdings"/>
              <a:buChar char=""/>
              <a:tabLst>
                <a:tab pos="310515" algn="l"/>
              </a:tabLst>
            </a:pPr>
            <a:r>
              <a:rPr sz="2150" b="1" dirty="0">
                <a:latin typeface="Times New Roman"/>
                <a:cs typeface="Times New Roman"/>
              </a:rPr>
              <a:t>Fitt’s</a:t>
            </a:r>
            <a:r>
              <a:rPr sz="2150" b="1" spc="75" dirty="0">
                <a:latin typeface="Times New Roman"/>
                <a:cs typeface="Times New Roman"/>
              </a:rPr>
              <a:t> </a:t>
            </a:r>
            <a:r>
              <a:rPr sz="2150" b="1" spc="65" dirty="0">
                <a:latin typeface="Times New Roman"/>
                <a:cs typeface="Times New Roman"/>
              </a:rPr>
              <a:t>Law</a:t>
            </a:r>
            <a:r>
              <a:rPr sz="2150" b="1" spc="60" dirty="0">
                <a:latin typeface="Times New Roman"/>
                <a:cs typeface="Times New Roman"/>
              </a:rPr>
              <a:t> </a:t>
            </a:r>
            <a:r>
              <a:rPr sz="2150" b="1" spc="-50" dirty="0">
                <a:latin typeface="Times New Roman"/>
                <a:cs typeface="Times New Roman"/>
              </a:rPr>
              <a:t>:</a:t>
            </a:r>
            <a:endParaRPr sz="21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100"/>
              </a:spcBef>
              <a:buFont typeface="Wingdings"/>
              <a:buChar char=""/>
              <a:tabLst>
                <a:tab pos="698500" algn="l"/>
              </a:tabLst>
            </a:pPr>
            <a:r>
              <a:rPr sz="1700" spc="50" dirty="0">
                <a:latin typeface="Cambria"/>
                <a:cs typeface="Cambria"/>
              </a:rPr>
              <a:t>Minimize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time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required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users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1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make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selections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by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placing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related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options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close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together.</a:t>
            </a:r>
            <a:endParaRPr sz="1700">
              <a:latin typeface="Cambria"/>
              <a:cs typeface="Cambria"/>
            </a:endParaRPr>
          </a:p>
          <a:p>
            <a:pPr marL="310515" indent="-297815">
              <a:lnSpc>
                <a:spcPct val="100000"/>
              </a:lnSpc>
              <a:spcBef>
                <a:spcPts val="1265"/>
              </a:spcBef>
              <a:buSzPct val="95348"/>
              <a:buFont typeface="Wingdings"/>
              <a:buChar char=""/>
              <a:tabLst>
                <a:tab pos="310515" algn="l"/>
              </a:tabLst>
            </a:pPr>
            <a:r>
              <a:rPr sz="2150" b="1" spc="110" dirty="0">
                <a:latin typeface="Times New Roman"/>
                <a:cs typeface="Times New Roman"/>
              </a:rPr>
              <a:t>Human</a:t>
            </a:r>
            <a:r>
              <a:rPr sz="2150" b="1" spc="65" dirty="0">
                <a:latin typeface="Times New Roman"/>
                <a:cs typeface="Times New Roman"/>
              </a:rPr>
              <a:t> </a:t>
            </a:r>
            <a:r>
              <a:rPr sz="2150" b="1" spc="50" dirty="0">
                <a:latin typeface="Times New Roman"/>
                <a:cs typeface="Times New Roman"/>
              </a:rPr>
              <a:t>Interface</a:t>
            </a:r>
            <a:r>
              <a:rPr sz="2150" b="1" spc="70" dirty="0">
                <a:latin typeface="Times New Roman"/>
                <a:cs typeface="Times New Roman"/>
              </a:rPr>
              <a:t> </a:t>
            </a:r>
            <a:r>
              <a:rPr sz="2150" b="1" spc="85" dirty="0">
                <a:latin typeface="Times New Roman"/>
                <a:cs typeface="Times New Roman"/>
              </a:rPr>
              <a:t>Objects</a:t>
            </a:r>
            <a:r>
              <a:rPr sz="2150" b="1" spc="35" dirty="0">
                <a:latin typeface="Times New Roman"/>
                <a:cs typeface="Times New Roman"/>
              </a:rPr>
              <a:t> </a:t>
            </a:r>
            <a:r>
              <a:rPr sz="2150" b="1" spc="-50" dirty="0">
                <a:latin typeface="Times New Roman"/>
                <a:cs typeface="Times New Roman"/>
              </a:rPr>
              <a:t>:</a:t>
            </a:r>
            <a:endParaRPr sz="21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170"/>
              </a:spcBef>
              <a:buFont typeface="Wingdings"/>
              <a:buChar char=""/>
              <a:tabLst>
                <a:tab pos="698500" algn="l"/>
              </a:tabLst>
            </a:pPr>
            <a:r>
              <a:rPr sz="1700" spc="60" dirty="0">
                <a:latin typeface="Cambria"/>
                <a:cs typeface="Cambria"/>
              </a:rPr>
              <a:t>Use</a:t>
            </a:r>
            <a:r>
              <a:rPr sz="1700" spc="1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reusable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interface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objects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(e.g.,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buttons,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menus)</a:t>
            </a:r>
            <a:r>
              <a:rPr sz="1700" spc="1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from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established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libraries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enhance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usability.</a:t>
            </a:r>
            <a:endParaRPr sz="1700">
              <a:latin typeface="Cambria"/>
              <a:cs typeface="Cambria"/>
            </a:endParaRPr>
          </a:p>
          <a:p>
            <a:pPr marL="311150" indent="-298450">
              <a:lnSpc>
                <a:spcPct val="100000"/>
              </a:lnSpc>
              <a:spcBef>
                <a:spcPts val="1270"/>
              </a:spcBef>
              <a:buSzPct val="95348"/>
              <a:buFont typeface="Wingdings"/>
              <a:buChar char=""/>
              <a:tabLst>
                <a:tab pos="311150" algn="l"/>
              </a:tabLst>
            </a:pPr>
            <a:r>
              <a:rPr sz="2150" b="1" spc="45" dirty="0">
                <a:latin typeface="Times New Roman"/>
                <a:cs typeface="Times New Roman"/>
              </a:rPr>
              <a:t>Latency</a:t>
            </a:r>
            <a:r>
              <a:rPr sz="2150" b="1" spc="70" dirty="0">
                <a:latin typeface="Times New Roman"/>
                <a:cs typeface="Times New Roman"/>
              </a:rPr>
              <a:t> </a:t>
            </a:r>
            <a:r>
              <a:rPr sz="2150" b="1" spc="95" dirty="0">
                <a:latin typeface="Times New Roman"/>
                <a:cs typeface="Times New Roman"/>
              </a:rPr>
              <a:t>Reduction</a:t>
            </a:r>
            <a:r>
              <a:rPr sz="2150" b="1" spc="60" dirty="0">
                <a:latin typeface="Times New Roman"/>
                <a:cs typeface="Times New Roman"/>
              </a:rPr>
              <a:t> </a:t>
            </a:r>
            <a:r>
              <a:rPr sz="2150" b="1" spc="-50" dirty="0">
                <a:latin typeface="Times New Roman"/>
                <a:cs typeface="Times New Roman"/>
              </a:rPr>
              <a:t>:</a:t>
            </a:r>
            <a:endParaRPr sz="2150">
              <a:latin typeface="Times New Roman"/>
              <a:cs typeface="Times New Roman"/>
            </a:endParaRPr>
          </a:p>
          <a:p>
            <a:pPr marL="699135" marR="5080" lvl="1" indent="-229235">
              <a:lnSpc>
                <a:spcPct val="147300"/>
              </a:lnSpc>
              <a:spcBef>
                <a:spcPts val="204"/>
              </a:spcBef>
              <a:buFont typeface="Wingdings"/>
              <a:buChar char=""/>
              <a:tabLst>
                <a:tab pos="699135" algn="l"/>
              </a:tabLst>
            </a:pPr>
            <a:r>
              <a:rPr sz="1700" spc="60" dirty="0">
                <a:latin typeface="Cambria"/>
                <a:cs typeface="Cambria"/>
              </a:rPr>
              <a:t>Use</a:t>
            </a:r>
            <a:r>
              <a:rPr sz="1700" spc="4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multitasking</a:t>
            </a:r>
            <a:r>
              <a:rPr sz="1700" spc="6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48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reduce</a:t>
            </a:r>
            <a:r>
              <a:rPr sz="1700" spc="60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perceived</a:t>
            </a:r>
            <a:r>
              <a:rPr sz="1700" spc="409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delays,</a:t>
            </a:r>
            <a:r>
              <a:rPr sz="1700" spc="4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acknowledge</a:t>
            </a:r>
            <a:r>
              <a:rPr sz="1700" spc="4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delays</a:t>
            </a:r>
            <a:r>
              <a:rPr sz="1700" spc="65" dirty="0">
                <a:latin typeface="Cambria"/>
                <a:cs typeface="Cambria"/>
              </a:rPr>
              <a:t>  </a:t>
            </a:r>
            <a:r>
              <a:rPr sz="1700" dirty="0">
                <a:latin typeface="Cambria"/>
                <a:cs typeface="Cambria"/>
              </a:rPr>
              <a:t>with</a:t>
            </a:r>
            <a:r>
              <a:rPr sz="1700" spc="4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feedback</a:t>
            </a:r>
            <a:r>
              <a:rPr sz="1700" spc="45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(e.g.,</a:t>
            </a:r>
            <a:r>
              <a:rPr sz="1700" spc="4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progress</a:t>
            </a:r>
            <a:r>
              <a:rPr sz="1700" spc="4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bars),</a:t>
            </a:r>
            <a:r>
              <a:rPr sz="1700" spc="475" dirty="0">
                <a:latin typeface="Cambria"/>
                <a:cs typeface="Cambria"/>
              </a:rPr>
              <a:t> </a:t>
            </a:r>
            <a:r>
              <a:rPr sz="1700" spc="35" dirty="0">
                <a:latin typeface="Cambria"/>
                <a:cs typeface="Cambria"/>
              </a:rPr>
              <a:t>and </a:t>
            </a:r>
            <a:r>
              <a:rPr sz="1700" dirty="0">
                <a:latin typeface="Cambria"/>
                <a:cs typeface="Cambria"/>
              </a:rPr>
              <a:t>entertain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users</a:t>
            </a:r>
            <a:r>
              <a:rPr sz="1700" spc="1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during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long</a:t>
            </a:r>
            <a:r>
              <a:rPr sz="1700" spc="18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operations.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80" dirty="0"/>
              <a:t>User</a:t>
            </a:r>
            <a:r>
              <a:rPr spc="375" dirty="0"/>
              <a:t> </a:t>
            </a:r>
            <a:r>
              <a:rPr spc="135" dirty="0"/>
              <a:t>Interface</a:t>
            </a:r>
            <a:r>
              <a:rPr spc="355" dirty="0"/>
              <a:t> </a:t>
            </a:r>
            <a:r>
              <a:rPr spc="195" dirty="0"/>
              <a:t>Design</a:t>
            </a:r>
            <a:r>
              <a:rPr spc="330" dirty="0"/>
              <a:t> </a:t>
            </a:r>
            <a:r>
              <a:rPr spc="-560" dirty="0"/>
              <a:t>–</a:t>
            </a:r>
            <a:r>
              <a:rPr spc="345" dirty="0"/>
              <a:t> </a:t>
            </a:r>
            <a:r>
              <a:rPr spc="140" dirty="0"/>
              <a:t>Principles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010362"/>
            <a:ext cx="11236960" cy="535813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4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b="1" spc="10" dirty="0">
                <a:latin typeface="Times New Roman"/>
                <a:cs typeface="Times New Roman"/>
              </a:rPr>
              <a:t>Learnability</a:t>
            </a:r>
            <a:r>
              <a:rPr sz="2000" b="1" spc="36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699135" marR="9525" lvl="1" indent="-229235">
              <a:lnSpc>
                <a:spcPct val="145500"/>
              </a:lnSpc>
              <a:spcBef>
                <a:spcPts val="55"/>
              </a:spcBef>
              <a:buFont typeface="Wingdings"/>
              <a:buChar char=""/>
              <a:tabLst>
                <a:tab pos="699135" algn="l"/>
              </a:tabLst>
            </a:pPr>
            <a:r>
              <a:rPr sz="1550" spc="75" dirty="0">
                <a:latin typeface="Cambria"/>
                <a:cs typeface="Cambria"/>
              </a:rPr>
              <a:t>Design</a:t>
            </a:r>
            <a:r>
              <a:rPr sz="1550" spc="125" dirty="0">
                <a:latin typeface="Cambria"/>
                <a:cs typeface="Cambria"/>
              </a:rPr>
              <a:t>  </a:t>
            </a:r>
            <a:r>
              <a:rPr sz="1550" dirty="0">
                <a:latin typeface="Cambria"/>
                <a:cs typeface="Cambria"/>
              </a:rPr>
              <a:t>for</a:t>
            </a:r>
            <a:r>
              <a:rPr sz="1550" spc="125" dirty="0">
                <a:latin typeface="Cambria"/>
                <a:cs typeface="Cambria"/>
              </a:rPr>
              <a:t>  </a:t>
            </a:r>
            <a:r>
              <a:rPr sz="1550" spc="55" dirty="0">
                <a:latin typeface="Cambria"/>
                <a:cs typeface="Cambria"/>
              </a:rPr>
              <a:t>quick</a:t>
            </a:r>
            <a:r>
              <a:rPr sz="1550" spc="120" dirty="0">
                <a:latin typeface="Cambria"/>
                <a:cs typeface="Cambria"/>
              </a:rPr>
              <a:t>  </a:t>
            </a:r>
            <a:r>
              <a:rPr sz="1550" spc="45" dirty="0">
                <a:latin typeface="Cambria"/>
                <a:cs typeface="Cambria"/>
              </a:rPr>
              <a:t>learning</a:t>
            </a:r>
            <a:r>
              <a:rPr sz="1550" spc="120" dirty="0">
                <a:latin typeface="Cambria"/>
                <a:cs typeface="Cambria"/>
              </a:rPr>
              <a:t>  </a:t>
            </a:r>
            <a:r>
              <a:rPr sz="1550" spc="55" dirty="0">
                <a:latin typeface="Cambria"/>
                <a:cs typeface="Cambria"/>
              </a:rPr>
              <a:t>and</a:t>
            </a:r>
            <a:r>
              <a:rPr sz="1550" spc="140" dirty="0">
                <a:latin typeface="Cambria"/>
                <a:cs typeface="Cambria"/>
              </a:rPr>
              <a:t>  </a:t>
            </a:r>
            <a:r>
              <a:rPr sz="1550" spc="60" dirty="0">
                <a:latin typeface="Cambria"/>
                <a:cs typeface="Cambria"/>
              </a:rPr>
              <a:t>minimal</a:t>
            </a:r>
            <a:r>
              <a:rPr sz="1550" spc="130" dirty="0">
                <a:latin typeface="Cambria"/>
                <a:cs typeface="Cambria"/>
              </a:rPr>
              <a:t>  </a:t>
            </a:r>
            <a:r>
              <a:rPr sz="1550" dirty="0">
                <a:latin typeface="Cambria"/>
                <a:cs typeface="Cambria"/>
              </a:rPr>
              <a:t>relearning,</a:t>
            </a:r>
            <a:r>
              <a:rPr sz="1550" spc="130" dirty="0">
                <a:latin typeface="Cambria"/>
                <a:cs typeface="Cambria"/>
              </a:rPr>
              <a:t>  </a:t>
            </a:r>
            <a:r>
              <a:rPr sz="1550" spc="65" dirty="0">
                <a:latin typeface="Cambria"/>
                <a:cs typeface="Cambria"/>
              </a:rPr>
              <a:t>emphasizing</a:t>
            </a:r>
            <a:r>
              <a:rPr sz="1550" spc="114" dirty="0">
                <a:latin typeface="Cambria"/>
                <a:cs typeface="Cambria"/>
              </a:rPr>
              <a:t>  </a:t>
            </a:r>
            <a:r>
              <a:rPr sz="1550" spc="50" dirty="0">
                <a:latin typeface="Cambria"/>
                <a:cs typeface="Cambria"/>
              </a:rPr>
              <a:t>simple,</a:t>
            </a:r>
            <a:r>
              <a:rPr sz="1550" spc="140" dirty="0">
                <a:latin typeface="Cambria"/>
                <a:cs typeface="Cambria"/>
              </a:rPr>
              <a:t>  </a:t>
            </a:r>
            <a:r>
              <a:rPr sz="1550" dirty="0">
                <a:latin typeface="Cambria"/>
                <a:cs typeface="Cambria"/>
              </a:rPr>
              <a:t>intuitive</a:t>
            </a:r>
            <a:r>
              <a:rPr sz="1550" spc="130" dirty="0">
                <a:latin typeface="Cambria"/>
                <a:cs typeface="Cambria"/>
              </a:rPr>
              <a:t>  </a:t>
            </a:r>
            <a:r>
              <a:rPr sz="1550" spc="45" dirty="0">
                <a:latin typeface="Cambria"/>
                <a:cs typeface="Cambria"/>
              </a:rPr>
              <a:t>organization</a:t>
            </a:r>
            <a:r>
              <a:rPr sz="1550" spc="125" dirty="0">
                <a:latin typeface="Cambria"/>
                <a:cs typeface="Cambria"/>
              </a:rPr>
              <a:t>  </a:t>
            </a:r>
            <a:r>
              <a:rPr sz="1550" spc="55" dirty="0">
                <a:latin typeface="Cambria"/>
                <a:cs typeface="Cambria"/>
              </a:rPr>
              <a:t>of</a:t>
            </a:r>
            <a:r>
              <a:rPr sz="1550" spc="114" dirty="0">
                <a:latin typeface="Cambria"/>
                <a:cs typeface="Cambria"/>
              </a:rPr>
              <a:t>  </a:t>
            </a:r>
            <a:r>
              <a:rPr sz="1550" dirty="0">
                <a:latin typeface="Cambria"/>
                <a:cs typeface="Cambria"/>
              </a:rPr>
              <a:t>content</a:t>
            </a:r>
            <a:r>
              <a:rPr sz="1550" spc="150" dirty="0">
                <a:latin typeface="Cambria"/>
                <a:cs typeface="Cambria"/>
              </a:rPr>
              <a:t>  </a:t>
            </a:r>
            <a:r>
              <a:rPr sz="1550" spc="30" dirty="0">
                <a:latin typeface="Cambria"/>
                <a:cs typeface="Cambria"/>
              </a:rPr>
              <a:t>and </a:t>
            </a:r>
            <a:r>
              <a:rPr sz="1550" spc="40" dirty="0">
                <a:latin typeface="Cambria"/>
                <a:cs typeface="Cambria"/>
              </a:rPr>
              <a:t>functionality.</a:t>
            </a:r>
            <a:endParaRPr sz="1550">
              <a:latin typeface="Cambria"/>
              <a:cs typeface="Cambria"/>
            </a:endParaRPr>
          </a:p>
          <a:p>
            <a:pPr marL="304800" indent="-292100">
              <a:lnSpc>
                <a:spcPct val="100000"/>
              </a:lnSpc>
              <a:spcBef>
                <a:spcPts val="845"/>
              </a:spcBef>
              <a:buFont typeface="Wingdings"/>
              <a:buChar char=""/>
              <a:tabLst>
                <a:tab pos="304800" algn="l"/>
              </a:tabLst>
            </a:pPr>
            <a:r>
              <a:rPr sz="2000" b="1" spc="55" dirty="0">
                <a:latin typeface="Times New Roman"/>
                <a:cs typeface="Times New Roman"/>
              </a:rPr>
              <a:t>Metaphors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900"/>
              </a:spcBef>
              <a:buFont typeface="Wingdings"/>
              <a:buChar char=""/>
              <a:tabLst>
                <a:tab pos="698500" algn="l"/>
              </a:tabLst>
            </a:pPr>
            <a:r>
              <a:rPr sz="1550" spc="90" dirty="0">
                <a:latin typeface="Cambria"/>
                <a:cs typeface="Cambria"/>
              </a:rPr>
              <a:t>Use</a:t>
            </a:r>
            <a:r>
              <a:rPr sz="1550" spc="15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appropriate</a:t>
            </a:r>
            <a:r>
              <a:rPr sz="1550" spc="17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metaphors</a:t>
            </a:r>
            <a:r>
              <a:rPr sz="1550" spc="220" dirty="0">
                <a:latin typeface="Cambria"/>
                <a:cs typeface="Cambria"/>
              </a:rPr>
              <a:t> </a:t>
            </a:r>
            <a:r>
              <a:rPr sz="1550" spc="50" dirty="0">
                <a:latin typeface="Cambria"/>
                <a:cs typeface="Cambria"/>
              </a:rPr>
              <a:t>(e.g.,</a:t>
            </a:r>
            <a:r>
              <a:rPr sz="1550" spc="17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checkbook</a:t>
            </a:r>
            <a:r>
              <a:rPr sz="1550" spc="150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for</a:t>
            </a:r>
            <a:r>
              <a:rPr sz="1550" spc="17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bill</a:t>
            </a:r>
            <a:r>
              <a:rPr sz="1550" spc="19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payments)</a:t>
            </a:r>
            <a:r>
              <a:rPr sz="1550" spc="16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to</a:t>
            </a:r>
            <a:r>
              <a:rPr sz="1550" spc="19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make</a:t>
            </a:r>
            <a:r>
              <a:rPr sz="1550" spc="210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the</a:t>
            </a:r>
            <a:r>
              <a:rPr sz="1550" spc="140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interface</a:t>
            </a:r>
            <a:r>
              <a:rPr sz="1550" spc="140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easier</a:t>
            </a:r>
            <a:r>
              <a:rPr sz="1550" spc="200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to</a:t>
            </a:r>
            <a:r>
              <a:rPr sz="1550" spc="190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learn</a:t>
            </a:r>
            <a:r>
              <a:rPr sz="1550" spc="155" dirty="0">
                <a:latin typeface="Cambria"/>
                <a:cs typeface="Cambria"/>
              </a:rPr>
              <a:t> </a:t>
            </a:r>
            <a:r>
              <a:rPr sz="1550" spc="55" dirty="0">
                <a:latin typeface="Cambria"/>
                <a:cs typeface="Cambria"/>
              </a:rPr>
              <a:t>and</a:t>
            </a:r>
            <a:r>
              <a:rPr sz="1550" spc="210" dirty="0">
                <a:latin typeface="Cambria"/>
                <a:cs typeface="Cambria"/>
              </a:rPr>
              <a:t> </a:t>
            </a:r>
            <a:r>
              <a:rPr sz="1550" spc="-20" dirty="0">
                <a:latin typeface="Cambria"/>
                <a:cs typeface="Cambria"/>
              </a:rPr>
              <a:t>use.</a:t>
            </a:r>
            <a:endParaRPr sz="1550">
              <a:latin typeface="Cambria"/>
              <a:cs typeface="Cambria"/>
            </a:endParaRPr>
          </a:p>
          <a:p>
            <a:pPr marL="304800" indent="-292100">
              <a:lnSpc>
                <a:spcPct val="100000"/>
              </a:lnSpc>
              <a:spcBef>
                <a:spcPts val="919"/>
              </a:spcBef>
              <a:buFont typeface="Wingdings"/>
              <a:buChar char=""/>
              <a:tabLst>
                <a:tab pos="304800" algn="l"/>
              </a:tabLst>
            </a:pPr>
            <a:r>
              <a:rPr sz="2000" b="1" spc="65" dirty="0">
                <a:latin typeface="Times New Roman"/>
                <a:cs typeface="Times New Roman"/>
              </a:rPr>
              <a:t>Maintain</a:t>
            </a:r>
            <a:r>
              <a:rPr sz="2000" b="1" spc="1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Work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Product</a:t>
            </a:r>
            <a:r>
              <a:rPr sz="2000" b="1" spc="1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Integrity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905"/>
              </a:spcBef>
              <a:buFont typeface="Wingdings"/>
              <a:buChar char=""/>
              <a:tabLst>
                <a:tab pos="697865" algn="l"/>
              </a:tabLst>
            </a:pPr>
            <a:r>
              <a:rPr sz="1550" spc="70" dirty="0">
                <a:latin typeface="Cambria"/>
                <a:cs typeface="Cambria"/>
              </a:rPr>
              <a:t>Autosave</a:t>
            </a:r>
            <a:r>
              <a:rPr sz="1550" spc="15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user</a:t>
            </a:r>
            <a:r>
              <a:rPr sz="1550" spc="16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data</a:t>
            </a:r>
            <a:r>
              <a:rPr sz="1550" spc="13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to</a:t>
            </a:r>
            <a:r>
              <a:rPr sz="1550" spc="16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prevent</a:t>
            </a:r>
            <a:r>
              <a:rPr sz="1550" spc="190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loss</a:t>
            </a:r>
            <a:r>
              <a:rPr sz="1550" spc="150" dirty="0">
                <a:latin typeface="Cambria"/>
                <a:cs typeface="Cambria"/>
              </a:rPr>
              <a:t> </a:t>
            </a:r>
            <a:r>
              <a:rPr sz="1550" spc="60" dirty="0">
                <a:latin typeface="Cambria"/>
                <a:cs typeface="Cambria"/>
              </a:rPr>
              <a:t>and</a:t>
            </a:r>
            <a:r>
              <a:rPr sz="1550" spc="180" dirty="0">
                <a:latin typeface="Cambria"/>
                <a:cs typeface="Cambria"/>
              </a:rPr>
              <a:t> </a:t>
            </a:r>
            <a:r>
              <a:rPr sz="1550" spc="50" dirty="0">
                <a:latin typeface="Cambria"/>
                <a:cs typeface="Cambria"/>
              </a:rPr>
              <a:t>provide</a:t>
            </a:r>
            <a:r>
              <a:rPr sz="1550" spc="18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recovery</a:t>
            </a:r>
            <a:r>
              <a:rPr sz="1550" spc="110" dirty="0">
                <a:latin typeface="Cambria"/>
                <a:cs typeface="Cambria"/>
              </a:rPr>
              <a:t> </a:t>
            </a:r>
            <a:r>
              <a:rPr sz="1550" spc="45" dirty="0">
                <a:latin typeface="Cambria"/>
                <a:cs typeface="Cambria"/>
              </a:rPr>
              <a:t>mechanisms</a:t>
            </a:r>
            <a:r>
              <a:rPr sz="1550" spc="16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for</a:t>
            </a:r>
            <a:r>
              <a:rPr sz="1550" spc="15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interrupted</a:t>
            </a:r>
            <a:r>
              <a:rPr sz="1550" spc="145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sessions.</a:t>
            </a:r>
            <a:endParaRPr sz="1550">
              <a:latin typeface="Cambria"/>
              <a:cs typeface="Cambria"/>
            </a:endParaRPr>
          </a:p>
          <a:p>
            <a:pPr marL="304800" indent="-292100">
              <a:lnSpc>
                <a:spcPct val="100000"/>
              </a:lnSpc>
              <a:spcBef>
                <a:spcPts val="844"/>
              </a:spcBef>
              <a:buFont typeface="Wingdings"/>
              <a:buChar char=""/>
              <a:tabLst>
                <a:tab pos="304800" algn="l"/>
              </a:tabLst>
            </a:pPr>
            <a:r>
              <a:rPr sz="2000" b="1" spc="60" dirty="0">
                <a:latin typeface="Times New Roman"/>
                <a:cs typeface="Times New Roman"/>
              </a:rPr>
              <a:t>Readability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905"/>
              </a:spcBef>
              <a:buFont typeface="Wingdings"/>
              <a:buChar char=""/>
              <a:tabLst>
                <a:tab pos="698500" algn="l"/>
              </a:tabLst>
            </a:pPr>
            <a:r>
              <a:rPr sz="1550" spc="10" dirty="0">
                <a:latin typeface="Cambria"/>
                <a:cs typeface="Cambria"/>
              </a:rPr>
              <a:t>Ensure</a:t>
            </a:r>
            <a:r>
              <a:rPr sz="1550" spc="15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all</a:t>
            </a:r>
            <a:r>
              <a:rPr sz="1550" spc="140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information</a:t>
            </a:r>
            <a:r>
              <a:rPr sz="1550" spc="200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is</a:t>
            </a:r>
            <a:r>
              <a:rPr sz="1550" spc="17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readable</a:t>
            </a:r>
            <a:r>
              <a:rPr sz="1550" spc="17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for</a:t>
            </a:r>
            <a:r>
              <a:rPr sz="1550" spc="160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all</a:t>
            </a:r>
            <a:r>
              <a:rPr sz="1550" spc="140" dirty="0">
                <a:latin typeface="Cambria"/>
                <a:cs typeface="Cambria"/>
              </a:rPr>
              <a:t> </a:t>
            </a:r>
            <a:r>
              <a:rPr sz="1550" spc="60" dirty="0">
                <a:latin typeface="Cambria"/>
                <a:cs typeface="Cambria"/>
              </a:rPr>
              <a:t>age</a:t>
            </a:r>
            <a:r>
              <a:rPr sz="1550" spc="120" dirty="0">
                <a:latin typeface="Cambria"/>
                <a:cs typeface="Cambria"/>
              </a:rPr>
              <a:t> </a:t>
            </a:r>
            <a:r>
              <a:rPr sz="1550" spc="60" dirty="0">
                <a:latin typeface="Cambria"/>
                <a:cs typeface="Cambria"/>
              </a:rPr>
              <a:t>groups</a:t>
            </a:r>
            <a:r>
              <a:rPr sz="1550" spc="140" dirty="0">
                <a:latin typeface="Cambria"/>
                <a:cs typeface="Cambria"/>
              </a:rPr>
              <a:t> </a:t>
            </a:r>
            <a:r>
              <a:rPr sz="1550" spc="70" dirty="0">
                <a:latin typeface="Cambria"/>
                <a:cs typeface="Cambria"/>
              </a:rPr>
              <a:t>using</a:t>
            </a:r>
            <a:r>
              <a:rPr sz="1550" spc="114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clear</a:t>
            </a:r>
            <a:r>
              <a:rPr sz="1550" spc="135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fonts,</a:t>
            </a:r>
            <a:r>
              <a:rPr sz="1550" spc="200" dirty="0">
                <a:latin typeface="Cambria"/>
                <a:cs typeface="Cambria"/>
              </a:rPr>
              <a:t> </a:t>
            </a:r>
            <a:r>
              <a:rPr sz="1550" spc="10" dirty="0">
                <a:latin typeface="Cambria"/>
                <a:cs typeface="Cambria"/>
              </a:rPr>
              <a:t>sizes,</a:t>
            </a:r>
            <a:r>
              <a:rPr sz="1550" spc="165" dirty="0">
                <a:latin typeface="Cambria"/>
                <a:cs typeface="Cambria"/>
              </a:rPr>
              <a:t> </a:t>
            </a:r>
            <a:r>
              <a:rPr sz="1550" spc="55" dirty="0">
                <a:latin typeface="Cambria"/>
                <a:cs typeface="Cambria"/>
              </a:rPr>
              <a:t>and</a:t>
            </a:r>
            <a:r>
              <a:rPr sz="1550" spc="190" dirty="0">
                <a:latin typeface="Cambria"/>
                <a:cs typeface="Cambria"/>
              </a:rPr>
              <a:t> </a:t>
            </a:r>
            <a:r>
              <a:rPr sz="1550" spc="70" dirty="0">
                <a:latin typeface="Cambria"/>
                <a:cs typeface="Cambria"/>
              </a:rPr>
              <a:t>high-</a:t>
            </a:r>
            <a:r>
              <a:rPr sz="1550" spc="10" dirty="0">
                <a:latin typeface="Cambria"/>
                <a:cs typeface="Cambria"/>
              </a:rPr>
              <a:t>contrast</a:t>
            </a:r>
            <a:r>
              <a:rPr sz="1550" spc="165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colors.</a:t>
            </a:r>
            <a:endParaRPr sz="1550">
              <a:latin typeface="Cambria"/>
              <a:cs typeface="Cambria"/>
            </a:endParaRPr>
          </a:p>
          <a:p>
            <a:pPr marL="304800" indent="-292100">
              <a:lnSpc>
                <a:spcPct val="100000"/>
              </a:lnSpc>
              <a:spcBef>
                <a:spcPts val="920"/>
              </a:spcBef>
              <a:buFont typeface="Wingdings"/>
              <a:buChar char=""/>
              <a:tabLst>
                <a:tab pos="304800" algn="l"/>
              </a:tabLst>
            </a:pPr>
            <a:r>
              <a:rPr sz="2000" b="1" dirty="0">
                <a:latin typeface="Times New Roman"/>
                <a:cs typeface="Times New Roman"/>
              </a:rPr>
              <a:t>Track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State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900"/>
              </a:spcBef>
              <a:buFont typeface="Wingdings"/>
              <a:buChar char=""/>
              <a:tabLst>
                <a:tab pos="698500" algn="l"/>
              </a:tabLst>
            </a:pPr>
            <a:r>
              <a:rPr sz="1550" dirty="0">
                <a:latin typeface="Cambria"/>
                <a:cs typeface="Cambria"/>
              </a:rPr>
              <a:t>Store</a:t>
            </a:r>
            <a:r>
              <a:rPr sz="1550" spc="18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user</a:t>
            </a:r>
            <a:r>
              <a:rPr sz="1550" spc="14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interaction</a:t>
            </a:r>
            <a:r>
              <a:rPr sz="1550" spc="19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states</a:t>
            </a:r>
            <a:r>
              <a:rPr sz="1550" spc="140" dirty="0">
                <a:latin typeface="Cambria"/>
                <a:cs typeface="Cambria"/>
              </a:rPr>
              <a:t> </a:t>
            </a:r>
            <a:r>
              <a:rPr sz="1550" spc="50" dirty="0">
                <a:latin typeface="Cambria"/>
                <a:cs typeface="Cambria"/>
              </a:rPr>
              <a:t>(e.g.,</a:t>
            </a:r>
            <a:r>
              <a:rPr sz="1550" spc="145" dirty="0">
                <a:latin typeface="Cambria"/>
                <a:cs typeface="Cambria"/>
              </a:rPr>
              <a:t> </a:t>
            </a:r>
            <a:r>
              <a:rPr sz="1550" spc="50" dirty="0">
                <a:latin typeface="Cambria"/>
                <a:cs typeface="Cambria"/>
              </a:rPr>
              <a:t>via</a:t>
            </a:r>
            <a:r>
              <a:rPr sz="1550" spc="16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cookies)</a:t>
            </a:r>
            <a:r>
              <a:rPr sz="1550" spc="17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to</a:t>
            </a:r>
            <a:r>
              <a:rPr sz="1550" spc="160" dirty="0">
                <a:latin typeface="Cambria"/>
                <a:cs typeface="Cambria"/>
              </a:rPr>
              <a:t> </a:t>
            </a:r>
            <a:r>
              <a:rPr sz="1550" spc="55" dirty="0">
                <a:latin typeface="Cambria"/>
                <a:cs typeface="Cambria"/>
              </a:rPr>
              <a:t>allow</a:t>
            </a:r>
            <a:r>
              <a:rPr sz="1550" spc="14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users</a:t>
            </a:r>
            <a:r>
              <a:rPr sz="1550" spc="11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to</a:t>
            </a:r>
            <a:r>
              <a:rPr sz="1550" spc="16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resume</a:t>
            </a:r>
            <a:r>
              <a:rPr sz="1550" spc="19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their</a:t>
            </a:r>
            <a:r>
              <a:rPr sz="1550" spc="135" dirty="0">
                <a:latin typeface="Cambria"/>
                <a:cs typeface="Cambria"/>
              </a:rPr>
              <a:t> </a:t>
            </a:r>
            <a:r>
              <a:rPr sz="1550" spc="50" dirty="0">
                <a:latin typeface="Cambria"/>
                <a:cs typeface="Cambria"/>
              </a:rPr>
              <a:t>work</a:t>
            </a:r>
            <a:r>
              <a:rPr sz="1550" spc="155" dirty="0">
                <a:latin typeface="Cambria"/>
                <a:cs typeface="Cambria"/>
              </a:rPr>
              <a:t> </a:t>
            </a:r>
            <a:r>
              <a:rPr sz="1550" spc="-10" dirty="0">
                <a:latin typeface="Cambria"/>
                <a:cs typeface="Cambria"/>
              </a:rPr>
              <a:t>later.</a:t>
            </a:r>
            <a:endParaRPr sz="1550">
              <a:latin typeface="Cambria"/>
              <a:cs typeface="Cambria"/>
            </a:endParaRPr>
          </a:p>
          <a:p>
            <a:pPr marL="304800" indent="-292100">
              <a:lnSpc>
                <a:spcPct val="100000"/>
              </a:lnSpc>
              <a:spcBef>
                <a:spcPts val="919"/>
              </a:spcBef>
              <a:buFont typeface="Wingdings"/>
              <a:buChar char=""/>
              <a:tabLst>
                <a:tab pos="304800" algn="l"/>
              </a:tabLst>
            </a:pPr>
            <a:r>
              <a:rPr sz="2000" b="1" spc="105" dirty="0">
                <a:latin typeface="Times New Roman"/>
                <a:cs typeface="Times New Roman"/>
              </a:rPr>
              <a:t>Visible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spc="85" dirty="0">
                <a:latin typeface="Times New Roman"/>
                <a:cs typeface="Times New Roman"/>
              </a:rPr>
              <a:t>Navigation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905"/>
              </a:spcBef>
              <a:buFont typeface="Wingdings"/>
              <a:buChar char=""/>
              <a:tabLst>
                <a:tab pos="697865" algn="l"/>
              </a:tabLst>
            </a:pPr>
            <a:r>
              <a:rPr sz="1550" spc="50" dirty="0">
                <a:latin typeface="Cambria"/>
                <a:cs typeface="Cambria"/>
              </a:rPr>
              <a:t>Create</a:t>
            </a:r>
            <a:r>
              <a:rPr sz="1550" spc="38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the</a:t>
            </a:r>
            <a:r>
              <a:rPr sz="1550" spc="37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illusion</a:t>
            </a:r>
            <a:r>
              <a:rPr sz="1550" spc="459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that</a:t>
            </a:r>
            <a:r>
              <a:rPr sz="1550" spc="44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users</a:t>
            </a:r>
            <a:r>
              <a:rPr sz="1550" spc="38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are</a:t>
            </a:r>
            <a:r>
              <a:rPr sz="1550" spc="434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in</a:t>
            </a:r>
            <a:r>
              <a:rPr sz="1550" spc="44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a</a:t>
            </a:r>
            <a:r>
              <a:rPr sz="1550" spc="42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single</a:t>
            </a:r>
            <a:r>
              <a:rPr sz="1550" spc="39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place,</a:t>
            </a:r>
            <a:r>
              <a:rPr sz="1550" spc="450" dirty="0">
                <a:latin typeface="Cambria"/>
                <a:cs typeface="Cambria"/>
              </a:rPr>
              <a:t> </a:t>
            </a:r>
            <a:r>
              <a:rPr sz="1550" spc="55" dirty="0">
                <a:latin typeface="Cambria"/>
                <a:cs typeface="Cambria"/>
              </a:rPr>
              <a:t>bringing</a:t>
            </a:r>
            <a:r>
              <a:rPr sz="1550" spc="39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content</a:t>
            </a:r>
            <a:r>
              <a:rPr sz="1550" spc="465" dirty="0">
                <a:latin typeface="Cambria"/>
                <a:cs typeface="Cambria"/>
              </a:rPr>
              <a:t> </a:t>
            </a:r>
            <a:r>
              <a:rPr sz="1550" spc="60" dirty="0">
                <a:latin typeface="Cambria"/>
                <a:cs typeface="Cambria"/>
              </a:rPr>
              <a:t>and</a:t>
            </a:r>
            <a:r>
              <a:rPr sz="1550" spc="44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functions</a:t>
            </a:r>
            <a:r>
              <a:rPr sz="1550" spc="465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to</a:t>
            </a:r>
            <a:r>
              <a:rPr sz="1550" spc="425" dirty="0">
                <a:latin typeface="Cambria"/>
                <a:cs typeface="Cambria"/>
              </a:rPr>
              <a:t> </a:t>
            </a:r>
            <a:r>
              <a:rPr sz="1550" spc="50" dirty="0">
                <a:latin typeface="Cambria"/>
                <a:cs typeface="Cambria"/>
              </a:rPr>
              <a:t>them</a:t>
            </a:r>
            <a:r>
              <a:rPr sz="1550" spc="40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rather</a:t>
            </a:r>
            <a:r>
              <a:rPr sz="1550" spc="420" dirty="0">
                <a:latin typeface="Cambria"/>
                <a:cs typeface="Cambria"/>
              </a:rPr>
              <a:t> </a:t>
            </a:r>
            <a:r>
              <a:rPr sz="1550" dirty="0">
                <a:latin typeface="Cambria"/>
                <a:cs typeface="Cambria"/>
              </a:rPr>
              <a:t>than</a:t>
            </a:r>
            <a:r>
              <a:rPr sz="1550" spc="445" dirty="0">
                <a:latin typeface="Cambria"/>
                <a:cs typeface="Cambria"/>
              </a:rPr>
              <a:t> </a:t>
            </a:r>
            <a:r>
              <a:rPr sz="1550" spc="35" dirty="0">
                <a:latin typeface="Cambria"/>
                <a:cs typeface="Cambria"/>
              </a:rPr>
              <a:t>requiring</a:t>
            </a:r>
            <a:endParaRPr sz="155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845"/>
              </a:spcBef>
            </a:pPr>
            <a:r>
              <a:rPr sz="1550" spc="45" dirty="0">
                <a:latin typeface="Cambria"/>
                <a:cs typeface="Cambria"/>
              </a:rPr>
              <a:t>navigation.</a:t>
            </a:r>
            <a:endParaRPr sz="15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4529</TotalTime>
  <Words>11493</Words>
  <Application>Microsoft Macintosh PowerPoint</Application>
  <PresentationFormat>Widescreen</PresentationFormat>
  <Paragraphs>1273</Paragraphs>
  <Slides>115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23" baseType="lpstr">
      <vt:lpstr>Arial MT</vt:lpstr>
      <vt:lpstr>Calibri</vt:lpstr>
      <vt:lpstr>Cambria</vt:lpstr>
      <vt:lpstr>Georgia</vt:lpstr>
      <vt:lpstr>Times New Roman</vt:lpstr>
      <vt:lpstr>Trebuchet MS</vt:lpstr>
      <vt:lpstr>Wingdings</vt:lpstr>
      <vt:lpstr>Office Theme</vt:lpstr>
      <vt:lpstr>Software Engineering</vt:lpstr>
      <vt:lpstr>Design Concepts</vt:lpstr>
      <vt:lpstr>Design Concepts</vt:lpstr>
      <vt:lpstr>Translating Requirement model into Design Model</vt:lpstr>
      <vt:lpstr>Translating Requirement model into Design Model</vt:lpstr>
      <vt:lpstr>Translating Requirement model into Design Model</vt:lpstr>
      <vt:lpstr>Translating Requirement model into Design Model</vt:lpstr>
      <vt:lpstr>Importance of Software Design</vt:lpstr>
      <vt:lpstr>Software Design Overview</vt:lpstr>
      <vt:lpstr>Software Quality Guidelines &amp; Attributes</vt:lpstr>
      <vt:lpstr>Design Principles</vt:lpstr>
      <vt:lpstr>Design Principles</vt:lpstr>
      <vt:lpstr>Uniformity &amp; Integration</vt:lpstr>
      <vt:lpstr>Graceful Degradation</vt:lpstr>
      <vt:lpstr>Design Principles</vt:lpstr>
      <vt:lpstr>Design Process</vt:lpstr>
      <vt:lpstr>Design Concepts Overview</vt:lpstr>
      <vt:lpstr>Design Concepts – 1. Abstraction</vt:lpstr>
      <vt:lpstr>Design Concepts – 1. Abstraction</vt:lpstr>
      <vt:lpstr>Design Concepts – 1. Abstraction - Data</vt:lpstr>
      <vt:lpstr>Design Concepts – 1. Abstraction - Procedural</vt:lpstr>
      <vt:lpstr>Design Concepts – 1. Abstraction - Control</vt:lpstr>
      <vt:lpstr>Design Concepts – 2. Architecture</vt:lpstr>
      <vt:lpstr>Design Concepts – 2. Architecture</vt:lpstr>
      <vt:lpstr>Design Concepts – 2. Architecture</vt:lpstr>
      <vt:lpstr>Design Concepts – 2. Architecture</vt:lpstr>
      <vt:lpstr>Design Concepts – 2. Architecture – Structured</vt:lpstr>
      <vt:lpstr>Design Concepts – 2. Architecture – Framework</vt:lpstr>
      <vt:lpstr>Design Concepts – 2. Architecture – Dynamic</vt:lpstr>
      <vt:lpstr>Design Concepts – 2. Architecture – Dynamic</vt:lpstr>
      <vt:lpstr>Design Concepts – 2. Architecture – Functional</vt:lpstr>
      <vt:lpstr>Design Concepts – 2. Architecture Concepts</vt:lpstr>
      <vt:lpstr>Design Concepts – 2. Architecture – Control Hierarchy</vt:lpstr>
      <vt:lpstr>Design Concepts – 2. Architecture Concepts</vt:lpstr>
      <vt:lpstr>Design Concepts – 2. Architecture – Horizontal Partitioning</vt:lpstr>
      <vt:lpstr>Design Concepts – 2. Architecture Concepts</vt:lpstr>
      <vt:lpstr>Design Concepts – 2. Architecture Concepts</vt:lpstr>
      <vt:lpstr>Design Concepts – 2. Architecture – Vertical Partitioning</vt:lpstr>
      <vt:lpstr>Design Concepts – 2. Architecture Concepts</vt:lpstr>
      <vt:lpstr>Design Concepts – 2. Architecture - Logical Data Representation</vt:lpstr>
      <vt:lpstr>Design Concepts – 3. Design Patterns</vt:lpstr>
      <vt:lpstr>Design Concepts – 4. Separation of Concerns</vt:lpstr>
      <vt:lpstr>Design Concepts – 5. Modularity</vt:lpstr>
      <vt:lpstr>Design Concepts – 5. Modularity – Calculator Example</vt:lpstr>
      <vt:lpstr>Design Concepts – 5. Modularity – Calculator Example</vt:lpstr>
      <vt:lpstr>Design Concepts – 5. Modularity – Calculator Example</vt:lpstr>
      <vt:lpstr>Design Concepts – 5. Modularity – Calculator Example</vt:lpstr>
      <vt:lpstr>Design Concepts – 5. Modularity – Key benefits</vt:lpstr>
      <vt:lpstr>Design Concepts – 5. Modularity – Criteria's</vt:lpstr>
      <vt:lpstr>Design Concepts – 5. Modularity – Criterias</vt:lpstr>
      <vt:lpstr>Design Concepts – 5. Modularity – Criterias</vt:lpstr>
      <vt:lpstr>Design Concepts – 5. Modularity – Balancing Act</vt:lpstr>
      <vt:lpstr>Design Concepts – 6. Component Design - Cohesion</vt:lpstr>
      <vt:lpstr>Design Concepts – 6. Component Design - Cohesion</vt:lpstr>
      <vt:lpstr>Design Concepts – 6. Component Design - Cohesion</vt:lpstr>
      <vt:lpstr>Design Concepts – 6. Component Design - Cohesion</vt:lpstr>
      <vt:lpstr>Design Concepts – 6. Component Design - Cohesion</vt:lpstr>
      <vt:lpstr>Design Concepts – 6. Component Design - Cohesion</vt:lpstr>
      <vt:lpstr>Design Concepts – 6. Component Design - Cohesion</vt:lpstr>
      <vt:lpstr>Design Concepts – 6. Component Design - Cohesion</vt:lpstr>
      <vt:lpstr>Design Concepts – 6. Component Design - Cohesion</vt:lpstr>
      <vt:lpstr>Design Concepts – 6. Component Design - Cohesion</vt:lpstr>
      <vt:lpstr>Design Concepts – 6. Component Design - Cohesion</vt:lpstr>
      <vt:lpstr>Design Concepts – 7. Component Design - Coupling</vt:lpstr>
      <vt:lpstr>Design Concepts – 7. Component Design - Coupling</vt:lpstr>
      <vt:lpstr>Design Concepts – 7. Component Design - Coupling</vt:lpstr>
      <vt:lpstr>Design Concepts – 7. Component Design - Coupling</vt:lpstr>
      <vt:lpstr>Design Concepts – 7. Component Design - Coupling</vt:lpstr>
      <vt:lpstr>Design Concepts – 7. Component Design - Coupling</vt:lpstr>
      <vt:lpstr>Design Concepts – 7. Component Design - Coupling</vt:lpstr>
      <vt:lpstr>Design Concepts – 7. Component Design - Coupling</vt:lpstr>
      <vt:lpstr>Design Concepts – 7. Component Design - Coupling</vt:lpstr>
      <vt:lpstr>Design Concepts – 7. Component Design - Coupling</vt:lpstr>
      <vt:lpstr>Design Concepts – 7. Component Design - Coupling</vt:lpstr>
      <vt:lpstr>Design Concepts – 7. Component Design - Coupling</vt:lpstr>
      <vt:lpstr>Design Concepts – 8. Refinement</vt:lpstr>
      <vt:lpstr>Design Concepts – 8. Refinement</vt:lpstr>
      <vt:lpstr>Design Concepts – 8. Refinement</vt:lpstr>
      <vt:lpstr>Design Concepts – 8. Refinement</vt:lpstr>
      <vt:lpstr>Design Concepts – 8. Refinement</vt:lpstr>
      <vt:lpstr>Design Concepts – 8. Refinement</vt:lpstr>
      <vt:lpstr>Design Concepts – 8. Refinement</vt:lpstr>
      <vt:lpstr>Design Concepts – 8. Architecture Design - Transform</vt:lpstr>
      <vt:lpstr>Design Concepts – 8. Architecture Design - Transform</vt:lpstr>
      <vt:lpstr>Design Concepts – 8. Transform Mapping</vt:lpstr>
      <vt:lpstr>Design Concepts – 8. Transform Mapping</vt:lpstr>
      <vt:lpstr>Design Concepts – 8. Transform Mapping - Example</vt:lpstr>
      <vt:lpstr>Design Concepts – 8. Transform Mapping - Example</vt:lpstr>
      <vt:lpstr>Design Concepts – 8. Transform Mapping - Example</vt:lpstr>
      <vt:lpstr>Design Concepts – 8. Transaction Mapping</vt:lpstr>
      <vt:lpstr>Design Concepts – 8. Transaction Mapping</vt:lpstr>
      <vt:lpstr>Design Concepts – 8. Transaction Mapping - Example</vt:lpstr>
      <vt:lpstr>Design Concepts – 8. Transaction Mapping - Example</vt:lpstr>
      <vt:lpstr>Design Concepts – 8. Transaction Mapping - Example</vt:lpstr>
      <vt:lpstr>Design Concepts – 8. Transaction Mapping - Example</vt:lpstr>
      <vt:lpstr>Design Concepts – 9. Refactoring</vt:lpstr>
      <vt:lpstr>Design Concepts – 9. Refactoring</vt:lpstr>
      <vt:lpstr>Design Concepts – 9. Refactoring</vt:lpstr>
      <vt:lpstr>User Interface Design – Golden Rules</vt:lpstr>
      <vt:lpstr>User Interface Design – Golden Rules</vt:lpstr>
      <vt:lpstr>User Interface Design – Golden Rules</vt:lpstr>
      <vt:lpstr>User Interface Design – Models</vt:lpstr>
      <vt:lpstr>User Interface Design – Models</vt:lpstr>
      <vt:lpstr>User Interface Design – Process</vt:lpstr>
      <vt:lpstr>User Interface Design – Process</vt:lpstr>
      <vt:lpstr>User Interface Design – Process</vt:lpstr>
      <vt:lpstr>User Interface Design – Design Issues</vt:lpstr>
      <vt:lpstr>User Interface Design – Design Issues</vt:lpstr>
      <vt:lpstr>User Interface Design – Design Issues</vt:lpstr>
      <vt:lpstr>User Interface Design – Design Issues</vt:lpstr>
      <vt:lpstr>User Interface Design – Design Issues</vt:lpstr>
      <vt:lpstr>User Interface Design – characteristics</vt:lpstr>
      <vt:lpstr>User Interface Design – Principles</vt:lpstr>
      <vt:lpstr>User Interface Design – Principles</vt:lpstr>
      <vt:lpstr>User Interface Design – Principles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Priyanka N 19728</cp:lastModifiedBy>
  <cp:revision>7</cp:revision>
  <dcterms:created xsi:type="dcterms:W3CDTF">2026-02-03T15:39:38Z</dcterms:created>
  <dcterms:modified xsi:type="dcterms:W3CDTF">2026-02-17T04:18:36Z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2025-02-27T00:00:00Z</vt:filetime>
  </property>
  <property fmtid="{D5CDD505-2E9C-101B-9397-08002B2CF9AE}" pid="3" name="LastSaved">
    <vt:filetime>2026-02-03T00:00:00Z</vt:filetime>
  </property>
  <property fmtid="{D5CDD505-2E9C-101B-9397-08002B2CF9AE}" pid="4" name="Producer">
    <vt:lpwstr>3.0.24 (5.1.10) </vt:lpwstr>
  </property>
</Properties>
</file>